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Presentación de apertura. Explicar el objetivo: identificar cualquier puerto por su forma y color, y conocer su velocidad, versiones y usos. Cada lámina tiene transiciones y animaciones de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Usar esta lámina como mapa de navegación. Los bloques 1 y 3 son los más extensos.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Apertura del bloque 1. Los cinco puertos que definieron la conectividad de datos desde los años 80 hasta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Empezar por el puerto más común. Preguntar al grupo quién sabe qué significa el interior azul de un USB.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Recordar que el color identifica la versión en conectores Type-A; en USB-C hay que leer la serigrafía o la documentación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Enseñar los conectores físicos si hay oportunidad; la diferencia entre Mini-B y Micro-B es la más difícil de reconocer a simple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Tabla clave de la sección. Destacar el lío de nombres comerciales de 2013-2017 y que la velocidad la marca el más lento de los dos extremos.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Completar la ficha del USB con estos datos que suelen faltar en las guías básicas.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Mencionar que los servicios técnicos de red aún piden «cable de consola» RS-232: es de los pocos puertos que no desaparece.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Desglosar el significado de DTE/DCE y el cable null modem (cruza TXD↔RXD).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Comparar la velocidad con USB 2.0 para explicar por qué el paralelo desapareció.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Thunderbolt 4 exige 40 Gbps y 2 pantallas 4K; Thunderbolt 5 (2023) duplica el ancho de banda para pantallas 8K y flujos de trabajo de creación.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Enfatizar que Thunderbolt 4 y USB4 comparten tecnología, pero Thunderbolt exige certificación Intel/USB-IF con mínimos más estrictos.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modo isócrono de FireWire era su gran ventaja sobre USB 2.0 para vídeo; hoy ese rol lo cumple USB con UVC o Thunderbolt.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Bloque breve: los tres puertos de entrada que se usaron antes de la revolución USB.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Preguntar por qué algunos gamers siguen prefiriendo PS/2: sin polling, interrupción directa y sin límite de teclas simultáneas.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conector DIN de 5 pines también se usó para MIDI en instrumentos musicales: mismo conector, protocolo distinto (31.25 kbaud).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gameport compartía IRQ con la tarjeta de sonido; los conflictos de recursos eran la pesadilla clásica de la era Windows 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bloque más extenso: seis puertos de video y una tabla comparativa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VGA sigue en muchos proyectores de aula; el adaptador HDMI→VGA activo necesita convertidor digital-a-analógico, no basta un cable pasivo.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Mostrar la diferencia física de pines entre DVI-I y DVI-D: los cuatro pines analógicos alrededor de la blade son la clave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HDMI 2.1 añade VRR y ALLM (modo automático de baja latencia) — clave para consolas de nueva generación.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salto de 2.0 a 2.1 es el más grande: pasa de 18 a 48 Gbps con codificación FRL.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Relacionar eARC con los soundbars modernos; sin eARC el audio HD se pierde.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DisplayPort es el preferido en PC: más ancho de banda que HDMI 2.0 y sin cuotas de licencia; HDMI domina en TV y consolas.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Las cifras exactas por carril: HBR2 = 5.4 Gbps × 4 carriles; UHBR20 = 20 Gbps ×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Ejercicio visual: la mejora S-Video vs compuesto se nota en los bordes de texto blanco sobre fondo de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Orden histórico de calidad: compuesto &lt; S-Video &lt; VGA/componente &lt;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Tabla de cierre del bloque 3; útil para elegir el cable correcto en un mantenimiento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Las redes definen la conectividad moderna; diferenciar bien RJ-45 y RJ-11.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En el laboratorio: comprobar el LED de enlace verde es el primer diagnóstico de una conexión de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Relacionar con los LEDs del puerto: enlace verde fijo = capa física correcta.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Demostrar con conectores físicos la diferencia de anchura es la forma más eficaz de fijarlo.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dial-up ocupaba la línea telefónica: por eso aparecieron los módems de segunda línea y más tarde ADSL con splitter.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color del cable de fibra indica el tipo: amarillo = monomodo, aqua/óptico túrbido = multimodo.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Cerrar el bloque de redes con la escala de velocidades del datacenter moderno.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audio analógico convive con el digital: reconocer los colores es la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Repasar el código de colores completo — el gris de los laterales es el que más se olvida.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Tabla práctica: recorrerla con la placa madre real de referencia si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La luz roja visible es un buen indicador de funcionamiento; si no brilla, el equipo está apagado o el cable está roto.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Comparar con el TOSLINK: mismo protocolo, distinta inmunidad al ruido.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Conclusión práctica: coaxial para calidad eléctrica pura; óptico para aislar masas y evitar zumbidos.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Almacenamiento externo: cuando USB no era suficientemente rápido nació eSATA.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gran defecto del eSATA era la falta de alimentación; por eso se inventó eSATAp, el conector combo que se ve en placas de 2008-2012.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Conclusión de bloque: eSATA fue una solución excelente a un problema que USB 3.0 acabó resolviendo de forma más universal.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Enseñar la diferencia física: una microSD UHS-II tiene contactos extra y solo rinde a tope en un lector UHS-II.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Las clases se acumulan: una SDXC UHS-II V90 es compatible con lectores UHS-I (a velocidad UHS-I).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Último bloque: el único puerto inalámbrico de la guía y el repaso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Demostrar el funcionamiento: la cámara del teléfono ve la luz infrarroja parpadeante del mando a distancia aunque el ojo no la perciba.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Cierre técnico de IrDA: hoy solo aparece en equipos industriales y retro.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Tabla-resumen de toda la guía; ideal para repaso antes de un examen o certificación de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Chuleta final para memorizar por asociación de colores.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Repaso de los pares de conectores que más errores generan en soporte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Recorrido cronológico para situar cada puerto en su época.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Invitar a consultar el glosario durante la presentación; no hace falta memorizarlo.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Cierre: resumir que la identificación visual (forma + color) resuelve el 90 % de los casos, y que las versiones determinan la velocidad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hero_ports.jpg"/>
          <p:cNvPicPr>
            <a:picLocks noChangeAspect="1"/>
          </p:cNvPicPr>
          <p:nvPr/>
        </p:nvPicPr>
        <p:blipFill>
          <a:blip r:embed="rId2"/>
          <a:srcRect l="24424" r="24424"/>
          <a:stretch>
            <a:fillRect/>
          </a:stretch>
        </p:blipFill>
        <p:spPr>
          <a:xfrm>
            <a:off x="5760720" y="0"/>
            <a:ext cx="643124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60720" y="0"/>
            <a:ext cx="502920" cy="6858000"/>
          </a:xfrm>
          <a:prstGeom prst="rect">
            <a:avLst/>
          </a:prstGeom>
          <a:solidFill>
            <a:srgbClr val="F5F8FC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-548640" y="2651760"/>
            <a:ext cx="5486400" cy="548640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6400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5488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C94"/>
                </a:solidFill>
                <a:latin typeface="Consolas"/>
              </a:rPr>
              <a:t>GUÍA COMPLETA Y DETALLADA · HARDWARE · IDENTIFICACIÓN Y ESPECIFICACIONES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17043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0D1A2B"/>
                </a:solidFill>
                <a:latin typeface="Segoe UI Semibold"/>
              </a:rPr>
              <a:t>Puertos de Comunicación de 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3310128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2C3E56"/>
                </a:solidFill>
                <a:latin typeface="Segoe UI"/>
              </a:rPr>
              <a:t>Guía completa y detallada de todas las interfaces de una computadora: forma, color de identificación, velocidades, versiones y usos reales.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4315968"/>
            <a:ext cx="1371600" cy="457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5488" y="4498848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61738C"/>
                </a:solidFill>
                <a:latin typeface="Segoe UI"/>
              </a:rPr>
              <a:t>Recorrido por los 23 puertos clásicos y modernos —USB, RS-232, LPT, Thunderbolt, FireWire, PS/2, DIN, Game Port, VGA, DVI, HDMI, DisplayPort, S-Video, compuesto, RJ-45, RJ-11, SFP, audio 3.5 mm, TOSLINK, S/PDIF, eSATA, tarjetas SD e IrDA— con diagramas de identificación, códigos de colores y datos técnicos completos.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57800"/>
            <a:ext cx="1284731" cy="914400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" y="5367528"/>
            <a:ext cx="10286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5769864"/>
            <a:ext cx="10286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documentados a detalle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06524" y="5257800"/>
            <a:ext cx="1284731" cy="914400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034540" y="5367528"/>
            <a:ext cx="10286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4540" y="5769864"/>
            <a:ext cx="10286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1738C"/>
                </a:solidFill>
                <a:latin typeface="Segoe UI"/>
              </a:rPr>
              <a:t>bloques temáticos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59" y="5257800"/>
            <a:ext cx="1284731" cy="914400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65575" y="5367528"/>
            <a:ext cx="10286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25+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5" y="5769864"/>
            <a:ext cx="10286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1738C"/>
                </a:solidFill>
                <a:latin typeface="Segoe UI"/>
              </a:rPr>
              <a:t>diagramas de identificación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68596" y="5257800"/>
            <a:ext cx="1284731" cy="914400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96612" y="5367528"/>
            <a:ext cx="10286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100+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6612" y="5769864"/>
            <a:ext cx="10286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1738C"/>
                </a:solidFill>
                <a:latin typeface="Segoe UI"/>
              </a:rPr>
              <a:t>datos técnicos verificables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6254496"/>
            <a:ext cx="6431249" cy="603503"/>
          </a:xfrm>
          <a:prstGeom prst="rect">
            <a:avLst/>
          </a:prstGeom>
          <a:solidFill>
            <a:srgbClr val="F5F8F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5" name="Connector 24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5488" y="64465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01 / 56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Contenido de la guía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Siete bloques temáticos, de los puertos de datos generales a las interfaces inalámbricas.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02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01464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463040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63040"/>
            <a:ext cx="45720" cy="148132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6656" y="160934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1645920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Puertos de uso general y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176272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USB, RS-232, LPT, Thunderbolt y FireWire: transmisión de datos, alimentación y video.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2651760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1738C"/>
                </a:solidFill>
                <a:latin typeface="Consolas"/>
              </a:rPr>
              <a:t>Diapositivas 3 – 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3445" y="1463040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83445" y="1463040"/>
            <a:ext cx="45720" cy="148132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84613" y="160934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2125" y="1645920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Entrada de periféricos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4613" y="2176272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PS/2, conector DIN de 5 pines y Game Port: teclados, ratones, joysticks y MIDI.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4613" y="2651760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1738C"/>
                </a:solidFill>
                <a:latin typeface="Consolas"/>
              </a:rPr>
              <a:t>Diapositivas 15 – 18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1403" y="1463040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91403" y="1463040"/>
            <a:ext cx="45720" cy="148132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92571" y="160934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0083" y="1645920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Puertos de video y pantalla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2571" y="2176272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VGA, DVI, HDMI, DisplayPort, S-Video y video compuesto: del CRT al 8K.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2571" y="2651760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1738C"/>
                </a:solidFill>
                <a:latin typeface="Consolas"/>
              </a:rPr>
              <a:t>Diapositivas 19 – 29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3145536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75488" y="3145536"/>
            <a:ext cx="45720" cy="148132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76656" y="3291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" y="3328416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Red y comunicaciones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3858768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Ethernet RJ-45, módem RJ-11 y bahías SFP/QSFP: LAN, fibra óptica y telefonía.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4334256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1738C"/>
                </a:solidFill>
                <a:latin typeface="Consolas"/>
              </a:rPr>
              <a:t>Diapositivas 30 – 36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83445" y="3145536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283445" y="3145536"/>
            <a:ext cx="45720" cy="148132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484613" y="3291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2125" y="3328416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Puertos de audio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4613" y="3858768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Jack 3.5 mm con código de colores, S/PDIF óptico TOSLINK y S/PDIF coaxial.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4613" y="4334256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1738C"/>
                </a:solidFill>
                <a:latin typeface="Consolas"/>
              </a:rPr>
              <a:t>Diapositivas 37 – 42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1403" y="3145536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91403" y="3145536"/>
            <a:ext cx="45720" cy="148132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92571" y="3291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0083" y="3328416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Almacenamiento y expansión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2571" y="3858768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eSATA/eSATAp y lectores de tarjetas SD/microSD con velocidades UHS y SD Express.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2571" y="4334256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1738C"/>
                </a:solidFill>
                <a:latin typeface="Consolas"/>
              </a:rPr>
              <a:t>Diapositivas 43 – 47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4828032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475488" y="4828032"/>
            <a:ext cx="45720" cy="148132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76656" y="4974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E7C94"/>
                </a:solidFill>
                <a:latin typeface="Consolas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44168" y="5010912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Infrarrojos y repaso final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5541264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Puerto IrDA, tablas maestras, chuleta de colores, línea de tiempo y glosario.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" y="6016752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1738C"/>
                </a:solidFill>
                <a:latin typeface="Consolas"/>
              </a:rPr>
              <a:t>Diapositivas 48 – 56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9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2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19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03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602196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EAF0F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0E7C94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D1A2B"/>
                </a:solidFill>
                <a:latin typeface="Segoe UI Semibold"/>
              </a:rPr>
              <a:t>Puertos de uso general y datos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da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USB: el estándar universal de datos, alimentación y video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Puerto serie RS-232 (DE-9) para industria, consolas y equipos médicos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Puerto paralelo LPT (DB-25) de la era de las impresoras matriciales</a:t>
            </a:r>
          </a:p>
        </p:txBody>
      </p:sp>
      <p:sp>
        <p:nvSpPr>
          <p:cNvPr id="23" name="Oval 22"/>
          <p:cNvSpPr/>
          <p:nvPr/>
        </p:nvSpPr>
        <p:spPr>
          <a:xfrm>
            <a:off x="502919" y="5393845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533898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Thunderbolt: PCI Express y DisplayPort en un solo cable</a:t>
            </a:r>
          </a:p>
        </p:txBody>
      </p:sp>
      <p:sp>
        <p:nvSpPr>
          <p:cNvPr id="25" name="Oval 24"/>
          <p:cNvSpPr/>
          <p:nvPr/>
        </p:nvSpPr>
        <p:spPr>
          <a:xfrm>
            <a:off x="502919" y="5634266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5579402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FireWire (IEEE 1394): el bus isócrono de Apple para vídeo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USB (Universal Serial Bus)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Interfaz estándar universal para transmisión de datos, alimentación y video.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04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02928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588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2C3E56"/>
                </a:solidFill>
                <a:latin typeface="Segoe UI"/>
              </a:rPr>
              <a:t>Sustituyó en un solo estándar al </a:t>
            </a:r>
            <a:r>
              <a:rPr sz="1120" b="1">
                <a:solidFill>
                  <a:srgbClr val="2C3E56"/>
                </a:solidFill>
                <a:latin typeface="Segoe UI Semibold"/>
              </a:rPr>
              <a:t>puerto serie, al paralelo, al PS/2 y a los conectores propietarios</a:t>
            </a:r>
            <a:r>
              <a:rPr sz="1120" b="0">
                <a:solidFill>
                  <a:srgbClr val="2C3E56"/>
                </a:solidFill>
                <a:latin typeface="Segoe UI"/>
              </a:rPr>
              <a:t> de los periféricos: teclados, ratones, memorias, discos externos, impresoras, cámaras y accesorios diversos.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2124809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2069945"/>
            <a:ext cx="5352257" cy="588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2C3E56"/>
                </a:solidFill>
                <a:latin typeface="Segoe UI"/>
              </a:rPr>
              <a:t>Es </a:t>
            </a:r>
            <a:r>
              <a:rPr sz="1120" b="1">
                <a:solidFill>
                  <a:srgbClr val="2C3E56"/>
                </a:solidFill>
                <a:latin typeface="Segoe UI Semibold"/>
              </a:rPr>
              <a:t>hot-plug</a:t>
            </a:r>
            <a:r>
              <a:rPr sz="1120" b="0">
                <a:solidFill>
                  <a:srgbClr val="2C3E56"/>
                </a:solidFill>
                <a:latin typeface="Segoe UI"/>
              </a:rPr>
              <a:t> (conexión en caliente) e </a:t>
            </a:r>
            <a:r>
              <a:rPr sz="1120" b="1">
                <a:solidFill>
                  <a:srgbClr val="2C3E56"/>
                </a:solidFill>
                <a:latin typeface="Segoe UI Semibold"/>
              </a:rPr>
              <a:t>interoperable</a:t>
            </a:r>
            <a:r>
              <a:rPr sz="1120" b="0">
                <a:solidFill>
                  <a:srgbClr val="2C3E56"/>
                </a:solidFill>
                <a:latin typeface="Segoe UI"/>
              </a:rPr>
              <a:t>: el mismo cable sirve para alimentar, transferir datos y, con modos alternativos, transportar video.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823155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768291"/>
            <a:ext cx="5352257" cy="392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70" b="0">
                <a:solidFill>
                  <a:srgbClr val="2C3E56"/>
                </a:solidFill>
                <a:latin typeface="Segoe UI"/>
              </a:rPr>
              <a:t>Define también el </a:t>
            </a:r>
            <a:r>
              <a:rPr sz="1070" b="1">
                <a:solidFill>
                  <a:srgbClr val="2C3E56"/>
                </a:solidFill>
                <a:latin typeface="Segoe UI Semibold"/>
              </a:rPr>
              <a:t>suministro de energía</a:t>
            </a:r>
            <a:r>
              <a:rPr sz="1070" b="0">
                <a:solidFill>
                  <a:srgbClr val="2C3E56"/>
                </a:solidFill>
                <a:latin typeface="Segoe UI"/>
              </a:rPr>
              <a:t>: de 2.5 W (USB 2.0) hasta </a:t>
            </a:r>
            <a:r>
              <a:rPr sz="1070" b="1">
                <a:solidFill>
                  <a:srgbClr val="2C3E56"/>
                </a:solidFill>
                <a:latin typeface="Segoe UI Semibold"/>
              </a:rPr>
              <a:t>240 W con USB Power Delivery 3.1</a:t>
            </a:r>
            <a:r>
              <a:rPr sz="1070" b="0">
                <a:solidFill>
                  <a:srgbClr val="2C3E56"/>
                </a:solidFill>
                <a:latin typeface="Segoe UI"/>
              </a:rPr>
              <a:t>, lo que hoy carga incluso portátiles.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332529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3270430"/>
            <a:ext cx="5352257" cy="392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2C3E56"/>
                </a:solidFill>
                <a:latin typeface="Segoe UI"/>
              </a:rPr>
              <a:t>La identificación de versión se hace por el </a:t>
            </a:r>
            <a:r>
              <a:rPr sz="1120" b="1">
                <a:solidFill>
                  <a:srgbClr val="2C3E56"/>
                </a:solidFill>
                <a:latin typeface="Segoe UI Semibold"/>
              </a:rPr>
              <a:t>color del interior del conector</a:t>
            </a:r>
            <a:r>
              <a:rPr sz="1120" b="0">
                <a:solidFill>
                  <a:srgbClr val="2C3E56"/>
                </a:solidFill>
                <a:latin typeface="Segoe UI"/>
              </a:rPr>
              <a:t> y por los logotipos grabados (⚡ rayo, SS, tridente USB).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82743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772570"/>
            <a:ext cx="5352257" cy="392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2C3E56"/>
                </a:solidFill>
                <a:latin typeface="Segoe UI"/>
              </a:rPr>
              <a:t>Familia física de conectores: </a:t>
            </a:r>
            <a:r>
              <a:rPr sz="1120" b="1">
                <a:solidFill>
                  <a:srgbClr val="2C3E56"/>
                </a:solidFill>
                <a:latin typeface="Segoe UI Semibold"/>
              </a:rPr>
              <a:t>Type-A, Type-B, Mini-B, Micro-B y Type-C</a:t>
            </a:r>
            <a:r>
              <a:rPr sz="1120" b="0">
                <a:solidFill>
                  <a:srgbClr val="2C3E56"/>
                </a:solidFill>
                <a:latin typeface="Segoe UI"/>
              </a:rPr>
              <a:t> (reversible de 24 pines).</a:t>
            </a:r>
          </a:p>
        </p:txBody>
      </p:sp>
      <p:sp>
        <p:nvSpPr>
          <p:cNvPr id="26" name="Oval 25"/>
          <p:cNvSpPr/>
          <p:nvPr/>
        </p:nvSpPr>
        <p:spPr>
          <a:xfrm>
            <a:off x="502919" y="432957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4274710"/>
            <a:ext cx="5352257" cy="392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2C3E56"/>
                </a:solidFill>
                <a:latin typeface="Segoe UI"/>
              </a:rPr>
              <a:t>Presentado en </a:t>
            </a:r>
            <a:r>
              <a:rPr sz="1120" b="1">
                <a:solidFill>
                  <a:srgbClr val="2C3E56"/>
                </a:solidFill>
                <a:latin typeface="Segoe UI Semibold"/>
              </a:rPr>
              <a:t>1996</a:t>
            </a:r>
            <a:r>
              <a:rPr sz="1120" b="0">
                <a:solidFill>
                  <a:srgbClr val="2C3E56"/>
                </a:solidFill>
                <a:latin typeface="Segoe UI"/>
              </a:rPr>
              <a:t> (USB 1.0, 1.5 Mbps); hoy </a:t>
            </a:r>
            <a:r>
              <a:rPr sz="1120" b="1">
                <a:solidFill>
                  <a:srgbClr val="2C3E56"/>
                </a:solidFill>
                <a:latin typeface="Segoe UI Semibold"/>
              </a:rPr>
              <a:t>USB4</a:t>
            </a:r>
            <a:r>
              <a:rPr sz="1120" b="0">
                <a:solidFill>
                  <a:srgbClr val="2C3E56"/>
                </a:solidFill>
                <a:latin typeface="Segoe UI"/>
              </a:rPr>
              <a:t> alcanza hasta 120 Gbps en modo asimétrico.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p_usb.jpg"/>
          <p:cNvPicPr>
            <a:picLocks noChangeAspect="1"/>
          </p:cNvPicPr>
          <p:nvPr/>
        </p:nvPicPr>
        <p:blipFill>
          <a:blip r:embed="rId2"/>
          <a:srcRect l="16602" r="16602"/>
          <a:stretch>
            <a:fillRect/>
          </a:stretch>
        </p:blipFill>
        <p:spPr>
          <a:xfrm>
            <a:off x="6321521" y="1371600"/>
            <a:ext cx="5285232" cy="4315968"/>
          </a:xfrm>
          <a:prstGeom prst="roundRect">
            <a:avLst>
              <a:gd name="adj" fmla="val 1384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61738C"/>
                </a:solidFill>
                <a:latin typeface="Segoe UI"/>
              </a:rPr>
              <a:t>Puertos USB-A (azul = USB 3.0) y USB-C en el panel trasero de una placa madre actual.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358384"/>
            <a:ext cx="11240993" cy="84124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75488" y="5449824"/>
            <a:ext cx="32004" cy="65836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544982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NOTA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32704"/>
            <a:ext cx="109118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Dato faltante: el conector USB-C no distingue versión por color — consulta los logotipos ⚡ (Thunderbolt) o SS (SuperSpeed) grabados junto al puerto.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USB · Colores de identificación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El color de la lengüeta interior del conector indica, por convención, la versión.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05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03660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Blanco o gris</a:t>
            </a:r>
            <a:r>
              <a:rPr sz="1150" b="0">
                <a:solidFill>
                  <a:srgbClr val="2C3E56"/>
                </a:solidFill>
                <a:latin typeface="Segoe UI"/>
              </a:rPr>
              <a:t> — USB 1.0 / 1.1 (hasta 12 Mbps): los primeros periféricos, teclados y ratones.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193911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188425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Negro</a:t>
            </a:r>
            <a:r>
              <a:rPr sz="1150" b="0">
                <a:solidFill>
                  <a:srgbClr val="2C3E56"/>
                </a:solidFill>
                <a:latin typeface="Segoe UI"/>
              </a:rPr>
              <a:t> — USB 2.0 (hasta 480 Mbps): el color más extendido en memorias y periféricos básicos.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451765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396901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Azul</a:t>
            </a:r>
            <a:r>
              <a:rPr sz="1150" b="0">
                <a:solidFill>
                  <a:srgbClr val="2C3E56"/>
                </a:solidFill>
                <a:latin typeface="Segoe UI"/>
              </a:rPr>
              <a:t> (o logotipo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SS</a:t>
            </a:r>
            <a:r>
              <a:rPr sz="1150" b="0">
                <a:solidFill>
                  <a:srgbClr val="2C3E56"/>
                </a:solidFill>
                <a:latin typeface="Segoe UI"/>
              </a:rPr>
              <a:t>) — USB 3.0 / 3.1 Gen 1 (5 Gbps): discos duros externos y memorias rápidas.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2964416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90955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Rojo o turquesa (teal)</a:t>
            </a:r>
            <a:r>
              <a:rPr sz="1150" b="0">
                <a:solidFill>
                  <a:srgbClr val="2C3E56"/>
                </a:solidFill>
                <a:latin typeface="Segoe UI"/>
              </a:rPr>
              <a:t> — USB 3.1 Gen 2 / 3.2 Gen 2 (10 Gbps): típico de placas gaming y estaciones de trabajo.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477066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42220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USB Tipo C</a:t>
            </a:r>
            <a:r>
              <a:rPr sz="1150" b="0">
                <a:solidFill>
                  <a:srgbClr val="2C3E56"/>
                </a:solidFill>
                <a:latin typeface="Segoe UI"/>
              </a:rPr>
              <a:t> — ovalado, simétrico y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reversible</a:t>
            </a:r>
            <a:r>
              <a:rPr sz="1150" b="0">
                <a:solidFill>
                  <a:srgbClr val="2C3E56"/>
                </a:solidFill>
                <a:latin typeface="Segoe UI"/>
              </a:rPr>
              <a:t>; a menudo con icono de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rayo</a:t>
            </a:r>
            <a:r>
              <a:rPr sz="1150" b="0">
                <a:solidFill>
                  <a:srgbClr val="2C3E56"/>
                </a:solidFill>
                <a:latin typeface="Segoe UI"/>
              </a:rPr>
              <a:t> (Thunderbolt) o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DP</a:t>
            </a:r>
            <a:r>
              <a:rPr sz="1150" b="0">
                <a:solidFill>
                  <a:srgbClr val="2C3E56"/>
                </a:solidFill>
                <a:latin typeface="Segoe UI"/>
              </a:rPr>
              <a:t> (DisplayPort Alt Mode) al lado.</a:t>
            </a:r>
          </a:p>
        </p:txBody>
      </p:sp>
      <p:sp>
        <p:nvSpPr>
          <p:cNvPr id="26" name="Oval 25"/>
          <p:cNvSpPr/>
          <p:nvPr/>
        </p:nvSpPr>
        <p:spPr>
          <a:xfrm>
            <a:off x="502919" y="3989717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934853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Algunos fabricantes usan colores propios (naranja para carga, verde para teclados de consola): el color es convención, no norma.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usb_col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521" y="2026299"/>
            <a:ext cx="5285232" cy="3006569"/>
          </a:xfrm>
          <a:prstGeom prst="roundRect">
            <a:avLst>
              <a:gd name="adj" fmla="val 1384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61738C"/>
                </a:solidFill>
                <a:latin typeface="Segoe UI"/>
              </a:rPr>
              <a:t>Código de colores del interior de los conectores USB-A y forma del USB-C.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USB · Familia de conectores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Cinco formas físicas que cubren desde equipos fijos hasta dispositivos móviles.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06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204392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Type-A</a:t>
            </a:r>
            <a:r>
              <a:rPr sz="1150" b="0">
                <a:solidFill>
                  <a:srgbClr val="2C3E56"/>
                </a:solidFill>
                <a:latin typeface="Segoe UI"/>
              </a:rPr>
              <a:t> — el conector plano rectangular del PC: teclados, ratones, memorias y hubs. Interior con 4 contactos (2.0) o 9 (3.x).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193911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188425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Type-B</a:t>
            </a:r>
            <a:r>
              <a:rPr sz="1150" b="0">
                <a:solidFill>
                  <a:srgbClr val="2C3E56"/>
                </a:solidFill>
                <a:latin typeface="Segoe UI"/>
              </a:rPr>
              <a:t> — cuadrado con chaflán superior: impresoras, escáneres, discos externos y tarjetas de audio.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451765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396901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Mini-B</a:t>
            </a:r>
            <a:r>
              <a:rPr sz="1150" b="0">
                <a:solidFill>
                  <a:srgbClr val="2C3E56"/>
                </a:solidFill>
                <a:latin typeface="Segoe UI"/>
              </a:rPr>
              <a:t> — versión reducida de 5 pines: cámaras fotográficas, GPS y discos portátiles de la década de 2000.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2964416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90955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Micro-B</a:t>
            </a:r>
            <a:r>
              <a:rPr sz="1150" b="0">
                <a:solidFill>
                  <a:srgbClr val="2C3E56"/>
                </a:solidFill>
                <a:latin typeface="Segoe UI"/>
              </a:rPr>
              <a:t> — fino, con rebeles: teléfonos y tablets (USB 2.0 o 3.0); el conector más frágil de la familia.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477066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42220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Type-C</a:t>
            </a:r>
            <a:r>
              <a:rPr sz="1150" b="0">
                <a:solidFill>
                  <a:srgbClr val="2C3E56"/>
                </a:solidFill>
                <a:latin typeface="Segoe UI"/>
              </a:rPr>
              <a:t> — óvalo de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24 pines reversible</a:t>
            </a:r>
            <a:r>
              <a:rPr sz="1150" b="0">
                <a:solidFill>
                  <a:srgbClr val="2C3E56"/>
                </a:solidFill>
                <a:latin typeface="Segoe UI"/>
              </a:rPr>
              <a:t> que sustituye a todos los anteriores: datos, video (DP/HDMI), audio y hasta 240 W de alimentación.</a:t>
            </a:r>
          </a:p>
        </p:txBody>
      </p:sp>
      <p:sp>
        <p:nvSpPr>
          <p:cNvPr id="26" name="Oval 25"/>
          <p:cNvSpPr/>
          <p:nvPr/>
        </p:nvSpPr>
        <p:spPr>
          <a:xfrm>
            <a:off x="502919" y="3989717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934853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Compatibilidad: un cable A→C sirve para cualquier dispositivo C, pero la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velocidad máxima la define la versión</a:t>
            </a:r>
            <a:r>
              <a:rPr sz="1150" b="0">
                <a:solidFill>
                  <a:srgbClr val="2C3E56"/>
                </a:solidFill>
                <a:latin typeface="Segoe UI"/>
              </a:rPr>
              <a:t> de ambos extremos.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usb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521" y="2208276"/>
            <a:ext cx="5285232" cy="2642616"/>
          </a:xfrm>
          <a:prstGeom prst="roundRect">
            <a:avLst>
              <a:gd name="adj" fmla="val 1384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61738C"/>
                </a:solidFill>
                <a:latin typeface="Segoe UI"/>
              </a:rPr>
              <a:t>Type-A, Type-B, Mini-B, Micro-B y Type-C: geometrías no intercambiables.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USB · Versiones y velocidades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De 1.5 Mbps en 1996 a 120 Gbps en modo asimétrico con USB4 v2.0.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07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405124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0E7C94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82660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8FC"/>
                </a:solidFill>
                <a:latin typeface="Segoe UI Semibold"/>
              </a:rPr>
              <a:t>Estándar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1549" y="1371600"/>
            <a:ext cx="63368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8FC"/>
                </a:solidFill>
                <a:latin typeface="Segoe UI Semibold"/>
              </a:rPr>
              <a:t>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1536" y="1371600"/>
            <a:ext cx="173484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8FC"/>
                </a:solidFill>
                <a:latin typeface="Segoe UI Semibold"/>
              </a:rPr>
              <a:t>Velocidad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2682" y="1371600"/>
            <a:ext cx="32948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8FC"/>
                </a:solidFill>
                <a:latin typeface="Segoe UI Semibold"/>
              </a:rPr>
              <a:t>Nombre comercial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3802" y="1371600"/>
            <a:ext cx="30195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F8FC"/>
                </a:solidFill>
                <a:latin typeface="Segoe UI Semibold"/>
              </a:rPr>
              <a:t>Color típico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52044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D1A2B"/>
                </a:solidFill>
                <a:latin typeface="Segoe UI"/>
              </a:rPr>
              <a:t>USB 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1549" y="1700784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1996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1536" y="1700784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1.5 Mbps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682" y="1700784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Low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3802" y="1700784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blanco / gris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52828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D1A2B"/>
                </a:solidFill>
                <a:latin typeface="Segoe UI"/>
              </a:rPr>
              <a:t>USB 1.1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1549" y="2052828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1998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1536" y="2052828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12 Mbps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2682" y="2052828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Full Speed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3802" y="2052828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blanco / gris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04872"/>
            <a:ext cx="11240993" cy="352044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04872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D1A2B"/>
                </a:solidFill>
                <a:latin typeface="Segoe UI"/>
              </a:rPr>
              <a:t>USB 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1549" y="2404872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2000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1536" y="2404872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480 Mbps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2682" y="2404872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High Speed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3802" y="2404872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negro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56915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D1A2B"/>
                </a:solidFill>
                <a:latin typeface="Segoe UI"/>
              </a:rPr>
              <a:t>USB 3.0 / 3.1 Gen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21549" y="2756915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2008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01536" y="2756915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5 Gbps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2682" y="2756915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SuperSpeed (SS)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23802" y="2756915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azul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08959"/>
            <a:ext cx="11240993" cy="352044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08959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D1A2B"/>
                </a:solidFill>
                <a:latin typeface="Segoe UI"/>
              </a:rPr>
              <a:t>USB 3.1 Gen 2 / 3.2 Gen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21549" y="3108959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2013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01536" y="3108959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10 Gbps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2682" y="3108959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SuperSpeed+ 10 Gbps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23802" y="3108959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rojo o turquesa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461003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D1A2B"/>
                </a:solidFill>
                <a:latin typeface="Segoe UI"/>
              </a:rPr>
              <a:t>USB 3.2 Gen 2x2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21549" y="3461003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2017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01536" y="3461003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20 Gbps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2682" y="3461003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SuperSpeed+ 20 Gbps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23802" y="3461003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rojo (pocos equipos)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" y="3813047"/>
            <a:ext cx="11240993" cy="352044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48640" y="3813047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D1A2B"/>
                </a:solidFill>
                <a:latin typeface="Segoe UI"/>
              </a:rPr>
              <a:t>USB4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1549" y="3813047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2019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01536" y="3813047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40 Gbps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82682" y="3813047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USB4 Gen 3x2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23802" y="3813047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interior negro (USB-C)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165091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D1A2B"/>
                </a:solidFill>
                <a:latin typeface="Segoe UI"/>
              </a:rPr>
              <a:t>USB4 v2.0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21549" y="4165091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Consolas"/>
              </a:rPr>
              <a:t>2022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01536" y="4165091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80 / 120 Gbps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82682" y="4165091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asimétrico (120/40)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23802" y="4165091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C3E56"/>
                </a:solidFill>
                <a:latin typeface="Segoe UI"/>
              </a:rPr>
              <a:t>USB-C 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5488" y="1371600"/>
            <a:ext cx="11240993" cy="3145535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LECTURA DE LA TABLA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Ojo con la nomenclatura: «USB 3.1 Gen 1» es exactamente lo mismo que USB 3.0 (5 Gbps). Solo cambia el nombre comercial, no la velocidad real.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fill="hold">
                                  <p:stCondLst>
                                    <p:cond delay="41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2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fill="hold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fill="hold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8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fill="hold">
                                  <p:stCondLst>
                                    <p:cond delay="451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1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fill="hold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4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fill="hold">
                                  <p:stCondLst>
                                    <p:cond delay="473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7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fill="hold">
                                  <p:stCondLst>
                                    <p:cond delay="48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0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fill="hold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3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fill="hold">
                                  <p:stCondLst>
                                    <p:cond delay="506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6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fill="hold">
                                  <p:stCondLst>
                                    <p:cond delay="517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9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fill="hold">
                                  <p:stCondLst>
                                    <p:cond delay="528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92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USB · Potencia, longitudes y datos que faltan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Lo que no se ve en el conector: energía, distancia máxima y modos de trabajo.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08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605856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81328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Alimentación (Power Delivery)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USB 2.0: 5 V / 500 mA (2.5 W). USB 3.x: 900 mA (4.5 W). BC 1.2: 1.5 A. USB-C PD: 5-48 V hasta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240 W</a:t>
            </a:r>
            <a:r>
              <a:rPr sz="1150" b="0">
                <a:solidFill>
                  <a:srgbClr val="2C3E56"/>
                </a:solidFill>
                <a:latin typeface="Segoe UI"/>
              </a:rPr>
              <a:t> (EPR) para cargar portátiles.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9541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481328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72421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Longitud máxima de cable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421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USB 2.0: 5 m. USB 3.x: 2-3 m pasivos. USB4/Thunderbolt: 0.8 m a velocidad máxima (2 m limitado). Con repetidores activos u ópticos se superan 30 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595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03595" y="1481328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6475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Contactos internos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475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USB 2.0: 4 pines (VBUS, D-, D+, GND). USB 3.x Type-A: 9 pines. USB-C: 24 pines con 4 pares diferenciales de datos y reversibilidad física.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3488436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Modos alternativos (Alt Mode)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DisplayPort Alt Mode (video hasta 8K), HDMI Alt Mode y tunelizado de Thunderbolt 3/4: el mismo USB-C lleva video, datos y energía a la vez.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9541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89541" y="3488436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72421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1A2B"/>
                </a:solidFill>
                <a:latin typeface="Segoe UI Semibold"/>
              </a:rPr>
              <a:t>Transferencia de almacenamiento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2421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BOT (Bulk-Only Transport, clásico) y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UASP</a:t>
            </a:r>
            <a:r>
              <a:rPr sz="1150" b="0">
                <a:solidFill>
                  <a:srgbClr val="2C3E56"/>
                </a:solidFill>
                <a:latin typeface="Segoe UI"/>
              </a:rPr>
              <a:t> (SCSI sobre USB), que aporta ~20-30 % más de velocidad real en discos externos modernos.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3595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03595" y="3488436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86475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Compatibilidad y etiquetado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475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Todos los USB son retrocompatibles hacia abajo, pero a la velocidad del más lento. Los logos certificados (SS, SS 10, ⚡) garantizan el estándar del cable.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5330952"/>
            <a:ext cx="11240993" cy="86868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75488" y="5422392"/>
            <a:ext cx="32004" cy="68580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542239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NOTA TÉCNICA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605272"/>
            <a:ext cx="1091180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Regla práctica: un cable «cargador» barato de gasolinera puede cargar el teléfono pero transferir datos a 2.0 o bloquear modos de video — revisar la serigrafía.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Puerto Serie (RS-232 / DB-9)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Comunicación asíncrona de transmisión bit a bit, el estándar industrial desde 1969.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09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806588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El estándar </a:t>
            </a:r>
            <a:r>
              <a:rPr sz="1050" b="1">
                <a:solidFill>
                  <a:srgbClr val="2C3E56"/>
                </a:solidFill>
                <a:latin typeface="Segoe UI Semibold"/>
              </a:rPr>
              <a:t>RS-232</a:t>
            </a:r>
            <a:r>
              <a:rPr sz="1050" b="0">
                <a:solidFill>
                  <a:srgbClr val="2C3E56"/>
                </a:solidFill>
                <a:latin typeface="Segoe UI"/>
              </a:rPr>
              <a:t> define niveles eléctricos, temporización y protocolo para comunicación </a:t>
            </a:r>
            <a:r>
              <a:rPr sz="1050" b="1">
                <a:solidFill>
                  <a:srgbClr val="2C3E56"/>
                </a:solidFill>
                <a:latin typeface="Segoe UI Semibold"/>
              </a:rPr>
              <a:t>asíncrona</a:t>
            </a:r>
            <a:r>
              <a:rPr sz="1050" b="0">
                <a:solidFill>
                  <a:srgbClr val="2C3E56"/>
                </a:solidFill>
                <a:latin typeface="Segoe UI"/>
              </a:rPr>
              <a:t> entre DTE (equipo terminal) y DCE (módem).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1939114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1884250"/>
            <a:ext cx="5352257" cy="805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Conector clásico en forma de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«D» de 9 pines (DE-9 macho)</a:t>
            </a:r>
            <a:r>
              <a:rPr sz="1150" b="0">
                <a:solidFill>
                  <a:srgbClr val="2C3E56"/>
                </a:solidFill>
                <a:latin typeface="Segoe UI"/>
              </a:rPr>
              <a:t>, llamado erróneamente «DB-9». En placas antiguas era de color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turquesa / azul verdoso</a:t>
            </a:r>
            <a:r>
              <a:rPr sz="1150" b="0">
                <a:solidFill>
                  <a:srgbClr val="2C3E56"/>
                </a:solidFill>
                <a:latin typeface="Segoe UI"/>
              </a:rPr>
              <a:t> o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gris metálico</a:t>
            </a:r>
            <a:r>
              <a:rPr sz="1150" b="0">
                <a:solidFill>
                  <a:srgbClr val="2C3E56"/>
                </a:solidFill>
                <a:latin typeface="Segoe UI"/>
              </a:rPr>
              <a:t>; en tarjetas modernas aparece como cabecera interna negra.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854688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799824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Velocidad típica hasta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115.2 kbps</a:t>
            </a:r>
            <a:r>
              <a:rPr sz="1150" b="0">
                <a:solidFill>
                  <a:srgbClr val="2C3E56"/>
                </a:solidFill>
                <a:latin typeface="Segoe UI"/>
              </a:rPr>
              <a:t> en configuraciones estándar (921.6 kbps con UART avanzados).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3367338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3312474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Sigue vivo en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consolas de red (Cisco rollover), PLCs industriales, equipos médicos, balanzas, GPS de precisión y módems antiguos</a:t>
            </a:r>
            <a:r>
              <a:rPr sz="1150" b="0">
                <a:solidFill>
                  <a:srgbClr val="2C3E56"/>
                </a:solidFill>
                <a:latin typeface="Segoe UI"/>
              </a:rPr>
              <a:t>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879989"/>
            <a:ext cx="82296" cy="82296"/>
          </a:xfrm>
          <a:prstGeom prst="ellipse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825125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Señal con tensiones de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±3 V a ±15 V</a:t>
            </a:r>
            <a:r>
              <a:rPr sz="1150" b="0">
                <a:solidFill>
                  <a:srgbClr val="2C3E56"/>
                </a:solidFill>
                <a:latin typeface="Segoe UI"/>
              </a:rPr>
              <a:t> (típico ±12 V): más robusta al ruido que los 5 V de TTL, con cable de hasta 15 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p_rs232.jpg"/>
          <p:cNvPicPr>
            <a:picLocks noChangeAspect="1"/>
          </p:cNvPicPr>
          <p:nvPr/>
        </p:nvPicPr>
        <p:blipFill>
          <a:blip r:embed="rId2"/>
          <a:srcRect l="16602" r="16602"/>
          <a:stretch>
            <a:fillRect/>
          </a:stretch>
        </p:blipFill>
        <p:spPr>
          <a:xfrm>
            <a:off x="6321521" y="1371600"/>
            <a:ext cx="5285232" cy="4315968"/>
          </a:xfrm>
          <a:prstGeom prst="roundRect">
            <a:avLst>
              <a:gd name="adj" fmla="val 1384"/>
            </a:avLst>
          </a:prstGeom>
        </p:spPr>
      </p:pic>
      <p:sp>
        <p:nvSpPr>
          <p:cNvPr id="28" name="TextBox 27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61738C"/>
                </a:solidFill>
                <a:latin typeface="Segoe UI"/>
              </a:rPr>
              <a:t>Puerto serie DE-9 (macho) de color turquesa, aún presente en placas industriales.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RS-232 · Pinout y características eléctricas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Nueve líneas con función definida; solo tres son imprescindibles (TXD, RXD, GND).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10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007320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su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45" y="1554480"/>
            <a:ext cx="4631524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macho</a:t>
            </a:r>
            <a:r>
              <a:rPr sz="1019" b="0">
                <a:solidFill>
                  <a:srgbClr val="2C3E56"/>
                </a:solidFill>
                <a:latin typeface="Segoe UI"/>
              </a:rPr>
              <a:t> en «D» de 9 pines (DE-9). Color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turquesa / azul verdoso</a:t>
            </a:r>
            <a:r>
              <a:rPr sz="1019" b="0">
                <a:solidFill>
                  <a:srgbClr val="2C3E56"/>
                </a:solidFill>
                <a:latin typeface="Segoe UI"/>
              </a:rPr>
              <a:t> o gris metálico en placas antiguas; serigrafía «COM» o «Serial».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Hasta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115.2 kbps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habitual (921.6 kbps con UART 16C950). Asíncrono 7N1/8N1. Niveles RS-232: ±3…±15 V. Cable máx. 15 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Consolas de red, dispositivos médicos, módems antiguos, PLCs e industria. Pines clave: 2 RXD, 3 TXD, 5 GND (7 RTS, 8 CTS para flujo).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C3E56"/>
                </a:solidFill>
                <a:latin typeface="Segoe UI"/>
              </a:rPr>
              <a:t>Variantes hermanas: RS-422 y RS-485 usan señal diferencial y alcanzan 1.2 km y 10 Mbps, habituales en automatización industrial.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Puerto Paralelo (LPT / DB-25)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Transmisión simultánea de 8 bits a la vez, el reino de las impresoras hasta los 2000.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208052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sub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554480"/>
            <a:ext cx="4901183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hembra</a:t>
            </a:r>
            <a:r>
              <a:rPr sz="1019" b="0">
                <a:solidFill>
                  <a:srgbClr val="2C3E56"/>
                </a:solidFill>
                <a:latin typeface="Segoe UI"/>
              </a:rPr>
              <a:t> grande en «D» de 25 pines. Tradicionalmente de tono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burdeos / rojo oscuro o rosa</a:t>
            </a:r>
            <a:r>
              <a:rPr sz="1019" b="0">
                <a:solidFill>
                  <a:srgbClr val="2C3E56"/>
                </a:solidFill>
                <a:latin typeface="Segoe UI"/>
              </a:rPr>
              <a:t> en gabinetes AT/ATX (código de color PC99).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De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50 KB/s</a:t>
            </a:r>
            <a:r>
              <a:rPr sz="1019" b="0">
                <a:solidFill>
                  <a:srgbClr val="2C3E56"/>
                </a:solidFill>
                <a:latin typeface="Segoe UI"/>
              </a:rPr>
              <a:t> (modo SPP) hasta más de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2 MB/s</a:t>
            </a:r>
            <a:r>
              <a:rPr sz="1019" b="0">
                <a:solidFill>
                  <a:srgbClr val="2C3E56"/>
                </a:solidFill>
                <a:latin typeface="Segoe UI"/>
              </a:rPr>
              <a:t> con modos EPP/ECP. Estándar IEEE 1284. Cable máx. 10-15 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Impresoras matriciales y de chorro, escáneres antiguos, unidades ZIP, dongles de licencia y programadores de EPROM. Dirección base 0x378.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C3E56"/>
                </a:solidFill>
                <a:latin typeface="Segoe UI"/>
              </a:rPr>
              <a:t>ECP usa DMA y compresión RLE; EPP fue la evolución para discos y escáneres. Ambos convivieron con los modos clásicos SPP/PS2 en el mismo conector.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Thunderbolt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Ultra alta velocidad: combina PCI Express, DisplayPort y alimentación en un solo cable.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408784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thunder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384"/>
            <a:ext cx="4992624" cy="268807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En versiones recientes comparte el diseño del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USB Tipo C</a:t>
            </a:r>
            <a:r>
              <a:rPr sz="1019" b="0">
                <a:solidFill>
                  <a:srgbClr val="2C3E56"/>
                </a:solidFill>
                <a:latin typeface="Segoe UI"/>
              </a:rPr>
              <a:t>, distinguiéndose obligatoriamente por un pequeño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icono de rayo</a:t>
            </a:r>
            <a:r>
              <a:rPr sz="1019" b="0">
                <a:solidFill>
                  <a:srgbClr val="2C3E56"/>
                </a:solidFill>
                <a:latin typeface="Segoe UI"/>
              </a:rPr>
              <a:t> grabado junto al puerto. Thunderbolt 1 y 2 usaban Mini DisplayPort, también con rayo.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TB1: 10 Gbps · TB2: 20 Gbps · TB3 y TB4: 40 Gbps · TB5: hasta 80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(120 Gbps en modo asimétrico). Tuneliza PCIe + DP + USB + PD.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Tarjetas gráficas externas (eGPU), almacenamiento profesional, docks y monitores 4K/8K. Daisy-chain de hasta 6 dispositivos; hasta 240 W de carga (TB5/PD).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C3E56"/>
                </a:solidFill>
                <a:latin typeface="Segoe UI"/>
              </a:rPr>
              <a:t>Cable pasivo: 0.8 m a 40 Gbps (2 m a 20 Gbps). Los cables activos u ópticos alcanzan 2-60 m manteniendo el ancho de banda completo.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Thunderbolt · Evolución de versiones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Cuatro generaciones con el mismo concepto: PCIe y DisplayPort multiplexados.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13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609516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0E7C94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4543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Versión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9269" y="1371600"/>
            <a:ext cx="6311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718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Ancho de banda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0277" y="1371600"/>
            <a:ext cx="20031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Conector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9694" y="1371600"/>
            <a:ext cx="478363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Pantallas / capacidades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840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Thunderbolt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9269" y="1700784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718" y="1700784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 Gbps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0277" y="1700784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Mini DisplayPort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9694" y="1700784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1× 2560×1600 · PCIe 2.0 x4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84831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Thunderbolt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9269" y="2084831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718" y="2084831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 Gbps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0277" y="2084831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Mini DisplayPort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9694" y="2084831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1× 4K · agrega dos enlaces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68879"/>
            <a:ext cx="11240993" cy="3840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68879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Thunderbolt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9269" y="2468879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718" y="2468879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40 Gbps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0277" y="2468879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USB-C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9694" y="2468879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2× 4K · eGPU · PD hasta 100 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852927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Thunderbolt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9269" y="2852927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718" y="2852927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40 Gbps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0277" y="2852927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USB-C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9694" y="2852927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2× 4K o 1× 8K · docks · PD 100 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236975"/>
            <a:ext cx="11240993" cy="3840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236975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Thunderbolt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9269" y="3236975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718" y="3236975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80 / 120 Gbps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0277" y="3236975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USB-C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9694" y="3236975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2× 8K · PCIe 5.0 · PD hasta 240 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" y="1371600"/>
            <a:ext cx="11240993" cy="224942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LECTURA DE LA TABLA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El icono del rayo es obligatorio: muchos puertos USB-C solo son USB (sin PCIe ni DisplayPort) y se confunden con Thunderbolt por la forma idéntica del conector.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FireWire (IEEE 1394)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Bus serie de alta velocidad desarrollado por Apple, pensado para vídeo en tiempo real.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810248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ire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995182"/>
            <a:ext cx="4992624" cy="279448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rectangular con un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borde en ángulo o forma de «V»</a:t>
            </a:r>
            <a:r>
              <a:rPr sz="1019" b="0">
                <a:solidFill>
                  <a:srgbClr val="2C3E56"/>
                </a:solidFill>
                <a:latin typeface="Segoe UI"/>
              </a:rPr>
              <a:t>. Detalles en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dorado</a:t>
            </a:r>
            <a:r>
              <a:rPr sz="1019" b="0">
                <a:solidFill>
                  <a:srgbClr val="2C3E56"/>
                </a:solidFill>
                <a:latin typeface="Segoe UI"/>
              </a:rPr>
              <a:t> o marcos metálicos plateados con el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logo de FireWire</a:t>
            </a:r>
            <a:r>
              <a:rPr sz="1019" b="0">
                <a:solidFill>
                  <a:srgbClr val="2C3E56"/>
                </a:solidFill>
                <a:latin typeface="Segoe UI"/>
              </a:rPr>
              <a:t> (círculo con tres ramas). 6 pines (Mac) o 4 pines (i.LINK, sin alimentación).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FireWire 400 (400 Mbps)</a:t>
            </a:r>
            <a:r>
              <a:rPr sz="1019" b="0">
                <a:solidFill>
                  <a:srgbClr val="2C3E56"/>
                </a:solidFill>
                <a:latin typeface="Segoe UI"/>
              </a:rPr>
              <a:t> y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FireWire 800 (800 Mbps)</a:t>
            </a:r>
            <a:r>
              <a:rPr sz="1019" b="0">
                <a:solidFill>
                  <a:srgbClr val="2C3E56"/>
                </a:solidFill>
                <a:latin typeface="Segoe UI"/>
              </a:rPr>
              <a:t>. Modo isócrono garantiza ancho de banda para vídeo sin interrupciones. Cable 4.5 m (100 m con fibra).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Videocámaras DV, discos duros externos de audio/video, interfaces de audio profesionales. Hasta 63 dispositivos en cadena, peer-to-peer y hot-swap.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C3E56"/>
                </a:solidFill>
                <a:latin typeface="Segoe UI"/>
              </a:rPr>
              <a:t>Apple lo retiró en 2011; su relevo lo tomaron USB 2.0/3.0, eSATA y Thunderbolt. Los equipos de edición de vídeo de los 2000 lo estandarizaron (i.LINK de Sony).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2690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2690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15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3010980" cy="32004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EAF0F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C2690A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D1A2B"/>
                </a:solidFill>
                <a:latin typeface="Segoe UI Semibold"/>
              </a:rPr>
              <a:t>Entrada de periféricos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entr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Puerto PS/2: mini-DIN con código de colores estricto (verde y morado)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Conector DIN de 5 pines de los teclados de la era IBM AT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Game Port (DA-15): joysticks analógicos y teclados MIDI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2690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2690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2690A"/>
                </a:solidFill>
                <a:latin typeface="Consolas"/>
              </a:rPr>
              <a:t>02 · ENTRADA DE PERIFÉRICOS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Puerto PS/2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Conector circular mini-DIN para periféricos de control, con identificación de color obligatoria.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3211712" cy="32004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p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00025"/>
            <a:ext cx="4992624" cy="27847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Puerto redondo pequeño de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6 agujeros internos</a:t>
            </a:r>
            <a:r>
              <a:rPr sz="1019" b="0">
                <a:solidFill>
                  <a:srgbClr val="2C3E56"/>
                </a:solidFill>
                <a:latin typeface="Segoe UI"/>
              </a:rPr>
              <a:t> con guía. Código de colores universal estricto: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VERDE = ratón</a:t>
            </a:r>
            <a:r>
              <a:rPr sz="1019" b="0">
                <a:solidFill>
                  <a:srgbClr val="2C3E56"/>
                </a:solidFill>
                <a:latin typeface="Segoe UI"/>
              </a:rPr>
              <a:t> y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MORADO / VIOLETA = teclado</a:t>
            </a:r>
            <a:r>
              <a:rPr sz="1019" b="0">
                <a:solidFill>
                  <a:srgbClr val="2C3E56"/>
                </a:solidFill>
                <a:latin typeface="Segoe UI"/>
              </a:rPr>
              <a:t> (norma PC99). En portátiles existe el puerto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combo</a:t>
            </a:r>
            <a:r>
              <a:rPr sz="1019" b="0">
                <a:solidFill>
                  <a:srgbClr val="2C3E56"/>
                </a:solidFill>
                <a:latin typeface="Segoe UI"/>
              </a:rPr>
              <a:t> azul para ambos.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Comunicación directa de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baja latencia</a:t>
            </a:r>
            <a:r>
              <a:rPr sz="1019" b="0">
                <a:solidFill>
                  <a:srgbClr val="2C3E56"/>
                </a:solidFill>
                <a:latin typeface="Segoe UI"/>
              </a:rPr>
              <a:t> basada en interrupciones de hardware (IRQ 1 teclado, IRQ 12 ratón), a 10-16.7 kHz.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+5 V</a:t>
            </a:r>
            <a:r>
              <a:rPr sz="1019" b="0">
                <a:solidFill>
                  <a:srgbClr val="2C3E56"/>
                </a:solidFill>
                <a:latin typeface="Segoe UI"/>
              </a:rPr>
              <a:t> · ~100 mA por puerto.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Teclados y ratones de conexión directa. Muy apreciado en teclados mecánicos por su NKRO nativo y ausencia de latencia añadida por USB.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2690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faltan: de los 6 pines solo 4 son activos (DATA, CLK, +5 V, GND). No es hot-plug en BIOS antiguos (se reconoce al arranque). Los adaptadores USB pasivos solo funcionan en puertos combo.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2690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2690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2690A"/>
                </a:solidFill>
                <a:latin typeface="Consolas"/>
              </a:rPr>
              <a:t>02 · ENTRADA DE PERIFÉRICOS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Conector DIN de 5 pines (teclado 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El conector circular grande de los teclados de las PCs de la era IBM AT.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17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3412444" cy="32004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i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33" y="1554480"/>
            <a:ext cx="4182148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circular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grande de color plateado metálico</a:t>
            </a:r>
            <a:r>
              <a:rPr sz="1019" b="0">
                <a:solidFill>
                  <a:srgbClr val="2C3E56"/>
                </a:solidFill>
                <a:latin typeface="Segoe UI"/>
              </a:rPr>
              <a:t> (270°, 5 pines) con un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anillo guía</a:t>
            </a:r>
            <a:r>
              <a:rPr sz="1019" b="0">
                <a:solidFill>
                  <a:srgbClr val="2C3E56"/>
                </a:solidFill>
                <a:latin typeface="Segoe UI"/>
              </a:rPr>
              <a:t> y los pines dispuestos en forma de media luna. No confundir con el mini-DIN de PS/2, mucho más pequeño.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Baja velocidad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síncrona</a:t>
            </a:r>
            <a:r>
              <a:rPr sz="1019" b="0">
                <a:solidFill>
                  <a:srgbClr val="2C3E56"/>
                </a:solidFill>
                <a:latin typeface="Segoe UI"/>
              </a:rPr>
              <a:t> para pulsaciones de teclas: reloj de 10-16.7 kHz con línea de datos serie. Alimentación +5 V y señal TTL.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Teclados de computadoras antiguas (décadas de 1980-1990): IBM PC/XT y AT, clones 286/386 y teclados industriales con adaptador DIN→PS/2.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2690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C3E56"/>
                </a:solidFill>
                <a:latin typeface="Segoe UI"/>
              </a:rPr>
              <a:t>Pinout AT: 1 CLK · 2 DATA · 3 RESET · 4 GND · 5 +5 V (el IBM XT usaba otro orden). Muchos teclados DIN incluían un adaptador pasivo a PS/2.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2690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2690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2690A"/>
                </a:solidFill>
                <a:latin typeface="Consolas"/>
              </a:rPr>
              <a:t>02 · ENTRADA DE PERIFÉRICOS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Puerto de Juegos (Game Port / DA-15)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Puerto analógico para mandos de juego y dispositivos musicales MIDI.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18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3613176" cy="32004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gam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71" y="1554480"/>
            <a:ext cx="4816073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hembra en forma de «D» de 15 pines</a:t>
            </a:r>
            <a:r>
              <a:rPr sz="1019" b="0">
                <a:solidFill>
                  <a:srgbClr val="2C3E56"/>
                </a:solidFill>
                <a:latin typeface="Segoe UI"/>
              </a:rPr>
              <a:t> (DA-15, dos filas de 8+7). Típicamente pintado de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amarillo dorado</a:t>
            </a:r>
            <a:r>
              <a:rPr sz="1019" b="0">
                <a:solidFill>
                  <a:srgbClr val="2C3E56"/>
                </a:solidFill>
                <a:latin typeface="Segoe UI"/>
              </a:rPr>
              <a:t> o integrado en las tarjetas de sonido clásicas (Creative Sound Blaster).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Baja velocidad de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muestreo analógico</a:t>
            </a:r>
            <a:r>
              <a:rPr sz="1019" b="0">
                <a:solidFill>
                  <a:srgbClr val="2C3E56"/>
                </a:solidFill>
                <a:latin typeface="Segoe UI"/>
              </a:rPr>
              <a:t> (ejes leídos por resistencias de 100 kΩ, sin digitalización interna). El adaptador MIDI trabaja a 31.25 kbaud.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Joysticks analógicos, volantes, gamepads de la era DOS y teclados sintetizadores MIDI mediante adaptador de 15 pines a dos conectores DIN-5.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2690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2C3E56"/>
                </a:solidFill>
                <a:latin typeface="Segoe UI"/>
              </a:rPr>
              <a:t>Datos que faltan: soporta 4 ejes (X, Y, rudder, throttle) y 4 botones; sin detección automática ni alimentación para periféricos complejos. Reemplazado por USB HID alrededor del año 2000.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19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3813908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EAF0F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6D46E0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D1A2B"/>
                </a:solidFill>
                <a:latin typeface="Segoe UI Semibold"/>
              </a:rPr>
              <a:t>Puertos de video y pantalla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VGA: la interfaz analógica azul de los monitores CRT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DVI: el paso al video digital (DVI-D, DVI-A, DVI-I)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HDMI: audio y video de alta definición para TV y cine en casa</a:t>
            </a:r>
          </a:p>
        </p:txBody>
      </p:sp>
      <p:sp>
        <p:nvSpPr>
          <p:cNvPr id="23" name="Oval 22"/>
          <p:cNvSpPr/>
          <p:nvPr/>
        </p:nvSpPr>
        <p:spPr>
          <a:xfrm>
            <a:off x="502919" y="5393845"/>
            <a:ext cx="82296" cy="82296"/>
          </a:xfrm>
          <a:prstGeom prst="ellipse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533898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DisplayPort: el estándar de gaming y estaciones gráficas</a:t>
            </a:r>
          </a:p>
        </p:txBody>
      </p:sp>
      <p:sp>
        <p:nvSpPr>
          <p:cNvPr id="25" name="Oval 24"/>
          <p:cNvSpPr/>
          <p:nvPr/>
        </p:nvSpPr>
        <p:spPr>
          <a:xfrm>
            <a:off x="502919" y="5634266"/>
            <a:ext cx="82296" cy="82296"/>
          </a:xfrm>
          <a:prstGeom prst="ellipse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5579402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S-Video y video compuesto: las últimas señales analógicas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VGA (Video Graphics Array)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Interfaz gráfica analógica tradicional, presente en monitores CRT y proyectores.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20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014640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v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10618"/>
            <a:ext cx="4992624" cy="336361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trapezoidal de 15 pines en tres filas</a:t>
            </a:r>
            <a:r>
              <a:rPr sz="1019" b="0">
                <a:solidFill>
                  <a:srgbClr val="2C3E56"/>
                </a:solidFill>
                <a:latin typeface="Segoe UI"/>
              </a:rPr>
              <a:t> (HD15/DE-15) con tornillos de sujeción manual a los lados. Su elemento identificador universal es el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color azul</a:t>
            </a:r>
            <a:r>
              <a:rPr sz="1019" b="0">
                <a:solidFill>
                  <a:srgbClr val="2C3E56"/>
                </a:solidFill>
                <a:latin typeface="Segoe UI"/>
              </a:rPr>
              <a:t> del interior de plástico (código PC99).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Señal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analógica RGBHV</a:t>
            </a:r>
            <a:r>
              <a:rPr sz="1019" b="0">
                <a:solidFill>
                  <a:srgbClr val="2C3E56"/>
                </a:solidFill>
                <a:latin typeface="Segoe UI"/>
              </a:rPr>
              <a:t> (0.7 Vp-p, 75 Ω) sin compresión. Optimizado para 640×480 o 1024×768; con buen cable soporta hasta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1920×1200 @ 60 Hz</a:t>
            </a:r>
            <a:r>
              <a:rPr sz="1019" b="0">
                <a:solidFill>
                  <a:srgbClr val="2C3E56"/>
                </a:solidFill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Monitores CRT, proyectores analógicos, pantallas de equipos industriales y KVM antiguos. Comunicación DDC/EDID para plug &amp; play del monitor.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C3E56"/>
                </a:solidFill>
                <a:latin typeface="Segoe UI"/>
              </a:rPr>
              <a:t>Datos que faltan: convierte a analógico cada señal (DAC en la GPU), por lo que aparece ghosting y reflejos en cables largos. Longitud práctica: 3-15 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DVI (Digital Visual Interface)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Interfaz para transmisión de video digital o híbrido (análogo-digital).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215372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966181"/>
            <a:ext cx="4992624" cy="285248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rectangular largo</a:t>
            </a:r>
            <a:r>
              <a:rPr sz="1019" b="0">
                <a:solidFill>
                  <a:srgbClr val="2C3E56"/>
                </a:solidFill>
                <a:latin typeface="Segoe UI"/>
              </a:rPr>
              <a:t> con una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barra horizontal (blade)</a:t>
            </a:r>
            <a:r>
              <a:rPr sz="1019" b="0">
                <a:solidFill>
                  <a:srgbClr val="2C3E56"/>
                </a:solidFill>
                <a:latin typeface="Segoe UI"/>
              </a:rPr>
              <a:t> a un costado y tornillos de sujeción. Interior de plástico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blanco o gris claro</a:t>
            </a:r>
            <a:r>
              <a:rPr sz="1019" b="0">
                <a:solidFill>
                  <a:srgbClr val="2C3E56"/>
                </a:solidFill>
                <a:latin typeface="Segoe UI"/>
              </a:rPr>
              <a:t> (PC99). Pinout DVI-I añade 4 pines analógicos alrededor de la blade.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Hasta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4.95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(Single Link: 1920×1200 @ 60 Hz) o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9.9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(Dual Link: 2560×1600 @ 60 Hz) mediante enlaces TMDS de 1.65 Gbps por canal.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Monitores planos LCD de primera generación. DVI-D solo digital; DVI-A solo analógico; DVI-I integrado, adaptable a VGA con cable pasivo. HDCP opcional.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faltan: Longitud práctica de cable 5-10 m. Un adaptador DVI→HDMI es pasivo (solo video; el audio requiere HDMI nativo). Fue el puente entre el analógico y el HDMI/DisplayPort modernos.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HDMI (High-Definition Multimedia Interface)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Estándar de audio y video digital de alta definición, el rey del salón.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416104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hd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144268"/>
            <a:ext cx="4992624" cy="249631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delgado con esquinas biseladas inferiores</a:t>
            </a:r>
            <a:r>
              <a:rPr sz="1019" b="0">
                <a:solidFill>
                  <a:srgbClr val="2C3E56"/>
                </a:solidFill>
                <a:latin typeface="Segoe UI"/>
              </a:rPr>
              <a:t> (trapecio aplanado), enmarcado en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metal cromado</a:t>
            </a:r>
            <a:r>
              <a:rPr sz="1019" b="0">
                <a:solidFill>
                  <a:srgbClr val="2C3E56"/>
                </a:solidFill>
                <a:latin typeface="Segoe UI"/>
              </a:rPr>
              <a:t>. Interior generalmente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negro</a:t>
            </a:r>
            <a:r>
              <a:rPr sz="1019" b="0">
                <a:solidFill>
                  <a:srgbClr val="2C3E56"/>
                </a:solidFill>
                <a:latin typeface="Segoe UI"/>
              </a:rPr>
              <a:t>, sin código de color; se identifica por el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logotipo HDMI grabado</a:t>
            </a:r>
            <a:r>
              <a:rPr sz="1019" b="0">
                <a:solidFill>
                  <a:srgbClr val="2C3E56"/>
                </a:solidFill>
                <a:latin typeface="Segoe UI"/>
              </a:rPr>
              <a:t>. Tipos: A (estándar), C (mini) y D (micro).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HDMI 1.4: 10.2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(4K @ 30 Hz) ·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HDMI 2.0: 18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(4K @ 60 Hz) ·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HDMI 2.1: 48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(8K @ 60 Hz / 4K @ 120 Hz).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Televisores, monitores, proyectores y sistemas de cine en casa. Transporta audio multicanal sin comprimir (hasta 32 canales) y video con HDR.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faltan: ARC/eARC devuelve audio del TV al receptor (eARC: 37 Mbps, Dolby TrueHD/Atmos); CEC permite controlar todo con un solo mando; HDCP 2.3 protege el contenido. Cable estándar 5 m (certificado 15 m).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HDMI · Versiones y capacidades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Cada versión multiplica el ancho de banda y añade funciones para juegos y HDR.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23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616836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6D46E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2713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Versión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6340" y="1371600"/>
            <a:ext cx="6311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789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Ancho de banda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348" y="1371600"/>
            <a:ext cx="29177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Máximo de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1410" y="1371600"/>
            <a:ext cx="405191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Funciones clave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402336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HDMI 1.0-1.2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6340" y="1700784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789" y="1700784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4.95 Gbps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7348" y="1700784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1080p @ 60 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1410" y="1700784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audio DVD/HDPCM · HDCP 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103120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HDMI 1.3-1.4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6340" y="2103120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789" y="2103120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10.2 Gbps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7348" y="2103120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4K @ 30 Hz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1410" y="2103120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ARC · Deep Color · 3D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505456"/>
            <a:ext cx="11240993" cy="402336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505456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HDMI 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6340" y="2505456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789" y="2505456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18 Gbps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7348" y="2505456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4K @ 60 Hz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1410" y="2505456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4:2:0 · audio 32 canales · CEC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907791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HDMI 2.0b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6340" y="2907791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789" y="2907791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18 Gbps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7348" y="2907791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4K @ 60 Hz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91410" y="2907791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HDR10 estático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310127"/>
            <a:ext cx="11240993" cy="402336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310127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HDMI 2.1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6340" y="3310127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789" y="3310127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48 Gbps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7348" y="3310127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8K @ 60 / 4K @ 120 Hz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91410" y="3310127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eARC · VRR · ALLM · HDR dinámico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" y="1371600"/>
            <a:ext cx="11240993" cy="234086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LECTURA DE LA TABLA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El cable es siempre el mismo conector; para 4K120/8K hace falta cable «Ultra High Speed» certificado (48 Gbps). Los cables largos de mala calidad causan destellos negros por errores de bit.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HDMI · Tipos de conector y funciones avanzadas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Lo que no dice la etiqueta del cable: formatos físicos y protocolos incluidos.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817568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81328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Type A (estándar)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19 pines, el de televisores, monitores y consolas. Es el conector «HDMI» sin más calificativos.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9541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481328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72421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Type C (Mini) y Type D (Micro)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421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Mini HDMI: cámaras y tablets. Micro HDMI: portátiles ultradelgados y teléfonos. Mismas señales, conector reducido.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595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03595" y="1481328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6475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Type E (automoción)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475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Con bloqueo anti-vibración para coches; raro en informática doméstica pero oficial desde HDMI 1.4.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3488436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ARC / eARC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Canal de retorno de audio: el TV envía sonido al receptor/soundbar por el mismo cable. eARC (2.1) añade audio sin pérdida y Dolby Atmos.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9541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89541" y="3488436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72421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>
                <a:solidFill>
                  <a:srgbClr val="0D1A2B"/>
                </a:solidFill>
                <a:latin typeface="Segoe UI Semibold"/>
              </a:rPr>
              <a:t>CEC (Consumer Electronics Control)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2421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Un solo mando gobierna TV, receptor y reproductor conectados. Cada fabricante lo llama distinto (Anynet+, BRAVIA Sync, Simplink).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3595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03595" y="3488436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86475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HDCP y HDR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475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HDCP 1.4/2.2/2.3 cifra el contenido (4K exige 2.2+). HDR10, HDR10+ y Dolby Vision amplían el rango dinámico con metadatos.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5330952"/>
            <a:ext cx="11240993" cy="86868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75488" y="5422392"/>
            <a:ext cx="32004" cy="68580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542239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NOTA TÉCNICA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605272"/>
            <a:ext cx="1091180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Regla práctica: comprar cables «Ultra High Speed» certificados para 4K120; los cables de 10 m sin certificación fallan antes que los ópticos activos.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DisplayPort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Interfaz de video y audio digital de alto rendimiento para informática profesional y gaming.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018300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00025"/>
            <a:ext cx="4992624" cy="27847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Rectangular con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solo una esquina biselada</a:t>
            </a:r>
            <a:r>
              <a:rPr sz="1019" b="0">
                <a:solidFill>
                  <a:srgbClr val="2C3E56"/>
                </a:solidFill>
                <a:latin typeface="Segoe UI"/>
              </a:rPr>
              <a:t> y un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botón o pestillo de seguridad</a:t>
            </a:r>
            <a:r>
              <a:rPr sz="1019" b="0">
                <a:solidFill>
                  <a:srgbClr val="2C3E56"/>
                </a:solidFill>
                <a:latin typeface="Segoe UI"/>
              </a:rPr>
              <a:t> superior para liberar el cable. Interior generalmente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negro</a:t>
            </a:r>
            <a:r>
              <a:rPr sz="1019" b="0">
                <a:solidFill>
                  <a:srgbClr val="2C3E56"/>
                </a:solidFill>
                <a:latin typeface="Segoe UI"/>
              </a:rPr>
              <a:t>. Existe variante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Mini DisplayPort</a:t>
            </a:r>
            <a:r>
              <a:rPr sz="1019" b="0">
                <a:solidFill>
                  <a:srgbClr val="2C3E56"/>
                </a:solidFill>
                <a:latin typeface="Segoe UI"/>
              </a:rPr>
              <a:t> (portátiles, sin pestillo).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DP 1.2: 21.6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·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DP 1.4: 32.4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·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DP 2.0/2.1: hasta 80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(UHBR20). 20 pines · audio 8 canales a 192 kHz.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Monitores gaming de alta tasa de refresco (144-540 Hz), estaciones gráficas avanzadas y cadenas de monitores (MST). Base del conector VESA desde 2006.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faltan: Multi-Stream (MST) encadena varios monitores por un solo puerto; Adaptive-Sync (FreeSync/G-Sync Compatible) sincroniza refresco; USB-C Alt Mode lo transporta por USB-C. Cable pasivo 2-3 m (activo/óptico 15+ m).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DisplayPort · Versiones y modos de señal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Nombres de modo (HBR, UHBR) que definen la velocidad real por carril.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219032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6D46E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36286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Versión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805" y="1371600"/>
            <a:ext cx="6311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5253" y="1371600"/>
            <a:ext cx="14543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Modo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5883" y="1371600"/>
            <a:ext cx="1911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Ancho de banda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3835" y="1371600"/>
            <a:ext cx="514949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Máximo típico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840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DP 1.1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805" y="1700784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5253" y="1700784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HBR (RBR/HBR)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5883" y="1700784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8.6-10.8 Gbps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3835" y="1700784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2560×1600 @ 60 Hz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84831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DP 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805" y="2084831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5253" y="2084831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HBR2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5883" y="2084831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17.28 / 21.6 Gbps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3835" y="2084831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4K @ 60 Hz · MST de varios monitores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68879"/>
            <a:ext cx="11240993" cy="3840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68879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DP 1.3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805" y="2468879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5253" y="2468879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HBR3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5883" y="2468879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25.92 / 32.4 Gbps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3835" y="2468879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4K @ 120 Hz · 5K @ 60 Hz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852927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DP 1.4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805" y="2852927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5253" y="2852927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HBR3 + DSC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5883" y="2852927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32.4 Gbps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3835" y="2852927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8K @ 60 Hz (con compresión DSC)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236975"/>
            <a:ext cx="11240993" cy="3840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236975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DP 2.0/2.1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805" y="3236975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2019-22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5253" y="3236975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UHBR10/13.5/20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5883" y="3236975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40 / 54 / 80 Gbps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3835" y="3236975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8K @ 60 Hz sin comprimir · 4K @ 240 Hz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" y="1371600"/>
            <a:ext cx="11240993" cy="224942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LECTURA DE LA TABLA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DSC (Display Stream Compression) comprime visualmente sin pérdida perceptible: permite 8K incluso sobre HBR3. DP 2.1 usa los mismos modos UHBR con cable «DP40» o «DP80» certificado.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S-Video (Super Video)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Puerto de video analógico de calidad intermedia que separa luminancia y crominancia.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27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419764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999" y="1554480"/>
            <a:ext cx="3926816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Puerto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redondo pequeño de 4 o 7 pines</a:t>
            </a:r>
            <a:r>
              <a:rPr sz="1019" b="0">
                <a:solidFill>
                  <a:srgbClr val="2C3E56"/>
                </a:solidFill>
                <a:latin typeface="Segoe UI"/>
              </a:rPr>
              <a:t> (mini-DIN), normalmente de color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negro</a:t>
            </a:r>
            <a:r>
              <a:rPr sz="1019" b="0">
                <a:solidFill>
                  <a:srgbClr val="2C3E56"/>
                </a:solidFill>
                <a:latin typeface="Segoe UI"/>
              </a:rPr>
              <a:t> con un pequeño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pivote guía</a:t>
            </a:r>
            <a:r>
              <a:rPr sz="1019" b="0">
                <a:solidFill>
                  <a:srgbClr val="2C3E56"/>
                </a:solidFill>
                <a:latin typeface="Segoe UI"/>
              </a:rPr>
              <a:t> superior. Los 7 pines permiten adaptadores a componentes YPbPr.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Ancho de banda analógico limitado 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definición estándar (SD)</a:t>
            </a:r>
            <a:r>
              <a:rPr sz="1019" b="0">
                <a:solidFill>
                  <a:srgbClr val="2C3E56"/>
                </a:solidFill>
                <a:latin typeface="Segoe UI"/>
              </a:rPr>
              <a:t>: 480i/576i (NTSC/PAL), hasta 480p en implementaciones mejoradas. ~5-7 MHz.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Conexión de PC a televisores de tubo (CRT) y videocámaras; capturadoras de vídeo analógicas. Mejora visible sobre el compuesto.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2C3E56"/>
                </a:solidFill>
                <a:latin typeface="Segoe UI"/>
              </a:rPr>
              <a:t>Datos que faltan: transporta </a:t>
            </a:r>
            <a:r>
              <a:rPr sz="900" b="1">
                <a:solidFill>
                  <a:srgbClr val="2C3E56"/>
                </a:solidFill>
                <a:latin typeface="Segoe UI Semibold"/>
              </a:rPr>
              <a:t>Y (luminancia) + C (crominancia)</a:t>
            </a:r>
            <a:r>
              <a:rPr sz="900" b="0">
                <a:solidFill>
                  <a:srgbClr val="2C3E56"/>
                </a:solidFill>
                <a:latin typeface="Segoe UI"/>
              </a:rPr>
              <a:t> por separado, eliminando el «dot crawl» del compuesto. Sin audio: necesita cable aparte. Longitud práctica 5-10 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Video Compuesto (RCA)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Puerto analógico básico de video, el más simple y universal de la era SD.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28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620496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268" y="1554480"/>
            <a:ext cx="3950278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circular hembra tipo jack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RCA identificado inequívocamente por el color amarillo</a:t>
            </a:r>
            <a:r>
              <a:rPr sz="1019" b="0">
                <a:solidFill>
                  <a:srgbClr val="2C3E56"/>
                </a:solidFill>
                <a:latin typeface="Segoe UI"/>
              </a:rPr>
              <a:t> (código de color PC99/CEA). Suele ir acompañado de los RCA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rojo y blanco</a:t>
            </a:r>
            <a:r>
              <a:rPr sz="1019" b="0">
                <a:solidFill>
                  <a:srgbClr val="2C3E56"/>
                </a:solidFill>
                <a:latin typeface="Segoe UI"/>
              </a:rPr>
              <a:t> del audio estéreo.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Ancho de banda analógico básico: señal entrelazada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SD</a:t>
            </a:r>
            <a:r>
              <a:rPr sz="1019" b="0">
                <a:solidFill>
                  <a:srgbClr val="2C3E56"/>
                </a:solidFill>
                <a:latin typeface="Segoe UI"/>
              </a:rPr>
              <a:t> (NTSC 480i / PAL 576i). 1 Vp-p con impedancia de 75 Ω.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Capturadoras de vídeo antiguas, televisores analógicas, consolas retro, CCTV y sistemas de domótica básica.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C3E56"/>
                </a:solidFill>
                <a:latin typeface="Segoe UI"/>
              </a:rPr>
              <a:t>Datos que faltan: multiplexa luma y croma en una sola señal (interferencia de color y «dot crawl»). Es la peor calidad de video de esta guía. Cable 5-10 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6D46E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D46E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D46E0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Comparativa de puertos de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De la señal analógica del CRT al 8K digital: qué usar en cada caso.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29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821228" cy="32004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6D46E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Puerto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2198" y="1371600"/>
            <a:ext cx="10884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Tipo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970" y="1371600"/>
            <a:ext cx="31006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Identificación rápida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3961" y="1371600"/>
            <a:ext cx="26433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Máximo práctico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3630" y="1371600"/>
            <a:ext cx="203969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Estado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VGA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2198" y="1700784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analógico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970" y="1700784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trapezoidal azul · 15 pines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3961" y="1700784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1920×1200 @ 60 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3630" y="1700784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legado (proyectores)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DVI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2198" y="2061972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digital/híbrido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970" y="2061972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blanco · barra lateral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3961" y="2061972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2560×1600 (Dual Link)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3630" y="2061972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en desuso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HDMI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2198" y="2423160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digital A/V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970" y="2423160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bisel inferior · cromado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3961" y="2423160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8K @ 60 / 4K @ 120 Hz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3630" y="2423160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estándar TV/consolas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DisplayPort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2198" y="2784348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digital A/V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970" y="2784348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1 esquina + pestillo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3961" y="2784348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8K @ 60 · 4K @ 240 Hz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3630" y="2784348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estándar PC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S-Video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2198" y="3145536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analógico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970" y="3145536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mini-DIN negro 4/7 pines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3961" y="3145536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480i / 576i (SD)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3630" y="3145536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obsoleto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Compuesto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2198" y="3506724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analógico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970" y="3506724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RCA amarillo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3961" y="3506724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480i / 576i (SD)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3630" y="3506724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obsoleto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46E0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Conversores: HDMI→DisplayPort y DP→HDMI son baratos y pasivos en un sentido; cualquier conversión a VGA requiere convertidor activo (DAC integrado).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8A5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8A5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30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6021960" cy="32004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EAF0F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0E8A5F"/>
                </a:solidFill>
                <a:latin typeface="Consola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D1A2B"/>
                </a:solidFill>
                <a:latin typeface="Segoe UI Semibold"/>
              </a:rPr>
              <a:t>Red y comunicaciones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Ethernet RJ-45: el conector de red alámbrica con LEDs de estado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Velocidades de Fast Ethernet a 10 Gbps y categorías de cable UTP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Módem RJ-11: la línea telefónica analógica y el dial-up</a:t>
            </a:r>
          </a:p>
        </p:txBody>
      </p:sp>
      <p:sp>
        <p:nvSpPr>
          <p:cNvPr id="23" name="Oval 22"/>
          <p:cNvSpPr/>
          <p:nvPr/>
        </p:nvSpPr>
        <p:spPr>
          <a:xfrm>
            <a:off x="502919" y="5393845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533898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SFP/SFP+: transceptores modulares de fibra óptica para servidores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8A5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8A5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8A5F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Ethernet / RJ-45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Puerto de red alámbrica para redes locales (LAN), el más presente en oficinas.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6222692" cy="32004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j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55" y="1554480"/>
            <a:ext cx="4269304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rectangular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ligeramente más ancho que un puerto telefónico</a:t>
            </a:r>
            <a:r>
              <a:rPr sz="1019" b="0">
                <a:solidFill>
                  <a:srgbClr val="2C3E56"/>
                </a:solidFill>
                <a:latin typeface="Segoe UI"/>
              </a:rPr>
              <a:t> (8P8C: 8 posiciones, 8 contactos dorados), con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pestaña de traba plástica</a:t>
            </a:r>
            <a:r>
              <a:rPr sz="1019" b="0">
                <a:solidFill>
                  <a:srgbClr val="2C3E56"/>
                </a:solidFill>
                <a:latin typeface="Segoe UI"/>
              </a:rPr>
              <a:t> y dos LEDs integrados: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verde</a:t>
            </a:r>
            <a:r>
              <a:rPr sz="1019" b="0">
                <a:solidFill>
                  <a:srgbClr val="2C3E56"/>
                </a:solidFill>
                <a:latin typeface="Segoe UI"/>
              </a:rPr>
              <a:t> (enlace) y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naranja/ámbar</a:t>
            </a:r>
            <a:r>
              <a:rPr sz="1019" b="0">
                <a:solidFill>
                  <a:srgbClr val="2C3E56"/>
                </a:solidFill>
                <a:latin typeface="Segoe UI"/>
              </a:rPr>
              <a:t> (actividad).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Fast Ethernet 100 Mbps · Gigabit 1 Gbps · 2.5G/5G/10G</a:t>
            </a:r>
            <a:r>
              <a:rPr sz="1019" b="0">
                <a:solidFill>
                  <a:srgbClr val="2C3E56"/>
                </a:solidFill>
                <a:latin typeface="Segoe UI"/>
              </a:rPr>
              <a:t> (2.5 a 10 Gbps). 4 pares trenzados (UTP) Cat5e/6/6a/8 · 100 m por segmento.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Conexión a Internet de alta velocidad mediante cable de red (UTP), switches, routers, NAS, cámaras IP y PoE para alimentar dispositivos.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8A5F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2C3E56"/>
                </a:solidFill>
                <a:latin typeface="Segoe UI"/>
              </a:rPr>
              <a:t>Datos que faltan: PoE (802.3af/at/bt) entrega hasta 60-100 W por el mismo cable. Los LEDs varían por fabricante (verde=1 Gbps, ámbar=100 Mbps o actividad). Cableado T568A/T568B.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8A5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8A5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8A5F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Ethernet · Velocidades y categorías de cable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La velocidad depende tanto del estándar como de la categoría del cable UTP.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6423424" cy="32004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0E8A5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20031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Estándar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8056" y="1371600"/>
            <a:ext cx="154579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Velocidad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0151" y="1371600"/>
            <a:ext cx="182018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Cable mínimo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639" y="1371600"/>
            <a:ext cx="182018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Pares usados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126" y="1371600"/>
            <a:ext cx="332020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Distancia máx.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10BASE-T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8056" y="1700784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 Mbps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0151" y="1700784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Cat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639" y="1700784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 de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3126" y="1700784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100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100BASE-TX (Fast)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8056" y="2061972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100 Mbps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0151" y="2061972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Cat 5e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6639" y="2061972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 de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3126" y="2061972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100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1000BASE-T (Gigabit)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8056" y="2423160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 Gbps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0151" y="2423160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Cat 5e/6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6639" y="2423160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 de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3126" y="2423160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100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2.5GBASE-T / 5GBASE-T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8056" y="2784348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2.5 / 5 Gbps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0151" y="2784348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Cat 5e /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6639" y="2784348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 de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3126" y="2784348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100 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10GBASE-T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8056" y="3145536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 Gbps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90151" y="3145536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Cat 6a (6: 55 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6639" y="3145536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 de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3126" y="3145536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100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PoE 802.3af / at / bt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8056" y="3506724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15.4 / 30 / 60-100 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0151" y="3506724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Cat 5e o superior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6639" y="3506724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pares libres o datos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3126" y="3506724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100 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8A5F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Cat 6a blindado (STP) es obligatorio para 10 Gbps a 100 m en entornos con interferencias. El conector siempre es RJ-45: cambia el cable interior.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8A5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8A5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8A5F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RJ-45 vs RJ-11 · No confundir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La diferencia de tamaño ha provocado miles de conectores rotos.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33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6624156" cy="32004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El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RJ-45</a:t>
            </a:r>
            <a:r>
              <a:rPr sz="1150" b="0">
                <a:solidFill>
                  <a:srgbClr val="2C3E56"/>
                </a:solidFill>
                <a:latin typeface="Segoe UI"/>
              </a:rPr>
              <a:t> (8P8C) tiene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8 contactos</a:t>
            </a:r>
            <a:r>
              <a:rPr sz="1150" b="0">
                <a:solidFill>
                  <a:srgbClr val="2C3E56"/>
                </a:solidFill>
                <a:latin typeface="Segoe UI"/>
              </a:rPr>
              <a:t> y una abertura más ancha; el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RJ-11</a:t>
            </a:r>
            <a:r>
              <a:rPr sz="1150" b="0">
                <a:solidFill>
                  <a:srgbClr val="2C3E56"/>
                </a:solidFill>
                <a:latin typeface="Segoe UI"/>
              </a:rPr>
              <a:t> (6P2C/6P4C) solo usa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2 o 4 contactos</a:t>
            </a:r>
            <a:r>
              <a:rPr sz="1150" b="0">
                <a:solidFill>
                  <a:srgbClr val="2C3E56"/>
                </a:solidFill>
                <a:latin typeface="Segoe UI"/>
              </a:rPr>
              <a:t> y es más estrecho.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1939114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188425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2C3E56"/>
                </a:solidFill>
                <a:latin typeface="Segoe UI Semibold"/>
              </a:rPr>
              <a:t>Nunca fuerces</a:t>
            </a:r>
            <a:r>
              <a:rPr sz="1050" b="0">
                <a:solidFill>
                  <a:srgbClr val="2C3E56"/>
                </a:solidFill>
                <a:latin typeface="Segoe UI"/>
              </a:rPr>
              <a:t> un RJ-45 en un RJ-11: aunque el cable entre parcialmente, los contactos se doblan y el módem puede quedar inservible.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451765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396901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Identificación por etiqueta: los módems marcan los jacks como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«LINE»</a:t>
            </a:r>
            <a:r>
              <a:rPr sz="1150" b="0">
                <a:solidFill>
                  <a:srgbClr val="2C3E56"/>
                </a:solidFill>
                <a:latin typeface="Segoe UI"/>
              </a:rPr>
              <a:t> (entrada de la compañía telefónica) y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«PHONE»</a:t>
            </a:r>
            <a:r>
              <a:rPr sz="1150" b="0">
                <a:solidFill>
                  <a:srgbClr val="2C3E56"/>
                </a:solidFill>
                <a:latin typeface="Segoe UI"/>
              </a:rPr>
              <a:t> (teléfono derivado).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2964416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90955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El RJ-45 lleva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cable UTP de 4 pares</a:t>
            </a:r>
            <a:r>
              <a:rPr sz="1150" b="0">
                <a:solidFill>
                  <a:srgbClr val="2C3E56"/>
                </a:solidFill>
                <a:latin typeface="Segoe UI"/>
              </a:rPr>
              <a:t>; el RJ-11,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par telefónico</a:t>
            </a:r>
            <a:r>
              <a:rPr sz="1150" b="0">
                <a:solidFill>
                  <a:srgbClr val="2C3E56"/>
                </a:solidFill>
                <a:latin typeface="Segoe UI"/>
              </a:rPr>
              <a:t> de 2 hilos (24-26 AWG).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477066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42220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Velocidades: hasta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10 Gbps</a:t>
            </a:r>
            <a:r>
              <a:rPr sz="1150" b="0">
                <a:solidFill>
                  <a:srgbClr val="2C3E56"/>
                </a:solidFill>
                <a:latin typeface="Segoe UI"/>
              </a:rPr>
              <a:t> (RJ-45) frente a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56 kbps</a:t>
            </a:r>
            <a:r>
              <a:rPr sz="1150" b="0">
                <a:solidFill>
                  <a:srgbClr val="2C3E56"/>
                </a:solidFill>
                <a:latin typeface="Segoe UI"/>
              </a:rPr>
              <a:t> dial-up o 24 Mbps ADSL2+ (RJ-11 con splitter).</a:t>
            </a:r>
          </a:p>
        </p:txBody>
      </p:sp>
      <p:sp>
        <p:nvSpPr>
          <p:cNvPr id="26" name="Oval 25"/>
          <p:cNvSpPr/>
          <p:nvPr/>
        </p:nvSpPr>
        <p:spPr>
          <a:xfrm>
            <a:off x="502919" y="3989717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934853"/>
            <a:ext cx="5352257" cy="604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En equipos antiguos los dos puertos se situaban juntos en la tarjeta PCI del módem; el color transparente/blanco ayudaba a distinguirlos del negro de la 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rj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521" y="2061275"/>
            <a:ext cx="5285232" cy="2936617"/>
          </a:xfrm>
          <a:prstGeom prst="roundRect">
            <a:avLst>
              <a:gd name="adj" fmla="val 1384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61738C"/>
                </a:solidFill>
                <a:latin typeface="Segoe UI"/>
              </a:rPr>
              <a:t>RJ-45 (8P8C, red) frente a RJ-11 (6P2C, teléfono): mismo lenguaje, tamaño distinto.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8A5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8A5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8A5F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Módem / RJ-11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Puerto para la línea telefónica analógica clásica: la puerta del Internet de los 90.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6824888" cy="32004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j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66" y="1554480"/>
            <a:ext cx="4054482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idéntico al RJ-45 pero de menor tamaño físico</a:t>
            </a:r>
            <a:r>
              <a:rPr sz="1019" b="0">
                <a:solidFill>
                  <a:srgbClr val="2C3E56"/>
                </a:solidFill>
                <a:latin typeface="Segoe UI"/>
              </a:rPr>
              <a:t> (6P2C/6P4C). En tarjetas internas o módems PCI era de color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transparente / blanco</a:t>
            </a:r>
            <a:r>
              <a:rPr sz="1019" b="0">
                <a:solidFill>
                  <a:srgbClr val="2C3E56"/>
                </a:solidFill>
                <a:latin typeface="Segoe UI"/>
              </a:rPr>
              <a:t> o estaba rotulado con la palabra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«LINE»</a:t>
            </a:r>
            <a:r>
              <a:rPr sz="1019" b="0">
                <a:solidFill>
                  <a:srgbClr val="2C3E56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Hasta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56 kbps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(V.90/V.92, dial-up tradicional). Fax a 14.4-33.6 kbps. Con ADSL2+ y splitter: hasta 24 Mbps de bajada por el mismo par.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Internet telefónico, envío de fax y líneas dedicadas de alarmas, TPV y telemetría. Tensión de línea: -48 V DC con timbre de ~90 V AC.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8A5F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2C3E56"/>
                </a:solidFill>
                <a:latin typeface="Segoe UI"/>
              </a:rPr>
              <a:t>Datos que faltan: 2 hilos (par telefónico). El jack «PHONE» deriva el mismo conector al teléfono interno. Con fibra FTTH el módem se sustituye por un ONT con puerto RJ-45.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8A5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8A5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8A5F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SFP / SFP+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Bahía modular para conexiones de fibra óptica o redes de alta densidad.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7025620" cy="32004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f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944909"/>
            <a:ext cx="4992624" cy="28950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Ranura metálica rectangular profunda</a:t>
            </a:r>
            <a:r>
              <a:rPr sz="1019" b="0">
                <a:solidFill>
                  <a:srgbClr val="2C3E56"/>
                </a:solidFill>
                <a:latin typeface="Segoe UI"/>
              </a:rPr>
              <a:t> (cage) con una pequeña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palanca o pestillo</a:t>
            </a:r>
            <a:r>
              <a:rPr sz="1019" b="0">
                <a:solidFill>
                  <a:srgbClr val="2C3E56"/>
                </a:solidFill>
                <a:latin typeface="Segoe UI"/>
              </a:rPr>
              <a:t> (bail latch) de metal o plástico, usualmente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azul, negro o metálico</a:t>
            </a:r>
            <a:r>
              <a:rPr sz="1019" b="0">
                <a:solidFill>
                  <a:srgbClr val="2C3E56"/>
                </a:solidFill>
                <a:latin typeface="Segoe UI"/>
              </a:rPr>
              <a:t> según la velocidad. Los módulos llevan conectores LC duplex.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SFP (1 Gbps) · SFP+ (10 Gbps) · SFP28 (25 Gbps) · QSFP+ (40 Gbps)</a:t>
            </a:r>
            <a:r>
              <a:rPr sz="1019" b="0">
                <a:solidFill>
                  <a:srgbClr val="2C3E56"/>
                </a:solidFill>
                <a:latin typeface="Segoe UI"/>
              </a:rPr>
              <a:t>. El QSFP28 alcanza 100 Gbps y el QSFP-DD 400 Gbps en switches de alta gama.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Servidores de red empresarial y switches de alta gama: fibra monomodo (hasta 80-120 km, cable amarillo) o multimodo (300-550 m, cable aqua OM3/OM4) y DAC de cobre para 1-7 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8A5F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faltan: están estandarizados por el acuerdo MSA (multi-fabricante), son hot-swap y ofrecen diagnóstico DDM/DOM (potencia óptica, temperatura). Longitudes de onda típicas: 850 / 1310 / 1550 nm.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8A5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8A5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8A5F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Familia SFP/QSFP · Transceptores modulares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El mismo factor de forma, cuatro velocidades y formatos de unión (aggregation).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7226352" cy="32004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0E8A5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2713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Formato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6340" y="1371600"/>
            <a:ext cx="1179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Velocidad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2576" y="1371600"/>
            <a:ext cx="236897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Uso típico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7851" y="1371600"/>
            <a:ext cx="236897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Fibra / cobre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126" y="1371600"/>
            <a:ext cx="332020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Notas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SFP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6340" y="1700784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 Gbps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2576" y="170078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access switches, servidores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7851" y="170078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LC multimodo/monomodo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3126" y="1700784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sucesor del GBIC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SFP+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6340" y="2061972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 Gbps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2576" y="2061972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datacenters y campus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7851" y="2061972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LC o DAC SFP+ 10G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3126" y="2061972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el más extendido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SFP28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6340" y="2423160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25 Gbps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2576" y="2423160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top-of-rack moderno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7851" y="2423160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LC OM4 / monomodo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3126" y="2423160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25G por carril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QSFP+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6340" y="2784348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40 Gbps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2576" y="2784348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agregación de switches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7851" y="2784348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MPO/MTP o DAC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3126" y="2784348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4 carriles de 10 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QSFP28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6340" y="3145536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100 Gbps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2576" y="3145536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núcleo de 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7851" y="3145536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MPO/MTP 24 fibras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3126" y="3145536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4 carriles de 25 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QSFP-DD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6340" y="3506724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400 Gbps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2576" y="350672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spine de datacenter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7851" y="350672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MPO 16 fibras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3126" y="3506724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doble densidad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8A5F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Los transceptores son caros y específicos de distancia/longitud de onda: elegir mal el módulo produce errores CRC o sin enlace. Las tablas de compatibilidad del fabricante son imprescindibles.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42B6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42B6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37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7427085" cy="32004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EAF0F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C42B6B"/>
                </a:solidFill>
                <a:latin typeface="Consola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D1A2B"/>
                </a:solidFill>
                <a:latin typeface="Segoe UI Semibold"/>
              </a:rPr>
              <a:t>Puertos de audio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au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Jack de 3.5 mm con código de colores para audio estéreo y micrófono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S/PDIF óptico (TOSLINK): audio digital por pulsos de luz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S/PDIF coaxial: audio digital por cable de 75 ohmios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42B6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42B6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42B6B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Jack de Audio de 3.5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Conector analógico estándar para sonido estéreo y micrófonos.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38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7627817" cy="32004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audio_j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184125"/>
            <a:ext cx="4992624" cy="241659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Orificio circular pequeño</a:t>
            </a:r>
            <a:r>
              <a:rPr sz="1019" b="0">
                <a:solidFill>
                  <a:srgbClr val="2C3E56"/>
                </a:solidFill>
                <a:latin typeface="Segoe UI"/>
              </a:rPr>
              <a:t> con código de colores PC99: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verde</a:t>
            </a:r>
            <a:r>
              <a:rPr sz="1019" b="0">
                <a:solidFill>
                  <a:srgbClr val="2C3E56"/>
                </a:solidFill>
                <a:latin typeface="Segoe UI"/>
              </a:rPr>
              <a:t> (salida/auriculares),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rosado/magenta</a:t>
            </a:r>
            <a:r>
              <a:rPr sz="1019" b="0">
                <a:solidFill>
                  <a:srgbClr val="2C3E56"/>
                </a:solidFill>
                <a:latin typeface="Segoe UI"/>
              </a:rPr>
              <a:t> (micrófono),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azul claro</a:t>
            </a:r>
            <a:r>
              <a:rPr sz="1019" b="0">
                <a:solidFill>
                  <a:srgbClr val="2C3E56"/>
                </a:solidFill>
                <a:latin typeface="Segoe UI"/>
              </a:rPr>
              <a:t> (line-in),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naranja</a:t>
            </a:r>
            <a:r>
              <a:rPr sz="1019" b="0">
                <a:solidFill>
                  <a:srgbClr val="2C3E56"/>
                </a:solidFill>
                <a:latin typeface="Segoe UI"/>
              </a:rPr>
              <a:t> (central/subwoofer),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negro</a:t>
            </a:r>
            <a:r>
              <a:rPr sz="1019" b="0">
                <a:solidFill>
                  <a:srgbClr val="2C3E56"/>
                </a:solidFill>
                <a:latin typeface="Segoe UI"/>
              </a:rPr>
              <a:t> (traseros) y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gris</a:t>
            </a:r>
            <a:r>
              <a:rPr sz="1019" b="0">
                <a:solidFill>
                  <a:srgbClr val="2C3E56"/>
                </a:solidFill>
                <a:latin typeface="Segoe UI"/>
              </a:rPr>
              <a:t> (surround lateral).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Transmisión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analógica en tiempo real</a:t>
            </a:r>
            <a:r>
              <a:rPr sz="1019" b="0">
                <a:solidFill>
                  <a:srgbClr val="2C3E56"/>
                </a:solidFill>
                <a:latin typeface="Segoe UI"/>
              </a:rPr>
              <a:t>, sin latencia de datos digitales. Impedancias habituales de 16-600 Ω; nivel de línea ~1 Vrms.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Sistemas de sonido, diademas (headsets), micrófonos, altavoces 2.0/5.1/7.1 y equipos de música portátil. Existente también en 6.35 mm (1/4") para audio pro.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42B6B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faltan: TRS (3 polos: punta/anillo/camisa) para estéreo y TRRS (4 polos, con micrófono) en teléfonos; estándares CTIA y OMTP, incompatibles entre sí sin adaptador. Cable no balanceado 3-10 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42B6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42B6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42B6B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Código de colores de los jacks de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Convención PC99 de Intel/Microsoft para las tarjetas de sonido y placas madre.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39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7828549" cy="32004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C42B6B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2713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Color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6340" y="1371600"/>
            <a:ext cx="236897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Función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1615" y="1371600"/>
            <a:ext cx="20031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Símbolo habitual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1032" y="1371600"/>
            <a:ext cx="1911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Señal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985" y="1371600"/>
            <a:ext cx="29543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Ejemplo de uso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Verde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6340" y="170078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salida de línea / altavoces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1615" y="1700784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altavoz o auricular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1032" y="1700784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salida estéreo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8985" y="1700784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auriculares, altavoces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Rosado / magenta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6340" y="2061972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entrada de micrófono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1615" y="2061972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micrófono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1032" y="2061972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entrada mono (-10 dBV)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8985" y="2061972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diademas, micrófonos PC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Azul claro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6340" y="2423160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entrada de línea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1615" y="2423160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flecha entrando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1032" y="2423160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entrada estéreo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8985" y="2423160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reproductor, mezcladora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Naranja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6340" y="2784348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central y subwoofer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1615" y="2784348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altavoz + sub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1032" y="2784348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salida 5.1/7.1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8985" y="2784348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home cinema PC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Negro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6340" y="3145536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altavoces traseros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1615" y="3145536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altavoz trasero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31032" y="3145536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salida surround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8985" y="3145536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configuración 5.1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Gris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6340" y="350672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altavoces laterales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1615" y="3506724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altavoz lateral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31032" y="3506724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salida surround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8985" y="3506724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configuración 7.1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42B6B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En los portátiles el jack único es TRRS (combo) y la tarjeta de sonido conmuta función según lo que se conecte. En audio profesional (6.35 mm) los colores desaparecen y se etiqueta por canal.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42B6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42B6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42B6B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S/PDIF Óptico (TOSLINK)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Puerto de audio digital mediante pulsos de luz por fibra óptica.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40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029281" cy="32004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tos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501" y="1554480"/>
            <a:ext cx="4309813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cuadrado pequeño con esquinas biseladas</a:t>
            </a:r>
            <a:r>
              <a:rPr sz="1019" b="0">
                <a:solidFill>
                  <a:srgbClr val="2C3E56"/>
                </a:solidFill>
                <a:latin typeface="Segoe UI"/>
              </a:rPr>
              <a:t> y una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tapa protectora abatible</a:t>
            </a:r>
            <a:r>
              <a:rPr sz="1019" b="0">
                <a:solidFill>
                  <a:srgbClr val="2C3E56"/>
                </a:solidFill>
                <a:latin typeface="Segoe UI"/>
              </a:rPr>
              <a:t> de plástico negro. Al encender el equipo emite un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brillo de luz roja</a:t>
            </a:r>
            <a:r>
              <a:rPr sz="1019" b="0">
                <a:solidFill>
                  <a:srgbClr val="2C3E56"/>
                </a:solidFill>
                <a:latin typeface="Segoe UI"/>
              </a:rPr>
              <a:t> en su interior. Variante mini-óptico de 3.5 mm en equipos compactos.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Transmisión digital de audio multicanal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sin pérdida por interferencia eléctrica</a:t>
            </a:r>
            <a:r>
              <a:rPr sz="1019" b="0">
                <a:solidFill>
                  <a:srgbClr val="2C3E56"/>
                </a:solidFill>
                <a:latin typeface="Segoe UI"/>
              </a:rPr>
              <a:t>: PCM estéreo hasta 96 kHz y envolvente comprimido (Dolby Digital, DTS) 5.1/7.1. En audio pro: protocolo ADAT (8 canales a 48 kHz).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Barras de sonido, receptores AV y sistemas de cine en casa avanzados; equipos donde haya bucles de masa o interferencias eléctricas.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42B6B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2C3E56"/>
                </a:solidFill>
                <a:latin typeface="Segoe UI"/>
              </a:rPr>
              <a:t>Datos que faltan: fibra óptica plástica de 5-10 m (hasta 30 m de calidad). Inmune a EMI y a bucles de tierra; algo más de jitter que el coaxial. Estándar EIAJ CP-3407 (Toshiba, 1983).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42B6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42B6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42B6B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S/PDIF Coaxial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Interfaz de audio digital mediante cable coaxial de 75 ohmios.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230013" cy="32004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pdif_co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554480"/>
            <a:ext cx="3675887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circular tipo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RCA hembra</a:t>
            </a:r>
            <a:r>
              <a:rPr sz="1019" b="0">
                <a:solidFill>
                  <a:srgbClr val="2C3E56"/>
                </a:solidFill>
                <a:latin typeface="Segoe UI"/>
              </a:rPr>
              <a:t> identificado por un color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naranja brillante o negro</a:t>
            </a:r>
            <a:r>
              <a:rPr sz="1019" b="0">
                <a:solidFill>
                  <a:srgbClr val="2C3E56"/>
                </a:solidFill>
                <a:latin typeface="Segoe UI"/>
              </a:rPr>
              <a:t> distintivo en su borde plástico. En equipos profesionales se usa 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BNC</a:t>
            </a:r>
            <a:r>
              <a:rPr sz="1019" b="0">
                <a:solidFill>
                  <a:srgbClr val="2C3E56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Ancho de banda digital adecuado para audio envolvente comprimido (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Dolby Digital / DTS</a:t>
            </a:r>
            <a:r>
              <a:rPr sz="1019" b="0">
                <a:solidFill>
                  <a:srgbClr val="2C3E56"/>
                </a:solidFill>
                <a:latin typeface="Segoe UI"/>
              </a:rPr>
              <a:t>), PCM hasta 24 bit / 192 kHz. Señal de 0.5 Vp-p, 75 Ω.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Receptores de audio digital, amplificadores de alta fidelidad, DACs externos y equipos de sonido doméstico premium.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42B6B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faltan: el cable coaxial de vídeo RCA (75 Ω) vale para este puerto. Distancia práctica: ~10 m. Misma interfaz S/PDIF que el TOSLINK: solo cambia el medio (eléctrico frente a óptico).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C42B6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C42B6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42B6B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S/PDIF: TOSLINK vs Coaxial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Dos medios, un mismo protocolo digital de audio.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430745" cy="32004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10768" cy="3822191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75488" y="1371600"/>
            <a:ext cx="5510768" cy="402336"/>
          </a:xfrm>
          <a:prstGeom prst="roundRect">
            <a:avLst>
              <a:gd name="adj" fmla="val 1659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1371600"/>
            <a:ext cx="5181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8A5F"/>
                </a:solidFill>
                <a:latin typeface="Segoe UI Semibold"/>
              </a:rPr>
              <a:t>TOSLINK (óptico)</a:t>
            </a:r>
          </a:p>
        </p:txBody>
      </p:sp>
      <p:sp>
        <p:nvSpPr>
          <p:cNvPr id="19" name="Oval 18"/>
          <p:cNvSpPr/>
          <p:nvPr/>
        </p:nvSpPr>
        <p:spPr>
          <a:xfrm>
            <a:off x="685799" y="1975104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" y="1920240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Transporta audio por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pulsos de luz</a:t>
            </a:r>
            <a:r>
              <a:rPr sz="1150" b="0">
                <a:solidFill>
                  <a:srgbClr val="2C3E56"/>
                </a:solidFill>
                <a:latin typeface="Segoe UI"/>
              </a:rPr>
              <a:t> sobre fibra óptica.</a:t>
            </a:r>
          </a:p>
        </p:txBody>
      </p:sp>
      <p:sp>
        <p:nvSpPr>
          <p:cNvPr id="21" name="Oval 20"/>
          <p:cNvSpPr/>
          <p:nvPr/>
        </p:nvSpPr>
        <p:spPr>
          <a:xfrm>
            <a:off x="685799" y="2255326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2200462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2C3E56"/>
                </a:solidFill>
                <a:latin typeface="Segoe UI Semibold"/>
              </a:rPr>
              <a:t>Inmune</a:t>
            </a:r>
            <a:r>
              <a:rPr sz="1150" b="0">
                <a:solidFill>
                  <a:srgbClr val="2C3E56"/>
                </a:solidFill>
                <a:latin typeface="Segoe UI"/>
              </a:rPr>
              <a:t> a interferencias electromagnéticas y a bucles de tierra.</a:t>
            </a:r>
          </a:p>
        </p:txBody>
      </p:sp>
      <p:sp>
        <p:nvSpPr>
          <p:cNvPr id="23" name="Oval 22"/>
          <p:cNvSpPr/>
          <p:nvPr/>
        </p:nvSpPr>
        <p:spPr>
          <a:xfrm>
            <a:off x="685799" y="2535549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" y="2480685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Conector cuadrado con tapa; luz roja visible (~650 nm).</a:t>
            </a:r>
          </a:p>
        </p:txBody>
      </p:sp>
      <p:sp>
        <p:nvSpPr>
          <p:cNvPr id="25" name="Oval 24"/>
          <p:cNvSpPr/>
          <p:nvPr/>
        </p:nvSpPr>
        <p:spPr>
          <a:xfrm>
            <a:off x="685799" y="2815772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" y="2760908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Alcance típico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5-10 m</a:t>
            </a:r>
            <a:r>
              <a:rPr sz="1150" b="0">
                <a:solidFill>
                  <a:srgbClr val="2C3E56"/>
                </a:solidFill>
                <a:latin typeface="Segoe UI"/>
              </a:rPr>
              <a:t> (30 m con fibra de calidad).</a:t>
            </a:r>
          </a:p>
        </p:txBody>
      </p:sp>
      <p:sp>
        <p:nvSpPr>
          <p:cNvPr id="27" name="Oval 26"/>
          <p:cNvSpPr/>
          <p:nvPr/>
        </p:nvSpPr>
        <p:spPr>
          <a:xfrm>
            <a:off x="685799" y="3095995"/>
            <a:ext cx="82296" cy="82296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" y="3041131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Ideal si hay zumbido o ruido eléctrico en el sistema.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5712" y="1371600"/>
            <a:ext cx="5510768" cy="3822191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205712" y="1371600"/>
            <a:ext cx="5510768" cy="402336"/>
          </a:xfrm>
          <a:prstGeom prst="roundRect">
            <a:avLst>
              <a:gd name="adj" fmla="val 1659"/>
            </a:avLst>
          </a:prstGeom>
          <a:solidFill>
            <a:srgbClr val="E6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70304" y="1371600"/>
            <a:ext cx="5181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2690A"/>
                </a:solidFill>
                <a:latin typeface="Segoe UI Semibold"/>
              </a:rPr>
              <a:t>S/PDIF coaxial (eléctrico)</a:t>
            </a:r>
          </a:p>
        </p:txBody>
      </p:sp>
      <p:sp>
        <p:nvSpPr>
          <p:cNvPr id="32" name="Oval 31"/>
          <p:cNvSpPr/>
          <p:nvPr/>
        </p:nvSpPr>
        <p:spPr>
          <a:xfrm>
            <a:off x="6416024" y="1975104"/>
            <a:ext cx="82296" cy="82296"/>
          </a:xfrm>
          <a:prstGeom prst="ellipse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2328" y="1920240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Transporta audio por </a:t>
            </a:r>
            <a:r>
              <a:rPr sz="1050" b="1">
                <a:solidFill>
                  <a:srgbClr val="2C3E56"/>
                </a:solidFill>
                <a:latin typeface="Segoe UI Semibold"/>
              </a:rPr>
              <a:t>cable coaxial de 75 Ω</a:t>
            </a:r>
            <a:r>
              <a:rPr sz="1050" b="0">
                <a:solidFill>
                  <a:srgbClr val="2C3E56"/>
                </a:solidFill>
                <a:latin typeface="Segoe UI"/>
              </a:rPr>
              <a:t> (RCA naranja o negro).</a:t>
            </a:r>
          </a:p>
        </p:txBody>
      </p:sp>
      <p:sp>
        <p:nvSpPr>
          <p:cNvPr id="34" name="Oval 33"/>
          <p:cNvSpPr/>
          <p:nvPr/>
        </p:nvSpPr>
        <p:spPr>
          <a:xfrm>
            <a:off x="6416024" y="2255326"/>
            <a:ext cx="82296" cy="82296"/>
          </a:xfrm>
          <a:prstGeom prst="ellipse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2328" y="2200462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Menor jitter que el óptico; señal de 0.5 Vp-p.</a:t>
            </a:r>
          </a:p>
        </p:txBody>
      </p:sp>
      <p:sp>
        <p:nvSpPr>
          <p:cNvPr id="36" name="Oval 35"/>
          <p:cNvSpPr/>
          <p:nvPr/>
        </p:nvSpPr>
        <p:spPr>
          <a:xfrm>
            <a:off x="6416024" y="2535549"/>
            <a:ext cx="82296" cy="82296"/>
          </a:xfrm>
          <a:prstGeom prst="ellipse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2328" y="2480685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Usa el mismo cable RCA de vídeo si es necesario.</a:t>
            </a:r>
          </a:p>
        </p:txBody>
      </p:sp>
      <p:sp>
        <p:nvSpPr>
          <p:cNvPr id="38" name="Oval 37"/>
          <p:cNvSpPr/>
          <p:nvPr/>
        </p:nvSpPr>
        <p:spPr>
          <a:xfrm>
            <a:off x="6416024" y="2815772"/>
            <a:ext cx="82296" cy="82296"/>
          </a:xfrm>
          <a:prstGeom prst="ellipse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2328" y="2760908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Alcance típico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~10 m</a:t>
            </a:r>
            <a:r>
              <a:rPr sz="1150" b="0">
                <a:solidFill>
                  <a:srgbClr val="2C3E56"/>
                </a:solidFill>
                <a:latin typeface="Segoe UI"/>
              </a:rPr>
              <a:t> con cable de calidad.</a:t>
            </a:r>
          </a:p>
        </p:txBody>
      </p:sp>
      <p:sp>
        <p:nvSpPr>
          <p:cNvPr id="40" name="Oval 39"/>
          <p:cNvSpPr/>
          <p:nvPr/>
        </p:nvSpPr>
        <p:spPr>
          <a:xfrm>
            <a:off x="6416024" y="3095995"/>
            <a:ext cx="82296" cy="82296"/>
          </a:xfrm>
          <a:prstGeom prst="ellipse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2328" y="3041131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Ideal para equipos cercanos y enlaces simples.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42B6B"/>
                </a:solidFill>
                <a:latin typeface="Consolas"/>
              </a:rPr>
              <a:t>CONCLUSIÓN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Ambos llevan los mismos formatos (PCM, Dolby Digital, DTS): la elección depende del ruido eléctrico del entorno y de la distancia. Para audio sin pérdida multicanal moderno (TrueHD, Atmos), HDMI es la vía recomendada.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1E5FD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1E5FD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43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8631477" cy="32004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EAF0F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1E5FD0"/>
                </a:solidFill>
                <a:latin typeface="Consolas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D1A2B"/>
                </a:solidFill>
                <a:latin typeface="Segoe UI Semibold"/>
              </a:rPr>
              <a:t>Almacenamiento y expansión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almac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eSATA / eSATAp: discos externos a velocidad nativa SATA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Lectores de tarjetas SD y microSD en el panel frontal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Estándares UHS-I/II/III y SD Express de las tarjetas modernas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1E5FD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1E5FD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5FD0"/>
                </a:solidFill>
                <a:latin typeface="Consolas"/>
              </a:rPr>
              <a:t>06 · ALMACENAMIENTO Y EXPANSIÓN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eSATA / eSATAp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Conexión externa para discos duros basada en el protocolo SATA interno.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832209" cy="32004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es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68337"/>
            <a:ext cx="4992624" cy="344817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plano y alargado</a:t>
            </a:r>
            <a:r>
              <a:rPr sz="1019" b="0">
                <a:solidFill>
                  <a:srgbClr val="2C3E56"/>
                </a:solidFill>
                <a:latin typeface="Segoe UI"/>
              </a:rPr>
              <a:t> similar al SATA interno pero con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guías de plástico más robustas y metálicas</a:t>
            </a:r>
            <a:r>
              <a:rPr sz="1019" b="0">
                <a:solidFill>
                  <a:srgbClr val="2C3E56"/>
                </a:solidFill>
                <a:latin typeface="Segoe UI"/>
              </a:rPr>
              <a:t> en los laterales. Color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negro oscuro</a:t>
            </a:r>
            <a:r>
              <a:rPr sz="1019" b="0">
                <a:solidFill>
                  <a:srgbClr val="2C3E56"/>
                </a:solidFill>
                <a:latin typeface="Segoe UI"/>
              </a:rPr>
              <a:t> con la serigrafía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«eSATA»</a:t>
            </a:r>
            <a:r>
              <a:rPr sz="1019" b="0">
                <a:solidFill>
                  <a:srgbClr val="2C3E56"/>
                </a:solidFill>
                <a:latin typeface="Segoe UI"/>
              </a:rPr>
              <a:t>. La variante eSATAp añade hilos de alimentación.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eSATA 1.5 / 3 / 6 Gbps</a:t>
            </a:r>
            <a:r>
              <a:rPr sz="1019" b="0">
                <a:solidFill>
                  <a:srgbClr val="2C3E56"/>
                </a:solidFill>
                <a:latin typeface="Segoe UI"/>
              </a:rPr>
              <a:t> (SATA I/II/III): velocidad nativa del bus interno, sin la sobrecarga del protocolo USB. Cable máximo 2 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Conexión de discos de almacenamiento externo (HDD/SSD) con rendimiento idéntico al interno: copias de seguridad, clonación de discos y estaciones de trabajo.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E5FD0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faltan: el eSATA </a:t>
            </a:r>
            <a:r>
              <a:rPr sz="850" b="1">
                <a:solidFill>
                  <a:srgbClr val="2C3E56"/>
                </a:solidFill>
                <a:latin typeface="Segoe UI Semibold"/>
              </a:rPr>
              <a:t>no aporta alimentación</a:t>
            </a:r>
            <a:r>
              <a:rPr sz="850" b="0">
                <a:solidFill>
                  <a:srgbClr val="2C3E56"/>
                </a:solidFill>
                <a:latin typeface="Segoe UI"/>
              </a:rPr>
              <a:t> (requiere fuente externa); eSATAp (power over eSATA) añade 5 V/12 V desde un combo USB. Hot-swap requiere modo AHCI. Desplazado por USB 3.0 desde 2010.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1E5FD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1E5FD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5FD0"/>
                </a:solidFill>
                <a:latin typeface="Consolas"/>
              </a:rPr>
              <a:t>06 · ALMACENAMIENTO Y EXPANSIÓN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eSATA frente a USB 3.0 · ¿qué conviene?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La comparación que decidió el futuro del almacenamiento externo.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9032941" cy="32004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81328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Velocidad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8288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eSATA 6 Gbps y USB 3.0 5 Gbps son comparables en la práctica; con UASP el USB iguala al SATA. El SATA interno SSD supera ambos desde 2011 (SATA III queda en ~550 MB/s).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9541" y="13716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481328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72421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Alimentación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421" y="18288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USB alimenta el disco (4.5-100 W con PD); eSATA no, salvo eSATAp. Un disco de 3.5" con eSATA puro necesita fuente externa obligatoria.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595" y="13716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03595" y="1481328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6475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Compatibilidad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475" y="18288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USB existe en todo; eSATA solo en placas y laptops de 2005-2015. Un combo eSATAp acepta tanto USB como eSATA en el mismo hueco.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38862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3995928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40325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Hot-swap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3434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Ambos lo soportan; eSATA requiere controlador en modo AHCI y drivers del chipset; USB lo trae por diseño desde siempre.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9541" y="38862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89541" y="3995928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72421" y="40325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Uso actual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2421" y="43434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eSATA: equipos legacy y estaciones de trabajo. USB 3.x/4 y Thunderbolt dominan el almacenamiento externo moderno.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3595" y="38862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03595" y="3995928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86475" y="40325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Veredicto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475" y="43434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Hoy se prefiere USB 3.2/USB4 por versatilidad; eSATA solo tiene sentido manteniendo equipos que ya lo incluyen.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1E5FD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1E5FD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5FD0"/>
                </a:solidFill>
                <a:latin typeface="Consolas"/>
              </a:rPr>
              <a:t>06 · ALMACENAMIENTO Y EXPANSIÓN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Lectores de Tarjetas (SD / microSD)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Puertos de lectura directa para tarjetas de memoria flash.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9233673" cy="32004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d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84160"/>
            <a:ext cx="4992624" cy="301652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Ranuras finas rectangulares</a:t>
            </a:r>
            <a:r>
              <a:rPr sz="1019" b="0">
                <a:solidFill>
                  <a:srgbClr val="2C3E56"/>
                </a:solidFill>
                <a:latin typeface="Segoe UI"/>
              </a:rPr>
              <a:t> en el panel frontal o lateral del chasis, a veces marcadas con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iconos impresos de tarjetas SD</a:t>
            </a:r>
            <a:r>
              <a:rPr sz="1019" b="0">
                <a:solidFill>
                  <a:srgbClr val="2C3E56"/>
                </a:solidFill>
                <a:latin typeface="Segoe UI"/>
              </a:rPr>
              <a:t>. La tarjeta SD lleva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pestaña de bloqueo (LOCK)</a:t>
            </a:r>
            <a:r>
              <a:rPr sz="1019" b="0">
                <a:solidFill>
                  <a:srgbClr val="2C3E56"/>
                </a:solidFill>
                <a:latin typeface="Segoe UI"/>
              </a:rPr>
              <a:t> gris en el lateral; la microSD no.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Según el estándar de la tarjeta: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UHS-I 104 MB/s · UHS-II 312 MB/s · UHS-III 624 MB/s · SD Express 985 MB/s</a:t>
            </a:r>
            <a:r>
              <a:rPr sz="1019" b="0">
                <a:solidFill>
                  <a:srgbClr val="2C3E56"/>
                </a:solidFill>
                <a:latin typeface="Segoe UI"/>
              </a:rPr>
              <a:t> (y más, con PCIe).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Transferencia rápida de fotos y archivos desde cámaras, drones, teléfonos y consolas. Los lectores internos se conectan por USB 2.0/3.0 a la placa.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E5FD0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faltan: SD (≤2 GB), SDHC (≤32 GB), SDXC (≤2 TB), SDUC (≤128 TB). Clases de velocidad V10/V30/V60/V90 (vídeo) y A1/A2 (apps). UHS-II añade una segunda fila de contactos al dorso.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1E5FD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1E5FD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5FD0"/>
                </a:solidFill>
                <a:latin typeface="Consolas"/>
              </a:rPr>
              <a:t>06 · ALMACENAMIENTO Y EXPANSIÓN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Tarjetas SD · Familias, velocidades y clases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Qué significa cada sigla impresa en la tarjeta.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47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9434405" cy="32004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1E5FD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Estándar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2198" y="1371600"/>
            <a:ext cx="154579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Capacidad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4293" y="1371600"/>
            <a:ext cx="21860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Velocidad de bus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639" y="1371600"/>
            <a:ext cx="1911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Clase de vídeo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4591" y="1371600"/>
            <a:ext cx="322873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Uso típico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SD (1997)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2198" y="1700784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hasta 2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4293" y="1700784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12.5-25 MB/s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639" y="1700784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4591" y="1700784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cámaras antiguas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SDHC (2006)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2198" y="2061972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4-32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4293" y="2061972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UHS-I 104 MB/s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6639" y="2061972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V10 / V30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4591" y="2061972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vídeo Full HD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SDXC (2009)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2198" y="2423160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64 GB-2 TB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4293" y="2423160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UHS-II 312 MB/s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6639" y="2423160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V60 / V90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4591" y="2423160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vídeo 4K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SDXC UHS-III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2198" y="2784348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64 GB-2 TB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4293" y="2784348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624 MB/s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6639" y="2784348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V90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4591" y="2784348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vídeo 4K/8K, ráfagas RAW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SD Express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2198" y="3145536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64 GB-2 TB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4293" y="3145536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985 MB/s - 4 GB/s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6639" y="3145536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V90 / WP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4591" y="3145536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cámaras 8K, laptops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SDUC (2018)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2198" y="3506724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2-128 TB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4293" y="3506724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SD Express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6639" y="3506724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V90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4591" y="3506724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futuro, equipos pro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E5FD0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La letra A (A1/A2) define rendimiento de aplicaciones (IOPS), y la V (V30…) la velocidad sostenida de escritura de vídeo. Para grabar vídeo 4K, V30 es el mínimo recomendado real.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C7C7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C7C7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48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9635137" cy="32004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EAF0F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0C7C74"/>
                </a:solidFill>
                <a:latin typeface="Consolas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D1A2B"/>
                </a:solidFill>
                <a:latin typeface="Segoe UI Semibold"/>
              </a:rPr>
              <a:t>Infrarrojos y repaso final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ir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IrDA: comunicación inalámbrica direccional por luz infrarroja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Velocidades SIR, FIR y VFIR y su sustitución por Bluetooth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Tablas maestras, chuleta de colores y repaso final de la guía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C7C7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C7C7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C7C74"/>
                </a:solidFill>
                <a:latin typeface="Consolas"/>
              </a:rPr>
              <a:t>07 · INFRARROJOS Y REPASO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IrDA (Infrared Data Association)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Puerto inalámbrico direccional por luz infrarroja, el Bluetooth de los años 90.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49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9835869" cy="32004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r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36" y="1554480"/>
            <a:ext cx="4560742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2C3E56"/>
                </a:solidFill>
                <a:latin typeface="Segoe UI Semibold"/>
              </a:rPr>
              <a:t>Pequeña ventana rectangular u ovalada de plástico translúcido</a:t>
            </a:r>
            <a:r>
              <a:rPr sz="1019" b="0">
                <a:solidFill>
                  <a:srgbClr val="2C3E56"/>
                </a:solidFill>
                <a:latin typeface="Segoe UI"/>
              </a:rPr>
              <a:t> de color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rojo oscuro, morado o ahumado oscuro</a:t>
            </a:r>
            <a:r>
              <a:rPr sz="1019" b="0">
                <a:solidFill>
                  <a:srgbClr val="2C3E56"/>
                </a:solidFill>
                <a:latin typeface="Segoe UI"/>
              </a:rPr>
              <a:t>, situada en el panel frontal de la PC o en el lateral de la laptop. No tiene pines: es un transceptor óptico.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Desde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115.2 kbps (SIR)</a:t>
            </a:r>
            <a:r>
              <a:rPr sz="1019" b="0">
                <a:solidFill>
                  <a:srgbClr val="2C3E56"/>
                </a:solidFill>
                <a:latin typeface="Segoe UI"/>
              </a:rPr>
              <a:t> hasta </a:t>
            </a:r>
            <a:r>
              <a:rPr sz="1019" b="1">
                <a:solidFill>
                  <a:srgbClr val="2C3E56"/>
                </a:solidFill>
                <a:latin typeface="Segoe UI Semibold"/>
              </a:rPr>
              <a:t>4 Mbps (FIR)</a:t>
            </a:r>
            <a:r>
              <a:rPr sz="1019" b="0">
                <a:solidFill>
                  <a:srgbClr val="2C3E56"/>
                </a:solidFill>
                <a:latin typeface="Segoe UI"/>
              </a:rPr>
              <a:t> y 16 Mbps (VFIR); negociación inicial a 9600 bps. Cono de ~30° y alcance de 0-1 m con alineación directa.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0D1A2B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Sincronización con agendas electrónicas (PDA), teléfonos de la época y equipos antiguos de los años 90: Palm, Pocket PC, portátiles con IrDA 1.1.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C7C74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Datos que faltans: requiere </a:t>
            </a:r>
            <a:r>
              <a:rPr sz="850" b="1">
                <a:solidFill>
                  <a:srgbClr val="2C3E56"/>
                </a:solidFill>
                <a:latin typeface="Segoe UI Semibold"/>
              </a:rPr>
              <a:t>línea de visión</a:t>
            </a:r>
            <a:r>
              <a:rPr sz="850" b="0">
                <a:solidFill>
                  <a:srgbClr val="2C3E56"/>
                </a:solidFill>
                <a:latin typeface="Segoe UI"/>
              </a:rPr>
              <a:t> (se bloquea con el dedo o polvo). Longitud de onda 850-900 nm. Estándares IrDA-Data, IrDA-Control e IrSimple. Desplazado por Bluetooth y Wi-Fi Direct desde 2005.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C7C7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C7C7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C7C74"/>
                </a:solidFill>
                <a:latin typeface="Consolas"/>
              </a:rPr>
              <a:t>07 · INFRARROJOS Y REPASO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IrDA · Modos de operación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Un mismo puerto, cuatro velocidades y una única limitación física: la línea de visión.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50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036601" cy="32004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0C7C74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4543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Modo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9269" y="1371600"/>
            <a:ext cx="14543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Velocidad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899" y="1371600"/>
            <a:ext cx="81407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0277" y="1371600"/>
            <a:ext cx="246043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Distancia / ángulo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7016" y="1371600"/>
            <a:ext cx="4326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F8FC"/>
                </a:solidFill>
                <a:latin typeface="Segoe UI Semibold"/>
              </a:rPr>
              <a:t>Notas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840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SIR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9269" y="1700784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9.6 kbps - 115.2 kbps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899" y="1700784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1993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0277" y="1700784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 m · 30°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7016" y="1700784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compatible con UART clásico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84831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MIR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9269" y="2084831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1.152 Mbps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899" y="2084831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1996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0277" y="2084831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 m · 30°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7016" y="2084831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intermedio, poco usado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68879"/>
            <a:ext cx="11240993" cy="3840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68879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FIR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9269" y="2468879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4 Mbps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899" y="2468879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1998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0277" y="2468879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 m · 30°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7016" y="2468879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el modo más habitual en PCs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852927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VFIR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9269" y="2852927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16 Mbps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899" y="2852927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0277" y="2852927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1 m · 30°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7016" y="2852927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muy raro en equipos domésticos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236975"/>
            <a:ext cx="11240993" cy="3840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236975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D1A2B"/>
                </a:solidFill>
                <a:latin typeface="Segoe UI"/>
              </a:rPr>
              <a:t>GigaIR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9269" y="3236975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hasta 1 Gbps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899" y="3236975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2007+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0277" y="3236975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Consolas"/>
              </a:rPr>
              <a:t>0.2 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7016" y="3236975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experimental, no desplegado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" y="1371600"/>
            <a:ext cx="11240993" cy="224942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C7C74"/>
                </a:solidFill>
                <a:latin typeface="Consolas"/>
              </a:rPr>
              <a:t>LECTURA DE LA TABLA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IrDA gastaba muy poca energía y no requería emparejamiento, pero la necesidad de apuntar y la poca distancia lo condenaron cuando Bluetooth (1-100 m, omnidireccional) maduró.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Tabla maestra · Velocidades de todos los puertos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Una sola vista de las 23 interfaces de esta guía, de menor a mayor velocidad.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51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237333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0E7C94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21860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5F8FC"/>
                </a:solidFill>
                <a:latin typeface="Segoe UI Semibold"/>
              </a:rPr>
              <a:t>Puerto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986" y="1371600"/>
            <a:ext cx="26433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5F8FC"/>
                </a:solidFill>
                <a:latin typeface="Segoe UI Semibold"/>
              </a:rPr>
              <a:t>Velocidad típica / máx.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0654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5F8FC"/>
                </a:solidFill>
                <a:latin typeface="Segoe UI Semibold"/>
              </a:rPr>
              <a:t>Tipo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4213" y="1371600"/>
            <a:ext cx="12713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5F8FC"/>
                </a:solidFill>
                <a:latin typeface="Segoe UI Semibold"/>
              </a:rPr>
              <a:t>Aparición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1914" y="1371600"/>
            <a:ext cx="277141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5F8FC"/>
                </a:solidFill>
                <a:latin typeface="Segoe UI Semibold"/>
              </a:rPr>
              <a:t>Estado hoy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2316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Módem RJ-11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986" y="1700784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56 kbps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0654" y="1700784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serie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4213" y="1700784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1990s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1914" y="1700784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legado / ADSL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932432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IrDA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986" y="1932432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115.2 kbps - 4 Mbps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70654" y="1932432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inalámbrico 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4213" y="1932432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1993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1914" y="1932432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obsoleto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164080"/>
            <a:ext cx="11240993" cy="2316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164080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RS-232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986" y="2164080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115.2 kbps (921.6 kbps)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70654" y="2164080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serie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4213" y="2164080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1969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1914" y="2164080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industria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395728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LPT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986" y="2395728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50 KB/s - 2+ MB/s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70654" y="2395728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paralelo 8 bits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4213" y="2395728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1970s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71914" y="2395728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obsoleto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2627376"/>
            <a:ext cx="11240993" cy="2316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2627376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Game 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986" y="2627376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muestreo analógico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0654" y="2627376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analógico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4213" y="2627376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1980s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71914" y="2627376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obsoleto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2859024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FireWire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986" y="2859024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400 - 800 Mbps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70654" y="2859024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serie isócrono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4213" y="2859024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1995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71914" y="2859024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obsoleto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" y="3090672"/>
            <a:ext cx="11240993" cy="2316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48640" y="3090672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USB 2.0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986" y="3090672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480 Mbps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70654" y="3090672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serie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4213" y="3090672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2000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71914" y="3090672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activo (periféricos)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3322320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Fast Ethernet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986" y="3322320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100 Mbps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70654" y="3322320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4213" y="3322320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1995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71914" y="3322320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activo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" y="3553968"/>
            <a:ext cx="11240993" cy="2316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548640" y="3553968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Gigabit Ethernet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80986" y="3553968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 Gbps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70654" y="3553968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54213" y="3553968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1999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71914" y="3553968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estándar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3785616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USB 3.2 / USB4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0986" y="3785616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10 - 40 Gbps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70654" y="3785616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serie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54213" y="3785616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2013-2019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71914" y="3785616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estándar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488" y="4017264"/>
            <a:ext cx="11240993" cy="2316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548640" y="4017264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Thunderbolt 3/4/5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80986" y="4017264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40 - 120 Gbps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70654" y="4017264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híbrido PCIe+DP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54213" y="4017264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2015-2023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71914" y="4017264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gama alta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4248912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10 GbE / SFP+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80986" y="4248912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10 Gbps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70654" y="4248912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red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54213" y="4248912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2006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71914" y="4248912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profesional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5488" y="4480559"/>
            <a:ext cx="11240993" cy="2316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48640" y="4480559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HDMI 2.1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80986" y="4480559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48 Gbps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70654" y="4480559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video/audio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54213" y="4480559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2017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71914" y="4480559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estándar TV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4712207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DisplayPort 2.1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80986" y="4712207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80 Gbps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70654" y="4712207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video/audio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54213" y="4712207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2022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71914" y="4712207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estándar PC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5488" y="4943855"/>
            <a:ext cx="11240993" cy="231648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548640" y="4943855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D1A2B"/>
                </a:solidFill>
                <a:latin typeface="Segoe UI"/>
              </a:rPr>
              <a:t>eSATA 6 Gbps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80986" y="4943855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6 Gbps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70654" y="4943855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almacenamiento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54213" y="4943855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Consolas"/>
              </a:rPr>
              <a:t>2004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71914" y="4943855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C3E56"/>
                </a:solidFill>
                <a:latin typeface="Segoe UI"/>
              </a:rPr>
              <a:t>legado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75488" y="1371600"/>
            <a:ext cx="11240993" cy="380390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ounded Rectangle 10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LECTURA DE LA TABLA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Lectura rápida: para datos, USB4/Thunderbolt; para video, DP 2.1 y HDMI 2.1; para red, 2.5-10 GbE o SFP+; para legacy, RS-232 y RJ-11 siguen presentes.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fill="hold">
                                  <p:stCondLst>
                                    <p:cond delay="41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2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fill="hold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fill="hold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8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fill="hold">
                                  <p:stCondLst>
                                    <p:cond delay="451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1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fill="hold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4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fill="hold">
                                  <p:stCondLst>
                                    <p:cond delay="473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7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fill="hold">
                                  <p:stCondLst>
                                    <p:cond delay="48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0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fill="hold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3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fill="hold">
                                  <p:stCondLst>
                                    <p:cond delay="506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6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fill="hold">
                                  <p:stCondLst>
                                    <p:cond delay="517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9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fill="hold">
                                  <p:stCondLst>
                                    <p:cond delay="528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92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fill="hold">
                                  <p:stCondLst>
                                    <p:cond delay="539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95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fill="hold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98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fill="hold">
                                  <p:stCondLst>
                                    <p:cond delay="561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01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fill="hold">
                                  <p:stCondLst>
                                    <p:cond delay="572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04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fill="hold">
                                  <p:stCondLst>
                                    <p:cond delay="583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07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fill="hold">
                                  <p:stCondLst>
                                    <p:cond delay="594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0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fill="hold">
                                  <p:stCondLst>
                                    <p:cond delay="605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3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fill="hold">
                                  <p:stCondLst>
                                    <p:cond delay="616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6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fill="hold">
                                  <p:stCondLst>
                                    <p:cond delay="627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9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fill="hold">
                                  <p:stCondLst>
                                    <p:cond delay="638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22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fill="hold">
                                  <p:stCondLst>
                                    <p:cond delay="649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25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fill="hold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28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fill="hold">
                                  <p:stCondLst>
                                    <p:cond delay="671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1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fill="hold">
                                  <p:stCondLst>
                                    <p:cond delay="682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4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fill="hold">
                                  <p:stCondLst>
                                    <p:cond delay="693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7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fill="hold">
                                  <p:stCondLst>
                                    <p:cond delay="704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40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fill="hold">
                                  <p:stCondLst>
                                    <p:cond delay="715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43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fill="hold">
                                  <p:stCondLst>
                                    <p:cond delay="726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46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fill="hold">
                                  <p:stCondLst>
                                    <p:cond delay="737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49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fill="hold">
                                  <p:stCondLst>
                                    <p:cond delay="748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52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fill="hold">
                                  <p:stCondLst>
                                    <p:cond delay="759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55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fill="hold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58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fill="hold">
                                  <p:stCondLst>
                                    <p:cond delay="781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61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fill="hold">
                                  <p:stCondLst>
                                    <p:cond delay="792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64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fill="hold">
                                  <p:stCondLst>
                                    <p:cond delay="803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67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fill="hold">
                                  <p:stCondLst>
                                    <p:cond delay="814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70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fill="hold">
                                  <p:stCondLst>
                                    <p:cond delay="825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73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fill="hold">
                                  <p:stCondLst>
                                    <p:cond delay="836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76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fill="hold">
                                  <p:stCondLst>
                                    <p:cond delay="847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79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fill="hold">
                                  <p:stCondLst>
                                    <p:cond delay="858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4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2" dur="4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fill="hold">
                                  <p:stCondLst>
                                    <p:cond delay="869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4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5" dur="4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fill="hold">
                                  <p:stCondLst>
                                    <p:cond delay="88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8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fill="hold">
                                  <p:stCondLst>
                                    <p:cond delay="891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91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fill="hold">
                                  <p:stCondLst>
                                    <p:cond delay="902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94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fill="hold">
                                  <p:stCondLst>
                                    <p:cond delay="913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97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fill="hold">
                                  <p:stCondLst>
                                    <p:cond delay="924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0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0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fill="hold">
                                  <p:stCondLst>
                                    <p:cond delay="935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3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fill="hold">
                                  <p:stCondLst>
                                    <p:cond delay="946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6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fill="hold">
                                  <p:stCondLst>
                                    <p:cond delay="957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9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Chuleta de colores de identificación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Lo primero que se mira al conectar un cable: el color.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52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438065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371600"/>
            <a:ext cx="41148" cy="52120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146304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C94"/>
                </a:solidFill>
                <a:latin typeface="Consolas"/>
              </a:rPr>
              <a:t>USB blanco / gris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1907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USB 1.0-1.1 · 12 Mbps · teclados y ratones antiguos.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61848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E7C94"/>
                </a:solidFill>
                <a:latin typeface="Consolas"/>
              </a:rPr>
              <a:t>LENGÜETA INTERIOR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1253" y="137160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71253" y="1371600"/>
            <a:ext cx="41148" cy="52120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35845" y="146304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C94"/>
                </a:solidFill>
                <a:latin typeface="Consolas"/>
              </a:rPr>
              <a:t>USB negro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5845" y="171907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USB 2.0 · 480 Mbps · el color más común de memorias.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5845" y="161848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E7C94"/>
                </a:solidFill>
                <a:latin typeface="Consolas"/>
              </a:rPr>
              <a:t>LENGÜETA INTERIOR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7019" y="137160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67019" y="1371600"/>
            <a:ext cx="41148" cy="52120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31611" y="146304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5FD0"/>
                </a:solidFill>
                <a:latin typeface="Consolas"/>
              </a:rPr>
              <a:t>USB azul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1611" y="171907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USB 3.0/3.1 Gen 1 · 5 Gbps · con logotipo 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1611" y="161848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E5FD0"/>
                </a:solidFill>
                <a:latin typeface="Consolas"/>
              </a:rPr>
              <a:t>LENGÜETA INTERIOR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2039112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75488" y="2039112"/>
            <a:ext cx="41148" cy="521208"/>
          </a:xfrm>
          <a:prstGeom prst="rect">
            <a:avLst/>
          </a:prstGeom>
          <a:solidFill>
            <a:srgbClr val="C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2130552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322B"/>
                </a:solidFill>
                <a:latin typeface="Consolas"/>
              </a:rPr>
              <a:t>USB rojo / turquesa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2386584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USB 3.1 Gen 2/3.2 · 10 Gbps · placas gaming.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2286000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8322B"/>
                </a:solidFill>
                <a:latin typeface="Consolas"/>
              </a:rPr>
              <a:t>LENGÜETA INTERIOR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1253" y="2039112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271253" y="2039112"/>
            <a:ext cx="41148" cy="52120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5845" y="2130552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8A5F"/>
                </a:solidFill>
                <a:latin typeface="Consolas"/>
              </a:rPr>
              <a:t>PS/2 verde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5845" y="2386584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Ratón — exclusivo, nunca teclado.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5845" y="2286000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E8A5F"/>
                </a:solidFill>
                <a:latin typeface="Consolas"/>
              </a:rPr>
              <a:t>MINI-DIN 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7019" y="2039112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67019" y="2039112"/>
            <a:ext cx="41148" cy="52120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31611" y="2130552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D46E0"/>
                </a:solidFill>
                <a:latin typeface="Consolas"/>
              </a:rPr>
              <a:t>PS/2 morado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1611" y="2386584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Teclado — exclusivo, nunca ratón.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1611" y="2286000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D46E0"/>
                </a:solidFill>
                <a:latin typeface="Consolas"/>
              </a:rPr>
              <a:t>MINI-DIN 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" y="2706624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75488" y="2706624"/>
            <a:ext cx="41148" cy="52120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0080" y="2798064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5FD0"/>
                </a:solidFill>
                <a:latin typeface="Consolas"/>
              </a:rPr>
              <a:t>VGA azul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054096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Monitor analógico · 15 pines en 3 filas.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2953512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E5FD0"/>
                </a:solidFill>
                <a:latin typeface="Consolas"/>
              </a:rPr>
              <a:t>D-SUB HD15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71253" y="2706624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271253" y="2706624"/>
            <a:ext cx="41148" cy="52120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435845" y="2798064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2B6B"/>
                </a:solidFill>
                <a:latin typeface="Consolas"/>
              </a:rPr>
              <a:t>LPT burdeos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5845" y="3054096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Impresora paralela · 25 pines (PC99).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5845" y="2953512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42B6B"/>
                </a:solidFill>
                <a:latin typeface="Consolas"/>
              </a:rPr>
              <a:t>D-SUB 25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67019" y="2706624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8067019" y="2706624"/>
            <a:ext cx="41148" cy="52120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231611" y="2798064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690A"/>
                </a:solidFill>
                <a:latin typeface="Consolas"/>
              </a:rPr>
              <a:t>Game Port dorado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31611" y="3054096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Joystick / MIDI en tarjetas de sonido.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1611" y="2953512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2690A"/>
                </a:solidFill>
                <a:latin typeface="Consolas"/>
              </a:rPr>
              <a:t>D-SUB 15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" y="3374136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475488" y="3374136"/>
            <a:ext cx="41148" cy="52120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40080" y="3465576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690A"/>
                </a:solidFill>
                <a:latin typeface="Consolas"/>
              </a:rPr>
              <a:t>RCA amarillo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3721608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Video compuesto SD · 1 Vp-p 75 Ω.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3621024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2690A"/>
                </a:solidFill>
                <a:latin typeface="Consolas"/>
              </a:rPr>
              <a:t>RCA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71253" y="3374136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4271253" y="3374136"/>
            <a:ext cx="41148" cy="52120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435845" y="3465576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8A5F"/>
                </a:solidFill>
                <a:latin typeface="Consolas"/>
              </a:rPr>
              <a:t>Audio verde/rosado/azul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35845" y="3721608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Salida / micrófono / line-in (PC99).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35845" y="3621024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E8A5F"/>
                </a:solidFill>
                <a:latin typeface="Consolas"/>
              </a:rPr>
              <a:t>JACK 3.5 MM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67019" y="3374136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8067019" y="3374136"/>
            <a:ext cx="41148" cy="52120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8231611" y="3465576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690A"/>
                </a:solidFill>
                <a:latin typeface="Consolas"/>
              </a:rPr>
              <a:t>RCA naranja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31611" y="3721608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S/PDIF coaxial · audio digital 75 Ω.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31611" y="3621024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2690A"/>
                </a:solidFill>
                <a:latin typeface="Consolas"/>
              </a:rPr>
              <a:t>RCA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75488" y="4041648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475488" y="4041648"/>
            <a:ext cx="41148" cy="52120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40080" y="4133088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8A5F"/>
                </a:solidFill>
                <a:latin typeface="Consolas"/>
              </a:rPr>
              <a:t>LED verde RJ-45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4389120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Enlace de red establecido.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4288536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E8A5F"/>
                </a:solidFill>
                <a:latin typeface="Consolas"/>
              </a:rPr>
              <a:t>ETHERNET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71253" y="4041648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4271253" y="4041648"/>
            <a:ext cx="41148" cy="52120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435845" y="4133088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690A"/>
                </a:solidFill>
                <a:latin typeface="Consolas"/>
              </a:rPr>
              <a:t>LED ámbar RJ-45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35845" y="4389120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Actividad de datos (o 100 Mbps).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35845" y="4288536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2690A"/>
                </a:solidFill>
                <a:latin typeface="Consolas"/>
              </a:rPr>
              <a:t>ETHERNET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067019" y="4041648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8067019" y="4041648"/>
            <a:ext cx="41148" cy="521208"/>
          </a:xfrm>
          <a:prstGeom prst="rect">
            <a:avLst/>
          </a:prstGeom>
          <a:solidFill>
            <a:srgbClr val="C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231611" y="4133088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322B"/>
                </a:solidFill>
                <a:latin typeface="Consolas"/>
              </a:rPr>
              <a:t>TOSLINK rojo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31611" y="4389120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Luz visible del audio óptico (~650 nm).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31611" y="4288536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8322B"/>
                </a:solidFill>
                <a:latin typeface="Consolas"/>
              </a:rPr>
              <a:t>FIBRA ÓPTICA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5488" y="470916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475488" y="4709160"/>
            <a:ext cx="41148" cy="52120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40080" y="480060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690A"/>
                </a:solidFill>
                <a:latin typeface="Consolas"/>
              </a:rPr>
              <a:t>Fibra amarilla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505663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Monomodo (larga distancia).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495604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2690A"/>
                </a:solidFill>
                <a:latin typeface="Consolas"/>
              </a:rPr>
              <a:t>SFP / LC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271253" y="470916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4271253" y="4709160"/>
            <a:ext cx="41148" cy="521208"/>
          </a:xfrm>
          <a:prstGeom prst="rect">
            <a:avLst/>
          </a:prstGeom>
          <a:solidFill>
            <a:srgbClr val="0C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435845" y="480060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C7C74"/>
                </a:solidFill>
                <a:latin typeface="Consolas"/>
              </a:rPr>
              <a:t>Fibra aqua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35845" y="505663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Multimodo OM3/OM4 (datacenter).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35845" y="495604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C7C74"/>
                </a:solidFill>
                <a:latin typeface="Consolas"/>
              </a:rPr>
              <a:t>SFP / LC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067019" y="470916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8067019" y="4709160"/>
            <a:ext cx="41148" cy="521208"/>
          </a:xfrm>
          <a:prstGeom prst="rect">
            <a:avLst/>
          </a:prstGeom>
          <a:solidFill>
            <a:srgbClr val="C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8231611" y="480060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322B"/>
                </a:solidFill>
                <a:latin typeface="Consolas"/>
              </a:rPr>
              <a:t>IrDA rojo oscuro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31611" y="505663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2C3E56"/>
                </a:solidFill>
                <a:latin typeface="Segoe UI"/>
              </a:rPr>
              <a:t>Ventana infrarroja translúcida.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31611" y="495604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8322B"/>
                </a:solidFill>
                <a:latin typeface="Consolas"/>
              </a:rPr>
              <a:t>IRDA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CÓMO ELEGIR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Atajo mental: azul = rápido (USB 3), verde = ratón/enlace, amarillo = video compuesto o fibra monomodo, rojo = luz óptica o USB 3.2.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1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16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3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9" dur="4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3" dur="4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1" dur="4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4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3" dur="4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7" dur="4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1" dur="4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5" dur="4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9" dur="4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25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5" dur="4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9" dur="4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3" dur="4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7" dur="4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1" dur="4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5" dur="4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9" dur="4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3" dur="4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7" dur="4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1" dur="4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4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9" dur="4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3" dur="4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7" dur="4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1" dur="4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5" dur="4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9" dur="4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4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3" dur="4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7" dur="4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1" dur="4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5" dur="4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9" dur="4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4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3" dur="4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7" dur="4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1" dur="4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5" dur="4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0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9" dur="4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4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3" dur="4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8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4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7" dur="4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2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4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1" dur="4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5" dur="4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0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9" dur="4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4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3" dur="4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8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7" dur="4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42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1" dur="4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6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5" dur="4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0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9" dur="4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3" dur="4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8" fill="hold">
                                  <p:stCondLst>
                                    <p:cond delay="418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7" dur="4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No confundir · Pares que se parecen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Los errores de identificación más frecuentes en el taller.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53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638797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81328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517904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RJ-45 vs RJ-11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828800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Mismo lenguaje, distinto tamaño: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8 contactos</a:t>
            </a:r>
            <a:r>
              <a:rPr sz="1150" b="0">
                <a:solidFill>
                  <a:srgbClr val="2C3E56"/>
                </a:solidFill>
                <a:latin typeface="Segoe UI"/>
              </a:rPr>
              <a:t> (red) frente a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2-4 contactos</a:t>
            </a:r>
            <a:r>
              <a:rPr sz="1150" b="0">
                <a:solidFill>
                  <a:srgbClr val="2C3E56"/>
                </a:solidFill>
                <a:latin typeface="Segoe UI"/>
              </a:rPr>
              <a:t> (teléfono). Forzar uno en el otro dobla los contactos.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6568" y="1371600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96568" y="1481328"/>
            <a:ext cx="32004" cy="384048"/>
          </a:xfrm>
          <a:prstGeom prst="rect">
            <a:avLst/>
          </a:prstGeom>
          <a:solidFill>
            <a:srgbClr val="6D4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79448" y="1517904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USB-C vs Thunderbolt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9448" y="1828800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Conector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idéntico</a:t>
            </a:r>
            <a:r>
              <a:rPr sz="1150" b="0">
                <a:solidFill>
                  <a:srgbClr val="2C3E56"/>
                </a:solidFill>
                <a:latin typeface="Segoe UI"/>
              </a:rPr>
              <a:t>. Solo el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icono del rayo ⚡</a:t>
            </a:r>
            <a:r>
              <a:rPr sz="1150" b="0">
                <a:solidFill>
                  <a:srgbClr val="2C3E56"/>
                </a:solidFill>
                <a:latin typeface="Segoe UI"/>
              </a:rPr>
              <a:t> y la documentación confirman Thunderbolt; un USB-C normal no mueve eGPU ni 2 pantallas.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2709672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75488" y="2819400"/>
            <a:ext cx="32004" cy="384048"/>
          </a:xfrm>
          <a:prstGeom prst="rect">
            <a:avLst/>
          </a:prstGeom>
          <a:solidFill>
            <a:srgbClr val="1E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2855976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HDMI vs DisplayPort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166872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HDMI: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dos esquinas biseladas</a:t>
            </a:r>
            <a:r>
              <a:rPr sz="1150" b="0">
                <a:solidFill>
                  <a:srgbClr val="2C3E56"/>
                </a:solidFill>
                <a:latin typeface="Segoe UI"/>
              </a:rPr>
              <a:t> abajo, sin pestillo. DP: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una esquina biselada</a:t>
            </a:r>
            <a:r>
              <a:rPr sz="1150" b="0">
                <a:solidFill>
                  <a:srgbClr val="2C3E56"/>
                </a:solidFill>
                <a:latin typeface="Segoe UI"/>
              </a:rPr>
              <a:t> y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pestillo de seguridad</a:t>
            </a:r>
            <a:r>
              <a:rPr sz="1150" b="0">
                <a:solidFill>
                  <a:srgbClr val="2C3E56"/>
                </a:solidFill>
                <a:latin typeface="Segoe UI"/>
              </a:rPr>
              <a:t> arriba.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6568" y="2709672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96568" y="2819400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79448" y="2855976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USB-A 2.0 vs 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9448" y="3166872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Misma forma: solo el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color interior</a:t>
            </a:r>
            <a:r>
              <a:rPr sz="1150" b="0">
                <a:solidFill>
                  <a:srgbClr val="2C3E56"/>
                </a:solidFill>
                <a:latin typeface="Segoe UI"/>
              </a:rPr>
              <a:t> (negro vs azul) y los 5 contactos extra del USB 3.0 los delatan. Usar el 3.0 en puerto 2.0 pierde velocidad.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047744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75488" y="4157472"/>
            <a:ext cx="32004" cy="384048"/>
          </a:xfrm>
          <a:prstGeom prst="rect">
            <a:avLst/>
          </a:prstGeom>
          <a:solidFill>
            <a:srgbClr val="C26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194048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DVI-I vs DVI-D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504944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DVI-I tiene </a:t>
            </a:r>
            <a:r>
              <a:rPr sz="1150" b="1">
                <a:solidFill>
                  <a:srgbClr val="2C3E56"/>
                </a:solidFill>
                <a:latin typeface="Segoe UI Semibold"/>
              </a:rPr>
              <a:t>4 pines analógicos</a:t>
            </a:r>
            <a:r>
              <a:rPr sz="1150" b="0">
                <a:solidFill>
                  <a:srgbClr val="2C3E56"/>
                </a:solidFill>
                <a:latin typeface="Segoe UI"/>
              </a:rPr>
              <a:t> alrededor de la blade y adapta a VGA pasivamente; DVI-D no, y forzarlo daña los contactos.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6568" y="4047744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196568" y="4157472"/>
            <a:ext cx="32004" cy="384048"/>
          </a:xfrm>
          <a:prstGeom prst="rect">
            <a:avLst/>
          </a:prstGeom>
          <a:solidFill>
            <a:srgbClr val="C4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79448" y="4194048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Mini-B vs Micro-B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9448" y="4504944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2C3E56"/>
                </a:solidFill>
                <a:latin typeface="Segoe UI"/>
              </a:rPr>
              <a:t>Mini-B es más grueso y trapezoidal; Micro-B, fino con rebeles. Son físicamente incompatibles aunque ambos sean USB.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5330952"/>
            <a:ext cx="11240993" cy="868680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75488" y="5422392"/>
            <a:ext cx="32004" cy="68580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542239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NOTA TÉCNICA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605272"/>
            <a:ext cx="1091180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Regla de oro: si el conector no entra con suavidad, no es el correcto. La fuerza nunca es parte del estándar.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Línea de tiempo · Cuatro décadas de conectividad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Cómo evolucionaron los puertos desde el teclado DIN hasta USB4 y Thunderbolt 5.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54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839529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617220" y="1554480"/>
            <a:ext cx="0" cy="4224528"/>
          </a:xfrm>
          <a:prstGeom prst="line">
            <a:avLst/>
          </a:prstGeom>
          <a:ln w="15875">
            <a:solidFill>
              <a:srgbClr val="AE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4632" y="1385316"/>
            <a:ext cx="265176" cy="2651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1426463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135331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1984-87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1572768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DIN-5 en los IBM AT y el nacimiento del PS/2 con código de colores verde/morado.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" y="1988820"/>
            <a:ext cx="265176" cy="2651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029968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195681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1986-95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2176272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RS-232 y LPT dominan periféricos; llega VGA (1987) y el Game Port de las Sound Blaster.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" y="2592324"/>
            <a:ext cx="265176" cy="2651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" y="2633472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256032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1995-96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2779776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FireWire (IEEE 1394) y Fast Ethernet 100BASE-TX; se lanza USB 1.0.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3195828"/>
            <a:ext cx="265176" cy="2651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236976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16382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1998-2000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383280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USB 1.1 y 2.0 unifican periféricos; Gigabit Ethernet; S-Video y compuesto en su apogeo TV.</a:t>
            </a:r>
          </a:p>
        </p:txBody>
      </p:sp>
      <p:sp>
        <p:nvSpPr>
          <p:cNvPr id="33" name="Oval 32"/>
          <p:cNvSpPr/>
          <p:nvPr/>
        </p:nvSpPr>
        <p:spPr>
          <a:xfrm>
            <a:off x="484632" y="3799332"/>
            <a:ext cx="265176" cy="2651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3840480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376732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2002-06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3986784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HDMI (2002), DisplayPort (2006) y eSATA (2004): el video se digitaliza.</a:t>
            </a:r>
          </a:p>
        </p:txBody>
      </p:sp>
      <p:sp>
        <p:nvSpPr>
          <p:cNvPr id="37" name="Oval 36"/>
          <p:cNvSpPr/>
          <p:nvPr/>
        </p:nvSpPr>
        <p:spPr>
          <a:xfrm>
            <a:off x="484632" y="4402836"/>
            <a:ext cx="265176" cy="2651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4443984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37083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2008-13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4590288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USB 3.0 (5 Gbps), Thunderbolt 1-2, SFP+ 10 GbE y HDMI 2.0 (4K60).</a:t>
            </a:r>
          </a:p>
        </p:txBody>
      </p:sp>
      <p:sp>
        <p:nvSpPr>
          <p:cNvPr id="41" name="Oval 40"/>
          <p:cNvSpPr/>
          <p:nvPr/>
        </p:nvSpPr>
        <p:spPr>
          <a:xfrm>
            <a:off x="484632" y="5006340"/>
            <a:ext cx="265176" cy="2651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5047488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97433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2014-17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5193792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USB-C y Thunderbolt 3 se imponen; DP 1.4 y HDMI 2.1 (48 Gbps).</a:t>
            </a:r>
          </a:p>
        </p:txBody>
      </p:sp>
      <p:sp>
        <p:nvSpPr>
          <p:cNvPr id="45" name="Oval 44"/>
          <p:cNvSpPr/>
          <p:nvPr/>
        </p:nvSpPr>
        <p:spPr>
          <a:xfrm>
            <a:off x="484632" y="5609844"/>
            <a:ext cx="265176" cy="2651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5650992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" y="557784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2019-23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5797296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2C3E56"/>
                </a:solidFill>
                <a:latin typeface="Segoe UI"/>
              </a:rPr>
              <a:t>USB4 (40 Gbps), DP 2.0/2.1 (80 Gbps), Thunderbolt 5 y SD Express.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1371600"/>
            <a:ext cx="3950208" cy="2322576"/>
          </a:xfrm>
          <a:prstGeom prst="roundRect">
            <a:avLst>
              <a:gd name="adj" fmla="val 2314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772400" y="1481328"/>
            <a:ext cx="32004" cy="38404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955279" y="1517904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Constante histórica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1828800"/>
            <a:ext cx="3584448" cy="181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Cada generación multiplica por 10 el ancho de banda de la anterior pero mantiene compatibilidad hacia atrás con adaptadores.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3877056"/>
            <a:ext cx="3950208" cy="2322576"/>
          </a:xfrm>
          <a:prstGeom prst="roundRect">
            <a:avLst>
              <a:gd name="adj" fmla="val 2314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772400" y="3986784"/>
            <a:ext cx="32004" cy="384048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955279" y="402336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0D1A2B"/>
                </a:solidFill>
                <a:latin typeface="Segoe UI Semibold"/>
              </a:rPr>
              <a:t>Tendencia actual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4334256"/>
            <a:ext cx="3584448" cy="181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Convergencia en USB-C: datos, video, audio y hasta 240 W en un solo conector reversible.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7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900129" y="-2103120"/>
            <a:ext cx="4754880" cy="475488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0E7C9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E7C94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D1A2B"/>
                </a:solidFill>
                <a:latin typeface="Segoe UI Semibold"/>
              </a:rPr>
              <a:t>Glosario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738C"/>
                </a:solidFill>
                <a:latin typeface="Segoe UI"/>
              </a:rPr>
              <a:t>Los términos esenciales que aparecen en las hojas de datos de estos puertos.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55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D3DEE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1040261" cy="32004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792" y="146304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Hot-plug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17007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Conexión y desconexión del periférico con el equipo encendido.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7349" y="13716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23653" y="146304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Half / Full duplex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3653" y="17007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Comunicación en un sentido o en ambos a la vez.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9211" y="13716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5515" y="146304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TMDS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5515" y="17007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Transmisión diferencial minimizada: capa física de DVI y HDMI.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189738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" y="198882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Display Stream Compression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22265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Compresión visual sin pérdida perceptible (DSC).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7349" y="189738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23653" y="198882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ARC / eARC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3653" y="22265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Canal de retorno de audio del TV al receptor por HDMI.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9211" y="189738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5515" y="198882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CEC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5515" y="22265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Control remoto único de todos los dispositivos HDMI interconectados.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242316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251460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HDCP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27523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Cifrado de contenido protegido en HDMI/DisplayPort.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77349" y="242316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23653" y="251460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Adaptive-Sync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3653" y="27523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Sincronización variable de refresco (FreeSync/G-Sync Compatible).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79211" y="242316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5515" y="251460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MST / SST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5515" y="27523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Multi-Stream (cadena de monitores) / Single-Stream en DisplayPort.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294893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1792" y="304037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UASP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3278123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Protocolo SCSI sobre USB para discos externos más rápidos.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77349" y="294893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423653" y="304037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USB Power Delivery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3653" y="3278123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Negociación de hasta 240 W por USB-C (5-48 V).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79211" y="294893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225515" y="304037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Alt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5515" y="3278123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Modo alternativo: video o Thunderbolt por el cable USB-C.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347472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21792" y="356616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PoE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380390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Alimentación sobre cable Ethernet (hasta 60-100 W).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77349" y="347472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423653" y="356616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UTP / STP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23653" y="380390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Cable de par trenzado sin/sin blindaje para red.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79211" y="347472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5515" y="356616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T568A / T568B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5515" y="380390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Orden de hilos estándar en los conectores RJ-45.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" y="40005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21792" y="409193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SFP / QSFP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" y="43296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Transceptores modulares de fibra óptica (1-400 Gbps).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77349" y="40005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423653" y="409193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LC / MPO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23653" y="43296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Conectores de fibra dúplex pequeños / multifibra de datacenter.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79211" y="40005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225515" y="409193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DDC / EDID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5515" y="43296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Identificación del monitor por el cable (plug &amp; play de video).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5488" y="452627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21792" y="461771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Y/C (S-Video)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" y="48554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Luminancia y crominancia separadas para mejor imagen.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77349" y="452627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423653" y="461771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TRS / TRRS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23653" y="48554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Conector de audio de 3 o 4 polos (con micrófono).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79211" y="452627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225515" y="461771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CTIA / OMTP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5515" y="48554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Estándares de cableado de los jacks TRRS, incompatibles entre sí.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75488" y="505205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21792" y="514349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S/PDIF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" y="53812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Interfaz de audio digital de Sony/Philips (óptica o coaxial).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77349" y="505205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423653" y="514349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UHS-I/II/III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23653" y="53812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Estándares de bus de tarjetas SD (104-624 MB/s).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79211" y="505205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225515" y="514349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94"/>
                </a:solidFill>
                <a:latin typeface="Segoe UI Semibold"/>
              </a:rPr>
              <a:t>IrDA SIR/FIR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5515" y="53812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2C3E56"/>
                </a:solidFill>
                <a:latin typeface="Segoe UI"/>
              </a:rPr>
              <a:t>Infrarrojo lento (115.2 kbps) y rápido (4 Mbps).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5488" y="5413248"/>
            <a:ext cx="11240993" cy="786384"/>
          </a:xfrm>
          <a:prstGeom prst="roundRect">
            <a:avLst>
              <a:gd name="adj" fmla="val 650"/>
            </a:avLst>
          </a:prstGeom>
          <a:solidFill>
            <a:srgbClr val="FFFFFF"/>
          </a:solidFill>
          <a:ln w="9525">
            <a:solidFill>
              <a:srgbClr val="D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475488" y="5504688"/>
            <a:ext cx="32004" cy="603503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640080" y="55046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94"/>
                </a:solidFill>
                <a:latin typeface="Consolas"/>
              </a:rPr>
              <a:t>RECORDATORIO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5687568"/>
            <a:ext cx="1091180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C3E56"/>
                </a:solidFill>
                <a:latin typeface="Segoe UI"/>
              </a:rPr>
              <a:t>Glosario pensado como referencia rápida durante la exposición y el estudio.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3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17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1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hero_ports.jpg"/>
          <p:cNvPicPr>
            <a:picLocks noChangeAspect="1"/>
          </p:cNvPicPr>
          <p:nvPr/>
        </p:nvPicPr>
        <p:blipFill>
          <a:blip r:embed="rId2"/>
          <a:srcRect l="1515" r="1515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8F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926079" y="457200"/>
            <a:ext cx="6217920" cy="6217920"/>
          </a:xfrm>
          <a:prstGeom prst="ellipse">
            <a:avLst/>
          </a:prstGeom>
          <a:solidFill>
            <a:srgbClr val="0E7C9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64008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5488" y="1600200"/>
            <a:ext cx="112409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4400" b="1">
                <a:solidFill>
                  <a:srgbClr val="0D1A2B"/>
                </a:solidFill>
                <a:latin typeface="Segoe UI Semibold"/>
              </a:rPr>
              <a:t>Guía completa y detallada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606040"/>
            <a:ext cx="112409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0E7C94"/>
                </a:solidFill>
                <a:latin typeface="Segoe UI Semibold"/>
              </a:rPr>
              <a:t>Puertos de Comunicación de PC · 23 interfaces · 7 bloques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73024" y="3218688"/>
            <a:ext cx="1645920" cy="45720"/>
          </a:xfrm>
          <a:prstGeom prst="rect">
            <a:avLst/>
          </a:prstGeom>
          <a:solidFill>
            <a:srgbClr val="0E7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04288" y="3429000"/>
            <a:ext cx="758339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2C3E56"/>
                </a:solidFill>
                <a:latin typeface="Segoe UI"/>
              </a:rPr>
              <a:t>Identifica cada puerto por su forma y color, conoce su velocidad real y elige siempre el cable correcto. Esta guía cubre desde el DIN de 1984 hasta Thunderbolt 5 y SD Express, con los datos técnicos que suelen faltar: potencia, longitudes, pinout y versiones.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159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159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USB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6087" y="4754880"/>
            <a:ext cx="583841" cy="347472"/>
          </a:xfrm>
          <a:prstGeom prst="roundRect">
            <a:avLst>
              <a:gd name="adj" fmla="val 21926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6087" y="4754880"/>
            <a:ext cx="58384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RS-232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51368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51368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LPT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18296" y="4754880"/>
            <a:ext cx="936159" cy="347472"/>
          </a:xfrm>
          <a:prstGeom prst="roundRect">
            <a:avLst>
              <a:gd name="adj" fmla="val 13674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18296" y="4754880"/>
            <a:ext cx="93615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Thunderbolt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5895" y="4754880"/>
            <a:ext cx="724768" cy="347472"/>
          </a:xfrm>
          <a:prstGeom prst="roundRect">
            <a:avLst>
              <a:gd name="adj" fmla="val 17663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45895" y="4754880"/>
            <a:ext cx="7247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FireWire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2103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62103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PS/2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9031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29031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VGA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5959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395959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DVI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2887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62887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HDMI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9815" y="4754880"/>
            <a:ext cx="936159" cy="347472"/>
          </a:xfrm>
          <a:prstGeom prst="roundRect">
            <a:avLst>
              <a:gd name="adj" fmla="val 13674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29815" y="4754880"/>
            <a:ext cx="93615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DisplayPort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7415" y="4754880"/>
            <a:ext cx="513377" cy="347472"/>
          </a:xfrm>
          <a:prstGeom prst="roundRect">
            <a:avLst>
              <a:gd name="adj" fmla="val 24936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57415" y="4754880"/>
            <a:ext cx="51337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RJ-45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2232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62232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SFP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9160" y="4754880"/>
            <a:ext cx="936159" cy="347472"/>
          </a:xfrm>
          <a:prstGeom prst="roundRect">
            <a:avLst>
              <a:gd name="adj" fmla="val 13674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729160" y="4754880"/>
            <a:ext cx="93615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Jack 3.5 mm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56759" y="4754880"/>
            <a:ext cx="654304" cy="347472"/>
          </a:xfrm>
          <a:prstGeom prst="roundRect">
            <a:avLst>
              <a:gd name="adj" fmla="val 19565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756759" y="4754880"/>
            <a:ext cx="654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TOSLINK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02504" y="4754880"/>
            <a:ext cx="513377" cy="347472"/>
          </a:xfrm>
          <a:prstGeom prst="roundRect">
            <a:avLst>
              <a:gd name="adj" fmla="val 24936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502504" y="4754880"/>
            <a:ext cx="51337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eSATA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07322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E6EDF7"/>
          </a:solidFill>
          <a:ln w="9525">
            <a:solidFill>
              <a:srgbClr val="0E7C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1107322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0E7C94"/>
                </a:solidFill>
                <a:latin typeface="Consolas"/>
              </a:rPr>
              <a:t>IrDA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D3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5488" y="64465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Segoe UI"/>
              </a:rPr>
              <a:t>Puertos de Comunicación de PC · Guía Completa y Detallada ·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1738C"/>
                </a:solidFill>
                <a:latin typeface="Consolas"/>
              </a:rPr>
              <a:t>56 / 56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5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Puertos de Comunicación de PC — Guía Completa y Detallada</dc:title>
  <dc:subject>Hardware · Identificación de puertos y especificaciones</dc:subject>
  <dc:creator>Guía completa de hardware</dc:creator>
  <cp:keywords/>
  <dc:description>Guía completa de 23 puertos de comunicación con diagramas de identificación, códigos de colores y especificaciones, en 56 diapositivas con transiciones y animaciones.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