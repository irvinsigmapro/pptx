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Presentación de apertura. Cada diapositiva tiene transición y entradas animadas por clic. Comentar el alcance general: fundamentos, compuertas, hoja de datos, aplicaciones, laboratorio y repaso.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lámina como mapa de navegación durante toda la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entre valor lógico y valor de tensión.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Dar ejemplos del aula: luz de un LED vs. intensidad de un LED.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la diferencia entre tabla de verdad (comportamiento) y ecuación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tres conversiones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cómo el hex resume el binario.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unidades con pines del integrado.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Distinguir claramente conversión binaria de codificación BCD.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uno de los conceptos más evaluados: memorizar VIL/VIH.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 el fan-out de la siguiente sección.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74LS08 también se consigue como 74ALS08, 74HC08 y 74HCT08 con el mismo pinout.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regla universal: pin 14 = VCC, pin 7 = GND en todos los DIP-14 TTL.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símbolo y los tiempos juntos.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los datasheets usan tanto la actividad en bajo.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De Morgan con un ejemplo numérico.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equivalencia con un par de compuertas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Resolver un mapa completo de 3 variables en clase.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que la tabla de verdad es la fuente de verdad del diseño.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74LS32 es tan común que los 'OR de emergencia' en un tablero casi siempre se hacen con un 7400 por equivalencia de De Morgan.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lado a lado con el 7408.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diferencia entre suma booleana y suma aritmética.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También existe el 7406 (colector abierto, 30 V) y el 7414 (Schmitt trigger) para entradas lentas o ruidosas.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Mencionar el uso del 7404 para eliminar rebote eléctrico.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74LS00 se fabrica desde 1961 y puede que sea el integrado lógico más vendido de la historia.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convención: pin 1 junto a la muesca, lado izquierdo.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 ejercicio típico de examen y de práctica de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Corregir el error clásico: en el 7402 las SALIDAS están en los pines 1, 4, 10 y 13, no las entradas.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Repasar el pinout completo con el diagrama.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el conteo de compuertas entre NAND y NOR.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La XOR es lineal sobre GF(2): encadenar XOR equivale a sumar en aritmética módulo 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la XOR con el bit de paridad.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medio sumador con la XOR y la AND.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Alternativa moderna: el 74HC7266 tiene salidas CMOS normales (sin colector abierto) y es mucho más cómodo de usar.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el cálculo del pull-up.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Reforzar la lectura de la hoja de datos.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Repartir como hoja de consulta impresa.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los símbolos IEC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Pedir a los alumnos que cuenten compuertas en un ejemplo.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Llevar a clase un par de chips para leer el código real.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un datasheet impreso si es posible.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Enfatizar la verificación previa del cableado.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el LED va a VCC en TTL.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tPD con la frecuencia máxima de un contador.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que 74HC a 5 V tiene umbrales 2.5 V.</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cálculo numérico completo.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existe el HCT.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consumo con aplicaciones portátiles.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la lectura con varios códigos reales.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con un diagrama de transistores si hay tiempo.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usarse como rúbrica de comparación.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Incluir la rutina de manejo al inicio de cada práctica.</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cada nota con un error de laboratorio típico.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cómo citar correctamente un datasheet.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4.</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Dar varios ejemplos y pedir a los alumnos que clasifiquen.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Pedir a los alumnos que implementen el medio sumador con solo 7400.</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diagrama y explicar el acarreo rápido.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bloque conecta la electrónica digital con la arquitectura de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uso del MUX como implementación universal.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las salidas activas en bajo del 74LS138.</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el codificador con el decodificador.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ánodo común vs. cátodo común.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Armar el latch en el pizarrón y seguir el estado paso a paso.</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diagrama de tiempos del reloj y Q.</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 temporizadores y relojes digitales.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relación con la multiplicación binaria.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Conectar con la arquitectura de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ser el puente hacia la siguiente unidad: microcontroladores.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lista como rúbrica de proyecto.</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Conectar con el bloque de sumadores.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la comparación de magnitud requiere más lógica.</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Revisar la lista antes de entrar al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Reforzar la verificación de VCC antes de conectar señales.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uso del capacitor de desacople y por qué es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cada medición con VIL/VIH/VOL/VOH.</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los instrumentos reales si están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entregarse como guía impresa de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diapositiva para discutir la lógica de sumidero.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ejercicio enlaza el bloque de compuertas con el de álgebra de Boole.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entre límite eléctrico y límite de diseño.</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convertirse en rúbrica de evaluación de práctica.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un esquema simulado si hay equipo disponible.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Primera práctica; insistir en la verificación de alimentación.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Práctica integradora del bloque secuencial y de display.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6.</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Ideal como diapositiva de repaso previa al examen.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imprimirse como hoja de fórmulas.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solo los más relevantes según el nivel del grupo.</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Contextualizar: estos chips formaron las primeras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dividirse en dos sesiones.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Cerrar el bloque teórico con esta lámina.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Recomendar la lectura de Floyd para profundizar.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Cerrar con una reflexión sobre el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Repartir como cuestionario escrito.</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Agradecer la atención y abrir la ronda de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18.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8.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hero_chip.png"/>
          <p:cNvPicPr>
            <a:picLocks noChangeAspect="1"/>
          </p:cNvPicPr>
          <p:nvPr/>
        </p:nvPicPr>
        <p:blipFill>
          <a:blip r:embed="rId2"/>
          <a:srcRect l="23830" r="23830"/>
          <a:stretch>
            <a:fillRect/>
          </a:stretch>
        </p:blipFill>
        <p:spPr>
          <a:xfrm>
            <a:off x="5760720" y="0"/>
            <a:ext cx="6431249" cy="6858000"/>
          </a:xfrm>
          <a:prstGeom prst="rect">
            <a:avLst/>
          </a:prstGeom>
        </p:spPr>
      </p:pic>
      <p:sp>
        <p:nvSpPr>
          <p:cNvPr id="4" name="Rectangle 3"/>
          <p:cNvSpPr/>
          <p:nvPr/>
        </p:nvSpPr>
        <p:spPr>
          <a:xfrm>
            <a:off x="5760720" y="0"/>
            <a:ext cx="502920" cy="6858000"/>
          </a:xfrm>
          <a:prstGeom prst="rect">
            <a:avLst/>
          </a:prstGeom>
          <a:solidFill>
            <a:srgbClr val="F5F8FC">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548640" y="2651760"/>
            <a:ext cx="5486400" cy="548640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2000" cy="6400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777240"/>
            <a:ext cx="5486400" cy="274320"/>
          </a:xfrm>
          <a:prstGeom prst="rect">
            <a:avLst/>
          </a:prstGeom>
          <a:noFill/>
        </p:spPr>
        <p:txBody>
          <a:bodyPr wrap="square" lIns="0" rIns="0" tIns="0" bIns="0" anchor="t">
            <a:spAutoFit/>
          </a:bodyPr>
          <a:lstStyle/>
          <a:p>
            <a:pPr algn="l">
              <a:lnSpc>
                <a:spcPct val="100000"/>
              </a:lnSpc>
            </a:pPr>
            <a:r>
              <a:rPr sz="1100" b="1">
                <a:solidFill>
                  <a:srgbClr val="0E7C94"/>
                </a:solidFill>
                <a:latin typeface="Consolas"/>
              </a:rPr>
              <a:t>GUÍA TÉCNICA · ELECTRÓNICA DIGITAL · EDICIÓN AMPLIADA</a:t>
            </a:r>
          </a:p>
        </p:txBody>
      </p:sp>
      <p:sp>
        <p:nvSpPr>
          <p:cNvPr id="8" name="TextBox 7"/>
          <p:cNvSpPr txBox="1"/>
          <p:nvPr/>
        </p:nvSpPr>
        <p:spPr>
          <a:xfrm>
            <a:off x="475488" y="1170432"/>
            <a:ext cx="5669280" cy="1920240"/>
          </a:xfrm>
          <a:prstGeom prst="rect">
            <a:avLst/>
          </a:prstGeom>
          <a:noFill/>
        </p:spPr>
        <p:txBody>
          <a:bodyPr wrap="square" lIns="0" rIns="0" tIns="0" bIns="0" anchor="t">
            <a:spAutoFit/>
          </a:bodyPr>
          <a:lstStyle/>
          <a:p>
            <a:pPr algn="l">
              <a:lnSpc>
                <a:spcPct val="90000"/>
              </a:lnSpc>
            </a:pPr>
            <a:r>
              <a:rPr sz="4400" b="1">
                <a:solidFill>
                  <a:srgbClr val="0D1A2B"/>
                </a:solidFill>
                <a:latin typeface="Segoe UI Semibold"/>
              </a:rPr>
              <a:t>Compuertas Lógicas y Chips Serie 74XX</a:t>
            </a:r>
          </a:p>
        </p:txBody>
      </p:sp>
      <p:sp>
        <p:nvSpPr>
          <p:cNvPr id="9" name="TextBox 8"/>
          <p:cNvSpPr txBox="1"/>
          <p:nvPr/>
        </p:nvSpPr>
        <p:spPr>
          <a:xfrm>
            <a:off x="475488" y="3310128"/>
            <a:ext cx="5394960" cy="914400"/>
          </a:xfrm>
          <a:prstGeom prst="rect">
            <a:avLst/>
          </a:prstGeom>
          <a:noFill/>
        </p:spPr>
        <p:txBody>
          <a:bodyPr wrap="square" lIns="0" rIns="0" tIns="0" bIns="0" anchor="t">
            <a:spAutoFit/>
          </a:bodyPr>
          <a:lstStyle/>
          <a:p>
            <a:pPr algn="l">
              <a:lnSpc>
                <a:spcPct val="112000"/>
              </a:lnSpc>
            </a:pPr>
            <a:r>
              <a:rPr sz="1450" b="0">
                <a:solidFill>
                  <a:srgbClr val="2C3E56"/>
                </a:solidFill>
                <a:latin typeface="Segoe UI"/>
              </a:rPr>
              <a:t>De los fundamentos de Boole al montaje real en laboratorio: teoría, hoja de datos, diagramas de tiempo, aplicaciones y práctica guiada.</a:t>
            </a:r>
          </a:p>
        </p:txBody>
      </p:sp>
      <p:sp>
        <p:nvSpPr>
          <p:cNvPr id="10" name="Rectangle 9"/>
          <p:cNvSpPr/>
          <p:nvPr/>
        </p:nvSpPr>
        <p:spPr>
          <a:xfrm>
            <a:off x="475488" y="4315968"/>
            <a:ext cx="1371600" cy="457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5488" y="4498848"/>
            <a:ext cx="5394960" cy="822960"/>
          </a:xfrm>
          <a:prstGeom prst="rect">
            <a:avLst/>
          </a:prstGeom>
          <a:noFill/>
        </p:spPr>
        <p:txBody>
          <a:bodyPr wrap="square" lIns="0" rIns="0" tIns="0" bIns="0" anchor="t">
            <a:spAutoFit/>
          </a:bodyPr>
          <a:lstStyle/>
          <a:p>
            <a:pPr algn="l">
              <a:lnSpc>
                <a:spcPct val="114000"/>
              </a:lnSpc>
            </a:pPr>
            <a:r>
              <a:rPr sz="900" b="0">
                <a:solidFill>
                  <a:srgbClr val="61738C"/>
                </a:solidFill>
                <a:latin typeface="Segoe UI"/>
              </a:rPr>
              <a:t>Recorrido completo por las compuertas AND, OR, NOT, NAND, NOR, XOR y XNOR; el funcionamiento interno de la familia TTL 74XX; las subfamilias 74LS, 74S, 74F, 74HC y 74HCT; los parámetros eléctricos de una hoja de datos; y los circuitos integrados que se construyen con ellos: sumadores, multiplexores, decodificadores, contadores, registros y memorias.</a:t>
            </a:r>
          </a:p>
        </p:txBody>
      </p:sp>
      <p:sp>
        <p:nvSpPr>
          <p:cNvPr id="12" name="Rounded Rectangle 11"/>
          <p:cNvSpPr/>
          <p:nvPr/>
        </p:nvSpPr>
        <p:spPr>
          <a:xfrm>
            <a:off x="475488"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3504"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7</a:t>
            </a:r>
          </a:p>
        </p:txBody>
      </p:sp>
      <p:sp>
        <p:nvSpPr>
          <p:cNvPr id="14" name="TextBox 13"/>
          <p:cNvSpPr txBox="1"/>
          <p:nvPr/>
        </p:nvSpPr>
        <p:spPr>
          <a:xfrm>
            <a:off x="603504" y="5769864"/>
            <a:ext cx="1028699" cy="347472"/>
          </a:xfrm>
          <a:prstGeom prst="rect">
            <a:avLst/>
          </a:prstGeom>
          <a:noFill/>
        </p:spPr>
        <p:txBody>
          <a:bodyPr wrap="square" lIns="0" rIns="0" tIns="0" bIns="0" anchor="t">
            <a:spAutoFit/>
          </a:bodyPr>
          <a:lstStyle/>
          <a:p>
            <a:pPr algn="l">
              <a:lnSpc>
                <a:spcPct val="105000"/>
              </a:lnSpc>
            </a:pPr>
            <a:r>
              <a:rPr sz="850" b="0">
                <a:solidFill>
                  <a:srgbClr val="61738C"/>
                </a:solidFill>
                <a:latin typeface="Segoe UI"/>
              </a:rPr>
              <a:t>compuertas lógicas fundamentales</a:t>
            </a:r>
          </a:p>
        </p:txBody>
      </p:sp>
      <p:sp>
        <p:nvSpPr>
          <p:cNvPr id="15" name="Rounded Rectangle 14"/>
          <p:cNvSpPr/>
          <p:nvPr/>
        </p:nvSpPr>
        <p:spPr>
          <a:xfrm>
            <a:off x="1906524"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034540"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6+</a:t>
            </a:r>
          </a:p>
        </p:txBody>
      </p:sp>
      <p:sp>
        <p:nvSpPr>
          <p:cNvPr id="17" name="TextBox 16"/>
          <p:cNvSpPr txBox="1"/>
          <p:nvPr/>
        </p:nvSpPr>
        <p:spPr>
          <a:xfrm>
            <a:off x="2034540" y="5769864"/>
            <a:ext cx="1028699" cy="347472"/>
          </a:xfrm>
          <a:prstGeom prst="rect">
            <a:avLst/>
          </a:prstGeom>
          <a:noFill/>
        </p:spPr>
        <p:txBody>
          <a:bodyPr wrap="square" lIns="0" rIns="0" tIns="0" bIns="0" anchor="t">
            <a:spAutoFit/>
          </a:bodyPr>
          <a:lstStyle/>
          <a:p>
            <a:pPr algn="l">
              <a:lnSpc>
                <a:spcPct val="105000"/>
              </a:lnSpc>
            </a:pPr>
            <a:r>
              <a:rPr sz="850" b="0">
                <a:solidFill>
                  <a:srgbClr val="61738C"/>
                </a:solidFill>
                <a:latin typeface="Segoe UI"/>
              </a:rPr>
              <a:t>chips 74XX estudiados a detalle</a:t>
            </a:r>
          </a:p>
        </p:txBody>
      </p:sp>
      <p:sp>
        <p:nvSpPr>
          <p:cNvPr id="18" name="Rounded Rectangle 17"/>
          <p:cNvSpPr/>
          <p:nvPr/>
        </p:nvSpPr>
        <p:spPr>
          <a:xfrm>
            <a:off x="3337559"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65575"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40+</a:t>
            </a:r>
          </a:p>
        </p:txBody>
      </p:sp>
      <p:sp>
        <p:nvSpPr>
          <p:cNvPr id="20" name="TextBox 19"/>
          <p:cNvSpPr txBox="1"/>
          <p:nvPr/>
        </p:nvSpPr>
        <p:spPr>
          <a:xfrm>
            <a:off x="3465575" y="5769864"/>
            <a:ext cx="1028699" cy="347472"/>
          </a:xfrm>
          <a:prstGeom prst="rect">
            <a:avLst/>
          </a:prstGeom>
          <a:noFill/>
        </p:spPr>
        <p:txBody>
          <a:bodyPr wrap="square" lIns="0" rIns="0" tIns="0" bIns="0" anchor="t">
            <a:spAutoFit/>
          </a:bodyPr>
          <a:lstStyle/>
          <a:p>
            <a:pPr algn="l">
              <a:lnSpc>
                <a:spcPct val="105000"/>
              </a:lnSpc>
            </a:pPr>
            <a:r>
              <a:rPr sz="900" b="0">
                <a:solidFill>
                  <a:srgbClr val="61738C"/>
                </a:solidFill>
                <a:latin typeface="Segoe UI"/>
              </a:rPr>
              <a:t>diagramas, tablas y esquemas</a:t>
            </a:r>
          </a:p>
        </p:txBody>
      </p:sp>
      <p:sp>
        <p:nvSpPr>
          <p:cNvPr id="21" name="Rounded Rectangle 20"/>
          <p:cNvSpPr/>
          <p:nvPr/>
        </p:nvSpPr>
        <p:spPr>
          <a:xfrm>
            <a:off x="4768596"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896612"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100</a:t>
            </a:r>
          </a:p>
        </p:txBody>
      </p:sp>
      <p:sp>
        <p:nvSpPr>
          <p:cNvPr id="23" name="TextBox 22"/>
          <p:cNvSpPr txBox="1"/>
          <p:nvPr/>
        </p:nvSpPr>
        <p:spPr>
          <a:xfrm>
            <a:off x="4896612" y="5769864"/>
            <a:ext cx="1028699" cy="347472"/>
          </a:xfrm>
          <a:prstGeom prst="rect">
            <a:avLst/>
          </a:prstGeom>
          <a:noFill/>
        </p:spPr>
        <p:txBody>
          <a:bodyPr wrap="square" lIns="0" rIns="0" tIns="0" bIns="0" anchor="t">
            <a:spAutoFit/>
          </a:bodyPr>
          <a:lstStyle/>
          <a:p>
            <a:pPr algn="l">
              <a:lnSpc>
                <a:spcPct val="105000"/>
              </a:lnSpc>
            </a:pPr>
            <a:r>
              <a:rPr sz="850" b="0">
                <a:solidFill>
                  <a:srgbClr val="61738C"/>
                </a:solidFill>
                <a:latin typeface="Segoe UI"/>
              </a:rPr>
              <a:t>diapositivas con transiciones y animaciones</a:t>
            </a:r>
          </a:p>
        </p:txBody>
      </p:sp>
      <p:sp>
        <p:nvSpPr>
          <p:cNvPr id="24" name="Rectangle 23"/>
          <p:cNvSpPr/>
          <p:nvPr/>
        </p:nvSpPr>
        <p:spPr>
          <a:xfrm>
            <a:off x="5760720" y="6254496"/>
            <a:ext cx="6431249" cy="603503"/>
          </a:xfrm>
          <a:prstGeom prst="rect">
            <a:avLst/>
          </a:prstGeom>
          <a:solidFill>
            <a:srgbClr val="F5F8FC">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 name="Connector 24"/>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5488" y="6446520"/>
            <a:ext cx="73152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 · Guía técnica ampliada · 2026</a:t>
            </a:r>
          </a:p>
        </p:txBody>
      </p:sp>
      <p:sp>
        <p:nvSpPr>
          <p:cNvPr id="27" name="TextBox 26"/>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01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18" fill="hold">
                      <p:stCondLst>
                        <p:cond delay="0"/>
                      </p:stCondLst>
                      <p:childTnLst>
                        <p:par>
                          <p:cTn id="19" fill="hold">
                            <p:stCondLst>
                              <p:cond delay="0"/>
                            </p:stCondLst>
                            <p:childTnLst>
                              <p:par>
                                <p:cTn id="5" fill="hold">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3" dur="420"/>
                                        <p:tgtEl>
                                          <p:spTgt spid="7"/>
                                        </p:tgtEl>
                                      </p:cBhvr>
                                    </p:animEffect>
                                  </p:childTnLst>
                                </p:cTn>
                              </p:par>
                              <p:par>
                                <p:cTn id="8" fill="hold">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6" dur="420"/>
                                        <p:tgtEl>
                                          <p:spTgt spid="8"/>
                                        </p:tgtEl>
                                      </p:cBhvr>
                                    </p:animEffect>
                                  </p:childTnLst>
                                </p:cTn>
                              </p:par>
                              <p:par>
                                <p:cTn id="11" fill="hold">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9" dur="420"/>
                                        <p:tgtEl>
                                          <p:spTgt spid="9"/>
                                        </p:tgtEl>
                                      </p:cBhvr>
                                    </p:animEffect>
                                  </p:childTnLst>
                                </p:cTn>
                              </p:par>
                              <p:par>
                                <p:cTn id="14" fill="hold">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2" dur="420"/>
                                        <p:tgtEl>
                                          <p:spTgt spid="10"/>
                                        </p:tgtEl>
                                      </p:cBhvr>
                                    </p:animEffect>
                                  </p:childTnLst>
                                </p:cTn>
                              </p:par>
                              <p:par>
                                <p:cTn id="17" fill="hold">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5" dur="420"/>
                                        <p:tgtEl>
                                          <p:spTgt spid="11"/>
                                        </p:tgtEl>
                                      </p:cBhvr>
                                    </p:animEffect>
                                  </p:childTnLst>
                                </p:cTn>
                              </p:par>
                            </p:childTnLst>
                          </p:cTn>
                        </p:par>
                      </p:childTnLst>
                    </p:cTn>
                  </p:par>
                  <p:par>
                    <p:cTn id="36" fill="hold">
                      <p:stCondLst>
                        <p:cond delay="indefinite"/>
                      </p:stCondLst>
                      <p:childTnLst>
                        <p:par>
                          <p:cTn id="37" fill="hold">
                            <p:stCondLst>
                              <p:cond delay="0"/>
                            </p:stCondLst>
                            <p:childTnLst>
                              <p:par>
                                <p:cTn id="23" fill="hold">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0" dur="420"/>
                                        <p:tgtEl>
                                          <p:spTgt spid="12"/>
                                        </p:tgtEl>
                                      </p:cBhvr>
                                    </p:animEffect>
                                    <p:anim calcmode="lin" valueType="num">
                                      <p:cBhvr additive="base">
                                        <p:cTn id="22" dur="420" fill="hold"/>
                                        <p:tgtEl>
                                          <p:spTgt spid="12"/>
                                        </p:tgtEl>
                                        <p:attrNameLst>
                                          <p:attrName>ppt_y</p:attrName>
                                        </p:attrNameLst>
                                      </p:cBhvr>
                                      <p:tavLst>
                                        <p:tav tm="0">
                                          <p:val>
                                            <p:fltVal val="0.06"/>
                                          </p:val>
                                        </p:tav>
                                        <p:tav tm="100000">
                                          <p:val>
                                            <p:fltVal val="0"/>
                                          </p:val>
                                        </p:tav>
                                      </p:tavLst>
                                    </p:anim>
                                  </p:childTnLst>
                                </p:cTn>
                              </p:par>
                              <p:par>
                                <p:cTn id="27" fill="hold">
                                  <p:stCondLst>
                                    <p:cond delay="1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anim calcmode="lin" valueType="num">
                                      <p:cBhvr additive="base">
                                        <p:cTn id="26" dur="420" fill="hold"/>
                                        <p:tgtEl>
                                          <p:spTgt spid="13"/>
                                        </p:tgtEl>
                                        <p:attrNameLst>
                                          <p:attrName>ppt_y</p:attrName>
                                        </p:attrNameLst>
                                      </p:cBhvr>
                                      <p:tavLst>
                                        <p:tav tm="0">
                                          <p:val>
                                            <p:fltVal val="0.06"/>
                                          </p:val>
                                        </p:tav>
                                        <p:tav tm="100000">
                                          <p:val>
                                            <p:fltVal val="0"/>
                                          </p:val>
                                        </p:tav>
                                      </p:tavLst>
                                    </p:anim>
                                  </p:childTnLst>
                                </p:cTn>
                              </p:par>
                              <p:par>
                                <p:cTn id="31" fill="hold">
                                  <p:stCondLst>
                                    <p:cond delay="220"/>
                                  </p:stCondLst>
                                  <p:childTnLst>
                                    <p:set>
                                      <p:cBhvr>
                                        <p:cTn id="29" dur="1" fill="hold">
                                          <p:stCondLst>
                                            <p:cond delay="0"/>
                                          </p:stCondLst>
                                        </p:cTn>
                                        <p:tgtEl>
                                          <p:spTgt spid="14"/>
                                        </p:tgtEl>
                                        <p:attrNameLst>
                                          <p:attrName>style.visibility</p:attrName>
                                        </p:attrNameLst>
                                      </p:cBhvr>
                                      <p:to>
                                        <p:strVal val="visible"/>
                                      </p:to>
                                    </p:set>
                                    <p:animEffect transition="in" filter="fade">
                                      <p:cBhvr>
                                        <p:cTn id="28" dur="420"/>
                                        <p:tgtEl>
                                          <p:spTgt spid="14"/>
                                        </p:tgtEl>
                                      </p:cBhvr>
                                    </p:animEffect>
                                    <p:anim calcmode="lin" valueType="num">
                                      <p:cBhvr additive="base">
                                        <p:cTn id="30" dur="420" fill="hold"/>
                                        <p:tgtEl>
                                          <p:spTgt spid="14"/>
                                        </p:tgtEl>
                                        <p:attrNameLst>
                                          <p:attrName>ppt_y</p:attrName>
                                        </p:attrNameLst>
                                      </p:cBhvr>
                                      <p:tavLst>
                                        <p:tav tm="0">
                                          <p:val>
                                            <p:fltVal val="0.06"/>
                                          </p:val>
                                        </p:tav>
                                        <p:tav tm="100000">
                                          <p:val>
                                            <p:fltVal val="0"/>
                                          </p:val>
                                        </p:tav>
                                      </p:tavLst>
                                    </p:anim>
                                  </p:childTnLst>
                                </p:cTn>
                              </p:par>
                              <p:par>
                                <p:cTn id="35" fill="hold">
                                  <p:stCondLst>
                                    <p:cond delay="330"/>
                                  </p:stCondLst>
                                  <p:childTnLst>
                                    <p:set>
                                      <p:cBhvr>
                                        <p:cTn id="33" dur="1" fill="hold">
                                          <p:stCondLst>
                                            <p:cond delay="0"/>
                                          </p:stCondLst>
                                        </p:cTn>
                                        <p:tgtEl>
                                          <p:spTgt spid="15"/>
                                        </p:tgtEl>
                                        <p:attrNameLst>
                                          <p:attrName>style.visibility</p:attrName>
                                        </p:attrNameLst>
                                      </p:cBhvr>
                                      <p:to>
                                        <p:strVal val="visible"/>
                                      </p:to>
                                    </p:set>
                                    <p:animEffect transition="in" filter="fade">
                                      <p:cBhvr>
                                        <p:cTn id="32" dur="420"/>
                                        <p:tgtEl>
                                          <p:spTgt spid="15"/>
                                        </p:tgtEl>
                                      </p:cBhvr>
                                    </p:animEffect>
                                    <p:anim calcmode="lin" valueType="num">
                                      <p:cBhvr additive="base">
                                        <p:cTn id="34"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54" fill="hold">
                      <p:stCondLst>
                        <p:cond delay="indefinite"/>
                      </p:stCondLst>
                      <p:childTnLst>
                        <p:par>
                          <p:cTn id="55" fill="hold">
                            <p:stCondLst>
                              <p:cond delay="0"/>
                            </p:stCondLst>
                            <p:childTnLst>
                              <p:par>
                                <p:cTn id="41" fill="hold">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38" dur="420"/>
                                        <p:tgtEl>
                                          <p:spTgt spid="16"/>
                                        </p:tgtEl>
                                      </p:cBhvr>
                                    </p:animEffect>
                                    <p:anim calcmode="lin" valueType="num">
                                      <p:cBhvr additive="base">
                                        <p:cTn id="40" dur="420" fill="hold"/>
                                        <p:tgtEl>
                                          <p:spTgt spid="16"/>
                                        </p:tgtEl>
                                        <p:attrNameLst>
                                          <p:attrName>ppt_y</p:attrName>
                                        </p:attrNameLst>
                                      </p:cBhvr>
                                      <p:tavLst>
                                        <p:tav tm="0">
                                          <p:val>
                                            <p:fltVal val="0.06"/>
                                          </p:val>
                                        </p:tav>
                                        <p:tav tm="100000">
                                          <p:val>
                                            <p:fltVal val="0"/>
                                          </p:val>
                                        </p:tav>
                                      </p:tavLst>
                                    </p:anim>
                                  </p:childTnLst>
                                </p:cTn>
                              </p:par>
                              <p:par>
                                <p:cTn id="45" fill="hold">
                                  <p:stCondLst>
                                    <p:cond delay="110"/>
                                  </p:stCondLst>
                                  <p:childTnLst>
                                    <p:set>
                                      <p:cBhvr>
                                        <p:cTn id="43" dur="1" fill="hold">
                                          <p:stCondLst>
                                            <p:cond delay="0"/>
                                          </p:stCondLst>
                                        </p:cTn>
                                        <p:tgtEl>
                                          <p:spTgt spid="17"/>
                                        </p:tgtEl>
                                        <p:attrNameLst>
                                          <p:attrName>style.visibility</p:attrName>
                                        </p:attrNameLst>
                                      </p:cBhvr>
                                      <p:to>
                                        <p:strVal val="visible"/>
                                      </p:to>
                                    </p:set>
                                    <p:animEffect transition="in" filter="fade">
                                      <p:cBhvr>
                                        <p:cTn id="42" dur="420"/>
                                        <p:tgtEl>
                                          <p:spTgt spid="17"/>
                                        </p:tgtEl>
                                      </p:cBhvr>
                                    </p:animEffect>
                                    <p:anim calcmode="lin" valueType="num">
                                      <p:cBhvr additive="base">
                                        <p:cTn id="44" dur="420" fill="hold"/>
                                        <p:tgtEl>
                                          <p:spTgt spid="17"/>
                                        </p:tgtEl>
                                        <p:attrNameLst>
                                          <p:attrName>ppt_y</p:attrName>
                                        </p:attrNameLst>
                                      </p:cBhvr>
                                      <p:tavLst>
                                        <p:tav tm="0">
                                          <p:val>
                                            <p:fltVal val="0.06"/>
                                          </p:val>
                                        </p:tav>
                                        <p:tav tm="100000">
                                          <p:val>
                                            <p:fltVal val="0"/>
                                          </p:val>
                                        </p:tav>
                                      </p:tavLst>
                                    </p:anim>
                                  </p:childTnLst>
                                </p:cTn>
                              </p:par>
                              <p:par>
                                <p:cTn id="49" fill="hold">
                                  <p:stCondLst>
                                    <p:cond delay="220"/>
                                  </p:stCondLst>
                                  <p:childTnLst>
                                    <p:set>
                                      <p:cBhvr>
                                        <p:cTn id="47" dur="1" fill="hold">
                                          <p:stCondLst>
                                            <p:cond delay="0"/>
                                          </p:stCondLst>
                                        </p:cTn>
                                        <p:tgtEl>
                                          <p:spTgt spid="18"/>
                                        </p:tgtEl>
                                        <p:attrNameLst>
                                          <p:attrName>style.visibility</p:attrName>
                                        </p:attrNameLst>
                                      </p:cBhvr>
                                      <p:to>
                                        <p:strVal val="visible"/>
                                      </p:to>
                                    </p:set>
                                    <p:animEffect transition="in" filter="fade">
                                      <p:cBhvr>
                                        <p:cTn id="46" dur="420"/>
                                        <p:tgtEl>
                                          <p:spTgt spid="18"/>
                                        </p:tgtEl>
                                      </p:cBhvr>
                                    </p:animEffect>
                                    <p:anim calcmode="lin" valueType="num">
                                      <p:cBhvr additive="base">
                                        <p:cTn id="48" dur="420" fill="hold"/>
                                        <p:tgtEl>
                                          <p:spTgt spid="18"/>
                                        </p:tgtEl>
                                        <p:attrNameLst>
                                          <p:attrName>ppt_y</p:attrName>
                                        </p:attrNameLst>
                                      </p:cBhvr>
                                      <p:tavLst>
                                        <p:tav tm="0">
                                          <p:val>
                                            <p:fltVal val="0.06"/>
                                          </p:val>
                                        </p:tav>
                                        <p:tav tm="100000">
                                          <p:val>
                                            <p:fltVal val="0"/>
                                          </p:val>
                                        </p:tav>
                                      </p:tavLst>
                                    </p:anim>
                                  </p:childTnLst>
                                </p:cTn>
                              </p:par>
                              <p:par>
                                <p:cTn id="53" fill="hold">
                                  <p:stCondLst>
                                    <p:cond delay="330"/>
                                  </p:stCondLst>
                                  <p:childTnLst>
                                    <p:set>
                                      <p:cBhvr>
                                        <p:cTn id="51" dur="1" fill="hold">
                                          <p:stCondLst>
                                            <p:cond delay="0"/>
                                          </p:stCondLst>
                                        </p:cTn>
                                        <p:tgtEl>
                                          <p:spTgt spid="19"/>
                                        </p:tgtEl>
                                        <p:attrNameLst>
                                          <p:attrName>style.visibility</p:attrName>
                                        </p:attrNameLst>
                                      </p:cBhvr>
                                      <p:to>
                                        <p:strVal val="visible"/>
                                      </p:to>
                                    </p:set>
                                    <p:animEffect transition="in" filter="fade">
                                      <p:cBhvr>
                                        <p:cTn id="50" dur="420"/>
                                        <p:tgtEl>
                                          <p:spTgt spid="19"/>
                                        </p:tgtEl>
                                      </p:cBhvr>
                                    </p:animEffect>
                                    <p:anim calcmode="lin" valueType="num">
                                      <p:cBhvr additive="base">
                                        <p:cTn id="52"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72" fill="hold">
                      <p:stCondLst>
                        <p:cond delay="indefinite"/>
                      </p:stCondLst>
                      <p:childTnLst>
                        <p:par>
                          <p:cTn id="73" fill="hold">
                            <p:stCondLst>
                              <p:cond delay="0"/>
                            </p:stCondLst>
                            <p:childTnLst>
                              <p:par>
                                <p:cTn id="59" fill="hold">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6" dur="420"/>
                                        <p:tgtEl>
                                          <p:spTgt spid="20"/>
                                        </p:tgtEl>
                                      </p:cBhvr>
                                    </p:animEffect>
                                    <p:anim calcmode="lin" valueType="num">
                                      <p:cBhvr additive="base">
                                        <p:cTn id="58" dur="420" fill="hold"/>
                                        <p:tgtEl>
                                          <p:spTgt spid="20"/>
                                        </p:tgtEl>
                                        <p:attrNameLst>
                                          <p:attrName>ppt_y</p:attrName>
                                        </p:attrNameLst>
                                      </p:cBhvr>
                                      <p:tavLst>
                                        <p:tav tm="0">
                                          <p:val>
                                            <p:fltVal val="0.06"/>
                                          </p:val>
                                        </p:tav>
                                        <p:tav tm="100000">
                                          <p:val>
                                            <p:fltVal val="0"/>
                                          </p:val>
                                        </p:tav>
                                      </p:tavLst>
                                    </p:anim>
                                  </p:childTnLst>
                                </p:cTn>
                              </p:par>
                              <p:par>
                                <p:cTn id="63" fill="hold">
                                  <p:stCondLst>
                                    <p:cond delay="110"/>
                                  </p:stCondLst>
                                  <p:childTnLst>
                                    <p:set>
                                      <p:cBhvr>
                                        <p:cTn id="61" dur="1" fill="hold">
                                          <p:stCondLst>
                                            <p:cond delay="0"/>
                                          </p:stCondLst>
                                        </p:cTn>
                                        <p:tgtEl>
                                          <p:spTgt spid="21"/>
                                        </p:tgtEl>
                                        <p:attrNameLst>
                                          <p:attrName>style.visibility</p:attrName>
                                        </p:attrNameLst>
                                      </p:cBhvr>
                                      <p:to>
                                        <p:strVal val="visible"/>
                                      </p:to>
                                    </p:set>
                                    <p:animEffect transition="in" filter="fade">
                                      <p:cBhvr>
                                        <p:cTn id="60" dur="420"/>
                                        <p:tgtEl>
                                          <p:spTgt spid="21"/>
                                        </p:tgtEl>
                                      </p:cBhvr>
                                    </p:animEffect>
                                    <p:anim calcmode="lin" valueType="num">
                                      <p:cBhvr additive="base">
                                        <p:cTn id="62" dur="420" fill="hold"/>
                                        <p:tgtEl>
                                          <p:spTgt spid="21"/>
                                        </p:tgtEl>
                                        <p:attrNameLst>
                                          <p:attrName>ppt_y</p:attrName>
                                        </p:attrNameLst>
                                      </p:cBhvr>
                                      <p:tavLst>
                                        <p:tav tm="0">
                                          <p:val>
                                            <p:fltVal val="0.06"/>
                                          </p:val>
                                        </p:tav>
                                        <p:tav tm="100000">
                                          <p:val>
                                            <p:fltVal val="0"/>
                                          </p:val>
                                        </p:tav>
                                      </p:tavLst>
                                    </p:anim>
                                  </p:childTnLst>
                                </p:cTn>
                              </p:par>
                              <p:par>
                                <p:cTn id="67" fill="hold">
                                  <p:stCondLst>
                                    <p:cond delay="220"/>
                                  </p:stCondLst>
                                  <p:childTnLst>
                                    <p:set>
                                      <p:cBhvr>
                                        <p:cTn id="65" dur="1" fill="hold">
                                          <p:stCondLst>
                                            <p:cond delay="0"/>
                                          </p:stCondLst>
                                        </p:cTn>
                                        <p:tgtEl>
                                          <p:spTgt spid="22"/>
                                        </p:tgtEl>
                                        <p:attrNameLst>
                                          <p:attrName>style.visibility</p:attrName>
                                        </p:attrNameLst>
                                      </p:cBhvr>
                                      <p:to>
                                        <p:strVal val="visible"/>
                                      </p:to>
                                    </p:set>
                                    <p:animEffect transition="in" filter="fade">
                                      <p:cBhvr>
                                        <p:cTn id="64" dur="420"/>
                                        <p:tgtEl>
                                          <p:spTgt spid="22"/>
                                        </p:tgtEl>
                                      </p:cBhvr>
                                    </p:animEffect>
                                    <p:anim calcmode="lin" valueType="num">
                                      <p:cBhvr additive="base">
                                        <p:cTn id="66" dur="420" fill="hold"/>
                                        <p:tgtEl>
                                          <p:spTgt spid="22"/>
                                        </p:tgtEl>
                                        <p:attrNameLst>
                                          <p:attrName>ppt_y</p:attrName>
                                        </p:attrNameLst>
                                      </p:cBhvr>
                                      <p:tavLst>
                                        <p:tav tm="0">
                                          <p:val>
                                            <p:fltVal val="0.06"/>
                                          </p:val>
                                        </p:tav>
                                        <p:tav tm="100000">
                                          <p:val>
                                            <p:fltVal val="0"/>
                                          </p:val>
                                        </p:tav>
                                      </p:tavLst>
                                    </p:anim>
                                  </p:childTnLst>
                                </p:cTn>
                              </p:par>
                              <p:par>
                                <p:cTn id="71" fill="hold">
                                  <p:stCondLst>
                                    <p:cond delay="330"/>
                                  </p:stCondLst>
                                  <p:childTnLst>
                                    <p:set>
                                      <p:cBhvr>
                                        <p:cTn id="69" dur="1" fill="hold">
                                          <p:stCondLst>
                                            <p:cond delay="0"/>
                                          </p:stCondLst>
                                        </p:cTn>
                                        <p:tgtEl>
                                          <p:spTgt spid="23"/>
                                        </p:tgtEl>
                                        <p:attrNameLst>
                                          <p:attrName>style.visibility</p:attrName>
                                        </p:attrNameLst>
                                      </p:cBhvr>
                                      <p:to>
                                        <p:strVal val="visible"/>
                                      </p:to>
                                    </p:set>
                                    <p:animEffect transition="in" filter="fade">
                                      <p:cBhvr>
                                        <p:cTn id="68" dur="420"/>
                                        <p:tgtEl>
                                          <p:spTgt spid="23"/>
                                        </p:tgtEl>
                                      </p:cBhvr>
                                    </p:animEffect>
                                    <p:anim calcmode="lin" valueType="num">
                                      <p:cBhvr additive="base">
                                        <p:cTn id="70" dur="420" fill="hold"/>
                                        <p:tgtEl>
                                          <p:spTgt spid="23"/>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Contenido de la guía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Seis bloques temáticos que van de la teoría básica hasta la verificación en el laboratorio.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2481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463040"/>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63040"/>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6656" y="1609344"/>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01</a:t>
            </a:r>
          </a:p>
        </p:txBody>
      </p:sp>
      <p:sp>
        <p:nvSpPr>
          <p:cNvPr id="19" name="TextBox 18"/>
          <p:cNvSpPr txBox="1"/>
          <p:nvPr/>
        </p:nvSpPr>
        <p:spPr>
          <a:xfrm>
            <a:off x="1344168" y="1645920"/>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Fundamentos de la lógica digital</a:t>
            </a:r>
          </a:p>
        </p:txBody>
      </p:sp>
      <p:sp>
        <p:nvSpPr>
          <p:cNvPr id="20" name="TextBox 19"/>
          <p:cNvSpPr txBox="1"/>
          <p:nvPr/>
        </p:nvSpPr>
        <p:spPr>
          <a:xfrm>
            <a:off x="676656" y="2176272"/>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Sistema binario, códigos, niveles lógicos, ruido, álgebra de Boole, De Morgan, Karnaugh y formas canónicas.</a:t>
            </a:r>
          </a:p>
        </p:txBody>
      </p:sp>
      <p:sp>
        <p:nvSpPr>
          <p:cNvPr id="21" name="TextBox 20"/>
          <p:cNvSpPr txBox="1"/>
          <p:nvPr/>
        </p:nvSpPr>
        <p:spPr>
          <a:xfrm>
            <a:off x="676656" y="2651760"/>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3 – 24</a:t>
            </a:r>
          </a:p>
        </p:txBody>
      </p:sp>
      <p:sp>
        <p:nvSpPr>
          <p:cNvPr id="22" name="Rounded Rectangle 21"/>
          <p:cNvSpPr/>
          <p:nvPr/>
        </p:nvSpPr>
        <p:spPr>
          <a:xfrm>
            <a:off x="4283445" y="1463040"/>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283445" y="1463040"/>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84613" y="1609344"/>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02</a:t>
            </a:r>
          </a:p>
        </p:txBody>
      </p:sp>
      <p:sp>
        <p:nvSpPr>
          <p:cNvPr id="25" name="TextBox 24"/>
          <p:cNvSpPr txBox="1"/>
          <p:nvPr/>
        </p:nvSpPr>
        <p:spPr>
          <a:xfrm>
            <a:off x="5152125" y="1645920"/>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Compuertas lógicas y chips 74XX</a:t>
            </a:r>
          </a:p>
        </p:txBody>
      </p:sp>
      <p:sp>
        <p:nvSpPr>
          <p:cNvPr id="26" name="TextBox 25"/>
          <p:cNvSpPr txBox="1"/>
          <p:nvPr/>
        </p:nvSpPr>
        <p:spPr>
          <a:xfrm>
            <a:off x="4484613" y="2176272"/>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AND 7408, OR 7432, NOT 7404, NAND 7400, NOR 7402, XOR 7486 y XNOR 74266 con símbolo, tabla de verdad y pinout.</a:t>
            </a:r>
          </a:p>
        </p:txBody>
      </p:sp>
      <p:sp>
        <p:nvSpPr>
          <p:cNvPr id="27" name="TextBox 26"/>
          <p:cNvSpPr txBox="1"/>
          <p:nvPr/>
        </p:nvSpPr>
        <p:spPr>
          <a:xfrm>
            <a:off x="4484613" y="2651760"/>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25 – 50</a:t>
            </a:r>
          </a:p>
        </p:txBody>
      </p:sp>
      <p:sp>
        <p:nvSpPr>
          <p:cNvPr id="28" name="Rounded Rectangle 27"/>
          <p:cNvSpPr/>
          <p:nvPr/>
        </p:nvSpPr>
        <p:spPr>
          <a:xfrm>
            <a:off x="8091403" y="1463040"/>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091403" y="1463040"/>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92571" y="1609344"/>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03</a:t>
            </a:r>
          </a:p>
        </p:txBody>
      </p:sp>
      <p:sp>
        <p:nvSpPr>
          <p:cNvPr id="31" name="TextBox 30"/>
          <p:cNvSpPr txBox="1"/>
          <p:nvPr/>
        </p:nvSpPr>
        <p:spPr>
          <a:xfrm>
            <a:off x="8960083" y="1645920"/>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Hoja de datos, tiempos y parámetros</a:t>
            </a:r>
          </a:p>
        </p:txBody>
      </p:sp>
      <p:sp>
        <p:nvSpPr>
          <p:cNvPr id="32" name="TextBox 31"/>
          <p:cNvSpPr txBox="1"/>
          <p:nvPr/>
        </p:nvSpPr>
        <p:spPr>
          <a:xfrm>
            <a:off x="8292571" y="2176272"/>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VCC, retardo de propagación, fan-out, inmunidad al ruido, familias lógicas TTL y CMOS, encapsulados y ESD.</a:t>
            </a:r>
          </a:p>
        </p:txBody>
      </p:sp>
      <p:sp>
        <p:nvSpPr>
          <p:cNvPr id="33" name="TextBox 32"/>
          <p:cNvSpPr txBox="1"/>
          <p:nvPr/>
        </p:nvSpPr>
        <p:spPr>
          <a:xfrm>
            <a:off x="8292571" y="2651760"/>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51 – 65</a:t>
            </a:r>
          </a:p>
        </p:txBody>
      </p:sp>
      <p:sp>
        <p:nvSpPr>
          <p:cNvPr id="34" name="Rounded Rectangle 33"/>
          <p:cNvSpPr/>
          <p:nvPr/>
        </p:nvSpPr>
        <p:spPr>
          <a:xfrm>
            <a:off x="475488" y="3145536"/>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3145536"/>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76656" y="3291840"/>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04</a:t>
            </a:r>
          </a:p>
        </p:txBody>
      </p:sp>
      <p:sp>
        <p:nvSpPr>
          <p:cNvPr id="37" name="TextBox 36"/>
          <p:cNvSpPr txBox="1"/>
          <p:nvPr/>
        </p:nvSpPr>
        <p:spPr>
          <a:xfrm>
            <a:off x="1344168" y="3328416"/>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Aplicaciones reales</a:t>
            </a:r>
          </a:p>
        </p:txBody>
      </p:sp>
      <p:sp>
        <p:nvSpPr>
          <p:cNvPr id="38" name="TextBox 37"/>
          <p:cNvSpPr txBox="1"/>
          <p:nvPr/>
        </p:nvSpPr>
        <p:spPr>
          <a:xfrm>
            <a:off x="676656" y="3858768"/>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Sumadores, multiplexores, decodificadores, codificadores, displays, latches, flip-flops, contadores, registros y memorias.</a:t>
            </a:r>
          </a:p>
        </p:txBody>
      </p:sp>
      <p:sp>
        <p:nvSpPr>
          <p:cNvPr id="39" name="TextBox 38"/>
          <p:cNvSpPr txBox="1"/>
          <p:nvPr/>
        </p:nvSpPr>
        <p:spPr>
          <a:xfrm>
            <a:off x="676656" y="4334256"/>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66 – 81</a:t>
            </a:r>
          </a:p>
        </p:txBody>
      </p:sp>
      <p:sp>
        <p:nvSpPr>
          <p:cNvPr id="40" name="Rounded Rectangle 39"/>
          <p:cNvSpPr/>
          <p:nvPr/>
        </p:nvSpPr>
        <p:spPr>
          <a:xfrm>
            <a:off x="4283445" y="3145536"/>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283445" y="3145536"/>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484613" y="3291840"/>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05</a:t>
            </a:r>
          </a:p>
        </p:txBody>
      </p:sp>
      <p:sp>
        <p:nvSpPr>
          <p:cNvPr id="43" name="TextBox 42"/>
          <p:cNvSpPr txBox="1"/>
          <p:nvPr/>
        </p:nvSpPr>
        <p:spPr>
          <a:xfrm>
            <a:off x="5152125" y="3328416"/>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Práctica de laboratorio y diagnóstico</a:t>
            </a:r>
          </a:p>
        </p:txBody>
      </p:sp>
      <p:sp>
        <p:nvSpPr>
          <p:cNvPr id="44" name="TextBox 43"/>
          <p:cNvSpPr txBox="1"/>
          <p:nvPr/>
        </p:nvSpPr>
        <p:spPr>
          <a:xfrm>
            <a:off x="4484613" y="3858768"/>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Montaje en protoboard, alimentación y desacople, medición, punta lógica y resolución de fallas paso a paso.</a:t>
            </a:r>
          </a:p>
        </p:txBody>
      </p:sp>
      <p:sp>
        <p:nvSpPr>
          <p:cNvPr id="45" name="TextBox 44"/>
          <p:cNvSpPr txBox="1"/>
          <p:nvPr/>
        </p:nvSpPr>
        <p:spPr>
          <a:xfrm>
            <a:off x="4484613" y="4334256"/>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82 – 92</a:t>
            </a:r>
          </a:p>
        </p:txBody>
      </p:sp>
      <p:sp>
        <p:nvSpPr>
          <p:cNvPr id="46" name="Rounded Rectangle 45"/>
          <p:cNvSpPr/>
          <p:nvPr/>
        </p:nvSpPr>
        <p:spPr>
          <a:xfrm>
            <a:off x="8091403" y="3145536"/>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091403" y="3145536"/>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292571" y="3291840"/>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06</a:t>
            </a:r>
          </a:p>
        </p:txBody>
      </p:sp>
      <p:sp>
        <p:nvSpPr>
          <p:cNvPr id="49" name="TextBox 48"/>
          <p:cNvSpPr txBox="1"/>
          <p:nvPr/>
        </p:nvSpPr>
        <p:spPr>
          <a:xfrm>
            <a:off x="8960083" y="3328416"/>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Repaso, glosario y recursos</a:t>
            </a:r>
          </a:p>
        </p:txBody>
      </p:sp>
      <p:sp>
        <p:nvSpPr>
          <p:cNvPr id="50" name="TextBox 49"/>
          <p:cNvSpPr txBox="1"/>
          <p:nvPr/>
        </p:nvSpPr>
        <p:spPr>
          <a:xfrm>
            <a:off x="8292571" y="3858768"/>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Resumen comparativo de compuertas y chips, catálogo ampliado 74XX, glosario técnico y fuentes de consulta.</a:t>
            </a:r>
          </a:p>
        </p:txBody>
      </p:sp>
      <p:sp>
        <p:nvSpPr>
          <p:cNvPr id="51" name="TextBox 50"/>
          <p:cNvSpPr txBox="1"/>
          <p:nvPr/>
        </p:nvSpPr>
        <p:spPr>
          <a:xfrm>
            <a:off x="8292571" y="4334256"/>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93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fltVal val="0.06"/>
                                          </p:val>
                                        </p:tav>
                                        <p:tav tm="100000">
                                          <p:val>
                                            <p:flt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fltVal val="0.06"/>
                                          </p:val>
                                        </p:tav>
                                        <p:tav tm="100000">
                                          <p:val>
                                            <p:flt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fltVal val="0.06"/>
                                          </p:val>
                                        </p:tav>
                                        <p:tav tm="100000">
                                          <p:val>
                                            <p:flt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fltVal val="0.06"/>
                                          </p:val>
                                        </p:tav>
                                        <p:tav tm="100000">
                                          <p:val>
                                            <p:flt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fltVal val="0.06"/>
                                          </p:val>
                                        </p:tav>
                                        <p:tav tm="100000">
                                          <p:val>
                                            <p:flt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fltVal val="0.06"/>
                                          </p:val>
                                        </p:tav>
                                        <p:tav tm="100000">
                                          <p:val>
                                            <p:flt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fltVal val="0.06"/>
                                          </p:val>
                                        </p:tav>
                                        <p:tav tm="100000">
                                          <p:val>
                                            <p:flt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fltVal val="0.06"/>
                                          </p:val>
                                        </p:tav>
                                        <p:tav tm="100000">
                                          <p:val>
                                            <p:flt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fltVal val="0.06"/>
                                          </p:val>
                                        </p:tav>
                                        <p:tav tm="100000">
                                          <p:val>
                                            <p:flt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fltVal val="0.06"/>
                                          </p:val>
                                        </p:tav>
                                        <p:tav tm="100000">
                                          <p:val>
                                            <p:flt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fltVal val="0.06"/>
                                          </p:val>
                                        </p:tav>
                                        <p:tav tm="100000">
                                          <p:val>
                                            <p:flt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fltVal val="0.06"/>
                                          </p:val>
                                        </p:tav>
                                        <p:tav tm="100000">
                                          <p:val>
                                            <p:flt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fltVal val="0.06"/>
                                          </p:val>
                                        </p:tav>
                                        <p:tav tm="100000">
                                          <p:val>
                                            <p:flt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fltVal val="0.06"/>
                                          </p:val>
                                        </p:tav>
                                        <p:tav tm="100000">
                                          <p:val>
                                            <p:flt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fltVal val="0.06"/>
                                          </p:val>
                                        </p:tav>
                                        <p:tav tm="100000">
                                          <p:val>
                                            <p:flt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fltVal val="0.06"/>
                                          </p:val>
                                        </p:tav>
                                        <p:tav tm="100000">
                                          <p:val>
                                            <p:flt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fltVal val="0.06"/>
                                          </p:val>
                                        </p:tav>
                                        <p:tav tm="100000">
                                          <p:val>
                                            <p:flt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fltVal val="0.06"/>
                                          </p:val>
                                        </p:tav>
                                        <p:tav tm="100000">
                                          <p:val>
                                            <p:flt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fltVal val="0.06"/>
                                          </p:val>
                                        </p:tav>
                                        <p:tav tm="100000">
                                          <p:val>
                                            <p:flt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fltVal val="0.06"/>
                                          </p:val>
                                        </p:tav>
                                        <p:tav tm="100000">
                                          <p:val>
                                            <p:flt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fltVal val="0.06"/>
                                          </p:val>
                                        </p:tav>
                                        <p:tav tm="100000">
                                          <p:val>
                                            <p:flt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fltVal val="0.06"/>
                                          </p:val>
                                        </p:tav>
                                        <p:tav tm="100000">
                                          <p:val>
                                            <p:flt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fltVal val="0.06"/>
                                          </p:val>
                                        </p:tav>
                                        <p:tav tm="100000">
                                          <p:val>
                                            <p:fltVal val="0"/>
                                          </p:val>
                                        </p:tav>
                                      </p:tavLst>
                                    </p:anim>
                                  </p:childTnLst>
                                </p:cTn>
                              </p:par>
                            </p:childTnLst>
                          </p:cTn>
                        </p:par>
                      </p:childTnLst>
                    </p:cTn>
                  </p:par>
                  <p:par>
                    <p:cTn id="177" fill="hold">
                      <p:stCondLst>
                        <p:cond delay="indefinite"/>
                      </p:stCondLst>
                      <p:childTnLst>
                        <p:par>
                          <p:cTn id="178"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03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33722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0E7C94"/>
                </a:solidFill>
                <a:latin typeface="Consolas"/>
              </a:rPr>
              <a:t>01</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Fundamentos de la lógica digital</a:t>
            </a:r>
          </a:p>
        </p:txBody>
      </p:sp>
      <p:sp>
        <p:nvSpPr>
          <p:cNvPr id="15" name="Rectangle 14"/>
          <p:cNvSpPr/>
          <p:nvPr/>
        </p:nvSpPr>
        <p:spPr>
          <a:xfrm>
            <a:off x="475488" y="4370832"/>
            <a:ext cx="1645920" cy="457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fund.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Qué es una señal digital y por qué domina la electrónica moderna</a:t>
            </a:r>
          </a:p>
        </p:txBody>
      </p:sp>
      <p:sp>
        <p:nvSpPr>
          <p:cNvPr id="19" name="Oval 18"/>
          <p:cNvSpPr/>
          <p:nvPr/>
        </p:nvSpPr>
        <p:spPr>
          <a:xfrm>
            <a:off x="502919" y="49130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Sistema binario, bits, bytes y códigos (BCD, Gray, ASCII)</a:t>
            </a:r>
          </a:p>
        </p:txBody>
      </p:sp>
      <p:sp>
        <p:nvSpPr>
          <p:cNvPr id="21" name="Oval 20"/>
          <p:cNvSpPr/>
          <p:nvPr/>
        </p:nvSpPr>
        <p:spPr>
          <a:xfrm>
            <a:off x="502919" y="515342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Niveles lógicos TTL: VIL, VIH, VOL, VOH y márgenes de ruido</a:t>
            </a:r>
          </a:p>
        </p:txBody>
      </p:sp>
      <p:sp>
        <p:nvSpPr>
          <p:cNvPr id="23" name="Oval 22"/>
          <p:cNvSpPr/>
          <p:nvPr/>
        </p:nvSpPr>
        <p:spPr>
          <a:xfrm>
            <a:off x="502919" y="539384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Álgebra de Boole, teoremas, De Morgan y simplificación con Karnaugh</a:t>
            </a:r>
          </a:p>
        </p:txBody>
      </p:sp>
      <p:sp>
        <p:nvSpPr>
          <p:cNvPr id="25" name="Oval 24"/>
          <p:cNvSpPr/>
          <p:nvPr/>
        </p:nvSpPr>
        <p:spPr>
          <a:xfrm>
            <a:off x="502919" y="563426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Diferencia entre lógica combinacional y lógica secuencial</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58"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56" fill="hold">
                      <p:stCondLst>
                        <p:cond delay="indefinite"/>
                      </p:stCondLst>
                      <p:childTnLst>
                        <p:par>
                          <p:cTn id="57"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¿Qué es la electrónica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Una señal digital solo admite dos estados válidos y todo lo demás se interpreta como error.</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4963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839898"/>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 </a:t>
            </a:r>
            <a:r>
              <a:rPr sz="1220" b="1">
                <a:solidFill>
                  <a:srgbClr val="2C3E56"/>
                </a:solidFill>
                <a:latin typeface="Segoe UI Semibold"/>
              </a:rPr>
              <a:t>electrónica digital</a:t>
            </a:r>
            <a:r>
              <a:rPr sz="1220" b="0">
                <a:solidFill>
                  <a:srgbClr val="2C3E56"/>
                </a:solidFill>
                <a:latin typeface="Segoe UI"/>
              </a:rPr>
              <a:t> trabaja con señales que solo pueden tomar dos valores discretos: nivel </a:t>
            </a:r>
            <a:r>
              <a:rPr sz="1220" b="1">
                <a:solidFill>
                  <a:srgbClr val="2C3E56"/>
                </a:solidFill>
                <a:latin typeface="Segoe UI Semibold"/>
              </a:rPr>
              <a:t>ALTO ('1')</a:t>
            </a:r>
            <a:r>
              <a:rPr sz="1220" b="0">
                <a:solidFill>
                  <a:srgbClr val="2C3E56"/>
                </a:solidFill>
                <a:latin typeface="Segoe UI"/>
              </a:rPr>
              <a:t> o nivel </a:t>
            </a:r>
            <a:r>
              <a:rPr sz="1220" b="1">
                <a:solidFill>
                  <a:srgbClr val="2C3E56"/>
                </a:solidFill>
                <a:latin typeface="Segoe UI Semibold"/>
              </a:rPr>
              <a:t>BAJO ('0')</a:t>
            </a:r>
            <a:r>
              <a:rPr sz="1220" b="0">
                <a:solidFill>
                  <a:srgbClr val="2C3E56"/>
                </a:solidFill>
                <a:latin typeface="Segoe UI"/>
              </a:rPr>
              <a:t>. Todo valor intermedio es una zona prohibida que el circuito no debe interpretar como dato válido.</a:t>
            </a:r>
          </a:p>
        </p:txBody>
      </p:sp>
      <p:sp>
        <p:nvSpPr>
          <p:cNvPr id="18" name="Oval 17"/>
          <p:cNvSpPr/>
          <p:nvPr/>
        </p:nvSpPr>
        <p:spPr>
          <a:xfrm>
            <a:off x="502919" y="236694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312082"/>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Los dos estados se representan con </a:t>
            </a:r>
            <a:r>
              <a:rPr sz="1220" b="1">
                <a:solidFill>
                  <a:srgbClr val="2C3E56"/>
                </a:solidFill>
                <a:latin typeface="Segoe UI Semibold"/>
              </a:rPr>
              <a:t>tensiones eléctricas</a:t>
            </a:r>
            <a:r>
              <a:rPr sz="1220" b="0">
                <a:solidFill>
                  <a:srgbClr val="2C3E56"/>
                </a:solidFill>
                <a:latin typeface="Segoe UI"/>
              </a:rPr>
              <a:t>: en la familia TTL, aproximadamente </a:t>
            </a:r>
            <a:r>
              <a:rPr sz="1220" b="1">
                <a:solidFill>
                  <a:srgbClr val="2C3E56"/>
                </a:solidFill>
                <a:latin typeface="Segoe UI Semibold"/>
              </a:rPr>
              <a:t>0 V = '0'</a:t>
            </a:r>
            <a:r>
              <a:rPr sz="1220" b="0">
                <a:solidFill>
                  <a:srgbClr val="2C3E56"/>
                </a:solidFill>
                <a:latin typeface="Segoe UI"/>
              </a:rPr>
              <a:t> y </a:t>
            </a:r>
            <a:r>
              <a:rPr sz="1220" b="1">
                <a:solidFill>
                  <a:srgbClr val="2C3E56"/>
                </a:solidFill>
                <a:latin typeface="Segoe UI Semibold"/>
              </a:rPr>
              <a:t>5 V = '1'</a:t>
            </a:r>
            <a:r>
              <a:rPr sz="1220" b="0">
                <a:solidFill>
                  <a:srgbClr val="2C3E56"/>
                </a:solidFill>
                <a:latin typeface="Segoe UI"/>
              </a:rPr>
              <a:t>; en CMOS moderno se usan 3.3 V o 1.8 V con la misma idea.</a:t>
            </a:r>
          </a:p>
        </p:txBody>
      </p:sp>
      <p:sp>
        <p:nvSpPr>
          <p:cNvPr id="20" name="Oval 19"/>
          <p:cNvSpPr/>
          <p:nvPr/>
        </p:nvSpPr>
        <p:spPr>
          <a:xfrm>
            <a:off x="502919" y="309745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042590"/>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El estado '1' y el '0' reciben el nombre de </a:t>
            </a:r>
            <a:r>
              <a:rPr sz="1220" b="1">
                <a:solidFill>
                  <a:srgbClr val="2C3E56"/>
                </a:solidFill>
                <a:latin typeface="Segoe UI Semibold"/>
              </a:rPr>
              <a:t>bit</a:t>
            </a:r>
            <a:r>
              <a:rPr sz="1220" b="0">
                <a:solidFill>
                  <a:srgbClr val="2C3E56"/>
                </a:solidFill>
                <a:latin typeface="Segoe UI"/>
              </a:rPr>
              <a:t> (binary digit, dígito binario), y los bits se agrupan en </a:t>
            </a:r>
            <a:r>
              <a:rPr sz="1220" b="1">
                <a:solidFill>
                  <a:srgbClr val="2C3E56"/>
                </a:solidFill>
                <a:latin typeface="Segoe UI Semibold"/>
              </a:rPr>
              <a:t>nibbles</a:t>
            </a:r>
            <a:r>
              <a:rPr sz="1220" b="0">
                <a:solidFill>
                  <a:srgbClr val="2C3E56"/>
                </a:solidFill>
                <a:latin typeface="Segoe UI"/>
              </a:rPr>
              <a:t> (4 bits), </a:t>
            </a:r>
            <a:r>
              <a:rPr sz="1220" b="1">
                <a:solidFill>
                  <a:srgbClr val="2C3E56"/>
                </a:solidFill>
                <a:latin typeface="Segoe UI Semibold"/>
              </a:rPr>
              <a:t>bytes</a:t>
            </a:r>
            <a:r>
              <a:rPr sz="1220" b="0">
                <a:solidFill>
                  <a:srgbClr val="2C3E56"/>
                </a:solidFill>
                <a:latin typeface="Segoe UI"/>
              </a:rPr>
              <a:t> (8 bits), </a:t>
            </a:r>
            <a:r>
              <a:rPr sz="1220" b="1">
                <a:solidFill>
                  <a:srgbClr val="2C3E56"/>
                </a:solidFill>
                <a:latin typeface="Segoe UI Semibold"/>
              </a:rPr>
              <a:t>palabras</a:t>
            </a:r>
            <a:r>
              <a:rPr sz="1220" b="0">
                <a:solidFill>
                  <a:srgbClr val="2C3E56"/>
                </a:solidFill>
                <a:latin typeface="Segoe UI"/>
              </a:rPr>
              <a:t> (16, 32 o 64 bits) y bloques de memoria.</a:t>
            </a:r>
          </a:p>
        </p:txBody>
      </p:sp>
      <p:sp>
        <p:nvSpPr>
          <p:cNvPr id="22" name="Oval 21"/>
          <p:cNvSpPr/>
          <p:nvPr/>
        </p:nvSpPr>
        <p:spPr>
          <a:xfrm>
            <a:off x="502919" y="382796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773098"/>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 gran ventaja es la </a:t>
            </a:r>
            <a:r>
              <a:rPr sz="1220" b="1">
                <a:solidFill>
                  <a:srgbClr val="2C3E56"/>
                </a:solidFill>
                <a:latin typeface="Segoe UI Semibold"/>
              </a:rPr>
              <a:t>inmunidad al ruido</a:t>
            </a:r>
            <a:r>
              <a:rPr sz="1220" b="0">
                <a:solidFill>
                  <a:srgbClr val="2C3E56"/>
                </a:solidFill>
                <a:latin typeface="Segoe UI"/>
              </a:rPr>
              <a:t> frente a la electrónica analógica: un pequeño voltaje parásito no cambia el valor lógico, salvo que cruce el umbral de decisión.</a:t>
            </a:r>
          </a:p>
        </p:txBody>
      </p:sp>
      <p:sp>
        <p:nvSpPr>
          <p:cNvPr id="24" name="Oval 23"/>
          <p:cNvSpPr/>
          <p:nvPr/>
        </p:nvSpPr>
        <p:spPr>
          <a:xfrm>
            <a:off x="6278864"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5168" y="1371600"/>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Las </a:t>
            </a:r>
            <a:r>
              <a:rPr sz="1220" b="1">
                <a:solidFill>
                  <a:srgbClr val="2C3E56"/>
                </a:solidFill>
                <a:latin typeface="Segoe UI Semibold"/>
              </a:rPr>
              <a:t>compuertas lógicas</a:t>
            </a:r>
            <a:r>
              <a:rPr sz="1220" b="0">
                <a:solidFill>
                  <a:srgbClr val="2C3E56"/>
                </a:solidFill>
                <a:latin typeface="Segoe UI"/>
              </a:rPr>
              <a:t> son los ladrillos elementales: implementan una función booleana con transistores y producen una salida digital a partir de una o varias entradas digitales.</a:t>
            </a:r>
          </a:p>
        </p:txBody>
      </p:sp>
      <p:sp>
        <p:nvSpPr>
          <p:cNvPr id="26" name="Oval 25"/>
          <p:cNvSpPr/>
          <p:nvPr/>
        </p:nvSpPr>
        <p:spPr>
          <a:xfrm>
            <a:off x="6278864" y="215697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2102108"/>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Con compuertas se construyen </a:t>
            </a:r>
            <a:r>
              <a:rPr sz="1220" b="1">
                <a:solidFill>
                  <a:srgbClr val="2C3E56"/>
                </a:solidFill>
                <a:latin typeface="Segoe UI Semibold"/>
              </a:rPr>
              <a:t>sumadores, comparadores, contadores, memorias y microprocesadores</a:t>
            </a:r>
            <a:r>
              <a:rPr sz="1220" b="0">
                <a:solidFill>
                  <a:srgbClr val="2C3E56"/>
                </a:solidFill>
                <a:latin typeface="Segoe UI"/>
              </a:rPr>
              <a:t>: un procesador moderno contiene miles de millones de compuertas elementales.</a:t>
            </a:r>
          </a:p>
        </p:txBody>
      </p:sp>
      <p:sp>
        <p:nvSpPr>
          <p:cNvPr id="28" name="Oval 27"/>
          <p:cNvSpPr/>
          <p:nvPr/>
        </p:nvSpPr>
        <p:spPr>
          <a:xfrm>
            <a:off x="6278864" y="288748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2832616"/>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 </a:t>
            </a:r>
            <a:r>
              <a:rPr sz="1220" b="1">
                <a:solidFill>
                  <a:srgbClr val="2C3E56"/>
                </a:solidFill>
                <a:latin typeface="Segoe UI Semibold"/>
              </a:rPr>
              <a:t>Serie 74XX</a:t>
            </a:r>
            <a:r>
              <a:rPr sz="1220" b="0">
                <a:solidFill>
                  <a:srgbClr val="2C3E56"/>
                </a:solidFill>
                <a:latin typeface="Segoe UI"/>
              </a:rPr>
              <a:t> es el catálogo de integrados lógicos más importante de la historia: desde 1963 sigue vigente por su bajo costo, disponibilidad y valor didáctico.</a:t>
            </a:r>
          </a:p>
        </p:txBody>
      </p:sp>
      <p:sp>
        <p:nvSpPr>
          <p:cNvPr id="30" name="Oval 29"/>
          <p:cNvSpPr/>
          <p:nvPr/>
        </p:nvSpPr>
        <p:spPr>
          <a:xfrm>
            <a:off x="6278864" y="361798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3563124"/>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En el laboratorio el chip se alimenta con </a:t>
            </a:r>
            <a:r>
              <a:rPr sz="1220" b="1">
                <a:solidFill>
                  <a:srgbClr val="2C3E56"/>
                </a:solidFill>
                <a:latin typeface="Segoe UI Semibold"/>
              </a:rPr>
              <a:t>+5 V ± 5 %</a:t>
            </a:r>
            <a:r>
              <a:rPr sz="1220" b="0">
                <a:solidFill>
                  <a:srgbClr val="2C3E56"/>
                </a:solidFill>
                <a:latin typeface="Segoe UI"/>
              </a:rPr>
              <a:t> entre los pines VCC y GND, y todas las señales de entrada y salida se miden respecto a ese GND común.</a:t>
            </a:r>
          </a:p>
        </p:txBody>
      </p:sp>
      <p:sp>
        <p:nvSpPr>
          <p:cNvPr id="32" name="Rounded Rectangle 31"/>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49824"/>
            <a:ext cx="32004" cy="65836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a:t>
            </a:r>
          </a:p>
        </p:txBody>
      </p:sp>
      <p:sp>
        <p:nvSpPr>
          <p:cNvPr id="35" name="TextBox 34"/>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Escala de la lógica digital: un solo chip 7400 (4 compuertas) contiene 24 transistores; un microprocesador actual contiene más de 30 000 millones. El principio de funcionamiento es el mismo: manipular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59" fill="hold">
                      <p:stCondLst>
                        <p:cond delay="indefinite"/>
                      </p:stCondLst>
                      <p:childTnLst>
                        <p:par>
                          <p:cTn id="60"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64" fill="hold">
                      <p:stCondLst>
                        <p:cond delay="indefinite"/>
                      </p:stCondLst>
                      <p:childTnLst>
                        <p:par>
                          <p:cTn id="65" fill="hold">
                            <p:stCondLst>
                              <p:cond delay="0"/>
                            </p:stCondLst>
                            <p:childTnLst>
                              <p:par>
                                <p:cTn id="63" fill="hold">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1" dur="420"/>
                                        <p:tgtEl>
                                          <p:spTgt spid="32"/>
                                        </p:tgtEl>
                                      </p:cBhvr>
                                    </p:animEffect>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6" dur="420"/>
                                        <p:tgtEl>
                                          <p:spTgt spid="33"/>
                                        </p:tgtEl>
                                      </p:cBhvr>
                                    </p:animEffect>
                                  </p:childTnLst>
                                </p:cTn>
                              </p:par>
                            </p:childTnLst>
                          </p:cTn>
                        </p:par>
                      </p:childTnLst>
                    </p:cTn>
                  </p:par>
                  <p:par>
                    <p:cTn id="77" fill="hold">
                      <p:stCondLst>
                        <p:cond delay="indefinite"/>
                      </p:stCondLst>
                      <p:childTnLst>
                        <p:par>
                          <p:cTn id="78" fill="hold">
                            <p:stCondLst>
                              <p:cond delay="0"/>
                            </p:stCondLst>
                            <p:childTnLst>
                              <p:par>
                                <p:cTn id="73" fill="hold">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11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Mundo analógico vs. mundo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Comparación de los dos enfoques; la guía trabaja exclusivamente el enfoque digital.</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6204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C2690A"/>
                </a:solidFill>
                <a:latin typeface="Segoe UI Semibold"/>
              </a:rPr>
              <a:t>Señal analógica</a:t>
            </a:r>
          </a:p>
        </p:txBody>
      </p:sp>
      <p:sp>
        <p:nvSpPr>
          <p:cNvPr id="19" name="Oval 18"/>
          <p:cNvSpPr/>
          <p:nvPr/>
        </p:nvSpPr>
        <p:spPr>
          <a:xfrm>
            <a:off x="685799" y="197510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Toma </a:t>
            </a:r>
            <a:r>
              <a:rPr sz="1150" b="1">
                <a:solidFill>
                  <a:srgbClr val="2C3E56"/>
                </a:solidFill>
                <a:latin typeface="Segoe UI Semibold"/>
              </a:rPr>
              <a:t>infinitos valores</a:t>
            </a:r>
            <a:r>
              <a:rPr sz="1150" b="0">
                <a:solidFill>
                  <a:srgbClr val="2C3E56"/>
                </a:solidFill>
                <a:latin typeface="Segoe UI"/>
              </a:rPr>
              <a:t> dentro de un rango continuo (0 V … 5 V, sin escalones).</a:t>
            </a:r>
          </a:p>
        </p:txBody>
      </p:sp>
      <p:sp>
        <p:nvSpPr>
          <p:cNvPr id="21" name="Oval 20"/>
          <p:cNvSpPr/>
          <p:nvPr/>
        </p:nvSpPr>
        <p:spPr>
          <a:xfrm>
            <a:off x="685799" y="245325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3983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Cualquier perturbación se suma al valor: </a:t>
            </a:r>
            <a:r>
              <a:rPr sz="1150" b="1">
                <a:solidFill>
                  <a:srgbClr val="2C3E56"/>
                </a:solidFill>
                <a:latin typeface="Segoe UI Semibold"/>
              </a:rPr>
              <a:t>el ruido no se puede eliminar</a:t>
            </a:r>
            <a:r>
              <a:rPr sz="1150" b="0">
                <a:solidFill>
                  <a:srgbClr val="2C3E56"/>
                </a:solidFill>
                <a:latin typeface="Segoe UI"/>
              </a:rPr>
              <a:t>, solo filtrar.</a:t>
            </a:r>
          </a:p>
        </p:txBody>
      </p:sp>
      <p:sp>
        <p:nvSpPr>
          <p:cNvPr id="23" name="Oval 22"/>
          <p:cNvSpPr/>
          <p:nvPr/>
        </p:nvSpPr>
        <p:spPr>
          <a:xfrm>
            <a:off x="685799" y="29314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8765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Requiere </a:t>
            </a:r>
            <a:r>
              <a:rPr sz="1150" b="1">
                <a:solidFill>
                  <a:srgbClr val="2C3E56"/>
                </a:solidFill>
                <a:latin typeface="Segoe UI Semibold"/>
              </a:rPr>
              <a:t>conversión a digital</a:t>
            </a:r>
            <a:r>
              <a:rPr sz="1150" b="0">
                <a:solidFill>
                  <a:srgbClr val="2C3E56"/>
                </a:solidFill>
                <a:latin typeface="Segoe UI"/>
              </a:rPr>
              <a:t> (ADC) para ser procesada por un chip digital.</a:t>
            </a:r>
          </a:p>
        </p:txBody>
      </p:sp>
      <p:sp>
        <p:nvSpPr>
          <p:cNvPr id="25" name="Oval 24"/>
          <p:cNvSpPr/>
          <p:nvPr/>
        </p:nvSpPr>
        <p:spPr>
          <a:xfrm>
            <a:off x="685799" y="340955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33546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Ejemplos: audio de un micrófono, salida de un termistor o de un LDR, señal de un potenciómetro.</a:t>
            </a:r>
          </a:p>
        </p:txBody>
      </p:sp>
      <p:sp>
        <p:nvSpPr>
          <p:cNvPr id="27" name="Oval 26"/>
          <p:cNvSpPr/>
          <p:nvPr/>
        </p:nvSpPr>
        <p:spPr>
          <a:xfrm>
            <a:off x="685799" y="38877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8328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Su precisión depende de tolerancias, temperatura y calidad de los componentes.</a:t>
            </a:r>
          </a:p>
        </p:txBody>
      </p:sp>
      <p:sp>
        <p:nvSpPr>
          <p:cNvPr id="29" name="Oval 28"/>
          <p:cNvSpPr/>
          <p:nvPr/>
        </p:nvSpPr>
        <p:spPr>
          <a:xfrm>
            <a:off x="685799" y="436585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43109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Procesarla exige amplificadores operacionales, filtros y etapas lineales.</a:t>
            </a:r>
          </a:p>
        </p:txBody>
      </p:sp>
      <p:sp>
        <p:nvSpPr>
          <p:cNvPr id="31" name="Rounded Rectangle 30"/>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0E7C94"/>
                </a:solidFill>
                <a:latin typeface="Segoe UI Semibold"/>
              </a:rPr>
              <a:t>Señal digital</a:t>
            </a:r>
          </a:p>
        </p:txBody>
      </p:sp>
      <p:sp>
        <p:nvSpPr>
          <p:cNvPr id="34" name="Oval 33"/>
          <p:cNvSpPr/>
          <p:nvPr/>
        </p:nvSpPr>
        <p:spPr>
          <a:xfrm>
            <a:off x="6416024" y="19751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Solo admite </a:t>
            </a:r>
            <a:r>
              <a:rPr sz="1150" b="1">
                <a:solidFill>
                  <a:srgbClr val="2C3E56"/>
                </a:solidFill>
                <a:latin typeface="Segoe UI Semibold"/>
              </a:rPr>
              <a:t>dos estados discretos</a:t>
            </a:r>
            <a:r>
              <a:rPr sz="1150" b="0">
                <a:solidFill>
                  <a:srgbClr val="2C3E56"/>
                </a:solidFill>
                <a:latin typeface="Segoe UI"/>
              </a:rPr>
              <a:t> ('0' y '1'), representados por bandas de tensión.</a:t>
            </a:r>
          </a:p>
        </p:txBody>
      </p:sp>
      <p:sp>
        <p:nvSpPr>
          <p:cNvPr id="36" name="Oval 35"/>
          <p:cNvSpPr/>
          <p:nvPr/>
        </p:nvSpPr>
        <p:spPr>
          <a:xfrm>
            <a:off x="6416024" y="245325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3983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El ruido por debajo del margen de ruido </a:t>
            </a:r>
            <a:r>
              <a:rPr sz="1150" b="1">
                <a:solidFill>
                  <a:srgbClr val="2C3E56"/>
                </a:solidFill>
                <a:latin typeface="Segoe UI Semibold"/>
              </a:rPr>
              <a:t>no altera</a:t>
            </a:r>
            <a:r>
              <a:rPr sz="1150" b="0">
                <a:solidFill>
                  <a:srgbClr val="2C3E56"/>
                </a:solidFill>
                <a:latin typeface="Segoe UI"/>
              </a:rPr>
              <a:t> el dato transmitido.</a:t>
            </a:r>
          </a:p>
        </p:txBody>
      </p:sp>
      <p:sp>
        <p:nvSpPr>
          <p:cNvPr id="38" name="Oval 37"/>
          <p:cNvSpPr/>
          <p:nvPr/>
        </p:nvSpPr>
        <p:spPr>
          <a:xfrm>
            <a:off x="6416024" y="29314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8765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 procesa directamente con compuertas y se </a:t>
            </a:r>
            <a:r>
              <a:rPr sz="1150" b="1">
                <a:solidFill>
                  <a:srgbClr val="2C3E56"/>
                </a:solidFill>
                <a:latin typeface="Segoe UI Semibold"/>
              </a:rPr>
              <a:t>almacena</a:t>
            </a:r>
            <a:r>
              <a:rPr sz="1150" b="0">
                <a:solidFill>
                  <a:srgbClr val="2C3E56"/>
                </a:solidFill>
                <a:latin typeface="Segoe UI"/>
              </a:rPr>
              <a:t> en biestables.</a:t>
            </a:r>
          </a:p>
        </p:txBody>
      </p:sp>
      <p:sp>
        <p:nvSpPr>
          <p:cNvPr id="40" name="Oval 39"/>
          <p:cNvSpPr/>
          <p:nvPr/>
        </p:nvSpPr>
        <p:spPr>
          <a:xfrm>
            <a:off x="6416024" y="340955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3546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Ejemplos: salida de una compuerta, bit de memoria, dato de un bus, estado de un contador.</a:t>
            </a:r>
          </a:p>
        </p:txBody>
      </p:sp>
      <p:sp>
        <p:nvSpPr>
          <p:cNvPr id="42" name="Oval 41"/>
          <p:cNvSpPr/>
          <p:nvPr/>
        </p:nvSpPr>
        <p:spPr>
          <a:xfrm>
            <a:off x="6416024" y="38877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8328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La exactitud se define por </a:t>
            </a:r>
            <a:r>
              <a:rPr sz="1150" b="1">
                <a:solidFill>
                  <a:srgbClr val="2C3E56"/>
                </a:solidFill>
                <a:latin typeface="Segoe UI Semibold"/>
              </a:rPr>
              <a:t>niveles garantizados</a:t>
            </a:r>
            <a:r>
              <a:rPr sz="1150" b="0">
                <a:solidFill>
                  <a:srgbClr val="2C3E56"/>
                </a:solidFill>
                <a:latin typeface="Segoe UI"/>
              </a:rPr>
              <a:t> en la hoja de datos (VIL, VIH).</a:t>
            </a:r>
          </a:p>
        </p:txBody>
      </p:sp>
      <p:sp>
        <p:nvSpPr>
          <p:cNvPr id="44" name="Oval 43"/>
          <p:cNvSpPr/>
          <p:nvPr/>
        </p:nvSpPr>
        <p:spPr>
          <a:xfrm>
            <a:off x="6416024" y="436585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43109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 vuelve a convertir a analógico con un </a:t>
            </a:r>
            <a:r>
              <a:rPr sz="1150" b="1">
                <a:solidFill>
                  <a:srgbClr val="2C3E56"/>
                </a:solidFill>
                <a:latin typeface="Segoe UI Semibold"/>
              </a:rPr>
              <a:t>DAC</a:t>
            </a:r>
            <a:r>
              <a:rPr sz="1150" b="0">
                <a:solidFill>
                  <a:srgbClr val="2C3E56"/>
                </a:solidFill>
                <a:latin typeface="Segoe UI"/>
              </a:rPr>
              <a:t> cuando hay que mover un parlante o un motor.</a:t>
            </a:r>
          </a:p>
        </p:txBody>
      </p:sp>
      <p:sp>
        <p:nvSpPr>
          <p:cNvPr id="46" name="Rounded Rectangle 4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práctica: el mundo físico es analógico y el mundo de los datos es digital; los chips de la Serie 74XX son el puente entre ambos cuando se combinan con sensores y convertidores.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fltVal val="0.06"/>
                                          </p:val>
                                        </p:tav>
                                        <p:tav tm="100000">
                                          <p:val>
                                            <p:flt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Señales, variables y funciones lógicas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Vocabulario mínimo indispensable antes de tocar una compuerta.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7445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A/B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Variable de entrada</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Símbolo cuyo valor puede ser 0 o 1. Se nombran con letras (A, B, Cin, CLK, OE) y representan el estado de un pin físico del integrado.</a:t>
            </a:r>
          </a:p>
        </p:txBody>
      </p:sp>
      <p:sp>
        <p:nvSpPr>
          <p:cNvPr id="21" name="Rounded Rectangle 20"/>
          <p:cNvSpPr/>
          <p:nvPr/>
        </p:nvSpPr>
        <p:spPr>
          <a:xfrm>
            <a:off x="4289541"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Y</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Función lógica</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Combinación booleana de las entradas que define la salida. Se escribe como ecuación (Y = A·B) o como tabla de verdad con todas las combinaciones.</a:t>
            </a:r>
          </a:p>
        </p:txBody>
      </p:sp>
      <p:sp>
        <p:nvSpPr>
          <p:cNvPr id="26" name="Rounded Rectangle 25"/>
          <p:cNvSpPr/>
          <p:nvPr/>
        </p:nvSpPr>
        <p:spPr>
          <a:xfrm>
            <a:off x="8103595"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Tabla de verdad</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Lista exhaustiva de entradas y salida. Con n entradas hay 2^n filas: 2, 4, 8, 16… Es la descripción más honesta del comportamiento del circuito.</a:t>
            </a:r>
          </a:p>
        </p:txBody>
      </p:sp>
      <p:sp>
        <p:nvSpPr>
          <p:cNvPr id="31" name="Rounded Rectangle 30"/>
          <p:cNvSpPr/>
          <p:nvPr/>
        </p:nvSpPr>
        <p:spPr>
          <a:xfrm>
            <a:off x="475488"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HI/LO</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Nivel activo</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Indica el estado que 'activa' la función. Un pin con línea superior (OE) o asterisco es activo en bajo: hace su función con '0' lógico.</a:t>
            </a:r>
          </a:p>
        </p:txBody>
      </p:sp>
      <p:sp>
        <p:nvSpPr>
          <p:cNvPr id="36" name="Rounded Rectangle 35"/>
          <p:cNvSpPr/>
          <p:nvPr/>
        </p:nvSpPr>
        <p:spPr>
          <a:xfrm>
            <a:off x="4289541"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ns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Retardo (tPD)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Tiempo entre el cambio de entrada y el cambio efectivo de salida. En 74LS ronda 8–15 ns; determina la frecuencia máxima de trabajo.</a:t>
            </a:r>
          </a:p>
        </p:txBody>
      </p:sp>
      <p:sp>
        <p:nvSpPr>
          <p:cNvPr id="41" name="Rounded Rectangle 40"/>
          <p:cNvSpPr/>
          <p:nvPr/>
        </p:nvSpPr>
        <p:spPr>
          <a:xfrm>
            <a:off x="8103595"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10</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Fan-out</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Número de entradas de la misma familia que puede gobernar una sola salida sin degradar los niveles garantizados (10 en TTL estándar).</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 estos seis conceptos se puede leer cualquier hoja de datos de la familia 74XX, desde un 7400 hasta un 74181 (ALU de 4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Sistema de numeración binario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Base 2: solo dos dígitos, pero infinitas combinaciones.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8686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352257" cy="640412"/>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El </a:t>
            </a:r>
            <a:r>
              <a:rPr sz="1225" b="1">
                <a:solidFill>
                  <a:srgbClr val="2C3E56"/>
                </a:solidFill>
                <a:latin typeface="Segoe UI Semibold"/>
              </a:rPr>
              <a:t>sistema binario</a:t>
            </a:r>
            <a:r>
              <a:rPr sz="1225" b="0">
                <a:solidFill>
                  <a:srgbClr val="2C3E56"/>
                </a:solidFill>
                <a:latin typeface="Segoe UI"/>
              </a:rPr>
              <a:t> es posicional en base 2: cada posición pesa una potencia de dos (1, 2, 4, 8, 16, 32, 64, 128…) en lugar de potencia de diez.</a:t>
            </a:r>
          </a:p>
        </p:txBody>
      </p:sp>
      <p:sp>
        <p:nvSpPr>
          <p:cNvPr id="18" name="Oval 17"/>
          <p:cNvSpPr/>
          <p:nvPr/>
        </p:nvSpPr>
        <p:spPr>
          <a:xfrm>
            <a:off x="502919" y="217294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118082"/>
            <a:ext cx="53522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Bit menos significativo (LSB):</a:t>
            </a:r>
            <a:r>
              <a:rPr sz="1225" b="0">
                <a:solidFill>
                  <a:srgbClr val="2C3E56"/>
                </a:solidFill>
                <a:latin typeface="Segoe UI"/>
              </a:rPr>
              <a:t> la posición de peso 1; </a:t>
            </a:r>
            <a:r>
              <a:rPr sz="1225" b="1">
                <a:solidFill>
                  <a:srgbClr val="2C3E56"/>
                </a:solidFill>
                <a:latin typeface="Segoe UI Semibold"/>
              </a:rPr>
              <a:t>bit más significativo (MSB):</a:t>
            </a:r>
            <a:r>
              <a:rPr sz="1225" b="0">
                <a:solidFill>
                  <a:srgbClr val="2C3E56"/>
                </a:solidFill>
                <a:latin typeface="Segoe UI"/>
              </a:rPr>
              <a:t> la de mayor peso de la palabra.</a:t>
            </a:r>
          </a:p>
        </p:txBody>
      </p:sp>
      <p:sp>
        <p:nvSpPr>
          <p:cNvPr id="20" name="Oval 19"/>
          <p:cNvSpPr/>
          <p:nvPr/>
        </p:nvSpPr>
        <p:spPr>
          <a:xfrm>
            <a:off x="502919" y="270595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51094"/>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Conversión </a:t>
            </a:r>
            <a:r>
              <a:rPr sz="1225" b="1">
                <a:solidFill>
                  <a:srgbClr val="2C3E56"/>
                </a:solidFill>
                <a:latin typeface="Segoe UI Semibold"/>
              </a:rPr>
              <a:t>binario → decimal</a:t>
            </a:r>
            <a:r>
              <a:rPr sz="1225" b="0">
                <a:solidFill>
                  <a:srgbClr val="2C3E56"/>
                </a:solidFill>
                <a:latin typeface="Segoe UI"/>
              </a:rPr>
              <a:t>: se multiplica cada bit por su peso y se suma. Ejemplo: 1011₂ = 8 + 2 + 1 = 11₁₀.</a:t>
            </a:r>
          </a:p>
        </p:txBody>
      </p:sp>
      <p:sp>
        <p:nvSpPr>
          <p:cNvPr id="22" name="Oval 21"/>
          <p:cNvSpPr/>
          <p:nvPr/>
        </p:nvSpPr>
        <p:spPr>
          <a:xfrm>
            <a:off x="502919" y="323896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184105"/>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Conversión </a:t>
            </a:r>
            <a:r>
              <a:rPr sz="1225" b="1">
                <a:solidFill>
                  <a:srgbClr val="2C3E56"/>
                </a:solidFill>
                <a:latin typeface="Segoe UI Semibold"/>
              </a:rPr>
              <a:t>decimal → binario</a:t>
            </a:r>
            <a:r>
              <a:rPr sz="1225" b="0">
                <a:solidFill>
                  <a:srgbClr val="2C3E56"/>
                </a:solidFill>
                <a:latin typeface="Segoe UI"/>
              </a:rPr>
              <a:t>: se divide sucesivamente entre 2 y se leen los residuos en orden inverso (método de divisiones sucesivas).</a:t>
            </a:r>
          </a:p>
        </p:txBody>
      </p:sp>
      <p:sp>
        <p:nvSpPr>
          <p:cNvPr id="24" name="Oval 23"/>
          <p:cNvSpPr/>
          <p:nvPr/>
        </p:nvSpPr>
        <p:spPr>
          <a:xfrm>
            <a:off x="502919" y="377198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17117"/>
            <a:ext cx="5352257" cy="640412"/>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Hexadecimal (base 16)</a:t>
            </a:r>
            <a:r>
              <a:rPr sz="1225" b="0">
                <a:solidFill>
                  <a:srgbClr val="2C3E56"/>
                </a:solidFill>
                <a:latin typeface="Segoe UI"/>
              </a:rPr>
              <a:t> se usa como abreviatura del binario: cada dígito hex equivale a 4 bits (un nibble) y simplifica mucho la lectura de buses y memorias.</a:t>
            </a:r>
          </a:p>
        </p:txBody>
      </p:sp>
      <p:sp>
        <p:nvSpPr>
          <p:cNvPr id="26" name="Oval 25"/>
          <p:cNvSpPr/>
          <p:nvPr/>
        </p:nvSpPr>
        <p:spPr>
          <a:xfrm>
            <a:off x="502919" y="4518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463600"/>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Con </a:t>
            </a:r>
            <a:r>
              <a:rPr sz="1225" b="1">
                <a:solidFill>
                  <a:srgbClr val="2C3E56"/>
                </a:solidFill>
                <a:latin typeface="Segoe UI Semibold"/>
              </a:rPr>
              <a:t>n bits</a:t>
            </a:r>
            <a:r>
              <a:rPr sz="1225" b="0">
                <a:solidFill>
                  <a:srgbClr val="2C3E56"/>
                </a:solidFill>
                <a:latin typeface="Segoe UI"/>
              </a:rPr>
              <a:t> se representan 2^n combinaciones distintas: 4 bits → 16 valores, 8 bits → 256 valores, 10 bits → 1024, 16 bits → 65 536.</a:t>
            </a:r>
          </a:p>
        </p:txBody>
      </p:sp>
      <p:sp>
        <p:nvSpPr>
          <p:cNvPr id="28" name="Oval 27"/>
          <p:cNvSpPr/>
          <p:nvPr/>
        </p:nvSpPr>
        <p:spPr>
          <a:xfrm>
            <a:off x="502919" y="505147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996611"/>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Un byte admite dos lecturas: sin signo (0 … 255) o con signo en complemento a dos (–128 … +127).</a:t>
            </a:r>
          </a:p>
        </p:txBody>
      </p:sp>
      <p:sp>
        <p:nvSpPr>
          <p:cNvPr id="30" name="Oval 29"/>
          <p:cNvSpPr/>
          <p:nvPr/>
        </p:nvSpPr>
        <p:spPr>
          <a:xfrm>
            <a:off x="502919" y="558448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529623"/>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El complemento a dos se obtiene invirtiendo todos los bits y sumando 1; es la forma en que los procesadores restan sumando.</a:t>
            </a:r>
          </a:p>
        </p:txBody>
      </p:sp>
      <p:sp>
        <p:nvSpPr>
          <p:cNvPr id="32" name="Rounded Rectangle 31"/>
          <p:cNvSpPr/>
          <p:nvPr/>
        </p:nvSpPr>
        <p:spPr>
          <a:xfrm>
            <a:off x="6266657" y="1316736"/>
            <a:ext cx="5504688" cy="4937760"/>
          </a:xfrm>
          <a:prstGeom prst="roundRect">
            <a:avLst>
              <a:gd name="adj" fmla="val 166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binary_weights.png"/>
          <p:cNvPicPr>
            <a:picLocks noChangeAspect="1"/>
          </p:cNvPicPr>
          <p:nvPr/>
        </p:nvPicPr>
        <p:blipFill>
          <a:blip r:embed="rId2"/>
          <a:stretch>
            <a:fillRect/>
          </a:stretch>
        </p:blipFill>
        <p:spPr>
          <a:xfrm>
            <a:off x="6321521" y="2762707"/>
            <a:ext cx="5285232" cy="1533753"/>
          </a:xfrm>
          <a:prstGeom prst="roundRect">
            <a:avLst>
              <a:gd name="adj" fmla="val 1384"/>
            </a:avLst>
          </a:prstGeom>
        </p:spPr>
      </p:pic>
      <p:sp>
        <p:nvSpPr>
          <p:cNvPr id="34" name="TextBox 33"/>
          <p:cNvSpPr txBox="1"/>
          <p:nvPr/>
        </p:nvSpPr>
        <p:spPr>
          <a:xfrm>
            <a:off x="6321521" y="5742432"/>
            <a:ext cx="5285232" cy="420624"/>
          </a:xfrm>
          <a:prstGeom prst="rect">
            <a:avLst/>
          </a:prstGeom>
          <a:noFill/>
        </p:spPr>
        <p:txBody>
          <a:bodyPr wrap="square" lIns="0" rIns="0" tIns="0" bIns="0" anchor="t">
            <a:spAutoFit/>
          </a:bodyPr>
          <a:lstStyle/>
          <a:p>
            <a:pPr algn="l">
              <a:lnSpc>
                <a:spcPct val="102000"/>
              </a:lnSpc>
            </a:pPr>
            <a:r>
              <a:rPr sz="900" b="0">
                <a:solidFill>
                  <a:srgbClr val="61738C"/>
                </a:solidFill>
                <a:latin typeface="Segoe UI"/>
              </a:rPr>
              <a:t>Pesos binarios de una palabra de 8 bits.</a:t>
            </a:r>
          </a:p>
        </p:txBody>
      </p:sp>
      <p:sp>
        <p:nvSpPr>
          <p:cNvPr id="35" name="Rounded Rectangle 34"/>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49824"/>
            <a:ext cx="32004" cy="65836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a:t>
            </a:r>
          </a:p>
        </p:txBody>
      </p:sp>
      <p:sp>
        <p:nvSpPr>
          <p:cNvPr id="38" name="TextBox 37"/>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Aritmética de bits: sumar 1 a 1111₂ produce 0000₂ y un acarreo (overflow del nibble). Ese acarreo es exactamente lo que maneja la compuerta AND en un medio sumador.</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66" fill="hold">
                      <p:stCondLst>
                        <p:cond delay="indefinite"/>
                      </p:stCondLst>
                      <p:childTnLst>
                        <p:par>
                          <p:cTn id="67" fill="hold">
                            <p:stCondLst>
                              <p:cond delay="0"/>
                            </p:stCondLst>
                            <p:childTnLst>
                              <p:par>
                                <p:cTn id="65"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childTnLst>
                                </p:cTn>
                              </p:par>
                            </p:childTnLst>
                          </p:cTn>
                        </p:par>
                      </p:childTnLst>
                    </p:cTn>
                  </p:par>
                  <p:par>
                    <p:cTn id="86" fill="hold">
                      <p:stCondLst>
                        <p:cond delay="indefinite"/>
                      </p:stCondLst>
                      <p:childTnLst>
                        <p:par>
                          <p:cTn id="87" fill="hold">
                            <p:stCondLst>
                              <p:cond delay="0"/>
                            </p:stCondLst>
                            <p:childTnLst>
                              <p:par>
                                <p:cTn id="70" fill="hold">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68" dur="420"/>
                                        <p:tgtEl>
                                          <p:spTgt spid="33"/>
                                        </p:tgtEl>
                                      </p:cBhvr>
                                    </p:animEffect>
                                  </p:childTnLst>
                                </p:cTn>
                              </p:par>
                              <p:par>
                                <p:cTn id="73" fill="hold">
                                  <p:stCondLst>
                                    <p:cond delay="11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22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33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44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55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0D1A2B"/>
                </a:solidFill>
                <a:latin typeface="Segoe UI Semibold"/>
              </a:rPr>
              <a:t>Tabla de conversiones: decimal, binario, hexadecimal y BCD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Referencia rápida con los valores que más se usan en el laboratorio y en la lectura de buses.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9927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315025"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Decimal</a:t>
            </a:r>
          </a:p>
        </p:txBody>
      </p:sp>
      <p:sp>
        <p:nvSpPr>
          <p:cNvPr id="18" name="TextBox 17"/>
          <p:cNvSpPr txBox="1"/>
          <p:nvPr/>
        </p:nvSpPr>
        <p:spPr>
          <a:xfrm>
            <a:off x="2009969" y="1371600"/>
            <a:ext cx="210189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Binario (4 bits)</a:t>
            </a:r>
          </a:p>
        </p:txBody>
      </p:sp>
      <p:sp>
        <p:nvSpPr>
          <p:cNvPr id="19" name="TextBox 18"/>
          <p:cNvSpPr txBox="1"/>
          <p:nvPr/>
        </p:nvSpPr>
        <p:spPr>
          <a:xfrm>
            <a:off x="4258167" y="1371600"/>
            <a:ext cx="1539845"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Hexadecimal</a:t>
            </a:r>
          </a:p>
        </p:txBody>
      </p:sp>
      <p:sp>
        <p:nvSpPr>
          <p:cNvPr id="20" name="TextBox 19"/>
          <p:cNvSpPr txBox="1"/>
          <p:nvPr/>
        </p:nvSpPr>
        <p:spPr>
          <a:xfrm>
            <a:off x="5944316" y="1371600"/>
            <a:ext cx="232671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BCD (8421)</a:t>
            </a:r>
          </a:p>
        </p:txBody>
      </p:sp>
      <p:sp>
        <p:nvSpPr>
          <p:cNvPr id="21" name="TextBox 20"/>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Observación</a:t>
            </a:r>
          </a:p>
        </p:txBody>
      </p:sp>
      <p:sp>
        <p:nvSpPr>
          <p:cNvPr id="22" name="Rectangle 21"/>
          <p:cNvSpPr/>
          <p:nvPr/>
        </p:nvSpPr>
        <p:spPr>
          <a:xfrm>
            <a:off x="475488" y="1700784"/>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0</a:t>
            </a:r>
          </a:p>
        </p:txBody>
      </p:sp>
      <p:sp>
        <p:nvSpPr>
          <p:cNvPr id="24" name="TextBox 23"/>
          <p:cNvSpPr txBox="1"/>
          <p:nvPr/>
        </p:nvSpPr>
        <p:spPr>
          <a:xfrm>
            <a:off x="2009969" y="1700784"/>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a:t>
            </a:r>
          </a:p>
        </p:txBody>
      </p:sp>
      <p:sp>
        <p:nvSpPr>
          <p:cNvPr id="25" name="TextBox 24"/>
          <p:cNvSpPr txBox="1"/>
          <p:nvPr/>
        </p:nvSpPr>
        <p:spPr>
          <a:xfrm>
            <a:off x="4258167" y="1700784"/>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a:t>
            </a:r>
          </a:p>
        </p:txBody>
      </p:sp>
      <p:sp>
        <p:nvSpPr>
          <p:cNvPr id="26" name="TextBox 25"/>
          <p:cNvSpPr txBox="1"/>
          <p:nvPr/>
        </p:nvSpPr>
        <p:spPr>
          <a:xfrm>
            <a:off x="5944316" y="1700784"/>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0000 0000</a:t>
            </a:r>
          </a:p>
        </p:txBody>
      </p:sp>
      <p:sp>
        <p:nvSpPr>
          <p:cNvPr id="27" name="TextBox 26"/>
          <p:cNvSpPr txBox="1"/>
          <p:nvPr/>
        </p:nvSpPr>
        <p:spPr>
          <a:xfrm>
            <a:off x="8417335" y="1700784"/>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Estado inicial de contadores y registros</a:t>
            </a:r>
          </a:p>
        </p:txBody>
      </p:sp>
      <p:sp>
        <p:nvSpPr>
          <p:cNvPr id="28" name="TextBox 27"/>
          <p:cNvSpPr txBox="1"/>
          <p:nvPr/>
        </p:nvSpPr>
        <p:spPr>
          <a:xfrm>
            <a:off x="548640" y="1948978"/>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a:t>
            </a:r>
          </a:p>
        </p:txBody>
      </p:sp>
      <p:sp>
        <p:nvSpPr>
          <p:cNvPr id="29" name="TextBox 28"/>
          <p:cNvSpPr txBox="1"/>
          <p:nvPr/>
        </p:nvSpPr>
        <p:spPr>
          <a:xfrm>
            <a:off x="2009969" y="1948978"/>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a:t>
            </a:r>
          </a:p>
        </p:txBody>
      </p:sp>
      <p:sp>
        <p:nvSpPr>
          <p:cNvPr id="30" name="TextBox 29"/>
          <p:cNvSpPr txBox="1"/>
          <p:nvPr/>
        </p:nvSpPr>
        <p:spPr>
          <a:xfrm>
            <a:off x="4258167" y="1948978"/>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a:t>
            </a:r>
          </a:p>
        </p:txBody>
      </p:sp>
      <p:sp>
        <p:nvSpPr>
          <p:cNvPr id="31" name="TextBox 30"/>
          <p:cNvSpPr txBox="1"/>
          <p:nvPr/>
        </p:nvSpPr>
        <p:spPr>
          <a:xfrm>
            <a:off x="5944316" y="1948978"/>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0000 0001</a:t>
            </a:r>
          </a:p>
        </p:txBody>
      </p:sp>
      <p:sp>
        <p:nvSpPr>
          <p:cNvPr id="32" name="TextBox 31"/>
          <p:cNvSpPr txBox="1"/>
          <p:nvPr/>
        </p:nvSpPr>
        <p:spPr>
          <a:xfrm>
            <a:off x="8417335" y="1948978"/>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Primer peso binario</a:t>
            </a:r>
          </a:p>
        </p:txBody>
      </p:sp>
      <p:sp>
        <p:nvSpPr>
          <p:cNvPr id="33" name="Rectangle 32"/>
          <p:cNvSpPr/>
          <p:nvPr/>
        </p:nvSpPr>
        <p:spPr>
          <a:xfrm>
            <a:off x="475488" y="2197172"/>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197172"/>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2</a:t>
            </a:r>
          </a:p>
        </p:txBody>
      </p:sp>
      <p:sp>
        <p:nvSpPr>
          <p:cNvPr id="35" name="TextBox 34"/>
          <p:cNvSpPr txBox="1"/>
          <p:nvPr/>
        </p:nvSpPr>
        <p:spPr>
          <a:xfrm>
            <a:off x="2009969" y="2197172"/>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0010</a:t>
            </a:r>
          </a:p>
        </p:txBody>
      </p:sp>
      <p:sp>
        <p:nvSpPr>
          <p:cNvPr id="36" name="TextBox 35"/>
          <p:cNvSpPr txBox="1"/>
          <p:nvPr/>
        </p:nvSpPr>
        <p:spPr>
          <a:xfrm>
            <a:off x="4258167" y="2197172"/>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2</a:t>
            </a:r>
          </a:p>
        </p:txBody>
      </p:sp>
      <p:sp>
        <p:nvSpPr>
          <p:cNvPr id="37" name="TextBox 36"/>
          <p:cNvSpPr txBox="1"/>
          <p:nvPr/>
        </p:nvSpPr>
        <p:spPr>
          <a:xfrm>
            <a:off x="5944316" y="2197172"/>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0000 0010</a:t>
            </a:r>
          </a:p>
        </p:txBody>
      </p:sp>
      <p:sp>
        <p:nvSpPr>
          <p:cNvPr id="38" name="TextBox 37"/>
          <p:cNvSpPr txBox="1"/>
          <p:nvPr/>
        </p:nvSpPr>
        <p:spPr>
          <a:xfrm>
            <a:off x="8417335" y="2197172"/>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Dato del ejemplo del sumador de 2 bits</a:t>
            </a:r>
          </a:p>
        </p:txBody>
      </p:sp>
      <p:sp>
        <p:nvSpPr>
          <p:cNvPr id="39" name="TextBox 38"/>
          <p:cNvSpPr txBox="1"/>
          <p:nvPr/>
        </p:nvSpPr>
        <p:spPr>
          <a:xfrm>
            <a:off x="548640" y="2445366"/>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3</a:t>
            </a:r>
          </a:p>
        </p:txBody>
      </p:sp>
      <p:sp>
        <p:nvSpPr>
          <p:cNvPr id="40" name="TextBox 39"/>
          <p:cNvSpPr txBox="1"/>
          <p:nvPr/>
        </p:nvSpPr>
        <p:spPr>
          <a:xfrm>
            <a:off x="2009969" y="2445366"/>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0011</a:t>
            </a:r>
          </a:p>
        </p:txBody>
      </p:sp>
      <p:sp>
        <p:nvSpPr>
          <p:cNvPr id="41" name="TextBox 40"/>
          <p:cNvSpPr txBox="1"/>
          <p:nvPr/>
        </p:nvSpPr>
        <p:spPr>
          <a:xfrm>
            <a:off x="4258167" y="2445366"/>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3</a:t>
            </a:r>
          </a:p>
        </p:txBody>
      </p:sp>
      <p:sp>
        <p:nvSpPr>
          <p:cNvPr id="42" name="TextBox 41"/>
          <p:cNvSpPr txBox="1"/>
          <p:nvPr/>
        </p:nvSpPr>
        <p:spPr>
          <a:xfrm>
            <a:off x="5944316" y="2445366"/>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0000 0011</a:t>
            </a:r>
          </a:p>
        </p:txBody>
      </p:sp>
      <p:sp>
        <p:nvSpPr>
          <p:cNvPr id="43" name="TextBox 42"/>
          <p:cNvSpPr txBox="1"/>
          <p:nvPr/>
        </p:nvSpPr>
        <p:spPr>
          <a:xfrm>
            <a:off x="8417335" y="2445366"/>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Bits de paridad impar</a:t>
            </a:r>
          </a:p>
        </p:txBody>
      </p:sp>
      <p:sp>
        <p:nvSpPr>
          <p:cNvPr id="44" name="Rectangle 43"/>
          <p:cNvSpPr/>
          <p:nvPr/>
        </p:nvSpPr>
        <p:spPr>
          <a:xfrm>
            <a:off x="475488" y="2693561"/>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2693561"/>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4</a:t>
            </a:r>
          </a:p>
        </p:txBody>
      </p:sp>
      <p:sp>
        <p:nvSpPr>
          <p:cNvPr id="46" name="TextBox 45"/>
          <p:cNvSpPr txBox="1"/>
          <p:nvPr/>
        </p:nvSpPr>
        <p:spPr>
          <a:xfrm>
            <a:off x="2009969" y="2693561"/>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0100</a:t>
            </a:r>
          </a:p>
        </p:txBody>
      </p:sp>
      <p:sp>
        <p:nvSpPr>
          <p:cNvPr id="47" name="TextBox 46"/>
          <p:cNvSpPr txBox="1"/>
          <p:nvPr/>
        </p:nvSpPr>
        <p:spPr>
          <a:xfrm>
            <a:off x="4258167" y="2693561"/>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4</a:t>
            </a:r>
          </a:p>
        </p:txBody>
      </p:sp>
      <p:sp>
        <p:nvSpPr>
          <p:cNvPr id="48" name="TextBox 47"/>
          <p:cNvSpPr txBox="1"/>
          <p:nvPr/>
        </p:nvSpPr>
        <p:spPr>
          <a:xfrm>
            <a:off x="5944316" y="2693561"/>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0000 0100</a:t>
            </a:r>
          </a:p>
        </p:txBody>
      </p:sp>
      <p:sp>
        <p:nvSpPr>
          <p:cNvPr id="49" name="TextBox 48"/>
          <p:cNvSpPr txBox="1"/>
          <p:nvPr/>
        </p:nvSpPr>
        <p:spPr>
          <a:xfrm>
            <a:off x="8417335" y="2693561"/>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Nibble alto del BCD</a:t>
            </a:r>
          </a:p>
        </p:txBody>
      </p:sp>
      <p:sp>
        <p:nvSpPr>
          <p:cNvPr id="50" name="TextBox 49"/>
          <p:cNvSpPr txBox="1"/>
          <p:nvPr/>
        </p:nvSpPr>
        <p:spPr>
          <a:xfrm>
            <a:off x="548640" y="2941755"/>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5</a:t>
            </a:r>
          </a:p>
        </p:txBody>
      </p:sp>
      <p:sp>
        <p:nvSpPr>
          <p:cNvPr id="51" name="TextBox 50"/>
          <p:cNvSpPr txBox="1"/>
          <p:nvPr/>
        </p:nvSpPr>
        <p:spPr>
          <a:xfrm>
            <a:off x="2009969" y="2941755"/>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0101</a:t>
            </a:r>
          </a:p>
        </p:txBody>
      </p:sp>
      <p:sp>
        <p:nvSpPr>
          <p:cNvPr id="52" name="TextBox 51"/>
          <p:cNvSpPr txBox="1"/>
          <p:nvPr/>
        </p:nvSpPr>
        <p:spPr>
          <a:xfrm>
            <a:off x="4258167" y="2941755"/>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5</a:t>
            </a:r>
          </a:p>
        </p:txBody>
      </p:sp>
      <p:sp>
        <p:nvSpPr>
          <p:cNvPr id="53" name="TextBox 52"/>
          <p:cNvSpPr txBox="1"/>
          <p:nvPr/>
        </p:nvSpPr>
        <p:spPr>
          <a:xfrm>
            <a:off x="5944316" y="2941755"/>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0000 0101</a:t>
            </a:r>
          </a:p>
        </p:txBody>
      </p:sp>
      <p:sp>
        <p:nvSpPr>
          <p:cNvPr id="54" name="TextBox 53"/>
          <p:cNvSpPr txBox="1"/>
          <p:nvPr/>
        </p:nvSpPr>
        <p:spPr>
          <a:xfrm>
            <a:off x="8417335" y="2941755"/>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Peso hexadecimal</a:t>
            </a:r>
          </a:p>
        </p:txBody>
      </p:sp>
      <p:sp>
        <p:nvSpPr>
          <p:cNvPr id="55" name="Rectangle 54"/>
          <p:cNvSpPr/>
          <p:nvPr/>
        </p:nvSpPr>
        <p:spPr>
          <a:xfrm>
            <a:off x="475488" y="3189949"/>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3189949"/>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7</a:t>
            </a:r>
          </a:p>
        </p:txBody>
      </p:sp>
      <p:sp>
        <p:nvSpPr>
          <p:cNvPr id="57" name="TextBox 56"/>
          <p:cNvSpPr txBox="1"/>
          <p:nvPr/>
        </p:nvSpPr>
        <p:spPr>
          <a:xfrm>
            <a:off x="2009969" y="3189949"/>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0111</a:t>
            </a:r>
          </a:p>
        </p:txBody>
      </p:sp>
      <p:sp>
        <p:nvSpPr>
          <p:cNvPr id="58" name="TextBox 57"/>
          <p:cNvSpPr txBox="1"/>
          <p:nvPr/>
        </p:nvSpPr>
        <p:spPr>
          <a:xfrm>
            <a:off x="4258167" y="3189949"/>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7</a:t>
            </a:r>
          </a:p>
        </p:txBody>
      </p:sp>
      <p:sp>
        <p:nvSpPr>
          <p:cNvPr id="59" name="TextBox 58"/>
          <p:cNvSpPr txBox="1"/>
          <p:nvPr/>
        </p:nvSpPr>
        <p:spPr>
          <a:xfrm>
            <a:off x="5944316" y="3189949"/>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0000 0111</a:t>
            </a:r>
          </a:p>
        </p:txBody>
      </p:sp>
      <p:sp>
        <p:nvSpPr>
          <p:cNvPr id="60" name="TextBox 59"/>
          <p:cNvSpPr txBox="1"/>
          <p:nvPr/>
        </p:nvSpPr>
        <p:spPr>
          <a:xfrm>
            <a:off x="8417335" y="3189949"/>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Dirección de memoria del 74LS189</a:t>
            </a:r>
          </a:p>
        </p:txBody>
      </p:sp>
      <p:sp>
        <p:nvSpPr>
          <p:cNvPr id="61" name="TextBox 60"/>
          <p:cNvSpPr txBox="1"/>
          <p:nvPr/>
        </p:nvSpPr>
        <p:spPr>
          <a:xfrm>
            <a:off x="548640" y="3438143"/>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8</a:t>
            </a:r>
          </a:p>
        </p:txBody>
      </p:sp>
      <p:sp>
        <p:nvSpPr>
          <p:cNvPr id="62" name="TextBox 61"/>
          <p:cNvSpPr txBox="1"/>
          <p:nvPr/>
        </p:nvSpPr>
        <p:spPr>
          <a:xfrm>
            <a:off x="2009969" y="3438143"/>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1000</a:t>
            </a:r>
          </a:p>
        </p:txBody>
      </p:sp>
      <p:sp>
        <p:nvSpPr>
          <p:cNvPr id="63" name="TextBox 62"/>
          <p:cNvSpPr txBox="1"/>
          <p:nvPr/>
        </p:nvSpPr>
        <p:spPr>
          <a:xfrm>
            <a:off x="4258167" y="3438143"/>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8</a:t>
            </a:r>
          </a:p>
        </p:txBody>
      </p:sp>
      <p:sp>
        <p:nvSpPr>
          <p:cNvPr id="64" name="TextBox 63"/>
          <p:cNvSpPr txBox="1"/>
          <p:nvPr/>
        </p:nvSpPr>
        <p:spPr>
          <a:xfrm>
            <a:off x="5944316" y="3438143"/>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0000 1000</a:t>
            </a:r>
          </a:p>
        </p:txBody>
      </p:sp>
      <p:sp>
        <p:nvSpPr>
          <p:cNvPr id="65" name="TextBox 64"/>
          <p:cNvSpPr txBox="1"/>
          <p:nvPr/>
        </p:nvSpPr>
        <p:spPr>
          <a:xfrm>
            <a:off x="8417335" y="3438143"/>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Primer bit más significativo</a:t>
            </a:r>
          </a:p>
        </p:txBody>
      </p:sp>
      <p:sp>
        <p:nvSpPr>
          <p:cNvPr id="66" name="Rectangle 65"/>
          <p:cNvSpPr/>
          <p:nvPr/>
        </p:nvSpPr>
        <p:spPr>
          <a:xfrm>
            <a:off x="475488" y="3686338"/>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3686338"/>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9</a:t>
            </a:r>
          </a:p>
        </p:txBody>
      </p:sp>
      <p:sp>
        <p:nvSpPr>
          <p:cNvPr id="68" name="TextBox 67"/>
          <p:cNvSpPr txBox="1"/>
          <p:nvPr/>
        </p:nvSpPr>
        <p:spPr>
          <a:xfrm>
            <a:off x="2009969" y="3686338"/>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1001</a:t>
            </a:r>
          </a:p>
        </p:txBody>
      </p:sp>
      <p:sp>
        <p:nvSpPr>
          <p:cNvPr id="69" name="TextBox 68"/>
          <p:cNvSpPr txBox="1"/>
          <p:nvPr/>
        </p:nvSpPr>
        <p:spPr>
          <a:xfrm>
            <a:off x="4258167" y="3686338"/>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9</a:t>
            </a:r>
          </a:p>
        </p:txBody>
      </p:sp>
      <p:sp>
        <p:nvSpPr>
          <p:cNvPr id="70" name="TextBox 69"/>
          <p:cNvSpPr txBox="1"/>
          <p:nvPr/>
        </p:nvSpPr>
        <p:spPr>
          <a:xfrm>
            <a:off x="5944316" y="3686338"/>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0000 1001</a:t>
            </a:r>
          </a:p>
        </p:txBody>
      </p:sp>
      <p:sp>
        <p:nvSpPr>
          <p:cNvPr id="71" name="TextBox 70"/>
          <p:cNvSpPr txBox="1"/>
          <p:nvPr/>
        </p:nvSpPr>
        <p:spPr>
          <a:xfrm>
            <a:off x="8417335" y="3686338"/>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Último dígito válido en BCD</a:t>
            </a:r>
          </a:p>
        </p:txBody>
      </p:sp>
      <p:sp>
        <p:nvSpPr>
          <p:cNvPr id="72" name="TextBox 71"/>
          <p:cNvSpPr txBox="1"/>
          <p:nvPr/>
        </p:nvSpPr>
        <p:spPr>
          <a:xfrm>
            <a:off x="548640" y="3934532"/>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10</a:t>
            </a:r>
          </a:p>
        </p:txBody>
      </p:sp>
      <p:sp>
        <p:nvSpPr>
          <p:cNvPr id="73" name="TextBox 72"/>
          <p:cNvSpPr txBox="1"/>
          <p:nvPr/>
        </p:nvSpPr>
        <p:spPr>
          <a:xfrm>
            <a:off x="2009969" y="3934532"/>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1010</a:t>
            </a:r>
          </a:p>
        </p:txBody>
      </p:sp>
      <p:sp>
        <p:nvSpPr>
          <p:cNvPr id="74" name="TextBox 73"/>
          <p:cNvSpPr txBox="1"/>
          <p:nvPr/>
        </p:nvSpPr>
        <p:spPr>
          <a:xfrm>
            <a:off x="4258167" y="3934532"/>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a:t>
            </a:r>
          </a:p>
        </p:txBody>
      </p:sp>
      <p:sp>
        <p:nvSpPr>
          <p:cNvPr id="75" name="TextBox 74"/>
          <p:cNvSpPr txBox="1"/>
          <p:nvPr/>
        </p:nvSpPr>
        <p:spPr>
          <a:xfrm>
            <a:off x="5944316" y="3934532"/>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0001 0000</a:t>
            </a:r>
          </a:p>
        </p:txBody>
      </p:sp>
      <p:sp>
        <p:nvSpPr>
          <p:cNvPr id="76" name="TextBox 75"/>
          <p:cNvSpPr txBox="1"/>
          <p:nvPr/>
        </p:nvSpPr>
        <p:spPr>
          <a:xfrm>
            <a:off x="8417335" y="3934532"/>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En BCD se codifican dos nibbles</a:t>
            </a:r>
          </a:p>
        </p:txBody>
      </p:sp>
      <p:sp>
        <p:nvSpPr>
          <p:cNvPr id="77" name="Rectangle 76"/>
          <p:cNvSpPr/>
          <p:nvPr/>
        </p:nvSpPr>
        <p:spPr>
          <a:xfrm>
            <a:off x="475488" y="4182726"/>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548640" y="4182726"/>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15</a:t>
            </a:r>
          </a:p>
        </p:txBody>
      </p:sp>
      <p:sp>
        <p:nvSpPr>
          <p:cNvPr id="79" name="TextBox 78"/>
          <p:cNvSpPr txBox="1"/>
          <p:nvPr/>
        </p:nvSpPr>
        <p:spPr>
          <a:xfrm>
            <a:off x="2009969" y="4182726"/>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1111</a:t>
            </a:r>
          </a:p>
        </p:txBody>
      </p:sp>
      <p:sp>
        <p:nvSpPr>
          <p:cNvPr id="80" name="TextBox 79"/>
          <p:cNvSpPr txBox="1"/>
          <p:nvPr/>
        </p:nvSpPr>
        <p:spPr>
          <a:xfrm>
            <a:off x="4258167" y="4182726"/>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F</a:t>
            </a:r>
          </a:p>
        </p:txBody>
      </p:sp>
      <p:sp>
        <p:nvSpPr>
          <p:cNvPr id="81" name="TextBox 80"/>
          <p:cNvSpPr txBox="1"/>
          <p:nvPr/>
        </p:nvSpPr>
        <p:spPr>
          <a:xfrm>
            <a:off x="5944316" y="4182726"/>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0001 0101</a:t>
            </a:r>
          </a:p>
        </p:txBody>
      </p:sp>
      <p:sp>
        <p:nvSpPr>
          <p:cNvPr id="82" name="TextBox 81"/>
          <p:cNvSpPr txBox="1"/>
          <p:nvPr/>
        </p:nvSpPr>
        <p:spPr>
          <a:xfrm>
            <a:off x="8417335" y="4182726"/>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Nibble completo: fin de contador</a:t>
            </a:r>
          </a:p>
        </p:txBody>
      </p:sp>
      <p:sp>
        <p:nvSpPr>
          <p:cNvPr id="83" name="TextBox 82"/>
          <p:cNvSpPr txBox="1"/>
          <p:nvPr/>
        </p:nvSpPr>
        <p:spPr>
          <a:xfrm>
            <a:off x="548640" y="4430921"/>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16</a:t>
            </a:r>
          </a:p>
        </p:txBody>
      </p:sp>
      <p:sp>
        <p:nvSpPr>
          <p:cNvPr id="84" name="TextBox 83"/>
          <p:cNvSpPr txBox="1"/>
          <p:nvPr/>
        </p:nvSpPr>
        <p:spPr>
          <a:xfrm>
            <a:off x="2009969" y="4430921"/>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1 0000</a:t>
            </a:r>
          </a:p>
        </p:txBody>
      </p:sp>
      <p:sp>
        <p:nvSpPr>
          <p:cNvPr id="85" name="TextBox 84"/>
          <p:cNvSpPr txBox="1"/>
          <p:nvPr/>
        </p:nvSpPr>
        <p:spPr>
          <a:xfrm>
            <a:off x="4258167" y="4430921"/>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a:t>
            </a:r>
          </a:p>
        </p:txBody>
      </p:sp>
      <p:sp>
        <p:nvSpPr>
          <p:cNvPr id="86" name="TextBox 85"/>
          <p:cNvSpPr txBox="1"/>
          <p:nvPr/>
        </p:nvSpPr>
        <p:spPr>
          <a:xfrm>
            <a:off x="5944316" y="4430921"/>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0001 0110</a:t>
            </a:r>
          </a:p>
        </p:txBody>
      </p:sp>
      <p:sp>
        <p:nvSpPr>
          <p:cNvPr id="87" name="TextBox 86"/>
          <p:cNvSpPr txBox="1"/>
          <p:nvPr/>
        </p:nvSpPr>
        <p:spPr>
          <a:xfrm>
            <a:off x="8417335" y="4430921"/>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Quinto bit = acarreo</a:t>
            </a:r>
          </a:p>
        </p:txBody>
      </p:sp>
      <p:sp>
        <p:nvSpPr>
          <p:cNvPr id="88" name="Rectangle 87"/>
          <p:cNvSpPr/>
          <p:nvPr/>
        </p:nvSpPr>
        <p:spPr>
          <a:xfrm>
            <a:off x="475488" y="4679115"/>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548640" y="4679115"/>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255</a:t>
            </a:r>
          </a:p>
        </p:txBody>
      </p:sp>
      <p:sp>
        <p:nvSpPr>
          <p:cNvPr id="90" name="TextBox 89"/>
          <p:cNvSpPr txBox="1"/>
          <p:nvPr/>
        </p:nvSpPr>
        <p:spPr>
          <a:xfrm>
            <a:off x="2009969" y="4679115"/>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1111 1111</a:t>
            </a:r>
          </a:p>
        </p:txBody>
      </p:sp>
      <p:sp>
        <p:nvSpPr>
          <p:cNvPr id="91" name="TextBox 90"/>
          <p:cNvSpPr txBox="1"/>
          <p:nvPr/>
        </p:nvSpPr>
        <p:spPr>
          <a:xfrm>
            <a:off x="4258167" y="4679115"/>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FF</a:t>
            </a:r>
          </a:p>
        </p:txBody>
      </p:sp>
      <p:sp>
        <p:nvSpPr>
          <p:cNvPr id="92" name="TextBox 91"/>
          <p:cNvSpPr txBox="1"/>
          <p:nvPr/>
        </p:nvSpPr>
        <p:spPr>
          <a:xfrm>
            <a:off x="5944316" y="4679115"/>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93" name="TextBox 92"/>
          <p:cNvSpPr txBox="1"/>
          <p:nvPr/>
        </p:nvSpPr>
        <p:spPr>
          <a:xfrm>
            <a:off x="8417335" y="4679115"/>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Byte completo sin signo</a:t>
            </a:r>
          </a:p>
        </p:txBody>
      </p:sp>
      <p:sp>
        <p:nvSpPr>
          <p:cNvPr id="94" name="TextBox 93"/>
          <p:cNvSpPr txBox="1"/>
          <p:nvPr/>
        </p:nvSpPr>
        <p:spPr>
          <a:xfrm>
            <a:off x="548640" y="4927309"/>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1000</a:t>
            </a:r>
          </a:p>
        </p:txBody>
      </p:sp>
      <p:sp>
        <p:nvSpPr>
          <p:cNvPr id="95" name="TextBox 94"/>
          <p:cNvSpPr txBox="1"/>
          <p:nvPr/>
        </p:nvSpPr>
        <p:spPr>
          <a:xfrm>
            <a:off x="2009969" y="4927309"/>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11 1110 1000</a:t>
            </a:r>
          </a:p>
        </p:txBody>
      </p:sp>
      <p:sp>
        <p:nvSpPr>
          <p:cNvPr id="96" name="TextBox 95"/>
          <p:cNvSpPr txBox="1"/>
          <p:nvPr/>
        </p:nvSpPr>
        <p:spPr>
          <a:xfrm>
            <a:off x="4258167" y="4927309"/>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3E8</a:t>
            </a:r>
          </a:p>
        </p:txBody>
      </p:sp>
      <p:sp>
        <p:nvSpPr>
          <p:cNvPr id="97" name="TextBox 96"/>
          <p:cNvSpPr txBox="1"/>
          <p:nvPr/>
        </p:nvSpPr>
        <p:spPr>
          <a:xfrm>
            <a:off x="5944316" y="4927309"/>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98" name="TextBox 97"/>
          <p:cNvSpPr txBox="1"/>
          <p:nvPr/>
        </p:nvSpPr>
        <p:spPr>
          <a:xfrm>
            <a:off x="8417335" y="4927309"/>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10 bits, requiere contador de 10 bits</a:t>
            </a:r>
          </a:p>
        </p:txBody>
      </p:sp>
      <p:sp>
        <p:nvSpPr>
          <p:cNvPr id="99" name="Rounded Rectangle 98"/>
          <p:cNvSpPr/>
          <p:nvPr/>
        </p:nvSpPr>
        <p:spPr>
          <a:xfrm>
            <a:off x="475488" y="1371600"/>
            <a:ext cx="11240993" cy="3803903"/>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DETALLE IMPORTANTE</a:t>
            </a:r>
          </a:p>
        </p:txBody>
      </p:sp>
      <p:sp>
        <p:nvSpPr>
          <p:cNvPr id="103" name="TextBox 102"/>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Aviso didáctico: en BCD el valor 1010₂ nunca aparece, porque los nibbles válidos son 0000 a 1001. Un decodificador BCD a 7 segmentos (74LS47) marca error o 'parpadeo' ante un código BCD inválido.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96"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97"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98"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99"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300" dur="420"/>
                                        <p:tgtEl>
                                          <p:spTgt spid="20"/>
                                        </p:tgtEl>
                                      </p:cBhvr>
                                    </p:animEffect>
                                  </p:childTnLst>
                                </p:cTn>
                              </p:par>
                            </p:childTnLst>
                          </p:cTn>
                        </p:par>
                      </p:childTnLst>
                    </p:cTn>
                  </p:par>
                  <p:par>
                    <p:cTn id="294" fill="hold">
                      <p:stCondLst>
                        <p:cond delay="0"/>
                      </p:stCondLst>
                      <p:childTnLst>
                        <p:par>
                          <p:cTn id="295"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301"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302"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303"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304"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305"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306"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307"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308"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309"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310"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311"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312"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313"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314"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315"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316"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317"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318"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319"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320"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321"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322"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323"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324"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325"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326"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327"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328"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329"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330"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331"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332"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333"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334"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335"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336"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337"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338"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339"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340"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341"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342"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343"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344"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345"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346"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347"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348"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349"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350"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351"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352"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353"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354"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355"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356" dur="420"/>
                                        <p:tgtEl>
                                          <p:spTgt spid="76"/>
                                        </p:tgtEl>
                                      </p:cBhvr>
                                    </p:animEffect>
                                  </p:childTnLst>
                                </p:cTn>
                              </p:par>
                              <p:par>
                                <p:cTn id="218" fill="hold">
                                  <p:stCondLst>
                                    <p:cond delay="6160"/>
                                  </p:stCondLst>
                                  <p:childTnLst>
                                    <p:set>
                                      <p:cBhvr>
                                        <p:cTn id="217" dur="1" fill="hold">
                                          <p:stCondLst>
                                            <p:cond delay="0"/>
                                          </p:stCondLst>
                                        </p:cTn>
                                        <p:tgtEl>
                                          <p:spTgt spid="77"/>
                                        </p:tgtEl>
                                        <p:attrNameLst>
                                          <p:attrName>style.visibility</p:attrName>
                                        </p:attrNameLst>
                                      </p:cBhvr>
                                      <p:to>
                                        <p:strVal val="visible"/>
                                      </p:to>
                                    </p:set>
                                    <p:animEffect transition="in" filter="wipe(left)">
                                      <p:cBhvr>
                                        <p:cTn id="216" dur="420"/>
                                        <p:tgtEl>
                                          <p:spTgt spid="77"/>
                                        </p:tgtEl>
                                      </p:cBhvr>
                                    </p:animEffect>
                                    <p:animEffect transition="in" filter="fade">
                                      <p:cBhvr>
                                        <p:cTn id="357" dur="420"/>
                                        <p:tgtEl>
                                          <p:spTgt spid="77"/>
                                        </p:tgtEl>
                                      </p:cBhvr>
                                    </p:animEffect>
                                  </p:childTnLst>
                                </p:cTn>
                              </p:par>
                              <p:par>
                                <p:cTn id="221" fill="hold">
                                  <p:stCondLst>
                                    <p:cond delay="6270"/>
                                  </p:stCondLst>
                                  <p:childTnLst>
                                    <p:set>
                                      <p:cBhvr>
                                        <p:cTn id="220" dur="1" fill="hold">
                                          <p:stCondLst>
                                            <p:cond delay="0"/>
                                          </p:stCondLst>
                                        </p:cTn>
                                        <p:tgtEl>
                                          <p:spTgt spid="78"/>
                                        </p:tgtEl>
                                        <p:attrNameLst>
                                          <p:attrName>style.visibility</p:attrName>
                                        </p:attrNameLst>
                                      </p:cBhvr>
                                      <p:to>
                                        <p:strVal val="visible"/>
                                      </p:to>
                                    </p:set>
                                    <p:animEffect transition="in" filter="wipe(left)">
                                      <p:cBhvr>
                                        <p:cTn id="219" dur="420"/>
                                        <p:tgtEl>
                                          <p:spTgt spid="78"/>
                                        </p:tgtEl>
                                      </p:cBhvr>
                                    </p:animEffect>
                                    <p:animEffect transition="in" filter="fade">
                                      <p:cBhvr>
                                        <p:cTn id="358" dur="420"/>
                                        <p:tgtEl>
                                          <p:spTgt spid="78"/>
                                        </p:tgtEl>
                                      </p:cBhvr>
                                    </p:animEffect>
                                  </p:childTnLst>
                                </p:cTn>
                              </p:par>
                              <p:par>
                                <p:cTn id="224" fill="hold">
                                  <p:stCondLst>
                                    <p:cond delay="6380"/>
                                  </p:stCondLst>
                                  <p:childTnLst>
                                    <p:set>
                                      <p:cBhvr>
                                        <p:cTn id="223" dur="1" fill="hold">
                                          <p:stCondLst>
                                            <p:cond delay="0"/>
                                          </p:stCondLst>
                                        </p:cTn>
                                        <p:tgtEl>
                                          <p:spTgt spid="79"/>
                                        </p:tgtEl>
                                        <p:attrNameLst>
                                          <p:attrName>style.visibility</p:attrName>
                                        </p:attrNameLst>
                                      </p:cBhvr>
                                      <p:to>
                                        <p:strVal val="visible"/>
                                      </p:to>
                                    </p:set>
                                    <p:animEffect transition="in" filter="wipe(left)">
                                      <p:cBhvr>
                                        <p:cTn id="222" dur="420"/>
                                        <p:tgtEl>
                                          <p:spTgt spid="79"/>
                                        </p:tgtEl>
                                      </p:cBhvr>
                                    </p:animEffect>
                                    <p:animEffect transition="in" filter="fade">
                                      <p:cBhvr>
                                        <p:cTn id="359" dur="420"/>
                                        <p:tgtEl>
                                          <p:spTgt spid="79"/>
                                        </p:tgtEl>
                                      </p:cBhvr>
                                    </p:animEffect>
                                  </p:childTnLst>
                                </p:cTn>
                              </p:par>
                              <p:par>
                                <p:cTn id="227" fill="hold">
                                  <p:stCondLst>
                                    <p:cond delay="6490"/>
                                  </p:stCondLst>
                                  <p:childTnLst>
                                    <p:set>
                                      <p:cBhvr>
                                        <p:cTn id="226" dur="1" fill="hold">
                                          <p:stCondLst>
                                            <p:cond delay="0"/>
                                          </p:stCondLst>
                                        </p:cTn>
                                        <p:tgtEl>
                                          <p:spTgt spid="80"/>
                                        </p:tgtEl>
                                        <p:attrNameLst>
                                          <p:attrName>style.visibility</p:attrName>
                                        </p:attrNameLst>
                                      </p:cBhvr>
                                      <p:to>
                                        <p:strVal val="visible"/>
                                      </p:to>
                                    </p:set>
                                    <p:animEffect transition="in" filter="wipe(left)">
                                      <p:cBhvr>
                                        <p:cTn id="225" dur="420"/>
                                        <p:tgtEl>
                                          <p:spTgt spid="80"/>
                                        </p:tgtEl>
                                      </p:cBhvr>
                                    </p:animEffect>
                                    <p:animEffect transition="in" filter="fade">
                                      <p:cBhvr>
                                        <p:cTn id="360" dur="420"/>
                                        <p:tgtEl>
                                          <p:spTgt spid="80"/>
                                        </p:tgtEl>
                                      </p:cBhvr>
                                    </p:animEffect>
                                  </p:childTnLst>
                                </p:cTn>
                              </p:par>
                              <p:par>
                                <p:cTn id="230" fill="hold">
                                  <p:stCondLst>
                                    <p:cond delay="6600"/>
                                  </p:stCondLst>
                                  <p:childTnLst>
                                    <p:set>
                                      <p:cBhvr>
                                        <p:cTn id="229" dur="1" fill="hold">
                                          <p:stCondLst>
                                            <p:cond delay="0"/>
                                          </p:stCondLst>
                                        </p:cTn>
                                        <p:tgtEl>
                                          <p:spTgt spid="81"/>
                                        </p:tgtEl>
                                        <p:attrNameLst>
                                          <p:attrName>style.visibility</p:attrName>
                                        </p:attrNameLst>
                                      </p:cBhvr>
                                      <p:to>
                                        <p:strVal val="visible"/>
                                      </p:to>
                                    </p:set>
                                    <p:animEffect transition="in" filter="wipe(left)">
                                      <p:cBhvr>
                                        <p:cTn id="228" dur="420"/>
                                        <p:tgtEl>
                                          <p:spTgt spid="81"/>
                                        </p:tgtEl>
                                      </p:cBhvr>
                                    </p:animEffect>
                                    <p:animEffect transition="in" filter="fade">
                                      <p:cBhvr>
                                        <p:cTn id="361" dur="420"/>
                                        <p:tgtEl>
                                          <p:spTgt spid="81"/>
                                        </p:tgtEl>
                                      </p:cBhvr>
                                    </p:animEffect>
                                  </p:childTnLst>
                                </p:cTn>
                              </p:par>
                              <p:par>
                                <p:cTn id="233" fill="hold">
                                  <p:stCondLst>
                                    <p:cond delay="6710"/>
                                  </p:stCondLst>
                                  <p:childTnLst>
                                    <p:set>
                                      <p:cBhvr>
                                        <p:cTn id="232" dur="1" fill="hold">
                                          <p:stCondLst>
                                            <p:cond delay="0"/>
                                          </p:stCondLst>
                                        </p:cTn>
                                        <p:tgtEl>
                                          <p:spTgt spid="82"/>
                                        </p:tgtEl>
                                        <p:attrNameLst>
                                          <p:attrName>style.visibility</p:attrName>
                                        </p:attrNameLst>
                                      </p:cBhvr>
                                      <p:to>
                                        <p:strVal val="visible"/>
                                      </p:to>
                                    </p:set>
                                    <p:animEffect transition="in" filter="wipe(left)">
                                      <p:cBhvr>
                                        <p:cTn id="231" dur="420"/>
                                        <p:tgtEl>
                                          <p:spTgt spid="82"/>
                                        </p:tgtEl>
                                      </p:cBhvr>
                                    </p:animEffect>
                                    <p:animEffect transition="in" filter="fade">
                                      <p:cBhvr>
                                        <p:cTn id="362" dur="420"/>
                                        <p:tgtEl>
                                          <p:spTgt spid="82"/>
                                        </p:tgtEl>
                                      </p:cBhvr>
                                    </p:animEffect>
                                  </p:childTnLst>
                                </p:cTn>
                              </p:par>
                              <p:par>
                                <p:cTn id="236" fill="hold">
                                  <p:stCondLst>
                                    <p:cond delay="6820"/>
                                  </p:stCondLst>
                                  <p:childTnLst>
                                    <p:set>
                                      <p:cBhvr>
                                        <p:cTn id="235" dur="1" fill="hold">
                                          <p:stCondLst>
                                            <p:cond delay="0"/>
                                          </p:stCondLst>
                                        </p:cTn>
                                        <p:tgtEl>
                                          <p:spTgt spid="83"/>
                                        </p:tgtEl>
                                        <p:attrNameLst>
                                          <p:attrName>style.visibility</p:attrName>
                                        </p:attrNameLst>
                                      </p:cBhvr>
                                      <p:to>
                                        <p:strVal val="visible"/>
                                      </p:to>
                                    </p:set>
                                    <p:animEffect transition="in" filter="wipe(left)">
                                      <p:cBhvr>
                                        <p:cTn id="234" dur="420"/>
                                        <p:tgtEl>
                                          <p:spTgt spid="83"/>
                                        </p:tgtEl>
                                      </p:cBhvr>
                                    </p:animEffect>
                                    <p:animEffect transition="in" filter="fade">
                                      <p:cBhvr>
                                        <p:cTn id="363" dur="420"/>
                                        <p:tgtEl>
                                          <p:spTgt spid="83"/>
                                        </p:tgtEl>
                                      </p:cBhvr>
                                    </p:animEffect>
                                  </p:childTnLst>
                                </p:cTn>
                              </p:par>
                              <p:par>
                                <p:cTn id="239" fill="hold">
                                  <p:stCondLst>
                                    <p:cond delay="6930"/>
                                  </p:stCondLst>
                                  <p:childTnLst>
                                    <p:set>
                                      <p:cBhvr>
                                        <p:cTn id="238" dur="1" fill="hold">
                                          <p:stCondLst>
                                            <p:cond delay="0"/>
                                          </p:stCondLst>
                                        </p:cTn>
                                        <p:tgtEl>
                                          <p:spTgt spid="84"/>
                                        </p:tgtEl>
                                        <p:attrNameLst>
                                          <p:attrName>style.visibility</p:attrName>
                                        </p:attrNameLst>
                                      </p:cBhvr>
                                      <p:to>
                                        <p:strVal val="visible"/>
                                      </p:to>
                                    </p:set>
                                    <p:animEffect transition="in" filter="wipe(left)">
                                      <p:cBhvr>
                                        <p:cTn id="237" dur="420"/>
                                        <p:tgtEl>
                                          <p:spTgt spid="84"/>
                                        </p:tgtEl>
                                      </p:cBhvr>
                                    </p:animEffect>
                                    <p:animEffect transition="in" filter="fade">
                                      <p:cBhvr>
                                        <p:cTn id="364" dur="420"/>
                                        <p:tgtEl>
                                          <p:spTgt spid="84"/>
                                        </p:tgtEl>
                                      </p:cBhvr>
                                    </p:animEffect>
                                  </p:childTnLst>
                                </p:cTn>
                              </p:par>
                              <p:par>
                                <p:cTn id="242" fill="hold">
                                  <p:stCondLst>
                                    <p:cond delay="7040"/>
                                  </p:stCondLst>
                                  <p:childTnLst>
                                    <p:set>
                                      <p:cBhvr>
                                        <p:cTn id="241" dur="1" fill="hold">
                                          <p:stCondLst>
                                            <p:cond delay="0"/>
                                          </p:stCondLst>
                                        </p:cTn>
                                        <p:tgtEl>
                                          <p:spTgt spid="85"/>
                                        </p:tgtEl>
                                        <p:attrNameLst>
                                          <p:attrName>style.visibility</p:attrName>
                                        </p:attrNameLst>
                                      </p:cBhvr>
                                      <p:to>
                                        <p:strVal val="visible"/>
                                      </p:to>
                                    </p:set>
                                    <p:animEffect transition="in" filter="wipe(left)">
                                      <p:cBhvr>
                                        <p:cTn id="240" dur="420"/>
                                        <p:tgtEl>
                                          <p:spTgt spid="85"/>
                                        </p:tgtEl>
                                      </p:cBhvr>
                                    </p:animEffect>
                                    <p:animEffect transition="in" filter="fade">
                                      <p:cBhvr>
                                        <p:cTn id="365" dur="420"/>
                                        <p:tgtEl>
                                          <p:spTgt spid="85"/>
                                        </p:tgtEl>
                                      </p:cBhvr>
                                    </p:animEffect>
                                  </p:childTnLst>
                                </p:cTn>
                              </p:par>
                              <p:par>
                                <p:cTn id="245" fill="hold">
                                  <p:stCondLst>
                                    <p:cond delay="7150"/>
                                  </p:stCondLst>
                                  <p:childTnLst>
                                    <p:set>
                                      <p:cBhvr>
                                        <p:cTn id="244" dur="1" fill="hold">
                                          <p:stCondLst>
                                            <p:cond delay="0"/>
                                          </p:stCondLst>
                                        </p:cTn>
                                        <p:tgtEl>
                                          <p:spTgt spid="86"/>
                                        </p:tgtEl>
                                        <p:attrNameLst>
                                          <p:attrName>style.visibility</p:attrName>
                                        </p:attrNameLst>
                                      </p:cBhvr>
                                      <p:to>
                                        <p:strVal val="visible"/>
                                      </p:to>
                                    </p:set>
                                    <p:animEffect transition="in" filter="wipe(left)">
                                      <p:cBhvr>
                                        <p:cTn id="243" dur="420"/>
                                        <p:tgtEl>
                                          <p:spTgt spid="86"/>
                                        </p:tgtEl>
                                      </p:cBhvr>
                                    </p:animEffect>
                                    <p:animEffect transition="in" filter="fade">
                                      <p:cBhvr>
                                        <p:cTn id="366" dur="420"/>
                                        <p:tgtEl>
                                          <p:spTgt spid="86"/>
                                        </p:tgtEl>
                                      </p:cBhvr>
                                    </p:animEffect>
                                  </p:childTnLst>
                                </p:cTn>
                              </p:par>
                              <p:par>
                                <p:cTn id="248" fill="hold">
                                  <p:stCondLst>
                                    <p:cond delay="7260"/>
                                  </p:stCondLst>
                                  <p:childTnLst>
                                    <p:set>
                                      <p:cBhvr>
                                        <p:cTn id="247" dur="1" fill="hold">
                                          <p:stCondLst>
                                            <p:cond delay="0"/>
                                          </p:stCondLst>
                                        </p:cTn>
                                        <p:tgtEl>
                                          <p:spTgt spid="87"/>
                                        </p:tgtEl>
                                        <p:attrNameLst>
                                          <p:attrName>style.visibility</p:attrName>
                                        </p:attrNameLst>
                                      </p:cBhvr>
                                      <p:to>
                                        <p:strVal val="visible"/>
                                      </p:to>
                                    </p:set>
                                    <p:animEffect transition="in" filter="wipe(left)">
                                      <p:cBhvr>
                                        <p:cTn id="246" dur="420"/>
                                        <p:tgtEl>
                                          <p:spTgt spid="87"/>
                                        </p:tgtEl>
                                      </p:cBhvr>
                                    </p:animEffect>
                                    <p:animEffect transition="in" filter="fade">
                                      <p:cBhvr>
                                        <p:cTn id="367" dur="420"/>
                                        <p:tgtEl>
                                          <p:spTgt spid="87"/>
                                        </p:tgtEl>
                                      </p:cBhvr>
                                    </p:animEffect>
                                  </p:childTnLst>
                                </p:cTn>
                              </p:par>
                              <p:par>
                                <p:cTn id="251" fill="hold">
                                  <p:stCondLst>
                                    <p:cond delay="7370"/>
                                  </p:stCondLst>
                                  <p:childTnLst>
                                    <p:set>
                                      <p:cBhvr>
                                        <p:cTn id="250" dur="1" fill="hold">
                                          <p:stCondLst>
                                            <p:cond delay="0"/>
                                          </p:stCondLst>
                                        </p:cTn>
                                        <p:tgtEl>
                                          <p:spTgt spid="88"/>
                                        </p:tgtEl>
                                        <p:attrNameLst>
                                          <p:attrName>style.visibility</p:attrName>
                                        </p:attrNameLst>
                                      </p:cBhvr>
                                      <p:to>
                                        <p:strVal val="visible"/>
                                      </p:to>
                                    </p:set>
                                    <p:animEffect transition="in" filter="wipe(left)">
                                      <p:cBhvr>
                                        <p:cTn id="249" dur="420"/>
                                        <p:tgtEl>
                                          <p:spTgt spid="88"/>
                                        </p:tgtEl>
                                      </p:cBhvr>
                                    </p:animEffect>
                                    <p:animEffect transition="in" filter="fade">
                                      <p:cBhvr>
                                        <p:cTn id="368" dur="420"/>
                                        <p:tgtEl>
                                          <p:spTgt spid="88"/>
                                        </p:tgtEl>
                                      </p:cBhvr>
                                    </p:animEffect>
                                  </p:childTnLst>
                                </p:cTn>
                              </p:par>
                              <p:par>
                                <p:cTn id="254" fill="hold">
                                  <p:stCondLst>
                                    <p:cond delay="7480"/>
                                  </p:stCondLst>
                                  <p:childTnLst>
                                    <p:set>
                                      <p:cBhvr>
                                        <p:cTn id="253" dur="1" fill="hold">
                                          <p:stCondLst>
                                            <p:cond delay="0"/>
                                          </p:stCondLst>
                                        </p:cTn>
                                        <p:tgtEl>
                                          <p:spTgt spid="89"/>
                                        </p:tgtEl>
                                        <p:attrNameLst>
                                          <p:attrName>style.visibility</p:attrName>
                                        </p:attrNameLst>
                                      </p:cBhvr>
                                      <p:to>
                                        <p:strVal val="visible"/>
                                      </p:to>
                                    </p:set>
                                    <p:animEffect transition="in" filter="wipe(left)">
                                      <p:cBhvr>
                                        <p:cTn id="252" dur="420"/>
                                        <p:tgtEl>
                                          <p:spTgt spid="89"/>
                                        </p:tgtEl>
                                      </p:cBhvr>
                                    </p:animEffect>
                                    <p:animEffect transition="in" filter="fade">
                                      <p:cBhvr>
                                        <p:cTn id="369" dur="420"/>
                                        <p:tgtEl>
                                          <p:spTgt spid="89"/>
                                        </p:tgtEl>
                                      </p:cBhvr>
                                    </p:animEffect>
                                  </p:childTnLst>
                                </p:cTn>
                              </p:par>
                              <p:par>
                                <p:cTn id="257" fill="hold">
                                  <p:stCondLst>
                                    <p:cond delay="7590"/>
                                  </p:stCondLst>
                                  <p:childTnLst>
                                    <p:set>
                                      <p:cBhvr>
                                        <p:cTn id="256" dur="1" fill="hold">
                                          <p:stCondLst>
                                            <p:cond delay="0"/>
                                          </p:stCondLst>
                                        </p:cTn>
                                        <p:tgtEl>
                                          <p:spTgt spid="90"/>
                                        </p:tgtEl>
                                        <p:attrNameLst>
                                          <p:attrName>style.visibility</p:attrName>
                                        </p:attrNameLst>
                                      </p:cBhvr>
                                      <p:to>
                                        <p:strVal val="visible"/>
                                      </p:to>
                                    </p:set>
                                    <p:animEffect transition="in" filter="wipe(left)">
                                      <p:cBhvr>
                                        <p:cTn id="255" dur="420"/>
                                        <p:tgtEl>
                                          <p:spTgt spid="90"/>
                                        </p:tgtEl>
                                      </p:cBhvr>
                                    </p:animEffect>
                                    <p:animEffect transition="in" filter="fade">
                                      <p:cBhvr>
                                        <p:cTn id="370" dur="420"/>
                                        <p:tgtEl>
                                          <p:spTgt spid="90"/>
                                        </p:tgtEl>
                                      </p:cBhvr>
                                    </p:animEffect>
                                  </p:childTnLst>
                                </p:cTn>
                              </p:par>
                              <p:par>
                                <p:cTn id="260" fill="hold">
                                  <p:stCondLst>
                                    <p:cond delay="7700"/>
                                  </p:stCondLst>
                                  <p:childTnLst>
                                    <p:set>
                                      <p:cBhvr>
                                        <p:cTn id="259" dur="1" fill="hold">
                                          <p:stCondLst>
                                            <p:cond delay="0"/>
                                          </p:stCondLst>
                                        </p:cTn>
                                        <p:tgtEl>
                                          <p:spTgt spid="91"/>
                                        </p:tgtEl>
                                        <p:attrNameLst>
                                          <p:attrName>style.visibility</p:attrName>
                                        </p:attrNameLst>
                                      </p:cBhvr>
                                      <p:to>
                                        <p:strVal val="visible"/>
                                      </p:to>
                                    </p:set>
                                    <p:animEffect transition="in" filter="wipe(left)">
                                      <p:cBhvr>
                                        <p:cTn id="258" dur="420"/>
                                        <p:tgtEl>
                                          <p:spTgt spid="91"/>
                                        </p:tgtEl>
                                      </p:cBhvr>
                                    </p:animEffect>
                                    <p:animEffect transition="in" filter="fade">
                                      <p:cBhvr>
                                        <p:cTn id="371" dur="420"/>
                                        <p:tgtEl>
                                          <p:spTgt spid="91"/>
                                        </p:tgtEl>
                                      </p:cBhvr>
                                    </p:animEffect>
                                  </p:childTnLst>
                                </p:cTn>
                              </p:par>
                              <p:par>
                                <p:cTn id="263" fill="hold">
                                  <p:stCondLst>
                                    <p:cond delay="7810"/>
                                  </p:stCondLst>
                                  <p:childTnLst>
                                    <p:set>
                                      <p:cBhvr>
                                        <p:cTn id="262" dur="1" fill="hold">
                                          <p:stCondLst>
                                            <p:cond delay="0"/>
                                          </p:stCondLst>
                                        </p:cTn>
                                        <p:tgtEl>
                                          <p:spTgt spid="92"/>
                                        </p:tgtEl>
                                        <p:attrNameLst>
                                          <p:attrName>style.visibility</p:attrName>
                                        </p:attrNameLst>
                                      </p:cBhvr>
                                      <p:to>
                                        <p:strVal val="visible"/>
                                      </p:to>
                                    </p:set>
                                    <p:animEffect transition="in" filter="wipe(left)">
                                      <p:cBhvr>
                                        <p:cTn id="261" dur="420"/>
                                        <p:tgtEl>
                                          <p:spTgt spid="92"/>
                                        </p:tgtEl>
                                      </p:cBhvr>
                                    </p:animEffect>
                                    <p:animEffect transition="in" filter="fade">
                                      <p:cBhvr>
                                        <p:cTn id="372" dur="420"/>
                                        <p:tgtEl>
                                          <p:spTgt spid="92"/>
                                        </p:tgtEl>
                                      </p:cBhvr>
                                    </p:animEffect>
                                  </p:childTnLst>
                                </p:cTn>
                              </p:par>
                              <p:par>
                                <p:cTn id="266" fill="hold">
                                  <p:stCondLst>
                                    <p:cond delay="7920"/>
                                  </p:stCondLst>
                                  <p:childTnLst>
                                    <p:set>
                                      <p:cBhvr>
                                        <p:cTn id="265" dur="1" fill="hold">
                                          <p:stCondLst>
                                            <p:cond delay="0"/>
                                          </p:stCondLst>
                                        </p:cTn>
                                        <p:tgtEl>
                                          <p:spTgt spid="93"/>
                                        </p:tgtEl>
                                        <p:attrNameLst>
                                          <p:attrName>style.visibility</p:attrName>
                                        </p:attrNameLst>
                                      </p:cBhvr>
                                      <p:to>
                                        <p:strVal val="visible"/>
                                      </p:to>
                                    </p:set>
                                    <p:animEffect transition="in" filter="wipe(left)">
                                      <p:cBhvr>
                                        <p:cTn id="264" dur="420"/>
                                        <p:tgtEl>
                                          <p:spTgt spid="93"/>
                                        </p:tgtEl>
                                      </p:cBhvr>
                                    </p:animEffect>
                                    <p:animEffect transition="in" filter="fade">
                                      <p:cBhvr>
                                        <p:cTn id="373" dur="420"/>
                                        <p:tgtEl>
                                          <p:spTgt spid="93"/>
                                        </p:tgtEl>
                                      </p:cBhvr>
                                    </p:animEffect>
                                  </p:childTnLst>
                                </p:cTn>
                              </p:par>
                              <p:par>
                                <p:cTn id="269" fill="hold">
                                  <p:stCondLst>
                                    <p:cond delay="8030"/>
                                  </p:stCondLst>
                                  <p:childTnLst>
                                    <p:set>
                                      <p:cBhvr>
                                        <p:cTn id="268" dur="1" fill="hold">
                                          <p:stCondLst>
                                            <p:cond delay="0"/>
                                          </p:stCondLst>
                                        </p:cTn>
                                        <p:tgtEl>
                                          <p:spTgt spid="94"/>
                                        </p:tgtEl>
                                        <p:attrNameLst>
                                          <p:attrName>style.visibility</p:attrName>
                                        </p:attrNameLst>
                                      </p:cBhvr>
                                      <p:to>
                                        <p:strVal val="visible"/>
                                      </p:to>
                                    </p:set>
                                    <p:animEffect transition="in" filter="wipe(left)">
                                      <p:cBhvr>
                                        <p:cTn id="267" dur="420"/>
                                        <p:tgtEl>
                                          <p:spTgt spid="94"/>
                                        </p:tgtEl>
                                      </p:cBhvr>
                                    </p:animEffect>
                                    <p:animEffect transition="in" filter="fade">
                                      <p:cBhvr>
                                        <p:cTn id="374" dur="420"/>
                                        <p:tgtEl>
                                          <p:spTgt spid="94"/>
                                        </p:tgtEl>
                                      </p:cBhvr>
                                    </p:animEffect>
                                  </p:childTnLst>
                                </p:cTn>
                              </p:par>
                              <p:par>
                                <p:cTn id="272" fill="hold">
                                  <p:stCondLst>
                                    <p:cond delay="8140"/>
                                  </p:stCondLst>
                                  <p:childTnLst>
                                    <p:set>
                                      <p:cBhvr>
                                        <p:cTn id="271" dur="1" fill="hold">
                                          <p:stCondLst>
                                            <p:cond delay="0"/>
                                          </p:stCondLst>
                                        </p:cTn>
                                        <p:tgtEl>
                                          <p:spTgt spid="95"/>
                                        </p:tgtEl>
                                        <p:attrNameLst>
                                          <p:attrName>style.visibility</p:attrName>
                                        </p:attrNameLst>
                                      </p:cBhvr>
                                      <p:to>
                                        <p:strVal val="visible"/>
                                      </p:to>
                                    </p:set>
                                    <p:animEffect transition="in" filter="wipe(left)">
                                      <p:cBhvr>
                                        <p:cTn id="270" dur="420"/>
                                        <p:tgtEl>
                                          <p:spTgt spid="95"/>
                                        </p:tgtEl>
                                      </p:cBhvr>
                                    </p:animEffect>
                                    <p:animEffect transition="in" filter="fade">
                                      <p:cBhvr>
                                        <p:cTn id="375" dur="420"/>
                                        <p:tgtEl>
                                          <p:spTgt spid="95"/>
                                        </p:tgtEl>
                                      </p:cBhvr>
                                    </p:animEffect>
                                  </p:childTnLst>
                                </p:cTn>
                              </p:par>
                              <p:par>
                                <p:cTn id="275" fill="hold">
                                  <p:stCondLst>
                                    <p:cond delay="8250"/>
                                  </p:stCondLst>
                                  <p:childTnLst>
                                    <p:set>
                                      <p:cBhvr>
                                        <p:cTn id="274" dur="1" fill="hold">
                                          <p:stCondLst>
                                            <p:cond delay="0"/>
                                          </p:stCondLst>
                                        </p:cTn>
                                        <p:tgtEl>
                                          <p:spTgt spid="96"/>
                                        </p:tgtEl>
                                        <p:attrNameLst>
                                          <p:attrName>style.visibility</p:attrName>
                                        </p:attrNameLst>
                                      </p:cBhvr>
                                      <p:to>
                                        <p:strVal val="visible"/>
                                      </p:to>
                                    </p:set>
                                    <p:animEffect transition="in" filter="wipe(left)">
                                      <p:cBhvr>
                                        <p:cTn id="273" dur="420"/>
                                        <p:tgtEl>
                                          <p:spTgt spid="96"/>
                                        </p:tgtEl>
                                      </p:cBhvr>
                                    </p:animEffect>
                                    <p:animEffect transition="in" filter="fade">
                                      <p:cBhvr>
                                        <p:cTn id="376" dur="420"/>
                                        <p:tgtEl>
                                          <p:spTgt spid="96"/>
                                        </p:tgtEl>
                                      </p:cBhvr>
                                    </p:animEffect>
                                  </p:childTnLst>
                                </p:cTn>
                              </p:par>
                              <p:par>
                                <p:cTn id="278" fill="hold">
                                  <p:stCondLst>
                                    <p:cond delay="8360"/>
                                  </p:stCondLst>
                                  <p:childTnLst>
                                    <p:set>
                                      <p:cBhvr>
                                        <p:cTn id="277" dur="1" fill="hold">
                                          <p:stCondLst>
                                            <p:cond delay="0"/>
                                          </p:stCondLst>
                                        </p:cTn>
                                        <p:tgtEl>
                                          <p:spTgt spid="97"/>
                                        </p:tgtEl>
                                        <p:attrNameLst>
                                          <p:attrName>style.visibility</p:attrName>
                                        </p:attrNameLst>
                                      </p:cBhvr>
                                      <p:to>
                                        <p:strVal val="visible"/>
                                      </p:to>
                                    </p:set>
                                    <p:animEffect transition="in" filter="wipe(left)">
                                      <p:cBhvr>
                                        <p:cTn id="276" dur="420"/>
                                        <p:tgtEl>
                                          <p:spTgt spid="97"/>
                                        </p:tgtEl>
                                      </p:cBhvr>
                                    </p:animEffect>
                                    <p:animEffect transition="in" filter="fade">
                                      <p:cBhvr>
                                        <p:cTn id="377" dur="420"/>
                                        <p:tgtEl>
                                          <p:spTgt spid="97"/>
                                        </p:tgtEl>
                                      </p:cBhvr>
                                    </p:animEffect>
                                  </p:childTnLst>
                                </p:cTn>
                              </p:par>
                              <p:par>
                                <p:cTn id="281" fill="hold">
                                  <p:stCondLst>
                                    <p:cond delay="8470"/>
                                  </p:stCondLst>
                                  <p:childTnLst>
                                    <p:set>
                                      <p:cBhvr>
                                        <p:cTn id="280" dur="1" fill="hold">
                                          <p:stCondLst>
                                            <p:cond delay="0"/>
                                          </p:stCondLst>
                                        </p:cTn>
                                        <p:tgtEl>
                                          <p:spTgt spid="98"/>
                                        </p:tgtEl>
                                        <p:attrNameLst>
                                          <p:attrName>style.visibility</p:attrName>
                                        </p:attrNameLst>
                                      </p:cBhvr>
                                      <p:to>
                                        <p:strVal val="visible"/>
                                      </p:to>
                                    </p:set>
                                    <p:animEffect transition="in" filter="wipe(left)">
                                      <p:cBhvr>
                                        <p:cTn id="279" dur="420"/>
                                        <p:tgtEl>
                                          <p:spTgt spid="98"/>
                                        </p:tgtEl>
                                      </p:cBhvr>
                                    </p:animEffect>
                                    <p:animEffect transition="in" filter="fade">
                                      <p:cBhvr>
                                        <p:cTn id="378" dur="420"/>
                                        <p:tgtEl>
                                          <p:spTgt spid="98"/>
                                        </p:tgtEl>
                                      </p:cBhvr>
                                    </p:animEffect>
                                  </p:childTnLst>
                                </p:cTn>
                              </p:par>
                              <p:par>
                                <p:cTn id="284" fill="hold">
                                  <p:stCondLst>
                                    <p:cond delay="8580"/>
                                  </p:stCondLst>
                                  <p:childTnLst>
                                    <p:set>
                                      <p:cBhvr>
                                        <p:cTn id="283" dur="1" fill="hold">
                                          <p:stCondLst>
                                            <p:cond delay="0"/>
                                          </p:stCondLst>
                                        </p:cTn>
                                        <p:tgtEl>
                                          <p:spTgt spid="100"/>
                                        </p:tgtEl>
                                        <p:attrNameLst>
                                          <p:attrName>style.visibility</p:attrName>
                                        </p:attrNameLst>
                                      </p:cBhvr>
                                      <p:to>
                                        <p:strVal val="visible"/>
                                      </p:to>
                                    </p:set>
                                    <p:animEffect transition="in" filter="wipe(left)">
                                      <p:cBhvr>
                                        <p:cTn id="282" dur="420"/>
                                        <p:tgtEl>
                                          <p:spTgt spid="100"/>
                                        </p:tgtEl>
                                      </p:cBhvr>
                                    </p:animEffect>
                                    <p:animEffect transition="in" filter="fade">
                                      <p:cBhvr>
                                        <p:cTn id="379" dur="420"/>
                                        <p:tgtEl>
                                          <p:spTgt spid="100"/>
                                        </p:tgtEl>
                                      </p:cBhvr>
                                    </p:animEffect>
                                  </p:childTnLst>
                                </p:cTn>
                              </p:par>
                              <p:par>
                                <p:cTn id="287" fill="hold">
                                  <p:stCondLst>
                                    <p:cond delay="8690"/>
                                  </p:stCondLst>
                                  <p:childTnLst>
                                    <p:set>
                                      <p:cBhvr>
                                        <p:cTn id="286" dur="1" fill="hold">
                                          <p:stCondLst>
                                            <p:cond delay="0"/>
                                          </p:stCondLst>
                                        </p:cTn>
                                        <p:tgtEl>
                                          <p:spTgt spid="101"/>
                                        </p:tgtEl>
                                        <p:attrNameLst>
                                          <p:attrName>style.visibility</p:attrName>
                                        </p:attrNameLst>
                                      </p:cBhvr>
                                      <p:to>
                                        <p:strVal val="visible"/>
                                      </p:to>
                                    </p:set>
                                    <p:animEffect transition="in" filter="wipe(left)">
                                      <p:cBhvr>
                                        <p:cTn id="285" dur="420"/>
                                        <p:tgtEl>
                                          <p:spTgt spid="101"/>
                                        </p:tgtEl>
                                      </p:cBhvr>
                                    </p:animEffect>
                                    <p:animEffect transition="in" filter="fade">
                                      <p:cBhvr>
                                        <p:cTn id="380" dur="420"/>
                                        <p:tgtEl>
                                          <p:spTgt spid="101"/>
                                        </p:tgtEl>
                                      </p:cBhvr>
                                    </p:animEffect>
                                  </p:childTnLst>
                                </p:cTn>
                              </p:par>
                              <p:par>
                                <p:cTn id="290" fill="hold">
                                  <p:stCondLst>
                                    <p:cond delay="8800"/>
                                  </p:stCondLst>
                                  <p:childTnLst>
                                    <p:set>
                                      <p:cBhvr>
                                        <p:cTn id="289" dur="1" fill="hold">
                                          <p:stCondLst>
                                            <p:cond delay="0"/>
                                          </p:stCondLst>
                                        </p:cTn>
                                        <p:tgtEl>
                                          <p:spTgt spid="102"/>
                                        </p:tgtEl>
                                        <p:attrNameLst>
                                          <p:attrName>style.visibility</p:attrName>
                                        </p:attrNameLst>
                                      </p:cBhvr>
                                      <p:to>
                                        <p:strVal val="visible"/>
                                      </p:to>
                                    </p:set>
                                    <p:animEffect transition="in" filter="wipe(left)">
                                      <p:cBhvr>
                                        <p:cTn id="288" dur="420"/>
                                        <p:tgtEl>
                                          <p:spTgt spid="102"/>
                                        </p:tgtEl>
                                      </p:cBhvr>
                                    </p:animEffect>
                                    <p:animEffect transition="in" filter="fade">
                                      <p:cBhvr>
                                        <p:cTn id="381" dur="420"/>
                                        <p:tgtEl>
                                          <p:spTgt spid="102"/>
                                        </p:tgtEl>
                                      </p:cBhvr>
                                    </p:animEffect>
                                  </p:childTnLst>
                                </p:cTn>
                              </p:par>
                              <p:par>
                                <p:cTn id="293" fill="hold">
                                  <p:stCondLst>
                                    <p:cond delay="8910"/>
                                  </p:stCondLst>
                                  <p:childTnLst>
                                    <p:set>
                                      <p:cBhvr>
                                        <p:cTn id="292" dur="1" fill="hold">
                                          <p:stCondLst>
                                            <p:cond delay="0"/>
                                          </p:stCondLst>
                                        </p:cTn>
                                        <p:tgtEl>
                                          <p:spTgt spid="103"/>
                                        </p:tgtEl>
                                        <p:attrNameLst>
                                          <p:attrName>style.visibility</p:attrName>
                                        </p:attrNameLst>
                                      </p:cBhvr>
                                      <p:to>
                                        <p:strVal val="visible"/>
                                      </p:to>
                                    </p:set>
                                    <p:animEffect transition="in" filter="wipe(left)">
                                      <p:cBhvr>
                                        <p:cTn id="291" dur="420"/>
                                        <p:tgtEl>
                                          <p:spTgt spid="103"/>
                                        </p:tgtEl>
                                      </p:cBhvr>
                                    </p:animEffect>
                                    <p:animEffect transition="in" filter="fade">
                                      <p:cBhvr>
                                        <p:cTn id="382" dur="42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Unidades de información y su uso práctico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bit es la unidad mínima; las agrupaciones explican los diagramas de pines y memorias.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1168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1 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Bit</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estado lógico: '0' o '1'. Es la unidad de la tabla de verdad y equivale a una salida de compuerta.</a:t>
            </a:r>
          </a:p>
        </p:txBody>
      </p:sp>
      <p:sp>
        <p:nvSpPr>
          <p:cNvPr id="21" name="Rounded Rectangle 20"/>
          <p:cNvSpPr/>
          <p:nvPr/>
        </p:nvSpPr>
        <p:spPr>
          <a:xfrm>
            <a:off x="4289541"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4 b</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Nibble</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Cuatro bits: la mitad de un byte y el tamaño de un dígito hexadecimal. Un decodificador BCD recibe exactamente un nibble.</a:t>
            </a:r>
          </a:p>
        </p:txBody>
      </p:sp>
      <p:sp>
        <p:nvSpPr>
          <p:cNvPr id="26" name="Rounded Rectangle 25"/>
          <p:cNvSpPr/>
          <p:nvPr/>
        </p:nvSpPr>
        <p:spPr>
          <a:xfrm>
            <a:off x="8103595"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8 b</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Byte</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Ocho bits: 256 combinaciones. Es la anchura de los buses de datos de los integrados 74LS374, 74LS245 y 74LS688.</a:t>
            </a:r>
          </a:p>
        </p:txBody>
      </p:sp>
      <p:sp>
        <p:nvSpPr>
          <p:cNvPr id="31" name="Rounded Rectangle 30"/>
          <p:cNvSpPr/>
          <p:nvPr/>
        </p:nvSpPr>
        <p:spPr>
          <a:xfrm>
            <a:off x="475488"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16/32 b</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Palabra</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Ancho de datos del procesador. El 74LS181 (ALU) trabaja con palabras de 4 bits y se encadenan para formar palabras mayores.</a:t>
            </a:r>
          </a:p>
        </p:txBody>
      </p:sp>
      <p:sp>
        <p:nvSpPr>
          <p:cNvPr id="36" name="Rounded Rectangle 35"/>
          <p:cNvSpPr/>
          <p:nvPr/>
        </p:nvSpPr>
        <p:spPr>
          <a:xfrm>
            <a:off x="4289541"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A0…An</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Dirección</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Conjunto de bits que identifica una posición de memoria. Con n líneas se direccionan 2^n posiciones.</a:t>
            </a:r>
          </a:p>
        </p:txBody>
      </p:sp>
      <p:sp>
        <p:nvSpPr>
          <p:cNvPr id="41" name="Rounded Rectangle 40"/>
          <p:cNvSpPr/>
          <p:nvPr/>
        </p:nvSpPr>
        <p:spPr>
          <a:xfrm>
            <a:off x="8103595"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n × bit</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Bus</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Grupo de líneas que viajan juntas: bus de datos, de direcciones y de control. Requieren transceptores como el 74LS245.</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Ejemplo real: el 74LS189 es una RAM de 64 bits organizada como 16 palabras × 4 bits, es decir, necesita 4 líneas de dirección (A0–A3) y 4 líneas de datos (D0–D3).</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Códigos digitales: BCD, Gray, ASCII y paridad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No todo lo que se transmite es binario natural: existen códigos con reglas propias.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2409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BCD natural (8421):</a:t>
            </a:r>
            <a:r>
              <a:rPr sz="1250" b="0">
                <a:solidFill>
                  <a:srgbClr val="2C3E56"/>
                </a:solidFill>
                <a:latin typeface="Segoe UI"/>
              </a:rPr>
              <a:t> 47₁₀ se codifica como 0100 0111, dos nibbles independientes y no un binario único (47₁₀ = 101111₂).</a:t>
            </a:r>
          </a:p>
        </p:txBody>
      </p:sp>
      <p:sp>
        <p:nvSpPr>
          <p:cNvPr id="18" name="Oval 17"/>
          <p:cNvSpPr/>
          <p:nvPr/>
        </p:nvSpPr>
        <p:spPr>
          <a:xfrm>
            <a:off x="502919" y="197415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19287"/>
            <a:ext cx="6723857" cy="65693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BCD desempaquetado</a:t>
            </a:r>
            <a:r>
              <a:rPr sz="1250" b="0">
                <a:solidFill>
                  <a:srgbClr val="2C3E56"/>
                </a:solidFill>
                <a:latin typeface="Segoe UI"/>
              </a:rPr>
              <a:t> usa 8 bits por dígito (4 de relleno); </a:t>
            </a:r>
            <a:r>
              <a:rPr sz="1250" b="1">
                <a:solidFill>
                  <a:srgbClr val="2C3E56"/>
                </a:solidFill>
                <a:latin typeface="Segoe UI Semibold"/>
              </a:rPr>
              <a:t>empaquetado</a:t>
            </a:r>
            <a:r>
              <a:rPr sz="1250" b="0">
                <a:solidFill>
                  <a:srgbClr val="2C3E56"/>
                </a:solidFill>
                <a:latin typeface="Segoe UI"/>
              </a:rPr>
              <a:t> aprovecha las dos mitades del byte. Los contadores 74LS390 entregan BCD empaquetado.</a:t>
            </a:r>
          </a:p>
        </p:txBody>
      </p:sp>
      <p:sp>
        <p:nvSpPr>
          <p:cNvPr id="20" name="Oval 19"/>
          <p:cNvSpPr/>
          <p:nvPr/>
        </p:nvSpPr>
        <p:spPr>
          <a:xfrm>
            <a:off x="502919" y="274081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85954"/>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Exceso 3</a:t>
            </a:r>
            <a:r>
              <a:rPr sz="1250" b="0">
                <a:solidFill>
                  <a:srgbClr val="2C3E56"/>
                </a:solidFill>
                <a:latin typeface="Segoe UI"/>
              </a:rPr>
              <a:t> suma 3 al BCD y sirve para operaciones aritméticas sin acarreo explícito en algunos sumadores históricos.</a:t>
            </a:r>
          </a:p>
        </p:txBody>
      </p:sp>
      <p:sp>
        <p:nvSpPr>
          <p:cNvPr id="22" name="Oval 21"/>
          <p:cNvSpPr/>
          <p:nvPr/>
        </p:nvSpPr>
        <p:spPr>
          <a:xfrm>
            <a:off x="502919" y="328850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233642"/>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Código Gray de 3 bits:</a:t>
            </a:r>
            <a:r>
              <a:rPr sz="1250" b="0">
                <a:solidFill>
                  <a:srgbClr val="2C3E56"/>
                </a:solidFill>
                <a:latin typeface="Segoe UI"/>
              </a:rPr>
              <a:t> 000, 001, 011, 010, 110, 111, 101, 100. La secuencia regresa al inicio cambiando un solo bit.</a:t>
            </a:r>
          </a:p>
        </p:txBody>
      </p:sp>
      <p:sp>
        <p:nvSpPr>
          <p:cNvPr id="24" name="Oval 23"/>
          <p:cNvSpPr/>
          <p:nvPr/>
        </p:nvSpPr>
        <p:spPr>
          <a:xfrm>
            <a:off x="502919" y="383619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81329"/>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Paridad par:</a:t>
            </a:r>
            <a:r>
              <a:rPr sz="1250" b="0">
                <a:solidFill>
                  <a:srgbClr val="2C3E56"/>
                </a:solidFill>
                <a:latin typeface="Segoe UI"/>
              </a:rPr>
              <a:t> se añade el bit necesario para que el número total de unos sea par. </a:t>
            </a:r>
            <a:r>
              <a:rPr sz="1250" b="1">
                <a:solidFill>
                  <a:srgbClr val="2C3E56"/>
                </a:solidFill>
                <a:latin typeface="Segoe UI Semibold"/>
              </a:rPr>
              <a:t>Paridad impar:</a:t>
            </a:r>
            <a:r>
              <a:rPr sz="1250" b="0">
                <a:solidFill>
                  <a:srgbClr val="2C3E56"/>
                </a:solidFill>
                <a:latin typeface="Segoe UI"/>
              </a:rPr>
              <a:t> se fuerza a impar. La compuerta XOR es el detector natural.</a:t>
            </a:r>
          </a:p>
        </p:txBody>
      </p:sp>
      <p:sp>
        <p:nvSpPr>
          <p:cNvPr id="26" name="Oval 25"/>
          <p:cNvSpPr/>
          <p:nvPr/>
        </p:nvSpPr>
        <p:spPr>
          <a:xfrm>
            <a:off x="502919" y="438388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329017"/>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Detección vs. corrección:</a:t>
            </a:r>
            <a:r>
              <a:rPr sz="1250" b="0">
                <a:solidFill>
                  <a:srgbClr val="2C3E56"/>
                </a:solidFill>
                <a:latin typeface="Segoe UI"/>
              </a:rPr>
              <a:t> la paridad detecta errores simples; los códigos Hamming detectan y corrigen, usando varias compuertas XOR en cascada.</a:t>
            </a:r>
          </a:p>
        </p:txBody>
      </p:sp>
      <p:sp>
        <p:nvSpPr>
          <p:cNvPr id="28" name="Oval 27"/>
          <p:cNvSpPr/>
          <p:nvPr/>
        </p:nvSpPr>
        <p:spPr>
          <a:xfrm>
            <a:off x="502919" y="493156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876704"/>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Display de 7 segmentos:</a:t>
            </a:r>
            <a:r>
              <a:rPr sz="1250" b="0">
                <a:solidFill>
                  <a:srgbClr val="2C3E56"/>
                </a:solidFill>
                <a:latin typeface="Segoe UI"/>
              </a:rPr>
              <a:t> cada segmento tiene una letra (a–g) y el 74LS47 convierte el BCD en esas siete señales.</a:t>
            </a:r>
          </a:p>
        </p:txBody>
      </p:sp>
      <p:sp>
        <p:nvSpPr>
          <p:cNvPr id="30" name="Oval 29"/>
          <p:cNvSpPr/>
          <p:nvPr/>
        </p:nvSpPr>
        <p:spPr>
          <a:xfrm>
            <a:off x="502919" y="547925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424392"/>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BCD inválido:</a:t>
            </a:r>
            <a:r>
              <a:rPr sz="1250" b="0">
                <a:solidFill>
                  <a:srgbClr val="2C3E56"/>
                </a:solidFill>
                <a:latin typeface="Segoe UI"/>
              </a:rPr>
              <a:t> si un contador entrega 1010₂ a un decodificador 74LS47, la salida muestra un símbolo errático; hay que verificar el conteo.</a:t>
            </a:r>
          </a:p>
        </p:txBody>
      </p:sp>
      <p:sp>
        <p:nvSpPr>
          <p:cNvPr id="32" name="Rounded Rectangle 31"/>
          <p:cNvSpPr/>
          <p:nvPr/>
        </p:nvSpPr>
        <p:spPr>
          <a:xfrm>
            <a:off x="7693121" y="1371600"/>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93121"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BCD (8421)</a:t>
            </a:r>
          </a:p>
        </p:txBody>
      </p:sp>
      <p:sp>
        <p:nvSpPr>
          <p:cNvPr id="35" name="TextBox 34"/>
          <p:cNvSpPr txBox="1"/>
          <p:nvPr/>
        </p:nvSpPr>
        <p:spPr>
          <a:xfrm>
            <a:off x="7876001" y="1828800"/>
            <a:ext cx="3611879" cy="566927"/>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Cada dígito decimal se codifica por separado con 4 bits. Ventaja: conversión directa a displays de 7 segmentos. Desventaja: desperdicia 6 de cada 16 códigos.</a:t>
            </a:r>
          </a:p>
        </p:txBody>
      </p:sp>
      <p:sp>
        <p:nvSpPr>
          <p:cNvPr id="36" name="Rounded Rectangle 35"/>
          <p:cNvSpPr/>
          <p:nvPr/>
        </p:nvSpPr>
        <p:spPr>
          <a:xfrm>
            <a:off x="7693121" y="2624328"/>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93121" y="2734056"/>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76001" y="2770632"/>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Código Gray</a:t>
            </a:r>
          </a:p>
        </p:txBody>
      </p:sp>
      <p:sp>
        <p:nvSpPr>
          <p:cNvPr id="39" name="TextBox 38"/>
          <p:cNvSpPr txBox="1"/>
          <p:nvPr/>
        </p:nvSpPr>
        <p:spPr>
          <a:xfrm>
            <a:off x="7876001" y="3081528"/>
            <a:ext cx="3611879" cy="56692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Dos valores consecutivos difieren en un solo bit, lo que evita falsas lecturas en decodificadores rotativos y sensores de posición. Se usa en encoders y en tablas de Karnaugh.</a:t>
            </a:r>
          </a:p>
        </p:txBody>
      </p:sp>
      <p:sp>
        <p:nvSpPr>
          <p:cNvPr id="40" name="Rounded Rectangle 39"/>
          <p:cNvSpPr/>
          <p:nvPr/>
        </p:nvSpPr>
        <p:spPr>
          <a:xfrm>
            <a:off x="7693121" y="3877056"/>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93121" y="3986784"/>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76001" y="4023360"/>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ASCII</a:t>
            </a:r>
          </a:p>
        </p:txBody>
      </p:sp>
      <p:sp>
        <p:nvSpPr>
          <p:cNvPr id="43" name="TextBox 42"/>
          <p:cNvSpPr txBox="1"/>
          <p:nvPr/>
        </p:nvSpPr>
        <p:spPr>
          <a:xfrm>
            <a:off x="7876001" y="4334256"/>
            <a:ext cx="3611879" cy="566927"/>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Código de 7 bits para caracteres: '0' = 0110000, 'A' = 1000001. Es la base del texto que viaja por puertos serie y teclados.</a:t>
            </a:r>
          </a:p>
        </p:txBody>
      </p:sp>
      <p:sp>
        <p:nvSpPr>
          <p:cNvPr id="44" name="Rounded Rectangle 43"/>
          <p:cNvSpPr/>
          <p:nvPr/>
        </p:nvSpPr>
        <p:spPr>
          <a:xfrm>
            <a:off x="7693121" y="5129783"/>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693121" y="5239512"/>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876001" y="5276088"/>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Bit de paridad</a:t>
            </a:r>
          </a:p>
        </p:txBody>
      </p:sp>
      <p:sp>
        <p:nvSpPr>
          <p:cNvPr id="47" name="TextBox 46"/>
          <p:cNvSpPr txBox="1"/>
          <p:nvPr/>
        </p:nvSpPr>
        <p:spPr>
          <a:xfrm>
            <a:off x="7876001" y="5586983"/>
            <a:ext cx="3611879" cy="566927"/>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Bit adicional calculado con XOR que detecta un número impar de errores en la transmisión. Se genera con 7486 o 74180.</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66"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anim calcmode="lin" valueType="num">
                                      <p:cBhvr additive="base">
                                        <p:cTn id="65" dur="420" fill="hold"/>
                                        <p:tgtEl>
                                          <p:spTgt spid="32"/>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7" dur="420"/>
                                        <p:tgtEl>
                                          <p:spTgt spid="33"/>
                                        </p:tgtEl>
                                      </p:cBhvr>
                                    </p:animEffect>
                                    <p:anim calcmode="lin" valueType="num">
                                      <p:cBhvr additive="base">
                                        <p:cTn id="69" dur="420" fill="hold"/>
                                        <p:tgtEl>
                                          <p:spTgt spid="33"/>
                                        </p:tgtEl>
                                        <p:attrNameLst>
                                          <p:attrName>ppt_y</p:attrName>
                                        </p:attrNameLst>
                                      </p:cBhvr>
                                      <p:tavLst>
                                        <p:tav tm="0">
                                          <p:val>
                                            <p:fltVal val="0.06"/>
                                          </p:val>
                                        </p:tav>
                                        <p:tav tm="100000">
                                          <p:val>
                                            <p:fltVal val="0"/>
                                          </p:val>
                                        </p:tav>
                                      </p:tavLst>
                                    </p:anim>
                                  </p:childTnLst>
                                </p:cTn>
                              </p:par>
                              <p:par>
                                <p:cTn id="74" fill="hold">
                                  <p:stCondLst>
                                    <p:cond delay="22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anim calcmode="lin" valueType="num">
                                      <p:cBhvr additive="base">
                                        <p:cTn id="73" dur="420" fill="hold"/>
                                        <p:tgtEl>
                                          <p:spTgt spid="34"/>
                                        </p:tgtEl>
                                        <p:attrNameLst>
                                          <p:attrName>ppt_y</p:attrName>
                                        </p:attrNameLst>
                                      </p:cBhvr>
                                      <p:tavLst>
                                        <p:tav tm="0">
                                          <p:val>
                                            <p:fltVal val="0.06"/>
                                          </p:val>
                                        </p:tav>
                                        <p:tav tm="100000">
                                          <p:val>
                                            <p:fltVal val="0"/>
                                          </p:val>
                                        </p:tav>
                                      </p:tavLst>
                                    </p:anim>
                                  </p:childTnLst>
                                </p:cTn>
                              </p:par>
                              <p:par>
                                <p:cTn id="78" fill="hold">
                                  <p:stCondLst>
                                    <p:cond delay="3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44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55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childTnLst>
                          </p:cTn>
                        </p:par>
                      </p:childTnLst>
                    </p:cTn>
                  </p:par>
                  <p:par>
                    <p:cTn id="129" fill="hold">
                      <p:stCondLst>
                        <p:cond delay="indefinite"/>
                      </p:stCondLst>
                      <p:childTnLst>
                        <p:par>
                          <p:cTn id="130" fill="hold">
                            <p:stCondLst>
                              <p:cond delay="0"/>
                            </p:stCondLst>
                            <p:childTnLst>
                              <p:par>
                                <p:cTn id="92" fill="hold">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89" dur="420"/>
                                        <p:tgtEl>
                                          <p:spTgt spid="38"/>
                                        </p:tgtEl>
                                      </p:cBhvr>
                                    </p:animEffect>
                                    <p:anim calcmode="lin" valueType="num">
                                      <p:cBhvr additive="base">
                                        <p:cTn id="91" dur="420" fill="hold"/>
                                        <p:tgtEl>
                                          <p:spTgt spid="38"/>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9"/>
                                        </p:tgtEl>
                                        <p:attrNameLst>
                                          <p:attrName>style.visibility</p:attrName>
                                        </p:attrNameLst>
                                      </p:cBhvr>
                                      <p:to>
                                        <p:strVal val="visible"/>
                                      </p:to>
                                    </p:set>
                                    <p:animEffect transition="in" filter="fade">
                                      <p:cBhvr>
                                        <p:cTn id="93" dur="420"/>
                                        <p:tgtEl>
                                          <p:spTgt spid="39"/>
                                        </p:tgtEl>
                                      </p:cBhvr>
                                    </p:animEffect>
                                    <p:anim calcmode="lin" valueType="num">
                                      <p:cBhvr additive="base">
                                        <p:cTn id="95" dur="420" fill="hold"/>
                                        <p:tgtEl>
                                          <p:spTgt spid="39"/>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7" dur="420"/>
                                        <p:tgtEl>
                                          <p:spTgt spid="40"/>
                                        </p:tgtEl>
                                      </p:cBhvr>
                                    </p:animEffect>
                                    <p:anim calcmode="lin" valueType="num">
                                      <p:cBhvr additive="base">
                                        <p:cTn id="99" dur="420" fill="hold"/>
                                        <p:tgtEl>
                                          <p:spTgt spid="40"/>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1" dur="420"/>
                                        <p:tgtEl>
                                          <p:spTgt spid="41"/>
                                        </p:tgtEl>
                                      </p:cBhvr>
                                    </p:animEffect>
                                    <p:anim calcmode="lin" valueType="num">
                                      <p:cBhvr additive="base">
                                        <p:cTn id="103" dur="420" fill="hold"/>
                                        <p:tgtEl>
                                          <p:spTgt spid="41"/>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anim calcmode="lin" valueType="num">
                                      <p:cBhvr additive="base">
                                        <p:cTn id="107" dur="420" fill="hold"/>
                                        <p:tgtEl>
                                          <p:spTgt spid="42"/>
                                        </p:tgtEl>
                                        <p:attrNameLst>
                                          <p:attrName>ppt_y</p:attrName>
                                        </p:attrNameLst>
                                      </p:cBhvr>
                                      <p:tavLst>
                                        <p:tav tm="0">
                                          <p:val>
                                            <p:fltVal val="0.06"/>
                                          </p:val>
                                        </p:tav>
                                        <p:tav tm="100000">
                                          <p:val>
                                            <p:fltVal val="0"/>
                                          </p:val>
                                        </p:tav>
                                      </p:tavLst>
                                    </p:anim>
                                  </p:childTnLst>
                                </p:cTn>
                              </p:par>
                              <p:par>
                                <p:cTn id="112" fill="hold">
                                  <p:stCondLst>
                                    <p:cond delay="55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1" dur="420" fill="hold"/>
                                        <p:tgtEl>
                                          <p:spTgt spid="43"/>
                                        </p:tgtEl>
                                        <p:attrNameLst>
                                          <p:attrName>ppt_y</p:attrName>
                                        </p:attrNameLst>
                                      </p:cBhvr>
                                      <p:tavLst>
                                        <p:tav tm="0">
                                          <p:val>
                                            <p:fltVal val="0.06"/>
                                          </p:val>
                                        </p:tav>
                                        <p:tav tm="100000">
                                          <p:val>
                                            <p:fltVal val="0"/>
                                          </p:val>
                                        </p:tav>
                                      </p:tavLst>
                                    </p:anim>
                                  </p:childTnLst>
                                </p:cTn>
                              </p:par>
                              <p:par>
                                <p:cTn id="116" fill="hold">
                                  <p:stCondLst>
                                    <p:cond delay="66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anim calcmode="lin" valueType="num">
                                      <p:cBhvr additive="base">
                                        <p:cTn id="115" dur="420" fill="hold"/>
                                        <p:tgtEl>
                                          <p:spTgt spid="44"/>
                                        </p:tgtEl>
                                        <p:attrNameLst>
                                          <p:attrName>ppt_y</p:attrName>
                                        </p:attrNameLst>
                                      </p:cBhvr>
                                      <p:tavLst>
                                        <p:tav tm="0">
                                          <p:val>
                                            <p:fltVal val="0.06"/>
                                          </p:val>
                                        </p:tav>
                                        <p:tav tm="100000">
                                          <p:val>
                                            <p:fltVal val="0"/>
                                          </p:val>
                                        </p:tav>
                                      </p:tavLst>
                                    </p:anim>
                                  </p:childTnLst>
                                </p:cTn>
                              </p:par>
                              <p:par>
                                <p:cTn id="120" fill="hold">
                                  <p:stCondLst>
                                    <p:cond delay="77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7" dur="420"/>
                                        <p:tgtEl>
                                          <p:spTgt spid="45"/>
                                        </p:tgtEl>
                                      </p:cBhvr>
                                    </p:animEffect>
                                    <p:anim calcmode="lin" valueType="num">
                                      <p:cBhvr additive="base">
                                        <p:cTn id="119" dur="420" fill="hold"/>
                                        <p:tgtEl>
                                          <p:spTgt spid="45"/>
                                        </p:tgtEl>
                                        <p:attrNameLst>
                                          <p:attrName>ppt_y</p:attrName>
                                        </p:attrNameLst>
                                      </p:cBhvr>
                                      <p:tavLst>
                                        <p:tav tm="0">
                                          <p:val>
                                            <p:fltVal val="0.06"/>
                                          </p:val>
                                        </p:tav>
                                        <p:tav tm="100000">
                                          <p:val>
                                            <p:fltVal val="0"/>
                                          </p:val>
                                        </p:tav>
                                      </p:tavLst>
                                    </p:anim>
                                  </p:childTnLst>
                                </p:cTn>
                              </p:par>
                              <p:par>
                                <p:cTn id="124" fill="hold">
                                  <p:stCondLst>
                                    <p:cond delay="88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anim calcmode="lin" valueType="num">
                                      <p:cBhvr additive="base">
                                        <p:cTn id="123" dur="420" fill="hold"/>
                                        <p:tgtEl>
                                          <p:spTgt spid="46"/>
                                        </p:tgtEl>
                                        <p:attrNameLst>
                                          <p:attrName>ppt_y</p:attrName>
                                        </p:attrNameLst>
                                      </p:cBhvr>
                                      <p:tavLst>
                                        <p:tav tm="0">
                                          <p:val>
                                            <p:fltVal val="0.06"/>
                                          </p:val>
                                        </p:tav>
                                        <p:tav tm="100000">
                                          <p:val>
                                            <p:fltVal val="0"/>
                                          </p:val>
                                        </p:tav>
                                      </p:tavLst>
                                    </p:anim>
                                  </p:childTnLst>
                                </p:cTn>
                              </p:par>
                              <p:par>
                                <p:cTn id="128" fill="hold">
                                  <p:stCondLst>
                                    <p:cond delay="99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5" dur="420"/>
                                        <p:tgtEl>
                                          <p:spTgt spid="47"/>
                                        </p:tgtEl>
                                      </p:cBhvr>
                                    </p:animEffect>
                                    <p:anim calcmode="lin" valueType="num">
                                      <p:cBhvr additive="base">
                                        <p:cTn id="127" dur="420" fill="hold"/>
                                        <p:tgtEl>
                                          <p:spTgt spid="47"/>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0D1A2B"/>
                </a:solidFill>
                <a:latin typeface="Segoe UI Semibold"/>
              </a:rPr>
              <a:t>Niveles lógicos y márgenes de ruido del estándar TTL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Los fabricantes garantizan un nivel, no un valor exacto: de ahí nace el margen de ruido.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23650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oise_margin.png"/>
          <p:cNvPicPr>
            <a:picLocks noChangeAspect="1"/>
          </p:cNvPicPr>
          <p:nvPr/>
        </p:nvPicPr>
        <p:blipFill>
          <a:blip r:embed="rId2"/>
          <a:srcRect l="5208" r="5208"/>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Bandas garantizadas de tensión para la familia TTL con alimentación de 5 V: VOL máx 0.4 V, VOH mín 2.4 V, VIL máx 0.8 V y VIH mín 2.0 V.</a:t>
            </a:r>
          </a:p>
        </p:txBody>
      </p:sp>
      <p:sp>
        <p:nvSpPr>
          <p:cNvPr id="19" name="Oval 18"/>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VIL (Voltage Input Low):</a:t>
            </a:r>
            <a:r>
              <a:rPr sz="925" b="0">
                <a:solidFill>
                  <a:srgbClr val="2C3E56"/>
                </a:solidFill>
                <a:latin typeface="Segoe UI"/>
              </a:rPr>
              <a:t> máxima tensión que el integrado reconoce como '0'. En TTL: 0.8 V. Todo valor por debajo es un '0' garantizado.</a:t>
            </a:r>
          </a:p>
        </p:txBody>
      </p:sp>
      <p:sp>
        <p:nvSpPr>
          <p:cNvPr id="21" name="Oval 20"/>
          <p:cNvSpPr/>
          <p:nvPr/>
        </p:nvSpPr>
        <p:spPr>
          <a:xfrm>
            <a:off x="7793705" y="192908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874219"/>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VIH (Voltage Input High):</a:t>
            </a:r>
            <a:r>
              <a:rPr sz="925" b="0">
                <a:solidFill>
                  <a:srgbClr val="2C3E56"/>
                </a:solidFill>
                <a:latin typeface="Segoe UI"/>
              </a:rPr>
              <a:t> mínima tensión que el integrado reconoce como '1'. En TTL: 2.0 V. Todo valor por encima es un '1' garantizado.</a:t>
            </a:r>
          </a:p>
        </p:txBody>
      </p:sp>
      <p:sp>
        <p:nvSpPr>
          <p:cNvPr id="23" name="Oval 22"/>
          <p:cNvSpPr/>
          <p:nvPr/>
        </p:nvSpPr>
        <p:spPr>
          <a:xfrm>
            <a:off x="7793705" y="24317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76839"/>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VOL (Voltage Output Low):</a:t>
            </a:r>
            <a:r>
              <a:rPr sz="925" b="0">
                <a:solidFill>
                  <a:srgbClr val="2C3E56"/>
                </a:solidFill>
                <a:latin typeface="Segoe UI"/>
              </a:rPr>
              <a:t> máxima tensión que el chip entrega como '0' cuando la salida está cargada: 0.4 V.</a:t>
            </a:r>
          </a:p>
        </p:txBody>
      </p:sp>
      <p:sp>
        <p:nvSpPr>
          <p:cNvPr id="25" name="Oval 24"/>
          <p:cNvSpPr/>
          <p:nvPr/>
        </p:nvSpPr>
        <p:spPr>
          <a:xfrm>
            <a:off x="7793705" y="278507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730207"/>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VOH (Voltage Output High):</a:t>
            </a:r>
            <a:r>
              <a:rPr sz="925" b="0">
                <a:solidFill>
                  <a:srgbClr val="2C3E56"/>
                </a:solidFill>
                <a:latin typeface="Segoe UI"/>
              </a:rPr>
              <a:t> mínima tensión que entrega como '1' con carga nominal: 2.4 V (típicamente 3.4 V en vacío).</a:t>
            </a:r>
          </a:p>
        </p:txBody>
      </p:sp>
      <p:sp>
        <p:nvSpPr>
          <p:cNvPr id="27" name="Oval 26"/>
          <p:cNvSpPr/>
          <p:nvPr/>
        </p:nvSpPr>
        <p:spPr>
          <a:xfrm>
            <a:off x="7793705" y="313843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83575"/>
            <a:ext cx="3712463" cy="298503"/>
          </a:xfrm>
          <a:prstGeom prst="rect">
            <a:avLst/>
          </a:prstGeom>
          <a:noFill/>
        </p:spPr>
        <p:txBody>
          <a:bodyPr wrap="square" lIns="0" rIns="0" tIns="0" bIns="0" anchor="t">
            <a:spAutoFit/>
          </a:bodyPr>
          <a:lstStyle/>
          <a:p>
            <a:pPr algn="l">
              <a:lnSpc>
                <a:spcPct val="105000"/>
              </a:lnSpc>
            </a:pPr>
            <a:r>
              <a:rPr sz="825" b="1">
                <a:solidFill>
                  <a:srgbClr val="2C3E56"/>
                </a:solidFill>
                <a:latin typeface="Segoe UI Semibold"/>
              </a:rPr>
              <a:t>Margen de ruido a nivel bajo:</a:t>
            </a:r>
            <a:r>
              <a:rPr sz="825" b="0">
                <a:solidFill>
                  <a:srgbClr val="2C3E56"/>
                </a:solidFill>
                <a:latin typeface="Segoe UI"/>
              </a:rPr>
              <a:t> NM(0) = VIL – VOL = 0.8 – 0.4 = 0.4 V. El circuito tolera hasta 400 mV de interferencia sobre un '0'.</a:t>
            </a:r>
          </a:p>
        </p:txBody>
      </p:sp>
      <p:sp>
        <p:nvSpPr>
          <p:cNvPr id="29" name="Oval 28"/>
          <p:cNvSpPr/>
          <p:nvPr/>
        </p:nvSpPr>
        <p:spPr>
          <a:xfrm>
            <a:off x="7793705" y="349180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36943"/>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Margen de ruido a nivel alto:</a:t>
            </a:r>
            <a:r>
              <a:rPr sz="925" b="0">
                <a:solidFill>
                  <a:srgbClr val="2C3E56"/>
                </a:solidFill>
                <a:latin typeface="Segoe UI"/>
              </a:rPr>
              <a:t> NM(1) = VOH – VIH = 2.4 – 2.0 = 0.4 V. Igual tolerancia a la interferencia sobre un '1'.</a:t>
            </a:r>
          </a:p>
        </p:txBody>
      </p:sp>
      <p:sp>
        <p:nvSpPr>
          <p:cNvPr id="31" name="Oval 30"/>
          <p:cNvSpPr/>
          <p:nvPr/>
        </p:nvSpPr>
        <p:spPr>
          <a:xfrm>
            <a:off x="7793705" y="384517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790311"/>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Zona indeterminada (0.8 V – 2.0 V):</a:t>
            </a:r>
            <a:r>
              <a:rPr sz="925" b="0">
                <a:solidFill>
                  <a:srgbClr val="2C3E56"/>
                </a:solidFill>
                <a:latin typeface="Segoe UI"/>
              </a:rPr>
              <a:t> el chip puede leer cualquiera de los dos valores, y si la señal oscila produce corrientes internas, calentamiento y consumo excesivo.</a:t>
            </a:r>
          </a:p>
        </p:txBody>
      </p:sp>
      <p:sp>
        <p:nvSpPr>
          <p:cNvPr id="33" name="Oval 32"/>
          <p:cNvSpPr/>
          <p:nvPr/>
        </p:nvSpPr>
        <p:spPr>
          <a:xfrm>
            <a:off x="7793705" y="434779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292931"/>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Entradas flotantes:</a:t>
            </a:r>
            <a:r>
              <a:rPr sz="925" b="0">
                <a:solidFill>
                  <a:srgbClr val="2C3E56"/>
                </a:solidFill>
                <a:latin typeface="Segoe UI"/>
              </a:rPr>
              <a:t> un pin TTL al aire se comporta como '1' por la estructura interna; en CMOS provoca oscilación y debe conectarse siempre a VCC o GND.</a:t>
            </a:r>
          </a:p>
        </p:txBody>
      </p:sp>
      <p:sp>
        <p:nvSpPr>
          <p:cNvPr id="35" name="Rounded Rectangle 34"/>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Verificación práctica: con el multímetro digital sobre un pin de salida, un '0' real debe medir por debajo de 0.4 V y un '1' por encima de 2.7 V. Valores intermedios indican carga excesiva, pin flotante o chip dañado.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fltVal val="0.06"/>
                                          </p:val>
                                        </p:tav>
                                        <p:tav tm="100000">
                                          <p:val>
                                            <p:flt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Inmunidad al ruido y calidad de la señal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Por qué el mismo dato puede leerse bien o mal según el montaje físico.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34891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Fuentes de ruido</a:t>
            </a:r>
          </a:p>
        </p:txBody>
      </p:sp>
      <p:sp>
        <p:nvSpPr>
          <p:cNvPr id="20" name="TextBox 19"/>
          <p:cNvSpPr txBox="1"/>
          <p:nvPr/>
        </p:nvSpPr>
        <p:spPr>
          <a:xfrm>
            <a:off x="65836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Conmutación de cargas inductivas, cables largos que captan campos, rebotes mecánicos del interruptor, rizado de la fuente y acoplamiento entre pistas paralelas del protoboard.</a:t>
            </a:r>
          </a:p>
        </p:txBody>
      </p:sp>
      <p:sp>
        <p:nvSpPr>
          <p:cNvPr id="21" name="Rounded Rectangle 20"/>
          <p:cNvSpPr/>
          <p:nvPr/>
        </p:nvSpPr>
        <p:spPr>
          <a:xfrm>
            <a:off x="619656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Cómo se combate</a:t>
            </a:r>
          </a:p>
        </p:txBody>
      </p:sp>
      <p:sp>
        <p:nvSpPr>
          <p:cNvPr id="25" name="TextBox 24"/>
          <p:cNvSpPr txBox="1"/>
          <p:nvPr/>
        </p:nvSpPr>
        <p:spPr>
          <a:xfrm>
            <a:off x="637944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Capacitor de desacople de 100 nF junto a cada chip, cables cortos, planos de masa, resistencia pull-up en entradas lentas y separación entre señales de reloj y datos.</a:t>
            </a:r>
          </a:p>
        </p:txBody>
      </p:sp>
      <p:sp>
        <p:nvSpPr>
          <p:cNvPr id="26" name="Rounded Rectangle 25"/>
          <p:cNvSpPr/>
          <p:nvPr/>
        </p:nvSpPr>
        <p:spPr>
          <a:xfrm>
            <a:off x="47548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3488436"/>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3</a:t>
            </a:r>
          </a:p>
        </p:txBody>
      </p:sp>
      <p:sp>
        <p:nvSpPr>
          <p:cNvPr id="29" name="TextBox 28"/>
          <p:cNvSpPr txBox="1"/>
          <p:nvPr/>
        </p:nvSpPr>
        <p:spPr>
          <a:xfrm>
            <a:off x="65836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Rebote de interruptor</a:t>
            </a:r>
          </a:p>
        </p:txBody>
      </p:sp>
      <p:sp>
        <p:nvSpPr>
          <p:cNvPr id="30" name="TextBox 29"/>
          <p:cNvSpPr txBox="1"/>
          <p:nvPr/>
        </p:nvSpPr>
        <p:spPr>
          <a:xfrm>
            <a:off x="65836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pulsador mecánico genera decenas de pulsos en pocos milisegundos. Se elimina con un latch SR (7400), un filtro RC o un circuito antirrebote con 74LS14 (Schmitt trigger).</a:t>
            </a:r>
          </a:p>
        </p:txBody>
      </p:sp>
      <p:sp>
        <p:nvSpPr>
          <p:cNvPr id="31" name="Rounded Rectangle 30"/>
          <p:cNvSpPr/>
          <p:nvPr/>
        </p:nvSpPr>
        <p:spPr>
          <a:xfrm>
            <a:off x="619656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4</a:t>
            </a:r>
          </a:p>
        </p:txBody>
      </p:sp>
      <p:sp>
        <p:nvSpPr>
          <p:cNvPr id="34" name="TextBox 33"/>
          <p:cNvSpPr txBox="1"/>
          <p:nvPr/>
        </p:nvSpPr>
        <p:spPr>
          <a:xfrm>
            <a:off x="637944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Capacidad de entrada</a:t>
            </a:r>
          </a:p>
        </p:txBody>
      </p:sp>
      <p:sp>
        <p:nvSpPr>
          <p:cNvPr id="35" name="TextBox 34"/>
          <p:cNvSpPr txBox="1"/>
          <p:nvPr/>
        </p:nvSpPr>
        <p:spPr>
          <a:xfrm>
            <a:off x="637944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Cada entrada TTL presenta unos pocos picofaradios; en cargas grandes la suma de capacidades redondea los flancos y aumenta el tiempo de conmutación real.</a:t>
            </a:r>
          </a:p>
        </p:txBody>
      </p:sp>
      <p:sp>
        <p:nvSpPr>
          <p:cNvPr id="36" name="Rounded Rectangle 3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39" name="TextBox 3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Cuando una salida debe atacar muchas entradas, el nivel '1' se degrada más que el '0' porque TTL entrega muy poca corriente en alto (IOH ≈ 0.4 mA). Es la razón técnica por la que existe el fan-out.</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14" fill="hold">
                      <p:stCondLst>
                        <p:cond delay="indefinite"/>
                      </p:stCondLst>
                      <p:childTnLst>
                        <p:par>
                          <p:cTn id="115" fill="hold">
                            <p:stCondLst>
                              <p:cond delay="0"/>
                            </p:stCondLst>
                            <p:childTnLst>
                              <p:par>
                                <p:cTn id="113"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childTnLst>
                                </p:cTn>
                              </p:par>
                            </p:childTnLst>
                          </p:cTn>
                        </p:par>
                      </p:childTnLst>
                    </p:cTn>
                  </p:par>
                  <p:par>
                    <p:cTn id="125" fill="hold">
                      <p:stCondLst>
                        <p:cond delay="indefinite"/>
                      </p:stCondLst>
                      <p:childTnLst>
                        <p:par>
                          <p:cTn id="126" fill="hold">
                            <p:stCondLst>
                              <p:cond delay="0"/>
                            </p:stCondLst>
                            <p:childTnLst>
                              <p:par>
                                <p:cTn id="118" fill="hold">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6" dur="420"/>
                                        <p:tgtEl>
                                          <p:spTgt spid="37"/>
                                        </p:tgtEl>
                                      </p:cBhvr>
                                    </p:animEffect>
                                  </p:childTnLst>
                                </p:cTn>
                              </p:par>
                              <p:par>
                                <p:cTn id="121" fill="hold">
                                  <p:stCondLst>
                                    <p:cond delay="11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childTnLst>
                                </p:cTn>
                              </p:par>
                              <p:par>
                                <p:cTn id="124" fill="hold">
                                  <p:stCondLst>
                                    <p:cond delay="22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AND (Chip 7408)</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coincidencia total: solo se activa cuando todas sus entradas lo están.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46132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0E7C94"/>
                </a:solidFill>
                <a:latin typeface="Consolas"/>
              </a:rPr>
              <a:t>74LS08 / 7408</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Positive-AND Gate</a:t>
            </a:r>
          </a:p>
        </p:txBody>
      </p:sp>
      <p:sp>
        <p:nvSpPr>
          <p:cNvPr id="20" name="Oval 19"/>
          <p:cNvSpPr/>
          <p:nvPr/>
        </p:nvSpPr>
        <p:spPr>
          <a:xfrm>
            <a:off x="3959352" y="224942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AND independientes en un DIP-14</a:t>
            </a:r>
          </a:p>
        </p:txBody>
      </p:sp>
      <p:sp>
        <p:nvSpPr>
          <p:cNvPr id="22" name="Oval 21"/>
          <p:cNvSpPr/>
          <p:nvPr/>
        </p:nvSpPr>
        <p:spPr>
          <a:xfrm>
            <a:off x="3959352" y="256526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solo si TODAS las entradas = 1</a:t>
            </a:r>
          </a:p>
        </p:txBody>
      </p:sp>
      <p:sp>
        <p:nvSpPr>
          <p:cNvPr id="24" name="Oval 23"/>
          <p:cNvSpPr/>
          <p:nvPr/>
        </p:nvSpPr>
        <p:spPr>
          <a:xfrm>
            <a:off x="3959352" y="28811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tPD típico 8 ns (74LS) · 10 ns (7400)</a:t>
            </a:r>
          </a:p>
        </p:txBody>
      </p:sp>
      <p:sp>
        <p:nvSpPr>
          <p:cNvPr id="26" name="Oval 25"/>
          <p:cNvSpPr/>
          <p:nvPr/>
        </p:nvSpPr>
        <p:spPr>
          <a:xfrm>
            <a:off x="3959352" y="319694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Aplicación clásica: habilitación de señal</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0E7C9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0E7C94"/>
                </a:solidFill>
                <a:latin typeface="Consolas"/>
              </a:rPr>
              <a:t>Y = A · B   (se lee: A y 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0E7C94"/>
                </a:solidFill>
                <a:latin typeface="Consolas"/>
              </a:rPr>
              <a:t>TABLA DE VERDAD · 7408</a:t>
            </a:r>
          </a:p>
        </p:txBody>
      </p:sp>
      <p:sp>
        <p:nvSpPr>
          <p:cNvPr id="32" name="Rectangle 31"/>
          <p:cNvSpPr/>
          <p:nvPr/>
        </p:nvSpPr>
        <p:spPr>
          <a:xfrm>
            <a:off x="6428232" y="1792224"/>
            <a:ext cx="5129784" cy="292608"/>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La salida permanece en '0' mientras cualquier entrada esté en '0'. Solo la combinación A = 1 con B = 1 eleva la salida a '1'. En la práctica funciona como una compuerta de habilitación: la señal presente en B solo pasa si la entrada de control A está en alto. Equivale a multiplicar bits y a la intersección de condiciones: 'si llueve Y hace frío, enciende la calefacción'.</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Sistemas de seguridad con doble confirmación, habilitadores de reloj (gating), máscaras de bits, inicio de un medio sumador (acarreo), validación de contraseñas y condiciones lógicas múltiples en automatización.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Hoja de pines del 7408 y variantes de AND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Mapa de pines, descripción funcional y datos de la hoja de datos del Quad AND de 2 entradas.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57373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8.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El 7408 contiene cuatro compuertas AND de dos entradas en un encapsulado DIP-14. Los pines 7 y 14 son siempre GND y VCC en los integrados TTL de 14 pines; las cuatro compuertas se distribuyen simétricamente a ambos lados del cuerpo.</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 Nota: la salida 3Y sale en el pin 8 y 4Y en el 11, patrón invertido respecto a las salidas 1Y y 2Y.</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VOH mín 2.7 V (a 0.4 mA) · VOL máx 0.5 V (a 8 mA) · IOH −0.8 mA · IOL 8 mA · tPLH/tPHL 8/12 ns (74LS08) · consumo 11 mW por compuerta · temperatura 0–70 °C.</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Equivalentes en otras subfamilias con el MISMO pinout: 74LS08, 74ALS08, 74F08, 74HC08, 74HCT08. El chip cuádruple puede sustituirse directamente sin rediseñar el circuito; solo cambian velocidad y consumo.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AND en operación: tiempos y montaje</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ve el comportamiento de la compuerta AND en el osciloscopio y en la placa.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68614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and.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7408: la salida Y solo sube cuando A y B están simultáneamente en alto; se aprecia el retardo de propagación tPD.</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6.png"/>
          <p:cNvPicPr>
            <a:picLocks noChangeAspect="1"/>
          </p:cNvPicPr>
          <p:nvPr/>
        </p:nvPicPr>
        <p:blipFill>
          <a:blip r:embed="rId3"/>
          <a:stretch>
            <a:fillRect/>
          </a:stretch>
        </p:blipFill>
        <p:spPr>
          <a:xfrm>
            <a:off x="4139168" y="2057119"/>
            <a:ext cx="3307064" cy="2249985"/>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Encapsulados DIP reales de la familia HCMOS (74HC), la variante CMOS compatible con TTL que hereda la pinout de la serie 74XX.</a:t>
            </a:r>
          </a:p>
        </p:txBody>
      </p:sp>
      <p:sp>
        <p:nvSpPr>
          <p:cNvPr id="22" name="Oval 21"/>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Diagrama de tiempos:</a:t>
            </a:r>
            <a:r>
              <a:rPr sz="1000" b="0">
                <a:solidFill>
                  <a:srgbClr val="2C3E56"/>
                </a:solidFill>
                <a:latin typeface="Segoe UI"/>
              </a:rPr>
              <a:t> A conmuta primero y B después; Y refleja la operación lógica con el retardo tPD.</a:t>
            </a:r>
          </a:p>
        </p:txBody>
      </p:sp>
      <p:sp>
        <p:nvSpPr>
          <p:cNvPr id="24" name="Oval 23"/>
          <p:cNvSpPr/>
          <p:nvPr/>
        </p:nvSpPr>
        <p:spPr>
          <a:xfrm>
            <a:off x="7793705" y="184813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tPLH y tPHL:</a:t>
            </a:r>
            <a:r>
              <a:rPr sz="1050" b="0">
                <a:solidFill>
                  <a:srgbClr val="2C3E56"/>
                </a:solidFill>
                <a:latin typeface="Segoe UI"/>
              </a:rPr>
              <a:t> subida y bajada tienen tiempos ligeramente distintos; en 74LS08 rondan 8 ns y 12 ns.</a:t>
            </a:r>
          </a:p>
        </p:txBody>
      </p:sp>
      <p:sp>
        <p:nvSpPr>
          <p:cNvPr id="26" name="Oval 25"/>
          <p:cNvSpPr/>
          <p:nvPr/>
        </p:nvSpPr>
        <p:spPr>
          <a:xfrm>
            <a:off x="7793705" y="226981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Glitch:</a:t>
            </a:r>
            <a:r>
              <a:rPr sz="1050" b="0">
                <a:solidFill>
                  <a:srgbClr val="2C3E56"/>
                </a:solidFill>
                <a:latin typeface="Segoe UI"/>
              </a:rPr>
              <a:t> si las entradas cambian con diferencia de nanosegundos, la salida puede mostrar un pulso breve no deseado (riesgo o hazard).</a:t>
            </a:r>
          </a:p>
        </p:txBody>
      </p:sp>
      <p:sp>
        <p:nvSpPr>
          <p:cNvPr id="28" name="Oval 27"/>
          <p:cNvSpPr/>
          <p:nvPr/>
        </p:nvSpPr>
        <p:spPr>
          <a:xfrm>
            <a:off x="7793705" y="286575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Montaje:</a:t>
            </a:r>
            <a:r>
              <a:rPr sz="1050" b="0">
                <a:solidFill>
                  <a:srgbClr val="2C3E56"/>
                </a:solidFill>
                <a:latin typeface="Segoe UI"/>
              </a:rPr>
              <a:t> alimentar VCC = 5 V y GND; nunca dejar un pin de entrada al aire.</a:t>
            </a:r>
          </a:p>
        </p:txBody>
      </p:sp>
      <p:sp>
        <p:nvSpPr>
          <p:cNvPr id="30" name="Oval 29"/>
          <p:cNvSpPr/>
          <p:nvPr/>
        </p:nvSpPr>
        <p:spPr>
          <a:xfrm>
            <a:off x="7793705" y="328742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Medición:</a:t>
            </a:r>
            <a:r>
              <a:rPr sz="1050" b="0">
                <a:solidFill>
                  <a:srgbClr val="2C3E56"/>
                </a:solidFill>
                <a:latin typeface="Segoe UI"/>
              </a:rPr>
              <a:t> con LED + resistencia de 330 Ω en la salida se observa el estado lógico sin osciloscopio.</a:t>
            </a:r>
          </a:p>
        </p:txBody>
      </p:sp>
      <p:sp>
        <p:nvSpPr>
          <p:cNvPr id="32" name="Oval 31"/>
          <p:cNvSpPr/>
          <p:nvPr/>
        </p:nvSpPr>
        <p:spPr>
          <a:xfrm>
            <a:off x="7793705" y="37091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aplicar las cuatro combinaciones de la tabla de verdad y comprobar que solo 1-1 produce salida alta.</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Un error frecuente en el laboratorio es confundir el orden de pines: verificar siempre la muesca (pin 1 a su izquierda) y la orientación del chip antes de interpretar cualquier medición.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Lógica positiva y lógica negativa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mismo chip cambia de significado según cómo se defina el nivel activo.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79855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0E7C94"/>
                </a:solidFill>
                <a:latin typeface="Segoe UI Semibold"/>
              </a:rPr>
              <a:t>Lógica positiva (convención normal)</a:t>
            </a:r>
          </a:p>
        </p:txBody>
      </p:sp>
      <p:sp>
        <p:nvSpPr>
          <p:cNvPr id="19" name="Oval 18"/>
          <p:cNvSpPr/>
          <p:nvPr/>
        </p:nvSpPr>
        <p:spPr>
          <a:xfrm>
            <a:off x="685799" y="19751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Nivel alto = '1'</a:t>
            </a:r>
            <a:r>
              <a:rPr sz="1150" b="0">
                <a:solidFill>
                  <a:srgbClr val="2C3E56"/>
                </a:solidFill>
                <a:latin typeface="Segoe UI"/>
              </a:rPr>
              <a:t> (activo), nivel bajo = '0' (inactivo).</a:t>
            </a:r>
          </a:p>
        </p:txBody>
      </p:sp>
      <p:sp>
        <p:nvSpPr>
          <p:cNvPr id="21" name="Oval 20"/>
          <p:cNvSpPr/>
          <p:nvPr/>
        </p:nvSpPr>
        <p:spPr>
          <a:xfrm>
            <a:off x="685799" y="225532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20046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Todas las tablas de verdad de esta guía usan esta convención.</a:t>
            </a:r>
          </a:p>
        </p:txBody>
      </p:sp>
      <p:sp>
        <p:nvSpPr>
          <p:cNvPr id="23" name="Oval 22"/>
          <p:cNvSpPr/>
          <p:nvPr/>
        </p:nvSpPr>
        <p:spPr>
          <a:xfrm>
            <a:off x="685799" y="253554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480685"/>
            <a:ext cx="4925552" cy="197926"/>
          </a:xfrm>
          <a:prstGeom prst="rect">
            <a:avLst/>
          </a:prstGeom>
          <a:noFill/>
        </p:spPr>
        <p:txBody>
          <a:bodyPr wrap="square" lIns="0" rIns="0" tIns="0" bIns="0" anchor="t">
            <a:spAutoFit/>
          </a:bodyPr>
          <a:lstStyle/>
          <a:p>
            <a:pPr algn="l">
              <a:lnSpc>
                <a:spcPct val="112000"/>
              </a:lnSpc>
            </a:pPr>
            <a:r>
              <a:rPr sz="1050" b="0">
                <a:solidFill>
                  <a:srgbClr val="2C3E56"/>
                </a:solidFill>
                <a:latin typeface="Segoe UI"/>
              </a:rPr>
              <a:t>Un LED conectado a la salida enciende cuando la función se cumple.</a:t>
            </a:r>
          </a:p>
        </p:txBody>
      </p:sp>
      <p:sp>
        <p:nvSpPr>
          <p:cNvPr id="25" name="Oval 24"/>
          <p:cNvSpPr/>
          <p:nvPr/>
        </p:nvSpPr>
        <p:spPr>
          <a:xfrm>
            <a:off x="685799" y="281577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2760908"/>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 lee como 'la salida está activa en alto' (active-high).</a:t>
            </a:r>
          </a:p>
        </p:txBody>
      </p:sp>
      <p:sp>
        <p:nvSpPr>
          <p:cNvPr id="27" name="Oval 26"/>
          <p:cNvSpPr/>
          <p:nvPr/>
        </p:nvSpPr>
        <p:spPr>
          <a:xfrm>
            <a:off x="685799" y="309599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041131"/>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Ejemplo: en el 7408, la salida es '1' cuando A·B = 1.</a:t>
            </a:r>
          </a:p>
        </p:txBody>
      </p:sp>
      <p:sp>
        <p:nvSpPr>
          <p:cNvPr id="29" name="Oval 28"/>
          <p:cNvSpPr/>
          <p:nvPr/>
        </p:nvSpPr>
        <p:spPr>
          <a:xfrm>
            <a:off x="685799" y="337621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3321354"/>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Facilita el análisis booleano directo y el uso de álgebra de Boole.</a:t>
            </a:r>
          </a:p>
        </p:txBody>
      </p:sp>
      <p:sp>
        <p:nvSpPr>
          <p:cNvPr id="31" name="Rounded Rectangle 30"/>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C2690A"/>
                </a:solidFill>
                <a:latin typeface="Segoe UI Semibold"/>
              </a:rPr>
              <a:t>Lógica negativa (activo en bajo)</a:t>
            </a:r>
          </a:p>
        </p:txBody>
      </p:sp>
      <p:sp>
        <p:nvSpPr>
          <p:cNvPr id="34" name="Oval 33"/>
          <p:cNvSpPr/>
          <p:nvPr/>
        </p:nvSpPr>
        <p:spPr>
          <a:xfrm>
            <a:off x="6416024" y="197510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Nivel bajo = '1' lógico</a:t>
            </a:r>
            <a:r>
              <a:rPr sz="1150" b="0">
                <a:solidFill>
                  <a:srgbClr val="2C3E56"/>
                </a:solidFill>
                <a:latin typeface="Segoe UI"/>
              </a:rPr>
              <a:t> (activo), convención que ahorra inversores.</a:t>
            </a:r>
          </a:p>
        </p:txBody>
      </p:sp>
      <p:sp>
        <p:nvSpPr>
          <p:cNvPr id="36" name="Oval 35"/>
          <p:cNvSpPr/>
          <p:nvPr/>
        </p:nvSpPr>
        <p:spPr>
          <a:xfrm>
            <a:off x="6416024" y="225532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200462"/>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Señales como OE (output enable), CS (chip select) o RESET son activas en bajo en casi todos los integrados.</a:t>
            </a:r>
          </a:p>
        </p:txBody>
      </p:sp>
      <p:sp>
        <p:nvSpPr>
          <p:cNvPr id="38" name="Oval 37"/>
          <p:cNvSpPr/>
          <p:nvPr/>
        </p:nvSpPr>
        <p:spPr>
          <a:xfrm>
            <a:off x="6416024" y="273347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678612"/>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Permite construir lógica más rápida: TTL 'sume' mejor que 'entrega' corriente.</a:t>
            </a:r>
          </a:p>
        </p:txBody>
      </p:sp>
      <p:sp>
        <p:nvSpPr>
          <p:cNvPr id="40" name="Oval 39"/>
          <p:cNvSpPr/>
          <p:nvPr/>
        </p:nvSpPr>
        <p:spPr>
          <a:xfrm>
            <a:off x="6416024" y="321162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15676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El 74LS47 (display) maneja segmentos activos en bajo.</a:t>
            </a:r>
          </a:p>
        </p:txBody>
      </p:sp>
      <p:sp>
        <p:nvSpPr>
          <p:cNvPr id="42" name="Oval 41"/>
          <p:cNvSpPr/>
          <p:nvPr/>
        </p:nvSpPr>
        <p:spPr>
          <a:xfrm>
            <a:off x="6416024" y="349184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436985"/>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Exige invertir mentalmente la tabla de verdad o usar un inversor (7404).</a:t>
            </a:r>
          </a:p>
        </p:txBody>
      </p:sp>
      <p:sp>
        <p:nvSpPr>
          <p:cNvPr id="44" name="Oval 43"/>
          <p:cNvSpPr/>
          <p:nvPr/>
        </p:nvSpPr>
        <p:spPr>
          <a:xfrm>
            <a:off x="6416024" y="396999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3915135"/>
            <a:ext cx="4925552" cy="197926"/>
          </a:xfrm>
          <a:prstGeom prst="rect">
            <a:avLst/>
          </a:prstGeom>
          <a:noFill/>
        </p:spPr>
        <p:txBody>
          <a:bodyPr wrap="square" lIns="0" rIns="0" tIns="0" bIns="0" anchor="t">
            <a:spAutoFit/>
          </a:bodyPr>
          <a:lstStyle/>
          <a:p>
            <a:pPr algn="l">
              <a:lnSpc>
                <a:spcPct val="112000"/>
              </a:lnSpc>
            </a:pPr>
            <a:r>
              <a:rPr sz="1050" b="0">
                <a:solidFill>
                  <a:srgbClr val="2C3E56"/>
                </a:solidFill>
                <a:latin typeface="Segoe UI"/>
              </a:rPr>
              <a:t>Errores típicos: olvidar el asterisco o la barra sobre el nombre del pin.</a:t>
            </a:r>
          </a:p>
        </p:txBody>
      </p:sp>
      <p:sp>
        <p:nvSpPr>
          <p:cNvPr id="46" name="Rounded Rectangle 4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Truco de taller: cuando un LED conectado a una salida enciende con la lógica invertida, casi siempre el pin es activo en bajo (barra superior en la hoja de datos). Verificar el nombre del pin antes de concluir que el chip está dañado.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fltVal val="0.06"/>
                                          </p:val>
                                        </p:tav>
                                        <p:tav tm="100000">
                                          <p:val>
                                            <p:flt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Álgebra de Boole: postulados y teoremas esenciales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Herramientas para simplificar funciones antes de cablear un circuito.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91096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32671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Nombre</a:t>
            </a:r>
          </a:p>
        </p:txBody>
      </p:sp>
      <p:sp>
        <p:nvSpPr>
          <p:cNvPr id="18" name="TextBox 17"/>
          <p:cNvSpPr txBox="1"/>
          <p:nvPr/>
        </p:nvSpPr>
        <p:spPr>
          <a:xfrm>
            <a:off x="3021658" y="1371600"/>
            <a:ext cx="255153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Forma con AND</a:t>
            </a:r>
          </a:p>
        </p:txBody>
      </p:sp>
      <p:sp>
        <p:nvSpPr>
          <p:cNvPr id="19" name="TextBox 18"/>
          <p:cNvSpPr txBox="1"/>
          <p:nvPr/>
        </p:nvSpPr>
        <p:spPr>
          <a:xfrm>
            <a:off x="5719497" y="1371600"/>
            <a:ext cx="255153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Forma con OR</a:t>
            </a:r>
          </a:p>
        </p:txBody>
      </p:sp>
      <p:sp>
        <p:nvSpPr>
          <p:cNvPr id="20" name="TextBox 19"/>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Utilidad práctica</a:t>
            </a:r>
          </a:p>
        </p:txBody>
      </p:sp>
      <p:sp>
        <p:nvSpPr>
          <p:cNvPr id="21" name="Rectangle 20"/>
          <p:cNvSpPr/>
          <p:nvPr/>
        </p:nvSpPr>
        <p:spPr>
          <a:xfrm>
            <a:off x="475488" y="170078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Identidad</a:t>
            </a:r>
          </a:p>
        </p:txBody>
      </p:sp>
      <p:sp>
        <p:nvSpPr>
          <p:cNvPr id="23" name="TextBox 22"/>
          <p:cNvSpPr txBox="1"/>
          <p:nvPr/>
        </p:nvSpPr>
        <p:spPr>
          <a:xfrm>
            <a:off x="3021658" y="17007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1 = A</a:t>
            </a:r>
          </a:p>
        </p:txBody>
      </p:sp>
      <p:sp>
        <p:nvSpPr>
          <p:cNvPr id="24" name="TextBox 23"/>
          <p:cNvSpPr txBox="1"/>
          <p:nvPr/>
        </p:nvSpPr>
        <p:spPr>
          <a:xfrm>
            <a:off x="5719497" y="17007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+ 0 = A</a:t>
            </a:r>
          </a:p>
        </p:txBody>
      </p:sp>
      <p:sp>
        <p:nvSpPr>
          <p:cNvPr id="25" name="TextBox 24"/>
          <p:cNvSpPr txBox="1"/>
          <p:nvPr/>
        </p:nvSpPr>
        <p:spPr>
          <a:xfrm>
            <a:off x="8417335" y="170078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Elimina términos triviales</a:t>
            </a:r>
          </a:p>
        </p:txBody>
      </p:sp>
      <p:sp>
        <p:nvSpPr>
          <p:cNvPr id="26" name="TextBox 25"/>
          <p:cNvSpPr txBox="1"/>
          <p:nvPr/>
        </p:nvSpPr>
        <p:spPr>
          <a:xfrm>
            <a:off x="548640" y="199034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Elemento nulo</a:t>
            </a:r>
          </a:p>
        </p:txBody>
      </p:sp>
      <p:sp>
        <p:nvSpPr>
          <p:cNvPr id="27" name="TextBox 26"/>
          <p:cNvSpPr txBox="1"/>
          <p:nvPr/>
        </p:nvSpPr>
        <p:spPr>
          <a:xfrm>
            <a:off x="3021658" y="19903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0 = 0</a:t>
            </a:r>
          </a:p>
        </p:txBody>
      </p:sp>
      <p:sp>
        <p:nvSpPr>
          <p:cNvPr id="28" name="TextBox 27"/>
          <p:cNvSpPr txBox="1"/>
          <p:nvPr/>
        </p:nvSpPr>
        <p:spPr>
          <a:xfrm>
            <a:off x="5719497" y="19903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+ 1 = 1</a:t>
            </a:r>
          </a:p>
        </p:txBody>
      </p:sp>
      <p:sp>
        <p:nvSpPr>
          <p:cNvPr id="29" name="TextBox 28"/>
          <p:cNvSpPr txBox="1"/>
          <p:nvPr/>
        </p:nvSpPr>
        <p:spPr>
          <a:xfrm>
            <a:off x="8417335" y="199034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Detecta condiciones imposibles</a:t>
            </a:r>
          </a:p>
        </p:txBody>
      </p:sp>
      <p:sp>
        <p:nvSpPr>
          <p:cNvPr id="30" name="Rectangle 29"/>
          <p:cNvSpPr/>
          <p:nvPr/>
        </p:nvSpPr>
        <p:spPr>
          <a:xfrm>
            <a:off x="475488" y="227990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27990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Idempotencia</a:t>
            </a:r>
          </a:p>
        </p:txBody>
      </p:sp>
      <p:sp>
        <p:nvSpPr>
          <p:cNvPr id="32" name="TextBox 31"/>
          <p:cNvSpPr txBox="1"/>
          <p:nvPr/>
        </p:nvSpPr>
        <p:spPr>
          <a:xfrm>
            <a:off x="3021658" y="22799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 = A</a:t>
            </a:r>
          </a:p>
        </p:txBody>
      </p:sp>
      <p:sp>
        <p:nvSpPr>
          <p:cNvPr id="33" name="TextBox 32"/>
          <p:cNvSpPr txBox="1"/>
          <p:nvPr/>
        </p:nvSpPr>
        <p:spPr>
          <a:xfrm>
            <a:off x="5719497" y="22799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 = A</a:t>
            </a:r>
          </a:p>
        </p:txBody>
      </p:sp>
      <p:sp>
        <p:nvSpPr>
          <p:cNvPr id="34" name="TextBox 33"/>
          <p:cNvSpPr txBox="1"/>
          <p:nvPr/>
        </p:nvSpPr>
        <p:spPr>
          <a:xfrm>
            <a:off x="8417335" y="227990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Reduce compuertas redundantes</a:t>
            </a:r>
          </a:p>
        </p:txBody>
      </p:sp>
      <p:sp>
        <p:nvSpPr>
          <p:cNvPr id="35" name="TextBox 34"/>
          <p:cNvSpPr txBox="1"/>
          <p:nvPr/>
        </p:nvSpPr>
        <p:spPr>
          <a:xfrm>
            <a:off x="548640" y="256946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Complementación</a:t>
            </a:r>
          </a:p>
        </p:txBody>
      </p:sp>
      <p:sp>
        <p:nvSpPr>
          <p:cNvPr id="36" name="TextBox 35"/>
          <p:cNvSpPr txBox="1"/>
          <p:nvPr/>
        </p:nvSpPr>
        <p:spPr>
          <a:xfrm>
            <a:off x="3021658" y="25694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A' = 0</a:t>
            </a:r>
          </a:p>
        </p:txBody>
      </p:sp>
      <p:sp>
        <p:nvSpPr>
          <p:cNvPr id="37" name="TextBox 36"/>
          <p:cNvSpPr txBox="1"/>
          <p:nvPr/>
        </p:nvSpPr>
        <p:spPr>
          <a:xfrm>
            <a:off x="5719497" y="25694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A' = 1</a:t>
            </a:r>
          </a:p>
        </p:txBody>
      </p:sp>
      <p:sp>
        <p:nvSpPr>
          <p:cNvPr id="38" name="TextBox 37"/>
          <p:cNvSpPr txBox="1"/>
          <p:nvPr/>
        </p:nvSpPr>
        <p:spPr>
          <a:xfrm>
            <a:off x="8417335" y="256946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Base del biestable y del reloj</a:t>
            </a:r>
          </a:p>
        </p:txBody>
      </p:sp>
      <p:sp>
        <p:nvSpPr>
          <p:cNvPr id="39" name="Rectangle 38"/>
          <p:cNvSpPr/>
          <p:nvPr/>
        </p:nvSpPr>
        <p:spPr>
          <a:xfrm>
            <a:off x="475488" y="285902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285902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Conmutativa</a:t>
            </a:r>
          </a:p>
        </p:txBody>
      </p:sp>
      <p:sp>
        <p:nvSpPr>
          <p:cNvPr id="41" name="TextBox 40"/>
          <p:cNvSpPr txBox="1"/>
          <p:nvPr/>
        </p:nvSpPr>
        <p:spPr>
          <a:xfrm>
            <a:off x="3021658" y="28590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B · A</a:t>
            </a:r>
          </a:p>
        </p:txBody>
      </p:sp>
      <p:sp>
        <p:nvSpPr>
          <p:cNvPr id="42" name="TextBox 41"/>
          <p:cNvSpPr txBox="1"/>
          <p:nvPr/>
        </p:nvSpPr>
        <p:spPr>
          <a:xfrm>
            <a:off x="5719497" y="28590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B + A</a:t>
            </a:r>
          </a:p>
        </p:txBody>
      </p:sp>
      <p:sp>
        <p:nvSpPr>
          <p:cNvPr id="43" name="TextBox 42"/>
          <p:cNvSpPr txBox="1"/>
          <p:nvPr/>
        </p:nvSpPr>
        <p:spPr>
          <a:xfrm>
            <a:off x="8417335" y="285902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Permite reordenar pines</a:t>
            </a:r>
          </a:p>
        </p:txBody>
      </p:sp>
      <p:sp>
        <p:nvSpPr>
          <p:cNvPr id="44" name="TextBox 43"/>
          <p:cNvSpPr txBox="1"/>
          <p:nvPr/>
        </p:nvSpPr>
        <p:spPr>
          <a:xfrm>
            <a:off x="548640" y="314858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Asociativa</a:t>
            </a:r>
          </a:p>
        </p:txBody>
      </p:sp>
      <p:sp>
        <p:nvSpPr>
          <p:cNvPr id="45" name="TextBox 44"/>
          <p:cNvSpPr txBox="1"/>
          <p:nvPr/>
        </p:nvSpPr>
        <p:spPr>
          <a:xfrm>
            <a:off x="3021658" y="31485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(AB)C = A(BC)</a:t>
            </a:r>
          </a:p>
        </p:txBody>
      </p:sp>
      <p:sp>
        <p:nvSpPr>
          <p:cNvPr id="46" name="TextBox 45"/>
          <p:cNvSpPr txBox="1"/>
          <p:nvPr/>
        </p:nvSpPr>
        <p:spPr>
          <a:xfrm>
            <a:off x="5719497" y="31485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(A+B)+C = A+(B+C)</a:t>
            </a:r>
          </a:p>
        </p:txBody>
      </p:sp>
      <p:sp>
        <p:nvSpPr>
          <p:cNvPr id="47" name="TextBox 46"/>
          <p:cNvSpPr txBox="1"/>
          <p:nvPr/>
        </p:nvSpPr>
        <p:spPr>
          <a:xfrm>
            <a:off x="8417335" y="314858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Encadenar y agrupar</a:t>
            </a:r>
          </a:p>
        </p:txBody>
      </p:sp>
      <p:sp>
        <p:nvSpPr>
          <p:cNvPr id="48" name="Rectangle 47"/>
          <p:cNvSpPr/>
          <p:nvPr/>
        </p:nvSpPr>
        <p:spPr>
          <a:xfrm>
            <a:off x="475488" y="343814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43814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Distributiva</a:t>
            </a:r>
          </a:p>
        </p:txBody>
      </p:sp>
      <p:sp>
        <p:nvSpPr>
          <p:cNvPr id="50" name="TextBox 49"/>
          <p:cNvSpPr txBox="1"/>
          <p:nvPr/>
        </p:nvSpPr>
        <p:spPr>
          <a:xfrm>
            <a:off x="3021658" y="34381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 + C) = AB + AC</a:t>
            </a:r>
          </a:p>
        </p:txBody>
      </p:sp>
      <p:sp>
        <p:nvSpPr>
          <p:cNvPr id="51" name="TextBox 50"/>
          <p:cNvSpPr txBox="1"/>
          <p:nvPr/>
        </p:nvSpPr>
        <p:spPr>
          <a:xfrm>
            <a:off x="5719497" y="34381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BC = (A+B)(A+C)</a:t>
            </a:r>
          </a:p>
        </p:txBody>
      </p:sp>
      <p:sp>
        <p:nvSpPr>
          <p:cNvPr id="52" name="TextBox 51"/>
          <p:cNvSpPr txBox="1"/>
          <p:nvPr/>
        </p:nvSpPr>
        <p:spPr>
          <a:xfrm>
            <a:off x="8417335" y="343814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Factoriza y ahorra chips</a:t>
            </a:r>
          </a:p>
        </p:txBody>
      </p:sp>
      <p:sp>
        <p:nvSpPr>
          <p:cNvPr id="53" name="TextBox 52"/>
          <p:cNvSpPr txBox="1"/>
          <p:nvPr/>
        </p:nvSpPr>
        <p:spPr>
          <a:xfrm>
            <a:off x="548640" y="372770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Absorción</a:t>
            </a:r>
          </a:p>
        </p:txBody>
      </p:sp>
      <p:sp>
        <p:nvSpPr>
          <p:cNvPr id="54" name="TextBox 53"/>
          <p:cNvSpPr txBox="1"/>
          <p:nvPr/>
        </p:nvSpPr>
        <p:spPr>
          <a:xfrm>
            <a:off x="3021658" y="37277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A(A + B) = A</a:t>
            </a:r>
          </a:p>
        </p:txBody>
      </p:sp>
      <p:sp>
        <p:nvSpPr>
          <p:cNvPr id="55" name="TextBox 54"/>
          <p:cNvSpPr txBox="1"/>
          <p:nvPr/>
        </p:nvSpPr>
        <p:spPr>
          <a:xfrm>
            <a:off x="5719497" y="37277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AB = A</a:t>
            </a:r>
          </a:p>
        </p:txBody>
      </p:sp>
      <p:sp>
        <p:nvSpPr>
          <p:cNvPr id="56" name="TextBox 55"/>
          <p:cNvSpPr txBox="1"/>
          <p:nvPr/>
        </p:nvSpPr>
        <p:spPr>
          <a:xfrm>
            <a:off x="8417335" y="372770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Elimina términos absorbidos</a:t>
            </a:r>
          </a:p>
        </p:txBody>
      </p:sp>
      <p:sp>
        <p:nvSpPr>
          <p:cNvPr id="57" name="Rectangle 56"/>
          <p:cNvSpPr/>
          <p:nvPr/>
        </p:nvSpPr>
        <p:spPr>
          <a:xfrm>
            <a:off x="475488" y="401726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8640" y="401726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Redundancia</a:t>
            </a:r>
          </a:p>
        </p:txBody>
      </p:sp>
      <p:sp>
        <p:nvSpPr>
          <p:cNvPr id="59" name="TextBox 58"/>
          <p:cNvSpPr txBox="1"/>
          <p:nvPr/>
        </p:nvSpPr>
        <p:spPr>
          <a:xfrm>
            <a:off x="3021658" y="40172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A'B = A + B</a:t>
            </a:r>
          </a:p>
        </p:txBody>
      </p:sp>
      <p:sp>
        <p:nvSpPr>
          <p:cNvPr id="60" name="TextBox 59"/>
          <p:cNvSpPr txBox="1"/>
          <p:nvPr/>
        </p:nvSpPr>
        <p:spPr>
          <a:xfrm>
            <a:off x="5719497" y="40172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A(A' + B) = AB</a:t>
            </a:r>
          </a:p>
        </p:txBody>
      </p:sp>
      <p:sp>
        <p:nvSpPr>
          <p:cNvPr id="61" name="TextBox 60"/>
          <p:cNvSpPr txBox="1"/>
          <p:nvPr/>
        </p:nvSpPr>
        <p:spPr>
          <a:xfrm>
            <a:off x="8417335" y="401726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Simplificación avanzada</a:t>
            </a:r>
          </a:p>
        </p:txBody>
      </p:sp>
      <p:sp>
        <p:nvSpPr>
          <p:cNvPr id="62" name="TextBox 61"/>
          <p:cNvSpPr txBox="1"/>
          <p:nvPr/>
        </p:nvSpPr>
        <p:spPr>
          <a:xfrm>
            <a:off x="548640" y="430682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Consenso</a:t>
            </a:r>
          </a:p>
        </p:txBody>
      </p:sp>
      <p:sp>
        <p:nvSpPr>
          <p:cNvPr id="63" name="TextBox 62"/>
          <p:cNvSpPr txBox="1"/>
          <p:nvPr/>
        </p:nvSpPr>
        <p:spPr>
          <a:xfrm>
            <a:off x="3021658" y="43068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 + A'C + BC = AB + A'C</a:t>
            </a:r>
          </a:p>
        </p:txBody>
      </p:sp>
      <p:sp>
        <p:nvSpPr>
          <p:cNvPr id="64" name="TextBox 63"/>
          <p:cNvSpPr txBox="1"/>
          <p:nvPr/>
        </p:nvSpPr>
        <p:spPr>
          <a:xfrm>
            <a:off x="5719497" y="43068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65" name="TextBox 64"/>
          <p:cNvSpPr txBox="1"/>
          <p:nvPr/>
        </p:nvSpPr>
        <p:spPr>
          <a:xfrm>
            <a:off x="8417335" y="430682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Elimina términos de consenso</a:t>
            </a:r>
          </a:p>
        </p:txBody>
      </p:sp>
      <p:sp>
        <p:nvSpPr>
          <p:cNvPr id="66" name="Rectangle 65"/>
          <p:cNvSpPr/>
          <p:nvPr/>
        </p:nvSpPr>
        <p:spPr>
          <a:xfrm>
            <a:off x="475488" y="459638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59638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De Morgan 1</a:t>
            </a:r>
          </a:p>
        </p:txBody>
      </p:sp>
      <p:sp>
        <p:nvSpPr>
          <p:cNvPr id="68" name="TextBox 67"/>
          <p:cNvSpPr txBox="1"/>
          <p:nvPr/>
        </p:nvSpPr>
        <p:spPr>
          <a:xfrm>
            <a:off x="3021658" y="45963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A' + B'</a:t>
            </a:r>
          </a:p>
        </p:txBody>
      </p:sp>
      <p:sp>
        <p:nvSpPr>
          <p:cNvPr id="69" name="TextBox 68"/>
          <p:cNvSpPr txBox="1"/>
          <p:nvPr/>
        </p:nvSpPr>
        <p:spPr>
          <a:xfrm>
            <a:off x="5719497" y="45963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70" name="TextBox 69"/>
          <p:cNvSpPr txBox="1"/>
          <p:nvPr/>
        </p:nvSpPr>
        <p:spPr>
          <a:xfrm>
            <a:off x="8417335" y="459638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Convierte AND en OR con NAND</a:t>
            </a:r>
          </a:p>
        </p:txBody>
      </p:sp>
      <p:sp>
        <p:nvSpPr>
          <p:cNvPr id="71" name="TextBox 70"/>
          <p:cNvSpPr txBox="1"/>
          <p:nvPr/>
        </p:nvSpPr>
        <p:spPr>
          <a:xfrm>
            <a:off x="548640" y="488594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De Morgan 2</a:t>
            </a:r>
          </a:p>
        </p:txBody>
      </p:sp>
      <p:sp>
        <p:nvSpPr>
          <p:cNvPr id="72" name="TextBox 71"/>
          <p:cNvSpPr txBox="1"/>
          <p:nvPr/>
        </p:nvSpPr>
        <p:spPr>
          <a:xfrm>
            <a:off x="3021658" y="48859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A' · B'</a:t>
            </a:r>
          </a:p>
        </p:txBody>
      </p:sp>
      <p:sp>
        <p:nvSpPr>
          <p:cNvPr id="73" name="TextBox 72"/>
          <p:cNvSpPr txBox="1"/>
          <p:nvPr/>
        </p:nvSpPr>
        <p:spPr>
          <a:xfrm>
            <a:off x="5719497" y="48859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74" name="TextBox 73"/>
          <p:cNvSpPr txBox="1"/>
          <p:nvPr/>
        </p:nvSpPr>
        <p:spPr>
          <a:xfrm>
            <a:off x="8417335" y="488594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Convierte OR en NOR</a:t>
            </a:r>
          </a:p>
        </p:txBody>
      </p:sp>
      <p:sp>
        <p:nvSpPr>
          <p:cNvPr id="75" name="Rounded Rectangle 74"/>
          <p:cNvSpPr/>
          <p:nvPr/>
        </p:nvSpPr>
        <p:spPr>
          <a:xfrm>
            <a:off x="475488" y="1371600"/>
            <a:ext cx="11240993" cy="3803904"/>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REGLA DE ORO</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 oro: toda función lógica se puede implementar solo con NAND o solo con NOR. Simplificar con Boole no es un ejercicio teórico: cada término eliminado es un circuito integrado menos y menos posibilidades de falla.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24"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25"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26"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27"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28" dur="420"/>
                                        <p:tgtEl>
                                          <p:spTgt spid="20"/>
                                        </p:tgtEl>
                                      </p:cBhvr>
                                    </p:animEffect>
                                  </p:childTnLst>
                                </p:cTn>
                              </p:par>
                            </p:childTnLst>
                          </p:cTn>
                        </p:par>
                      </p:childTnLst>
                    </p:cTn>
                  </p:par>
                  <p:par>
                    <p:cTn id="222" fill="hold">
                      <p:stCondLst>
                        <p:cond delay="indefinite"/>
                      </p:stCondLst>
                      <p:childTnLst>
                        <p:par>
                          <p:cTn id="223"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fade">
                                      <p:cBhvr>
                                        <p:cTn id="210" dur="420"/>
                                        <p:tgtEl>
                                          <p:spTgt spid="76"/>
                                        </p:tgtEl>
                                      </p:cBhvr>
                                    </p:animEffect>
                                  </p:childTnLst>
                                </p:cTn>
                              </p:par>
                              <p:par>
                                <p:cTn id="215" fill="hold">
                                  <p:stCondLst>
                                    <p:cond delay="6050"/>
                                  </p:stCondLst>
                                  <p:childTnLst>
                                    <p:set>
                                      <p:cBhvr>
                                        <p:cTn id="214" dur="1" fill="hold">
                                          <p:stCondLst>
                                            <p:cond delay="0"/>
                                          </p:stCondLst>
                                        </p:cTn>
                                        <p:tgtEl>
                                          <p:spTgt spid="77"/>
                                        </p:tgtEl>
                                        <p:attrNameLst>
                                          <p:attrName>style.visibility</p:attrName>
                                        </p:attrNameLst>
                                      </p:cBhvr>
                                      <p:to>
                                        <p:strVal val="visible"/>
                                      </p:to>
                                    </p:set>
                                    <p:animEffect transition="in" filter="fade">
                                      <p:cBhvr>
                                        <p:cTn id="213" dur="420"/>
                                        <p:tgtEl>
                                          <p:spTgt spid="77"/>
                                        </p:tgtEl>
                                      </p:cBhvr>
                                    </p:animEffect>
                                  </p:childTnLst>
                                </p:cTn>
                              </p:par>
                              <p:par>
                                <p:cTn id="218" fill="hold">
                                  <p:stCondLst>
                                    <p:cond delay="6160"/>
                                  </p:stCondLst>
                                  <p:childTnLst>
                                    <p:set>
                                      <p:cBhvr>
                                        <p:cTn id="217" dur="1" fill="hold">
                                          <p:stCondLst>
                                            <p:cond delay="0"/>
                                          </p:stCondLst>
                                        </p:cTn>
                                        <p:tgtEl>
                                          <p:spTgt spid="78"/>
                                        </p:tgtEl>
                                        <p:attrNameLst>
                                          <p:attrName>style.visibility</p:attrName>
                                        </p:attrNameLst>
                                      </p:cBhvr>
                                      <p:to>
                                        <p:strVal val="visible"/>
                                      </p:to>
                                    </p:set>
                                    <p:animEffect transition="in" filter="fade">
                                      <p:cBhvr>
                                        <p:cTn id="216" dur="420"/>
                                        <p:tgtEl>
                                          <p:spTgt spid="78"/>
                                        </p:tgtEl>
                                      </p:cBhvr>
                                    </p:animEffect>
                                  </p:childTnLst>
                                </p:cTn>
                              </p:par>
                              <p:par>
                                <p:cTn id="221" fill="hold">
                                  <p:stCondLst>
                                    <p:cond delay="6270"/>
                                  </p:stCondLst>
                                  <p:childTnLst>
                                    <p:set>
                                      <p:cBhvr>
                                        <p:cTn id="220" dur="1" fill="hold">
                                          <p:stCondLst>
                                            <p:cond delay="0"/>
                                          </p:stCondLst>
                                        </p:cTn>
                                        <p:tgtEl>
                                          <p:spTgt spid="79"/>
                                        </p:tgtEl>
                                        <p:attrNameLst>
                                          <p:attrName>style.visibility</p:attrName>
                                        </p:attrNameLst>
                                      </p:cBhvr>
                                      <p:to>
                                        <p:strVal val="visible"/>
                                      </p:to>
                                    </p:set>
                                    <p:animEffect transition="in" filter="fade">
                                      <p:cBhvr>
                                        <p:cTn id="219" dur="42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Leyes de De Morgan explicadas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Las dos identidades que permiten transformar circuitos completos sin cambiar su función.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02337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_morgan.png"/>
          <p:cNvPicPr>
            <a:picLocks noChangeAspect="1"/>
          </p:cNvPicPr>
          <p:nvPr/>
        </p:nvPicPr>
        <p:blipFill>
          <a:blip r:embed="rId2"/>
          <a:srcRect l="9875" r="9875"/>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Formas equivalentes: el complemento de un producto es la suma de los complementos, y el complemento de una suma es el producto de los complementos.</a:t>
            </a:r>
          </a:p>
        </p:txBody>
      </p:sp>
      <p:sp>
        <p:nvSpPr>
          <p:cNvPr id="19" name="Oval 18"/>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Primera ley:</a:t>
            </a:r>
            <a:r>
              <a:rPr sz="1050" b="0">
                <a:solidFill>
                  <a:srgbClr val="2C3E56"/>
                </a:solidFill>
                <a:latin typeface="Segoe UI"/>
              </a:rPr>
              <a:t> (A · B)' = A' + B'. Un NAND equivale a un OR con las entradas invertidas.</a:t>
            </a:r>
          </a:p>
        </p:txBody>
      </p:sp>
      <p:sp>
        <p:nvSpPr>
          <p:cNvPr id="21" name="Oval 20"/>
          <p:cNvSpPr/>
          <p:nvPr/>
        </p:nvSpPr>
        <p:spPr>
          <a:xfrm>
            <a:off x="7793705" y="184813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Segunda ley:</a:t>
            </a:r>
            <a:r>
              <a:rPr sz="1050" b="0">
                <a:solidFill>
                  <a:srgbClr val="2C3E56"/>
                </a:solidFill>
                <a:latin typeface="Segoe UI"/>
              </a:rPr>
              <a:t> (A + B)' = A' · B'. Un NOR equivale a un AND con las entradas invertidas.</a:t>
            </a:r>
          </a:p>
        </p:txBody>
      </p:sp>
      <p:sp>
        <p:nvSpPr>
          <p:cNvPr id="23" name="Oval 22"/>
          <p:cNvSpPr/>
          <p:nvPr/>
        </p:nvSpPr>
        <p:spPr>
          <a:xfrm>
            <a:off x="7793705" y="2269815"/>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1:</a:t>
            </a:r>
            <a:r>
              <a:rPr sz="1050" b="0">
                <a:solidFill>
                  <a:srgbClr val="2C3E56"/>
                </a:solidFill>
                <a:latin typeface="Segoe UI"/>
              </a:rPr>
              <a:t> convertir un diseño de NAND a NOR sin cambiar la función lógica, solo redistribuyendo inversiones.</a:t>
            </a:r>
          </a:p>
        </p:txBody>
      </p:sp>
      <p:sp>
        <p:nvSpPr>
          <p:cNvPr id="25" name="Oval 24"/>
          <p:cNvSpPr/>
          <p:nvPr/>
        </p:nvSpPr>
        <p:spPr>
          <a:xfrm>
            <a:off x="7793705" y="286575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2:</a:t>
            </a:r>
            <a:r>
              <a:rPr sz="1050" b="0">
                <a:solidFill>
                  <a:srgbClr val="2C3E56"/>
                </a:solidFill>
                <a:latin typeface="Segoe UI"/>
              </a:rPr>
              <a:t> aprovechar compuertas de sobra. Si quedan NAND libres en un chip, con ellas se puede construir el OR que falta.</a:t>
            </a:r>
          </a:p>
        </p:txBody>
      </p:sp>
      <p:sp>
        <p:nvSpPr>
          <p:cNvPr id="27" name="Oval 26"/>
          <p:cNvSpPr/>
          <p:nvPr/>
        </p:nvSpPr>
        <p:spPr>
          <a:xfrm>
            <a:off x="7793705" y="346168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3:</a:t>
            </a:r>
            <a:r>
              <a:rPr sz="1050" b="0">
                <a:solidFill>
                  <a:srgbClr val="2C3E56"/>
                </a:solidFill>
                <a:latin typeface="Segoe UI"/>
              </a:rPr>
              <a:t> leer un diagrama con burbujas. Una burbuja en la salida de un símbolo se puede 'empujar' a las entradas cambiando AND por OR.</a:t>
            </a:r>
          </a:p>
        </p:txBody>
      </p:sp>
      <p:sp>
        <p:nvSpPr>
          <p:cNvPr id="29" name="Oval 28"/>
          <p:cNvSpPr/>
          <p:nvPr/>
        </p:nvSpPr>
        <p:spPr>
          <a:xfrm>
            <a:off x="7793705" y="405762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sustituir A = 0, B = 1 en ambas expresiones y comprobar que dan el mismo resultado (0 y 0).</a:t>
            </a:r>
          </a:p>
        </p:txBody>
      </p:sp>
      <p:sp>
        <p:nvSpPr>
          <p:cNvPr id="31" name="Rounded Rectangle 30"/>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34" name="TextBox 33"/>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Ejercicio guiado: simplificar Y = (A + B)(B + C)(B + C'). Solución: por distributiva y absorción, Y = B + AC. Se eliminan dos compuertas y un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66" fill="hold">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childTnLst>
                                </p:cTn>
                              </p:par>
                            </p:childTnLst>
                          </p:cTn>
                        </p:par>
                      </p:childTnLst>
                    </p:cTn>
                  </p:par>
                  <p:par>
                    <p:cTn id="78" fill="hold">
                      <p:stCondLst>
                        <p:cond delay="indefinite"/>
                      </p:stCondLst>
                      <p:childTnLst>
                        <p:par>
                          <p:cTn id="79" fill="hold">
                            <p:stCondLst>
                              <p:cond delay="0"/>
                            </p:stCondLst>
                            <p:childTnLst>
                              <p:par>
                                <p:cTn id="71" fill="hold">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childTnLst>
                                </p:cTn>
                              </p:par>
                              <p:par>
                                <p:cTn id="74" fill="hold">
                                  <p:stCondLst>
                                    <p:cond delay="110"/>
                                  </p:stCondLst>
                                  <p:childTnLst>
                                    <p:set>
                                      <p:cBhvr>
                                        <p:cTn id="73" dur="1" fill="hold">
                                          <p:stCondLst>
                                            <p:cond delay="0"/>
                                          </p:stCondLst>
                                        </p:cTn>
                                        <p:tgtEl>
                                          <p:spTgt spid="33"/>
                                        </p:tgtEl>
                                        <p:attrNameLst>
                                          <p:attrName>style.visibility</p:attrName>
                                        </p:attrNameLst>
                                      </p:cBhvr>
                                      <p:to>
                                        <p:strVal val="visible"/>
                                      </p:to>
                                    </p:set>
                                    <p:animEffect transition="in" filter="fade">
                                      <p:cBhvr>
                                        <p:cTn id="72" dur="420"/>
                                        <p:tgtEl>
                                          <p:spTgt spid="33"/>
                                        </p:tgtEl>
                                      </p:cBhvr>
                                    </p:animEffect>
                                  </p:childTnLst>
                                </p:cTn>
                              </p:par>
                              <p:par>
                                <p:cTn id="77" fill="hold">
                                  <p:stCondLst>
                                    <p:cond delay="22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Mapas de Karnaugh: simplificación visual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método gráfico que permite agrupar unos y obtener la expresión mínima.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13578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kmap.png"/>
          <p:cNvPicPr>
            <a:picLocks noChangeAspect="1"/>
          </p:cNvPicPr>
          <p:nvPr/>
        </p:nvPicPr>
        <p:blipFill>
          <a:blip r:embed="rId2"/>
          <a:srcRect t="10250" b="10250"/>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Mapa de 4 variables con dos agrupamientos: un grupo de cuatro unos (elimina dos variables) y uno de dos unos (elimina una variable).</a:t>
            </a:r>
          </a:p>
        </p:txBody>
      </p:sp>
      <p:sp>
        <p:nvSpPr>
          <p:cNvPr id="19" name="Oval 18"/>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1:</a:t>
            </a:r>
            <a:r>
              <a:rPr sz="1000" b="0">
                <a:solidFill>
                  <a:srgbClr val="2C3E56"/>
                </a:solidFill>
                <a:latin typeface="Segoe UI"/>
              </a:rPr>
              <a:t> se agrupan '1' en rectángulos de tamaño 1, 2, 4, 8, 16… siempre potencias de dos.</a:t>
            </a:r>
          </a:p>
        </p:txBody>
      </p:sp>
      <p:sp>
        <p:nvSpPr>
          <p:cNvPr id="21" name="Oval 20"/>
          <p:cNvSpPr/>
          <p:nvPr/>
        </p:nvSpPr>
        <p:spPr>
          <a:xfrm>
            <a:off x="7793705" y="18205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65675"/>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2:</a:t>
            </a:r>
            <a:r>
              <a:rPr sz="1000" b="0">
                <a:solidFill>
                  <a:srgbClr val="2C3E56"/>
                </a:solidFill>
                <a:latin typeface="Segoe UI"/>
              </a:rPr>
              <a:t> los grupos pueden solaparse y pueden dar vuelta por los bordes del mapa (es un cilindro, no una cuadrícula plana).</a:t>
            </a:r>
          </a:p>
        </p:txBody>
      </p:sp>
      <p:sp>
        <p:nvSpPr>
          <p:cNvPr id="23" name="Oval 22"/>
          <p:cNvSpPr/>
          <p:nvPr/>
        </p:nvSpPr>
        <p:spPr>
          <a:xfrm>
            <a:off x="7793705" y="237873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23871"/>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3:</a:t>
            </a:r>
            <a:r>
              <a:rPr sz="1000" b="0">
                <a:solidFill>
                  <a:srgbClr val="2C3E56"/>
                </a:solidFill>
                <a:latin typeface="Segoe UI"/>
              </a:rPr>
              <a:t> dentro de cada grupo se eliminan las variables que cambian de valor y se conservan las que permanecen constantes.</a:t>
            </a:r>
          </a:p>
        </p:txBody>
      </p:sp>
      <p:sp>
        <p:nvSpPr>
          <p:cNvPr id="25" name="Oval 24"/>
          <p:cNvSpPr/>
          <p:nvPr/>
        </p:nvSpPr>
        <p:spPr>
          <a:xfrm>
            <a:off x="7793705" y="2936930"/>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82066"/>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4:</a:t>
            </a:r>
            <a:r>
              <a:rPr sz="1000" b="0">
                <a:solidFill>
                  <a:srgbClr val="2C3E56"/>
                </a:solidFill>
                <a:latin typeface="Segoe UI"/>
              </a:rPr>
              <a:t> se buscan los grupos más grandes posibles con el menor número de grupos; luego se convierten en suma de productos (SOP).</a:t>
            </a:r>
          </a:p>
        </p:txBody>
      </p:sp>
      <p:sp>
        <p:nvSpPr>
          <p:cNvPr id="27" name="Oval 26"/>
          <p:cNvSpPr/>
          <p:nvPr/>
        </p:nvSpPr>
        <p:spPr>
          <a:xfrm>
            <a:off x="7793705" y="349512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40262"/>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5:</a:t>
            </a:r>
            <a:r>
              <a:rPr sz="1000" b="0">
                <a:solidFill>
                  <a:srgbClr val="2C3E56"/>
                </a:solidFill>
                <a:latin typeface="Segoe UI"/>
              </a:rPr>
              <a:t> los ceros también sirven: agrupándolos se obtiene el producto de sumas (POS).</a:t>
            </a:r>
          </a:p>
        </p:txBody>
      </p:sp>
      <p:sp>
        <p:nvSpPr>
          <p:cNvPr id="29" name="Oval 28"/>
          <p:cNvSpPr/>
          <p:nvPr/>
        </p:nvSpPr>
        <p:spPr>
          <a:xfrm>
            <a:off x="7793705" y="388920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34338"/>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Ejemplo del gráfico:</a:t>
            </a:r>
            <a:r>
              <a:rPr sz="1000" b="0">
                <a:solidFill>
                  <a:srgbClr val="2C3E56"/>
                </a:solidFill>
                <a:latin typeface="Segoe UI"/>
              </a:rPr>
              <a:t> el grupo verde de cuatro unos equivale a eliminar dos variables; el naranja de dos, una.</a:t>
            </a:r>
          </a:p>
        </p:txBody>
      </p:sp>
      <p:sp>
        <p:nvSpPr>
          <p:cNvPr id="31" name="Oval 30"/>
          <p:cNvSpPr/>
          <p:nvPr/>
        </p:nvSpPr>
        <p:spPr>
          <a:xfrm>
            <a:off x="7793705" y="4283278"/>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228414"/>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Para 5 o 6 variables</a:t>
            </a:r>
            <a:r>
              <a:rPr sz="1000" b="0">
                <a:solidFill>
                  <a:srgbClr val="2C3E56"/>
                </a:solidFill>
                <a:latin typeface="Segoe UI"/>
              </a:rPr>
              <a:t> existen mapas de doble plano y métodos tabulares (Quine-McCluskey) cuando la función es muy grande.</a:t>
            </a:r>
          </a:p>
        </p:txBody>
      </p:sp>
      <p:sp>
        <p:nvSpPr>
          <p:cNvPr id="33" name="Oval 32"/>
          <p:cNvSpPr/>
          <p:nvPr/>
        </p:nvSpPr>
        <p:spPr>
          <a:xfrm>
            <a:off x="7793705" y="484147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786609"/>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Verificación final:</a:t>
            </a:r>
            <a:r>
              <a:rPr sz="1000" b="0">
                <a:solidFill>
                  <a:srgbClr val="2C3E56"/>
                </a:solidFill>
                <a:latin typeface="Segoe UI"/>
              </a:rPr>
              <a:t> probar la expresión simplificada con las filas de la tabla de verdad original.</a:t>
            </a:r>
          </a:p>
        </p:txBody>
      </p:sp>
      <p:sp>
        <p:nvSpPr>
          <p:cNvPr id="35" name="Rounded Rectangle 34"/>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Los mapas de Karnaugh son secuenciales en el papel y se pueden programar: en el laboratorio se usa el mapa mentalmente para decidir cuántos chips de la Serie 74XX se necesitan realmente.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fltVal val="0.06"/>
                                          </p:val>
                                        </p:tav>
                                        <p:tav tm="100000">
                                          <p:val>
                                            <p:flt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Formas canónicas y síntesis de funciones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De la tabla de verdad a la lista de compuertas, sin ambigüedad.</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24819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m</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Minitérmino</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Producto AND en el que cada variable aparece una vez (directa o negada) y que vale 1 en exactamente una fila de la tabla. Notación: m3 = A'BC.</a:t>
            </a:r>
          </a:p>
        </p:txBody>
      </p:sp>
      <p:sp>
        <p:nvSpPr>
          <p:cNvPr id="21" name="Rounded Rectangle 20"/>
          <p:cNvSpPr/>
          <p:nvPr/>
        </p:nvSpPr>
        <p:spPr>
          <a:xfrm>
            <a:off x="4289541"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Σm</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Suma de productos (SOP)</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OR de todos los minitérminos que producen 1. Es la forma natural de leer una tabla de verdad fila por fila.</a:t>
            </a:r>
          </a:p>
        </p:txBody>
      </p:sp>
      <p:sp>
        <p:nvSpPr>
          <p:cNvPr id="26" name="Rounded Rectangle 25"/>
          <p:cNvSpPr/>
          <p:nvPr/>
        </p:nvSpPr>
        <p:spPr>
          <a:xfrm>
            <a:off x="8103595"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M</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Maxitérmino</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Suma OR con una variable por término, que vale 0 en exactamente una fila. Notación: M2 = A + B' + C.</a:t>
            </a:r>
          </a:p>
        </p:txBody>
      </p:sp>
      <p:sp>
        <p:nvSpPr>
          <p:cNvPr id="31" name="Rounded Rectangle 30"/>
          <p:cNvSpPr/>
          <p:nvPr/>
        </p:nvSpPr>
        <p:spPr>
          <a:xfrm>
            <a:off x="475488"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ΠM</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Producto de sumas (POS)</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AND de los maxitérminos que producen 0. Suele dar menos compuertas cuando la tabla tiene pocos ceros.</a:t>
            </a:r>
          </a:p>
        </p:txBody>
      </p:sp>
      <p:sp>
        <p:nvSpPr>
          <p:cNvPr id="36" name="Rounded Rectangle 35"/>
          <p:cNvSpPr/>
          <p:nvPr/>
        </p:nvSpPr>
        <p:spPr>
          <a:xfrm>
            <a:off x="4289541"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3 niveles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SOP con NAND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Cualquier SOP se implementa con dos niveles de NAND más inversores en las variables negadas. Es la ruta típica con chips 7400.</a:t>
            </a:r>
          </a:p>
        </p:txBody>
      </p:sp>
      <p:sp>
        <p:nvSpPr>
          <p:cNvPr id="41" name="Rounded Rectangle 40"/>
          <p:cNvSpPr/>
          <p:nvPr/>
        </p:nvSpPr>
        <p:spPr>
          <a:xfrm>
            <a:off x="8103595"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3 niveles</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POS con NOR</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Cualquier POS se implementa con NOR en dos niveles (Al aplicar De Morgan). Útil cuando el tablero tiene chips 7402 disponibles.</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Secuencia de diseño: enunciado → tabla de verdad → minitérminos → simplificación (Boole o Karnaugh) → compuertas disponibles → lista de chips → montaje. Nunca se debe empezar por el montaje.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21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236060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C2690A"/>
                </a:solidFill>
                <a:latin typeface="Consolas"/>
              </a:rPr>
              <a:t>02</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Compuertas lógicas y chips 74XX</a:t>
            </a:r>
          </a:p>
        </p:txBody>
      </p:sp>
      <p:sp>
        <p:nvSpPr>
          <p:cNvPr id="15" name="Rectangle 14"/>
          <p:cNvSpPr/>
          <p:nvPr/>
        </p:nvSpPr>
        <p:spPr>
          <a:xfrm>
            <a:off x="475488" y="4370832"/>
            <a:ext cx="1645920" cy="457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gates.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Símbolo ANSI, expresión booleana y tabla de verdad de cada compuerta</a:t>
            </a:r>
          </a:p>
        </p:txBody>
      </p:sp>
      <p:sp>
        <p:nvSpPr>
          <p:cNvPr id="19" name="Oval 18"/>
          <p:cNvSpPr/>
          <p:nvPr/>
        </p:nvSpPr>
        <p:spPr>
          <a:xfrm>
            <a:off x="502919" y="491300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Chip comercial que la implementa: 7408, 7432, 7404, 7400, 7402, 7486 y 74266</a:t>
            </a:r>
          </a:p>
        </p:txBody>
      </p:sp>
      <p:sp>
        <p:nvSpPr>
          <p:cNvPr id="21" name="Oval 20"/>
          <p:cNvSpPr/>
          <p:nvPr/>
        </p:nvSpPr>
        <p:spPr>
          <a:xfrm>
            <a:off x="502919" y="515342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Distribución de pines (pinout) y función de cada patita del DIP-14</a:t>
            </a:r>
          </a:p>
        </p:txBody>
      </p:sp>
      <p:sp>
        <p:nvSpPr>
          <p:cNvPr id="23" name="Oval 22"/>
          <p:cNvSpPr/>
          <p:nvPr/>
        </p:nvSpPr>
        <p:spPr>
          <a:xfrm>
            <a:off x="502919" y="539384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Diagramas de tiempo: retardo tPD, flancos y glitches</a:t>
            </a:r>
          </a:p>
        </p:txBody>
      </p:sp>
      <p:sp>
        <p:nvSpPr>
          <p:cNvPr id="25" name="Oval 24"/>
          <p:cNvSpPr/>
          <p:nvPr/>
        </p:nvSpPr>
        <p:spPr>
          <a:xfrm>
            <a:off x="502919" y="563426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Aplicaciones típicas y equivalencias entre subfamilias del mismo número</a:t>
            </a:r>
          </a:p>
        </p:txBody>
      </p:sp>
      <p:sp>
        <p:nvSpPr>
          <p:cNvPr id="27" name="Oval 26"/>
          <p:cNvSpPr/>
          <p:nvPr/>
        </p:nvSpPr>
        <p:spPr>
          <a:xfrm>
            <a:off x="502919" y="587468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Compuertas universales: cómo construir cualquier función con solo NAND o solo NOR</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OR (Chip 7432)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suma lógica: basta una entrada activa para activar la salida.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47301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C2690A"/>
                </a:solidFill>
                <a:latin typeface="Consolas"/>
              </a:rPr>
              <a:t>74LS32 / 7432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Positive-OR Gate</a:t>
            </a:r>
          </a:p>
        </p:txBody>
      </p:sp>
      <p:sp>
        <p:nvSpPr>
          <p:cNvPr id="20" name="Oval 19"/>
          <p:cNvSpPr/>
          <p:nvPr/>
        </p:nvSpPr>
        <p:spPr>
          <a:xfrm>
            <a:off x="3959352" y="224942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OR independientes en un DIP-14</a:t>
            </a:r>
          </a:p>
        </p:txBody>
      </p:sp>
      <p:sp>
        <p:nvSpPr>
          <p:cNvPr id="22" name="Oval 21"/>
          <p:cNvSpPr/>
          <p:nvPr/>
        </p:nvSpPr>
        <p:spPr>
          <a:xfrm>
            <a:off x="3959352" y="256526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si AL MENOS UNA entrada = 1</a:t>
            </a:r>
          </a:p>
        </p:txBody>
      </p:sp>
      <p:sp>
        <p:nvSpPr>
          <p:cNvPr id="24" name="Oval 23"/>
          <p:cNvSpPr/>
          <p:nvPr/>
        </p:nvSpPr>
        <p:spPr>
          <a:xfrm>
            <a:off x="3959352" y="28811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tPD típico 10 ns (74LS) · 14 ns (7400)</a:t>
            </a:r>
          </a:p>
        </p:txBody>
      </p:sp>
      <p:sp>
        <p:nvSpPr>
          <p:cNvPr id="26" name="Oval 25"/>
          <p:cNvSpPr/>
          <p:nvPr/>
        </p:nvSpPr>
        <p:spPr>
          <a:xfrm>
            <a:off x="3959352" y="319694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Se usa en alarmas y condiciones 'o'</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C2690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C2690A"/>
                </a:solidFill>
                <a:latin typeface="Consolas"/>
              </a:rPr>
              <a:t>Y = A + B   (se lee: A o 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C2690A"/>
                </a:solidFill>
                <a:latin typeface="Consolas"/>
              </a:rPr>
              <a:t>TABLA DE VERDAD · 7432</a:t>
            </a:r>
          </a:p>
        </p:txBody>
      </p:sp>
      <p:sp>
        <p:nvSpPr>
          <p:cNvPr id="32" name="Rectangle 31"/>
          <p:cNvSpPr/>
          <p:nvPr/>
        </p:nvSpPr>
        <p:spPr>
          <a:xfrm>
            <a:off x="6428232" y="1792224"/>
            <a:ext cx="5129784" cy="292608"/>
          </a:xfrm>
          <a:prstGeom prst="rect">
            <a:avLst/>
          </a:prstGeom>
          <a:solidFill>
            <a:srgbClr val="C2690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La salida baja a '0' únicamente cuando ambas entradas están en '0'. Cualquier entrada en alto la mantiene en '1'. Representa la unión de condiciones: 'si el sensor A o el sensor B detectan movimiento, suena la alarma'. También se usa como suma en álgebra de Boole y como OR de bits en máscaras.</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Alarmas multisensor, mezcla de señales de reloj de dos fuentes, unión de interrupciones, detección de cualquier falla (OR de banderas de error), arranque con dos botones alternativos y etapas finales de un comparador.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7432 y alternativas 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Distribución de pines idéntica a la del 7408, aunque la función es la suma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58542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32.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Cuádruple compuerta OR de dos entradas, tecnología TTL original y disponible en las subfamilias LS, ALS, F, HC y HCT. Conserva el mismo mapa de pines que el 7408, por lo que ambos son intercambiables físicamente, no funcionalmente.</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 Igual que en el 7408, las salidas 3 y 4 quedan en los pines 8 y 11.</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VOH mín 2.7 V · VOL máx 0.5 V · IOL 8 mA · tPD 10/15 ns (74LS32) · consumo típico 11 mW por compuerta · corriente de entrada 20 µA en alto, 0.4 mA en bajo.</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Sustitución directa: 74LS32 ↔ 74ALS32 ↔ 74F32 ↔ 74HC32 ↔ 74HCT32. Si el circuito está hecho con el 74HC32 y se cambia a 74LS32, hay que verificar las corrientes de entrada porque las familias LS cargan más la señal que las HC.</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OR en operación: tiempos y comportamiento real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ve la suma lógica en el osciloscopio y qué cuidar al montarla.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69783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7432: la salida Y sube con cualquier entrada alta y solo cae cuando ambas entradas bajan.</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32.png"/>
          <p:cNvPicPr>
            <a:picLocks noChangeAspect="1"/>
          </p:cNvPicPr>
          <p:nvPr/>
        </p:nvPicPr>
        <p:blipFill>
          <a:blip r:embed="rId3"/>
          <a:srcRect l="10725" r="10725"/>
          <a:stretch>
            <a:fillRect/>
          </a:stretch>
        </p:blipFill>
        <p:spPr>
          <a:xfrm>
            <a:off x="4139168" y="1435608"/>
            <a:ext cx="3307064" cy="349300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Mapa de pines del 7432: cuatro compuertas OR independientes con VCC en el pin 14 y GND en el pin 7.</a:t>
            </a:r>
          </a:p>
        </p:txBody>
      </p:sp>
      <p:sp>
        <p:nvSpPr>
          <p:cNvPr id="22" name="Oval 21"/>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Forma de onda:</a:t>
            </a:r>
            <a:r>
              <a:rPr sz="1050" b="0">
                <a:solidFill>
                  <a:srgbClr val="2C3E56"/>
                </a:solidFill>
                <a:latin typeface="Segoe UI"/>
              </a:rPr>
              <a:t> Y = 0 solo en el primer tramo, cuando A = B = 0; en el resto permanece alta.</a:t>
            </a:r>
          </a:p>
        </p:txBody>
      </p:sp>
      <p:sp>
        <p:nvSpPr>
          <p:cNvPr id="24" name="Oval 23"/>
          <p:cNvSpPr/>
          <p:nvPr/>
        </p:nvSpPr>
        <p:spPr>
          <a:xfrm>
            <a:off x="7793705" y="18481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Transición dominante:</a:t>
            </a:r>
            <a:r>
              <a:rPr sz="1050" b="0">
                <a:solidFill>
                  <a:srgbClr val="2C3E56"/>
                </a:solidFill>
                <a:latin typeface="Segoe UI"/>
              </a:rPr>
              <a:t> cualquier flanco de subida en A o en B produce una transición en Y (tPLH).</a:t>
            </a:r>
          </a:p>
        </p:txBody>
      </p:sp>
      <p:sp>
        <p:nvSpPr>
          <p:cNvPr id="26" name="Oval 25"/>
          <p:cNvSpPr/>
          <p:nvPr/>
        </p:nvSpPr>
        <p:spPr>
          <a:xfrm>
            <a:off x="7793705" y="226981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Cuidado con el glitch:</a:t>
            </a:r>
            <a:r>
              <a:rPr sz="1050" b="0">
                <a:solidFill>
                  <a:srgbClr val="2C3E56"/>
                </a:solidFill>
                <a:latin typeface="Segoe UI"/>
              </a:rPr>
              <a:t> al cambiar ambas entradas casi al mismo tiempo se generan pulsos estrechos de duración tPD.</a:t>
            </a:r>
          </a:p>
        </p:txBody>
      </p:sp>
      <p:sp>
        <p:nvSpPr>
          <p:cNvPr id="28" name="Oval 27"/>
          <p:cNvSpPr/>
          <p:nvPr/>
        </p:nvSpPr>
        <p:spPr>
          <a:xfrm>
            <a:off x="7793705" y="286575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Práctica sugerida:</a:t>
            </a:r>
            <a:r>
              <a:rPr sz="1050" b="0">
                <a:solidFill>
                  <a:srgbClr val="2C3E56"/>
                </a:solidFill>
                <a:latin typeface="Segoe UI"/>
              </a:rPr>
              <a:t> aplicar dos señales de reloj de distintas frecuencias y observar la suma lógica en el osciloscopio.</a:t>
            </a:r>
          </a:p>
        </p:txBody>
      </p:sp>
      <p:sp>
        <p:nvSpPr>
          <p:cNvPr id="30" name="Oval 29"/>
          <p:cNvSpPr/>
          <p:nvPr/>
        </p:nvSpPr>
        <p:spPr>
          <a:xfrm>
            <a:off x="7793705" y="346168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inmediata:</a:t>
            </a:r>
            <a:r>
              <a:rPr sz="1050" b="0">
                <a:solidFill>
                  <a:srgbClr val="2C3E56"/>
                </a:solidFill>
                <a:latin typeface="Segoe UI"/>
              </a:rPr>
              <a:t> OR de dos interruptores para encender una misma carga desde dos puntos del tablero.</a:t>
            </a:r>
          </a:p>
        </p:txBody>
      </p:sp>
      <p:sp>
        <p:nvSpPr>
          <p:cNvPr id="32" name="Rounded Rectangle 31"/>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5" name="TextBox 3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OR de señales de reloj de frecuencias distintas produce ruido de alta frecuencia: en sistemas reales se multiplexa en lugar de sumar con 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3" fill="hold">
                      <p:stCondLst>
                        <p:cond delay="indefinite"/>
                      </p:stCondLst>
                      <p:childTnLst>
                        <p:par>
                          <p:cTn id="84" fill="hold">
                            <p:stCondLst>
                              <p:cond delay="0"/>
                            </p:stCondLst>
                            <p:childTnLst>
                              <p:par>
                                <p:cTn id="73" fill="hold">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1" dur="420"/>
                                        <p:tgtEl>
                                          <p:spTgt spid="32"/>
                                        </p:tgtEl>
                                      </p:cBhvr>
                                    </p:animEffect>
                                  </p:childTnLst>
                                </p:cTn>
                              </p:par>
                              <p:par>
                                <p:cTn id="76" fill="hold">
                                  <p:stCondLst>
                                    <p:cond delay="110"/>
                                  </p:stCondLst>
                                  <p:childTnLst>
                                    <p:set>
                                      <p:cBhvr>
                                        <p:cTn id="75" dur="1" fill="hold">
                                          <p:stCondLst>
                                            <p:cond delay="0"/>
                                          </p:stCondLst>
                                        </p:cTn>
                                        <p:tgtEl>
                                          <p:spTgt spid="33"/>
                                        </p:tgtEl>
                                        <p:attrNameLst>
                                          <p:attrName>style.visibility</p:attrName>
                                        </p:attrNameLst>
                                      </p:cBhvr>
                                      <p:to>
                                        <p:strVal val="visible"/>
                                      </p:to>
                                    </p:set>
                                    <p:animEffect transition="in" filter="fade">
                                      <p:cBhvr>
                                        <p:cTn id="74" dur="420"/>
                                        <p:tgtEl>
                                          <p:spTgt spid="33"/>
                                        </p:tgtEl>
                                      </p:cBhvr>
                                    </p:animEffect>
                                  </p:childTnLst>
                                </p:cTn>
                              </p:par>
                              <p:par>
                                <p:cTn id="79" fill="hold">
                                  <p:stCondLst>
                                    <p:cond delay="2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7" dur="420"/>
                                        <p:tgtEl>
                                          <p:spTgt spid="34"/>
                                        </p:tgtEl>
                                      </p:cBhvr>
                                    </p:animEffect>
                                  </p:childTnLst>
                                </p:cTn>
                              </p:par>
                              <p:par>
                                <p:cTn id="82" fill="hold">
                                  <p:stCondLst>
                                    <p:cond delay="330"/>
                                  </p:stCondLst>
                                  <p:childTnLst>
                                    <p:set>
                                      <p:cBhvr>
                                        <p:cTn id="81" dur="1" fill="hold">
                                          <p:stCondLst>
                                            <p:cond delay="0"/>
                                          </p:stCondLst>
                                        </p:cTn>
                                        <p:tgtEl>
                                          <p:spTgt spid="35"/>
                                        </p:tgtEl>
                                        <p:attrNameLst>
                                          <p:attrName>style.visibility</p:attrName>
                                        </p:attrNameLst>
                                      </p:cBhvr>
                                      <p:to>
                                        <p:strVal val="visible"/>
                                      </p:to>
                                    </p:set>
                                    <p:animEffect transition="in" filter="fade">
                                      <p:cBhvr>
                                        <p:cTn id="80"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NOT / Inversor (Chip 7404)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inversor: una sola entrada y el complemento exacto en la salida.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81024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t.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6D46E0"/>
                </a:solidFill>
                <a:latin typeface="Consolas"/>
              </a:rPr>
              <a:t>74LS04 / 7404</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1100" b="1">
                <a:solidFill>
                  <a:srgbClr val="0D1A2B"/>
                </a:solidFill>
                <a:latin typeface="Segoe UI Semibold"/>
              </a:rPr>
              <a:t>Hex Inverter</a:t>
            </a:r>
          </a:p>
        </p:txBody>
      </p:sp>
      <p:sp>
        <p:nvSpPr>
          <p:cNvPr id="20" name="Oval 19"/>
          <p:cNvSpPr/>
          <p:nvPr/>
        </p:nvSpPr>
        <p:spPr>
          <a:xfrm>
            <a:off x="3959352" y="224942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6 inversores independientes en un DIP-14</a:t>
            </a:r>
          </a:p>
        </p:txBody>
      </p:sp>
      <p:sp>
        <p:nvSpPr>
          <p:cNvPr id="22" name="Oval 21"/>
          <p:cNvSpPr/>
          <p:nvPr/>
        </p:nvSpPr>
        <p:spPr>
          <a:xfrm>
            <a:off x="3959352" y="2565263"/>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Y = complemento exacto de A</a:t>
            </a:r>
          </a:p>
        </p:txBody>
      </p:sp>
      <p:sp>
        <p:nvSpPr>
          <p:cNvPr id="24" name="Oval 23"/>
          <p:cNvSpPr/>
          <p:nvPr/>
        </p:nvSpPr>
        <p:spPr>
          <a:xfrm>
            <a:off x="3959352" y="273689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Se usa para generar variables negadas A', B'</a:t>
            </a:r>
          </a:p>
        </p:txBody>
      </p:sp>
      <p:sp>
        <p:nvSpPr>
          <p:cNvPr id="26" name="Oval 25"/>
          <p:cNvSpPr/>
          <p:nvPr/>
        </p:nvSpPr>
        <p:spPr>
          <a:xfrm>
            <a:off x="3959352" y="305273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Base de osciladores y antirrebote</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6D46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6D46E0"/>
                </a:solidFill>
                <a:latin typeface="Consolas"/>
              </a:rPr>
              <a:t>Y = A'   (se lee: A negada)</a:t>
            </a:r>
          </a:p>
        </p:txBody>
      </p:sp>
      <p:sp>
        <p:nvSpPr>
          <p:cNvPr id="30" name="Rounded Rectangle 29"/>
          <p:cNvSpPr/>
          <p:nvPr/>
        </p:nvSpPr>
        <p:spPr>
          <a:xfrm>
            <a:off x="6263640" y="1371600"/>
            <a:ext cx="5458968" cy="1362456"/>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6D46E0"/>
                </a:solidFill>
                <a:latin typeface="Consolas"/>
              </a:rPr>
              <a:t>TABLA DE VERDAD · 7404</a:t>
            </a:r>
          </a:p>
        </p:txBody>
      </p:sp>
      <p:sp>
        <p:nvSpPr>
          <p:cNvPr id="32" name="Rectangle 31"/>
          <p:cNvSpPr/>
          <p:nvPr/>
        </p:nvSpPr>
        <p:spPr>
          <a:xfrm>
            <a:off x="6428232" y="1792224"/>
            <a:ext cx="5129784" cy="292608"/>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2418588"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9066276" y="1792224"/>
            <a:ext cx="2418588"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a:t>
            </a:r>
          </a:p>
        </p:txBody>
      </p:sp>
      <p:sp>
        <p:nvSpPr>
          <p:cNvPr id="35" name="Rectangle 34"/>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01384" y="2084831"/>
            <a:ext cx="2418588"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7" name="TextBox 36"/>
          <p:cNvSpPr txBox="1"/>
          <p:nvPr/>
        </p:nvSpPr>
        <p:spPr>
          <a:xfrm>
            <a:off x="9066276" y="2084831"/>
            <a:ext cx="2418588"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38" name="TextBox 37"/>
          <p:cNvSpPr txBox="1"/>
          <p:nvPr/>
        </p:nvSpPr>
        <p:spPr>
          <a:xfrm>
            <a:off x="6501384" y="2345436"/>
            <a:ext cx="2418588"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39" name="TextBox 38"/>
          <p:cNvSpPr txBox="1"/>
          <p:nvPr/>
        </p:nvSpPr>
        <p:spPr>
          <a:xfrm>
            <a:off x="9066276" y="2345436"/>
            <a:ext cx="2418588"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Rounded Rectangle 39"/>
          <p:cNvSpPr/>
          <p:nvPr/>
        </p:nvSpPr>
        <p:spPr>
          <a:xfrm>
            <a:off x="6428232" y="1792224"/>
            <a:ext cx="5129784" cy="813816"/>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263640" y="2935224"/>
            <a:ext cx="5458968" cy="1911095"/>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46520" y="3063240"/>
            <a:ext cx="5074920" cy="237744"/>
          </a:xfrm>
          <a:prstGeom prst="rect">
            <a:avLst/>
          </a:prstGeom>
          <a:noFill/>
        </p:spPr>
        <p:txBody>
          <a:bodyPr wrap="square" lIns="0" rIns="0" tIns="0" bIns="0" anchor="t">
            <a:spAutoFit/>
          </a:bodyPr>
          <a:lstStyle/>
          <a:p>
            <a:pPr algn="l">
              <a:lnSpc>
                <a:spcPct val="100000"/>
              </a:lnSpc>
            </a:pPr>
            <a:r>
              <a:rPr sz="1000" b="1">
                <a:solidFill>
                  <a:srgbClr val="6D46E0"/>
                </a:solidFill>
                <a:latin typeface="Consolas"/>
              </a:rPr>
              <a:t>CÓMO VERIFICARLO EN EL LABORATORIO</a:t>
            </a:r>
          </a:p>
        </p:txBody>
      </p:sp>
      <p:sp>
        <p:nvSpPr>
          <p:cNvPr id="43" name="Oval 42"/>
          <p:cNvSpPr/>
          <p:nvPr/>
        </p:nvSpPr>
        <p:spPr>
          <a:xfrm>
            <a:off x="6473952" y="3429000"/>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0256" y="3374136"/>
            <a:ext cx="4855464" cy="312749"/>
          </a:xfrm>
          <a:prstGeom prst="rect">
            <a:avLst/>
          </a:prstGeom>
          <a:noFill/>
        </p:spPr>
        <p:txBody>
          <a:bodyPr wrap="square" lIns="0" rIns="0" tIns="0" bIns="0" anchor="t">
            <a:spAutoFit/>
          </a:bodyPr>
          <a:lstStyle/>
          <a:p>
            <a:pPr algn="l">
              <a:lnSpc>
                <a:spcPct val="106000"/>
              </a:lnSpc>
            </a:pPr>
            <a:r>
              <a:rPr sz="960" b="0">
                <a:solidFill>
                  <a:srgbClr val="2C3E56"/>
                </a:solidFill>
                <a:latin typeface="Segoe UI"/>
              </a:rPr>
              <a:t>Aplicar cada combinación de entrada de la tabla de verdad y medir la salida con la punta lógica.</a:t>
            </a:r>
          </a:p>
        </p:txBody>
      </p:sp>
      <p:sp>
        <p:nvSpPr>
          <p:cNvPr id="45" name="Oval 44"/>
          <p:cNvSpPr/>
          <p:nvPr/>
        </p:nvSpPr>
        <p:spPr>
          <a:xfrm>
            <a:off x="6473952" y="3796613"/>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0256" y="3741749"/>
            <a:ext cx="4855464" cy="312749"/>
          </a:xfrm>
          <a:prstGeom prst="rect">
            <a:avLst/>
          </a:prstGeom>
          <a:noFill/>
        </p:spPr>
        <p:txBody>
          <a:bodyPr wrap="square" lIns="0" rIns="0" tIns="0" bIns="0" anchor="t">
            <a:spAutoFit/>
          </a:bodyPr>
          <a:lstStyle/>
          <a:p>
            <a:pPr algn="l">
              <a:lnSpc>
                <a:spcPct val="106000"/>
              </a:lnSpc>
            </a:pPr>
            <a:r>
              <a:rPr sz="960" b="0">
                <a:solidFill>
                  <a:srgbClr val="2C3E56"/>
                </a:solidFill>
                <a:latin typeface="Segoe UI"/>
              </a:rPr>
              <a:t>Comprobar VCC = 5 V en el pin 14 y GND en el pin 7 antes de interpretar cualquier resultado.</a:t>
            </a:r>
          </a:p>
        </p:txBody>
      </p:sp>
      <p:sp>
        <p:nvSpPr>
          <p:cNvPr id="47" name="Oval 46"/>
          <p:cNvSpPr/>
          <p:nvPr/>
        </p:nvSpPr>
        <p:spPr>
          <a:xfrm>
            <a:off x="6473952" y="4164226"/>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0256" y="4109362"/>
            <a:ext cx="4855464" cy="156374"/>
          </a:xfrm>
          <a:prstGeom prst="rect">
            <a:avLst/>
          </a:prstGeom>
          <a:noFill/>
        </p:spPr>
        <p:txBody>
          <a:bodyPr wrap="square" lIns="0" rIns="0" tIns="0" bIns="0" anchor="t">
            <a:spAutoFit/>
          </a:bodyPr>
          <a:lstStyle/>
          <a:p>
            <a:pPr algn="l">
              <a:lnSpc>
                <a:spcPct val="106000"/>
              </a:lnSpc>
            </a:pPr>
            <a:r>
              <a:rPr sz="960" b="0">
                <a:solidFill>
                  <a:srgbClr val="2C3E56"/>
                </a:solidFill>
                <a:latin typeface="Segoe UI"/>
              </a:rPr>
              <a:t>Registrar las mediciones en el reporte de práctica.</a:t>
            </a:r>
          </a:p>
        </p:txBody>
      </p:sp>
      <p:sp>
        <p:nvSpPr>
          <p:cNvPr id="49" name="Rounded Rectangle 48"/>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475488" y="5184648"/>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2" name="TextBox 51"/>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Entrega en su salida el nivel contrario al de la entrada. Es indispensable para generar las variables negadas que aparecen en cualquier función simplificada y para restaurar niveles degradados por la carga. Su estructura interna es un transistor con resistencia pull-up (en TTL) o un par CMOS complementario.</a:t>
            </a:r>
          </a:p>
        </p:txBody>
      </p:sp>
      <p:sp>
        <p:nvSpPr>
          <p:cNvPr id="53" name="Rounded Rectangle 52"/>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205712" y="5184648"/>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56" name="TextBox 55"/>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Generación de variables complementarias, osciladores de reloj (con cristal o RC), antirrebote de interruptores, conformación de pulsos, buffers con inversión y construcción de compuertas lógicas a partir de NAND o NOR.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42" fill="hold">
                      <p:stCondLst>
                        <p:cond delay="indefinite"/>
                      </p:stCondLst>
                      <p:childTnLst>
                        <p:par>
                          <p:cTn id="143"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3" dur="420"/>
                                        <p:tgtEl>
                                          <p:spTgt spid="41"/>
                                        </p:tgtEl>
                                      </p:cBhvr>
                                    </p:animEffect>
                                  </p:childTnLst>
                                </p:cTn>
                              </p:par>
                              <p:par>
                                <p:cTn id="108" fill="hold">
                                  <p:stCondLst>
                                    <p:cond delay="1210"/>
                                  </p:stCondLst>
                                  <p:childTnLst>
                                    <p:set>
                                      <p:cBhvr>
                                        <p:cTn id="107" dur="1" fill="hold">
                                          <p:stCondLst>
                                            <p:cond delay="0"/>
                                          </p:stCondLst>
                                        </p:cTn>
                                        <p:tgtEl>
                                          <p:spTgt spid="42"/>
                                        </p:tgtEl>
                                        <p:attrNameLst>
                                          <p:attrName>style.visibility</p:attrName>
                                        </p:attrNameLst>
                                      </p:cBhvr>
                                      <p:to>
                                        <p:strVal val="visible"/>
                                      </p:to>
                                    </p:set>
                                    <p:animEffect transition="in" filter="fade">
                                      <p:cBhvr>
                                        <p:cTn id="106" dur="420"/>
                                        <p:tgtEl>
                                          <p:spTgt spid="42"/>
                                        </p:tgtEl>
                                      </p:cBhvr>
                                    </p:animEffect>
                                  </p:childTnLst>
                                </p:cTn>
                              </p:par>
                              <p:par>
                                <p:cTn id="111" fill="hold">
                                  <p:stCondLst>
                                    <p:cond delay="132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09" dur="420"/>
                                        <p:tgtEl>
                                          <p:spTgt spid="44"/>
                                        </p:tgtEl>
                                      </p:cBhvr>
                                    </p:animEffect>
                                  </p:childTnLst>
                                </p:cTn>
                              </p:par>
                              <p:par>
                                <p:cTn id="114" fill="hold">
                                  <p:stCondLst>
                                    <p:cond delay="143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2" dur="420"/>
                                        <p:tgtEl>
                                          <p:spTgt spid="46"/>
                                        </p:tgtEl>
                                      </p:cBhvr>
                                    </p:animEffect>
                                  </p:childTnLst>
                                </p:cTn>
                              </p:par>
                              <p:par>
                                <p:cTn id="117" fill="hold">
                                  <p:stCondLst>
                                    <p:cond delay="154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5" dur="420"/>
                                        <p:tgtEl>
                                          <p:spTgt spid="48"/>
                                        </p:tgtEl>
                                      </p:cBhvr>
                                    </p:animEffect>
                                  </p:childTnLst>
                                </p:cTn>
                              </p:par>
                              <p:par>
                                <p:cTn id="120" fill="hold">
                                  <p:stCondLst>
                                    <p:cond delay="165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18" dur="420"/>
                                        <p:tgtEl>
                                          <p:spTgt spid="49"/>
                                        </p:tgtEl>
                                      </p:cBhvr>
                                    </p:animEffect>
                                  </p:childTnLst>
                                </p:cTn>
                              </p:par>
                              <p:par>
                                <p:cTn id="123" fill="hold">
                                  <p:stCondLst>
                                    <p:cond delay="176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1" dur="420"/>
                                        <p:tgtEl>
                                          <p:spTgt spid="50"/>
                                        </p:tgtEl>
                                      </p:cBhvr>
                                    </p:animEffect>
                                  </p:childTnLst>
                                </p:cTn>
                              </p:par>
                              <p:par>
                                <p:cTn id="126" fill="hold">
                                  <p:stCondLst>
                                    <p:cond delay="187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4" dur="420"/>
                                        <p:tgtEl>
                                          <p:spTgt spid="51"/>
                                        </p:tgtEl>
                                      </p:cBhvr>
                                    </p:animEffect>
                                  </p:childTnLst>
                                </p:cTn>
                              </p:par>
                              <p:par>
                                <p:cTn id="129" fill="hold">
                                  <p:stCondLst>
                                    <p:cond delay="198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7" dur="420"/>
                                        <p:tgtEl>
                                          <p:spTgt spid="52"/>
                                        </p:tgtEl>
                                      </p:cBhvr>
                                    </p:animEffect>
                                  </p:childTnLst>
                                </p:cTn>
                              </p:par>
                              <p:par>
                                <p:cTn id="132" fill="hold">
                                  <p:stCondLst>
                                    <p:cond delay="209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0" dur="420"/>
                                        <p:tgtEl>
                                          <p:spTgt spid="53"/>
                                        </p:tgtEl>
                                      </p:cBhvr>
                                    </p:animEffect>
                                  </p:childTnLst>
                                </p:cTn>
                              </p:par>
                              <p:par>
                                <p:cTn id="135" fill="hold">
                                  <p:stCondLst>
                                    <p:cond delay="220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3" dur="420"/>
                                        <p:tgtEl>
                                          <p:spTgt spid="54"/>
                                        </p:tgtEl>
                                      </p:cBhvr>
                                    </p:animEffect>
                                  </p:childTnLst>
                                </p:cTn>
                              </p:par>
                              <p:par>
                                <p:cTn id="138" fill="hold">
                                  <p:stCondLst>
                                    <p:cond delay="231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6" dur="420"/>
                                        <p:tgtEl>
                                          <p:spTgt spid="55"/>
                                        </p:tgtEl>
                                      </p:cBhvr>
                                    </p:animEffect>
                                  </p:childTnLst>
                                </p:cTn>
                              </p:par>
                              <p:par>
                                <p:cTn id="141" fill="hold">
                                  <p:stCondLst>
                                    <p:cond delay="242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39" dur="42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7404 y variantes de inversor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chip más sencillo de la familia, pero con la variante Schmitt que salva montajes reales.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92265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4.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Seis inversores independientes en DIP-14. El 7414 ofrece la misma función con histéresis de Schmitt (umbrales separados de subida y bajada), ideal para señales lentas, con rebote o con ruido, y el 7406 con salida de colector abierto para manejar cargas de hasta 30 V.</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1Y=2 | 2A=3, 2Y=4 | 3A=5, 3Y=6 | GND=7 | 4Y=8, 4A=9 | 5Y=10, 5A=11 | 6Y=12, 6A=13 | VCC=14. Cada par de pines consecutivos es un inversor completo.</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tPD 8/12 ns (74LS04) · 74LS14 con histéresis VT+ 1.6 V y VT– 0.8 V · IOH −0.4 mA, IOL 8 mA · fan-out 10 entradas TTL estándar.</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Un inversor libre sirve como oscilador: 74LS04 + cristal de cuarzo y dos capacitores forman el reloj base de muchos circuitos digitales educativos.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NAND (Chip 7400)</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universal: con ella sola se construye cualquier función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03506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0E8A5F"/>
                </a:solidFill>
                <a:latin typeface="Consolas"/>
              </a:rPr>
              <a:t>74LS00 / 7400</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Positive-NAND Gate</a:t>
            </a:r>
          </a:p>
        </p:txBody>
      </p:sp>
      <p:sp>
        <p:nvSpPr>
          <p:cNvPr id="20" name="Oval 19"/>
          <p:cNvSpPr/>
          <p:nvPr/>
        </p:nvSpPr>
        <p:spPr>
          <a:xfrm>
            <a:off x="3959352" y="224942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NAND en un DIP-14</a:t>
            </a:r>
          </a:p>
        </p:txBody>
      </p:sp>
      <p:sp>
        <p:nvSpPr>
          <p:cNvPr id="22" name="Oval 21"/>
          <p:cNvSpPr/>
          <p:nvPr/>
        </p:nvSpPr>
        <p:spPr>
          <a:xfrm>
            <a:off x="3959352" y="256526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0 SOLO si A = B = 1</a:t>
            </a:r>
          </a:p>
        </p:txBody>
      </p:sp>
      <p:sp>
        <p:nvSpPr>
          <p:cNvPr id="24" name="Oval 23"/>
          <p:cNvSpPr/>
          <p:nvPr/>
        </p:nvSpPr>
        <p:spPr>
          <a:xfrm>
            <a:off x="3959352" y="273689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Es la compuerta universal por excelencia</a:t>
            </a:r>
          </a:p>
        </p:txBody>
      </p:sp>
      <p:sp>
        <p:nvSpPr>
          <p:cNvPr id="26" name="Oval 25"/>
          <p:cNvSpPr/>
          <p:nvPr/>
        </p:nvSpPr>
        <p:spPr>
          <a:xfrm>
            <a:off x="3959352" y="30527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Primer integrado lógico de la historia (1961)</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0E8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0E8A5F"/>
                </a:solidFill>
                <a:latin typeface="Consolas"/>
              </a:rPr>
              <a:t>Y = (A · B)'   (se lee: A por B negado)</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0E8A5F"/>
                </a:solidFill>
                <a:latin typeface="Consolas"/>
              </a:rPr>
              <a:t>TABLA DE VERDAD · 7400</a:t>
            </a:r>
          </a:p>
        </p:txBody>
      </p:sp>
      <p:sp>
        <p:nvSpPr>
          <p:cNvPr id="32" name="Rectangle 31"/>
          <p:cNvSpPr/>
          <p:nvPr/>
        </p:nvSpPr>
        <p:spPr>
          <a:xfrm>
            <a:off x="6428232" y="1792224"/>
            <a:ext cx="5129784" cy="292608"/>
          </a:xfrm>
          <a:prstGeom prst="rect">
            <a:avLst/>
          </a:prstGeom>
          <a:solidFill>
            <a:srgbClr val="0E8A5F">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Es una AND seguida de un inversor. Su salida permanece en '1' salvo en el único caso en que todas las entradas están en alto, donde cae a '0'. Debido a que la salida típica de un TTL 'sumidera' mejor corriente que la que entrega, el NAND es la compuerta más usada como etapa de potencia hacia LEDs y cargas.</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Memorias latch y flip-flops, osciladores digitales, decodificadores, lógica universal, antirrebote, control de habilitación activa en bajo y práctica totalidad de los circuitos combinacionales didácticos.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7400: el chip más versátil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candidato número uno para el laboratorio: cuatro compuertas universales.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14747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0.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Cuatro compuertas NAND de dos entradas. Es el integrado lógico más usado en prácticas de electrónica digital por su versatilidad: permite implementar AND, OR, NOT, XOR y cualquier función simplificada sin necesidad de otros chips.</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 Idéntico al del 7408 y 7432; solo cambia la función interna.</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VOH mín 2.4 V (a −0.4 mA) · VOL máx 0.4 V (a 16 mA, subfamilia LS) · tPD 9/10 ns (74LS00) · tiempo de subida de salida 15 ns · disipación 10 mW por compuerta.</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El 74LS00 y el 74LS03 comparten pinout: el segundo tiene salidas de colector abierto, útiles para conectar varias salidas en un mismo punto (lógica cableada).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NAND universal: convertir una compuerta en todas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 solo 7400 se construyen AND, OR, NOT y cualquier función simplificada.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25988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and_universal.png"/>
          <p:cNvPicPr>
            <a:picLocks noChangeAspect="1"/>
          </p:cNvPicPr>
          <p:nvPr/>
        </p:nvPicPr>
        <p:blipFill>
          <a:blip r:embed="rId2"/>
          <a:stretch>
            <a:fillRect/>
          </a:stretch>
        </p:blipFill>
        <p:spPr>
          <a:xfrm>
            <a:off x="539496" y="2588168"/>
            <a:ext cx="3307064" cy="118788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Las tres conversiones básicas con NAND: NOT y AND resuelven con una compuerta más un inversor, mientras que OR necesita tres compuertas.</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ime_nand.png"/>
          <p:cNvPicPr>
            <a:picLocks noChangeAspect="1"/>
          </p:cNvPicPr>
          <p:nvPr/>
        </p:nvPicPr>
        <p:blipFill>
          <a:blip r:embed="rId3"/>
          <a:stretch>
            <a:fillRect/>
          </a:stretch>
        </p:blipFill>
        <p:spPr>
          <a:xfrm>
            <a:off x="4139168" y="2636405"/>
            <a:ext cx="3307064" cy="109141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7400: la salida solo cae cuando ambas entradas están simultáneamente en alto.</a:t>
            </a:r>
          </a:p>
        </p:txBody>
      </p:sp>
      <p:sp>
        <p:nvSpPr>
          <p:cNvPr id="22" name="Oval 21"/>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NOT con NAND:</a:t>
            </a:r>
            <a:r>
              <a:rPr sz="1050" b="0">
                <a:solidFill>
                  <a:srgbClr val="2C3E56"/>
                </a:solidFill>
                <a:latin typeface="Segoe UI"/>
              </a:rPr>
              <a:t> unir las dos entradas de una misma compuerta. Y = (A·A)' = A'.</a:t>
            </a:r>
          </a:p>
        </p:txBody>
      </p:sp>
      <p:sp>
        <p:nvSpPr>
          <p:cNvPr id="24" name="Oval 23"/>
          <p:cNvSpPr/>
          <p:nvPr/>
        </p:nvSpPr>
        <p:spPr>
          <a:xfrm>
            <a:off x="7793705" y="18481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AND con NAND:</a:t>
            </a:r>
            <a:r>
              <a:rPr sz="1050" b="0">
                <a:solidFill>
                  <a:srgbClr val="2C3E56"/>
                </a:solidFill>
                <a:latin typeface="Segoe UI"/>
              </a:rPr>
              <a:t> NAND seguido de un inversor (otra NAND con las entradas unidas). Ocupa dos de las cuatro compuertas del chip.</a:t>
            </a:r>
          </a:p>
        </p:txBody>
      </p:sp>
      <p:sp>
        <p:nvSpPr>
          <p:cNvPr id="26" name="Oval 25"/>
          <p:cNvSpPr/>
          <p:nvPr/>
        </p:nvSpPr>
        <p:spPr>
          <a:xfrm>
            <a:off x="7793705" y="244407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OR con NAND:</a:t>
            </a:r>
            <a:r>
              <a:rPr sz="1050" b="0">
                <a:solidFill>
                  <a:srgbClr val="2C3E56"/>
                </a:solidFill>
                <a:latin typeface="Segoe UI"/>
              </a:rPr>
              <a:t> invertir cada entrada y luego aplicar NAND: Y = ((A'·B')' = A + B.</a:t>
            </a:r>
          </a:p>
        </p:txBody>
      </p:sp>
      <p:sp>
        <p:nvSpPr>
          <p:cNvPr id="28" name="Oval 27"/>
          <p:cNvSpPr/>
          <p:nvPr/>
        </p:nvSpPr>
        <p:spPr>
          <a:xfrm>
            <a:off x="7793705" y="286575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NOR con NAND:</a:t>
            </a:r>
            <a:r>
              <a:rPr sz="1050" b="0">
                <a:solidFill>
                  <a:srgbClr val="2C3E56"/>
                </a:solidFill>
                <a:latin typeface="Segoe UI"/>
              </a:rPr>
              <a:t> construir el OR y añadir un inversor; requiere cuatro compuertas.</a:t>
            </a:r>
          </a:p>
        </p:txBody>
      </p:sp>
      <p:sp>
        <p:nvSpPr>
          <p:cNvPr id="30" name="Oval 29"/>
          <p:cNvSpPr/>
          <p:nvPr/>
        </p:nvSpPr>
        <p:spPr>
          <a:xfrm>
            <a:off x="7793705" y="3287428"/>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XOR con NAND:</a:t>
            </a:r>
            <a:r>
              <a:rPr sz="1050" b="0">
                <a:solidFill>
                  <a:srgbClr val="2C3E56"/>
                </a:solidFill>
                <a:latin typeface="Segoe UI"/>
              </a:rPr>
              <a:t> necesita cuatro compuertas NAND de dos entradas y permite comprobar la potencia real de la compuerta universal.</a:t>
            </a:r>
          </a:p>
        </p:txBody>
      </p:sp>
      <p:sp>
        <p:nvSpPr>
          <p:cNvPr id="32" name="Oval 31"/>
          <p:cNvSpPr/>
          <p:nvPr/>
        </p:nvSpPr>
        <p:spPr>
          <a:xfrm>
            <a:off x="7793705" y="388336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Ventaja de taller:</a:t>
            </a:r>
            <a:r>
              <a:rPr sz="1050" b="0">
                <a:solidFill>
                  <a:srgbClr val="2C3E56"/>
                </a:solidFill>
                <a:latin typeface="Segoe UI"/>
              </a:rPr>
              <a:t> un solo tipo de chip en el estante resuelve todas las funciones y reduce el inventario de refacciones.</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 las cuatro compuertas del 7400 se implementa una función completa: por eso el enunciado clásico de examen 'implemente esta tabla de verdad solo con 7400' es perfectamente resoluble.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NOR (Chip 7402)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segunda compuerta universal: inversa de la suma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37229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C42B6B"/>
                </a:solidFill>
                <a:latin typeface="Consolas"/>
              </a:rPr>
              <a:t>74LS02 / 7402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Positive-NOR Gate</a:t>
            </a:r>
          </a:p>
        </p:txBody>
      </p:sp>
      <p:sp>
        <p:nvSpPr>
          <p:cNvPr id="20" name="Oval 19"/>
          <p:cNvSpPr/>
          <p:nvPr/>
        </p:nvSpPr>
        <p:spPr>
          <a:xfrm>
            <a:off x="3959352" y="224942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4 compuertas NOR en un DIP-14</a:t>
            </a:r>
          </a:p>
        </p:txBody>
      </p:sp>
      <p:sp>
        <p:nvSpPr>
          <p:cNvPr id="22" name="Oval 21"/>
          <p:cNvSpPr/>
          <p:nvPr/>
        </p:nvSpPr>
        <p:spPr>
          <a:xfrm>
            <a:off x="3959352" y="242105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366195"/>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SOLO si A = B = 0</a:t>
            </a:r>
          </a:p>
        </p:txBody>
      </p:sp>
      <p:sp>
        <p:nvSpPr>
          <p:cNvPr id="24" name="Oval 23"/>
          <p:cNvSpPr/>
          <p:nvPr/>
        </p:nvSpPr>
        <p:spPr>
          <a:xfrm>
            <a:off x="3959352" y="259269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537831"/>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Pinout distinto al del 7400 y 7408</a:t>
            </a:r>
          </a:p>
        </p:txBody>
      </p:sp>
      <p:sp>
        <p:nvSpPr>
          <p:cNvPr id="26" name="Oval 25"/>
          <p:cNvSpPr/>
          <p:nvPr/>
        </p:nvSpPr>
        <p:spPr>
          <a:xfrm>
            <a:off x="3959352" y="290853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853671"/>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Preferida en familias CMOS</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C42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C42B6B"/>
                </a:solidFill>
                <a:latin typeface="Consolas"/>
              </a:rPr>
              <a:t>Y = (A + B)'   (se lee: A o B negado)</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C42B6B"/>
                </a:solidFill>
                <a:latin typeface="Consolas"/>
              </a:rPr>
              <a:t>TABLA DE VERDAD · 7402</a:t>
            </a:r>
          </a:p>
        </p:txBody>
      </p:sp>
      <p:sp>
        <p:nvSpPr>
          <p:cNvPr id="32" name="Rectangle 31"/>
          <p:cNvSpPr/>
          <p:nvPr/>
        </p:nvSpPr>
        <p:spPr>
          <a:xfrm>
            <a:off x="6428232" y="1792224"/>
            <a:ext cx="5129784" cy="292608"/>
          </a:xfrm>
          <a:prstGeom prst="rect">
            <a:avLst/>
          </a:prstGeom>
          <a:solidFill>
            <a:srgbClr val="C42B6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Es una OR seguida de un inversor: la salida solo permanece alta cuando todas las entradas están en bajo. En las familias CMOS el NOR es la estructura más natural de fabricar (menos transistores) y por eso se prefiere en el diseño de circuitos integrados; en TTL sucede lo contrario, el NAND es más eficiente.</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Circuitos secuenciales, protección con enclavamiento de seguridad, detección de condición nula (ningún sensor activo), osciladores e implementación universal de funciones en lógica CMOS.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7402: cuidado con el orden invertido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único de la familia básica que cambia la posición de las salidas.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48470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2.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Cuádruple compuerta NOR de dos entradas. A diferencia del 7400, 7408 y 7432, en el 7402 las salidas ocupan los pines 1, 4, 10 y 13, y las entradas los pines 2-3, 5-6, 8-9 y 11-12. Es la causa más frecuente de error de cableado.</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1Y=1, 1A=2, 1B=3 | 2Y=4, 2A=5, 2B=6 | GND=7 | 3A=8, 3B=9, 3Y=10 | 4A=11, 4B=12, 4Y=13 | VCC=14.</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tPD 10/12 ns (74LS02) · IOL 8 mA en LS (16 mA en la versión 7402 original) · entrada de corriente 20 µA en alto y 0.4 mA en bajo · consumo típico 8 mW por compuerta.</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Truco para no equivocarse: en el 7402 la salida siempre es el pin IMPAR exterior (1, 4, 10, 13) y las entradas quedan hacia el centro del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0D1A2B"/>
                </a:solidFill>
                <a:latin typeface="Segoe UI Semibold"/>
              </a:rPr>
              <a:t>NOR en operación y su uso como compuerta universal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Tiempos, tabla y equivalencias para construir cualquier función con 7402.</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59711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n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Diagrama de tiempos del 7402: la salida es alta solo mientras ambas entradas permanecen en bajo.</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02.png"/>
          <p:cNvPicPr>
            <a:picLocks noChangeAspect="1"/>
          </p:cNvPicPr>
          <p:nvPr/>
        </p:nvPicPr>
        <p:blipFill>
          <a:blip r:embed="rId3"/>
          <a:srcRect l="10725" r="10725"/>
          <a:stretch>
            <a:fillRect/>
          </a:stretch>
        </p:blipFill>
        <p:spPr>
          <a:xfrm>
            <a:off x="4139168" y="1435608"/>
            <a:ext cx="3307064" cy="349300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Mapa de pines del 7402: las salidas se ubican en los pines impares extremos; las entradas, hacia el interior.</a:t>
            </a:r>
          </a:p>
        </p:txBody>
      </p:sp>
      <p:sp>
        <p:nvSpPr>
          <p:cNvPr id="22" name="Oval 21"/>
          <p:cNvSpPr/>
          <p:nvPr/>
        </p:nvSpPr>
        <p:spPr>
          <a:xfrm>
            <a:off x="7793705"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174261"/>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NOT con NOR:</a:t>
            </a:r>
            <a:r>
              <a:rPr sz="1050" b="0">
                <a:solidFill>
                  <a:srgbClr val="2C3E56"/>
                </a:solidFill>
                <a:latin typeface="Segoe UI"/>
              </a:rPr>
              <a:t> unir las entradas. Y = (A + A)' = A'.</a:t>
            </a:r>
          </a:p>
        </p:txBody>
      </p:sp>
      <p:sp>
        <p:nvSpPr>
          <p:cNvPr id="24" name="Oval 23"/>
          <p:cNvSpPr/>
          <p:nvPr/>
        </p:nvSpPr>
        <p:spPr>
          <a:xfrm>
            <a:off x="7793705" y="167387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619013"/>
            <a:ext cx="3712463" cy="174261"/>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OR con NOR:</a:t>
            </a:r>
            <a:r>
              <a:rPr sz="1050" b="0">
                <a:solidFill>
                  <a:srgbClr val="2C3E56"/>
                </a:solidFill>
                <a:latin typeface="Segoe UI"/>
              </a:rPr>
              <a:t> NOR seguida de un inversor.</a:t>
            </a:r>
          </a:p>
        </p:txBody>
      </p:sp>
      <p:sp>
        <p:nvSpPr>
          <p:cNvPr id="26" name="Oval 25"/>
          <p:cNvSpPr/>
          <p:nvPr/>
        </p:nvSpPr>
        <p:spPr>
          <a:xfrm>
            <a:off x="7793705" y="1921291"/>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186642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AND con NOR:</a:t>
            </a:r>
            <a:r>
              <a:rPr sz="1050" b="0">
                <a:solidFill>
                  <a:srgbClr val="2C3E56"/>
                </a:solidFill>
                <a:latin typeface="Segoe UI"/>
              </a:rPr>
              <a:t> invertir las entradas y aplicar NOR: Y = ((A' + B')' = A·B.</a:t>
            </a:r>
          </a:p>
        </p:txBody>
      </p:sp>
      <p:sp>
        <p:nvSpPr>
          <p:cNvPr id="28" name="Oval 27"/>
          <p:cNvSpPr/>
          <p:nvPr/>
        </p:nvSpPr>
        <p:spPr>
          <a:xfrm>
            <a:off x="7793705" y="234296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288103"/>
            <a:ext cx="3712463" cy="174261"/>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NAND con NOR:</a:t>
            </a:r>
            <a:r>
              <a:rPr sz="1000" b="0">
                <a:solidFill>
                  <a:srgbClr val="2C3E56"/>
                </a:solidFill>
                <a:latin typeface="Segoe UI"/>
              </a:rPr>
              <a:t> construir el AND y añadir el inversor.</a:t>
            </a:r>
          </a:p>
        </p:txBody>
      </p:sp>
      <p:sp>
        <p:nvSpPr>
          <p:cNvPr id="30" name="Oval 29"/>
          <p:cNvSpPr/>
          <p:nvPr/>
        </p:nvSpPr>
        <p:spPr>
          <a:xfrm>
            <a:off x="7793705" y="259038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2535516"/>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Comparación práctica:</a:t>
            </a:r>
            <a:r>
              <a:rPr sz="1050" b="0">
                <a:solidFill>
                  <a:srgbClr val="2C3E56"/>
                </a:solidFill>
                <a:latin typeface="Segoe UI"/>
              </a:rPr>
              <a:t> para hacer un OR, el 7400 necesita tres compuertas y el 7402 solo dos; para hacer un AND ocurre lo contrario.</a:t>
            </a:r>
          </a:p>
        </p:txBody>
      </p:sp>
      <p:sp>
        <p:nvSpPr>
          <p:cNvPr id="32" name="Oval 31"/>
          <p:cNvSpPr/>
          <p:nvPr/>
        </p:nvSpPr>
        <p:spPr>
          <a:xfrm>
            <a:off x="7793705" y="3186318"/>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13145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Regla de decisión:</a:t>
            </a:r>
            <a:r>
              <a:rPr sz="1050" b="0">
                <a:solidFill>
                  <a:srgbClr val="2C3E56"/>
                </a:solidFill>
                <a:latin typeface="Segoe UI"/>
              </a:rPr>
              <a:t> elegir el chip universal que consuma menos compuertas para la función dominante del diseño.</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la práctica se compra el chip que resuelve el diseño con menos integrados y menos cableado: contar compuertas antes de ir a la tienda de electrónica.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XOR / EX-OR (Chip 7486)</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diferencia: se activa cuando las entradas no coinciden.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70952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x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1E5FD0"/>
                </a:solidFill>
                <a:latin typeface="Consolas"/>
              </a:rPr>
              <a:t>74LS86 / 7486</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Exclusive-OR Gate</a:t>
            </a:r>
          </a:p>
        </p:txBody>
      </p:sp>
      <p:sp>
        <p:nvSpPr>
          <p:cNvPr id="20" name="Oval 19"/>
          <p:cNvSpPr/>
          <p:nvPr/>
        </p:nvSpPr>
        <p:spPr>
          <a:xfrm>
            <a:off x="3959352" y="224942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4 compuertas XOR en un DIP-14</a:t>
            </a:r>
          </a:p>
        </p:txBody>
      </p:sp>
      <p:sp>
        <p:nvSpPr>
          <p:cNvPr id="22" name="Oval 21"/>
          <p:cNvSpPr/>
          <p:nvPr/>
        </p:nvSpPr>
        <p:spPr>
          <a:xfrm>
            <a:off x="3959352" y="242105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36619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si las entradas son DIFERENTES</a:t>
            </a:r>
          </a:p>
        </p:txBody>
      </p:sp>
      <p:sp>
        <p:nvSpPr>
          <p:cNvPr id="24" name="Oval 23"/>
          <p:cNvSpPr/>
          <p:nvPr/>
        </p:nvSpPr>
        <p:spPr>
          <a:xfrm>
            <a:off x="3959352" y="273689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Base de sumadores y detectores de paridad</a:t>
            </a:r>
          </a:p>
        </p:txBody>
      </p:sp>
      <p:sp>
        <p:nvSpPr>
          <p:cNvPr id="26" name="Oval 25"/>
          <p:cNvSpPr/>
          <p:nvPr/>
        </p:nvSpPr>
        <p:spPr>
          <a:xfrm>
            <a:off x="3959352" y="305273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A ⊕ A = 0 · A ⊕ 1 = A'</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1E5FD0"/>
                </a:solidFill>
                <a:latin typeface="Consolas"/>
              </a:rPr>
              <a:t>Y = A ⊕ B = A'B + AB'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1E5FD0"/>
                </a:solidFill>
                <a:latin typeface="Consolas"/>
              </a:rPr>
              <a:t>TABLA DE VERDAD · 7486</a:t>
            </a:r>
          </a:p>
        </p:txBody>
      </p:sp>
      <p:sp>
        <p:nvSpPr>
          <p:cNvPr id="32" name="Rectangle 31"/>
          <p:cNvSpPr/>
          <p:nvPr/>
        </p:nvSpPr>
        <p:spPr>
          <a:xfrm>
            <a:off x="6428232" y="1792224"/>
            <a:ext cx="5129784" cy="292608"/>
          </a:xfrm>
          <a:prstGeom prst="rect">
            <a:avLst/>
          </a:prstGeom>
          <a:solidFill>
            <a:srgbClr val="1E5FD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 ⊕ 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x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La salida es '1' cuando las entradas difieren y '0' cuando coinciden. Matemáticamente equivale a la suma módulo 2 sin acarreo, y por eso es la compuerta clave del medio sumador. Su símbolo lleva una línea adicional en el dorso de la curva para distinguirla del OR convencional.</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Sumadores binarios (half-adder y full-adder), generadores y verificadores de paridad, comparadores de desigualdad, generadores de pseudo-aleatoriedad (LFSR), detección de cambio de estado y multiplicación en GF(2).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7486 y crecimiento a 4 entradas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Cuatro puertas XOR de 2 entradas que se combinan para formar XOR de más entradas.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82193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86.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Cuádruple compuerta XOR de dos entradas en DIP-14, con el mismo mapa de pines que el 7408, 7400 y 7432. Existen versiones de tres entradas (74LS386) y el 74LS280, que es un generador/verificador de paridad de 9 bits.</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tPD 10/13 ns (74LS86) · IOL 8 mA · VOH mín 2.7 V · funcionamiento garantizado de 0 a 70 °C (74LS86) o −55 a 125 °C (5486 militar).</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XOR de 4 entradas: encadenar tres compuertas XOR (Y = A ⊕ B ⊕ C ⊕ D). La salida es '1' cuando el número de entradas altas es IMPAR: es exactamente el cálculo del bit de paridad impar.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XOR en aplicaciones: suma, paridad y control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que aparece en todo circuito aritmético y de comunicación.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93434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x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7486: la salida conmuta cada vez que una de las entradas cambia de estado, y cae cuando ambas coinciden.</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lf_adder.png"/>
          <p:cNvPicPr>
            <a:picLocks noChangeAspect="1"/>
          </p:cNvPicPr>
          <p:nvPr/>
        </p:nvPicPr>
        <p:blipFill>
          <a:blip r:embed="rId3"/>
          <a:stretch>
            <a:fillRect/>
          </a:stretch>
        </p:blipFill>
        <p:spPr>
          <a:xfrm>
            <a:off x="4139168" y="2263482"/>
            <a:ext cx="3307064" cy="183725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Medio sumador construido con una XOR (para la suma S) y una AND (para el acarreo C): la célula aritmética mínima.</a:t>
            </a:r>
          </a:p>
        </p:txBody>
      </p:sp>
      <p:sp>
        <p:nvSpPr>
          <p:cNvPr id="22" name="Oval 21"/>
          <p:cNvSpPr/>
          <p:nvPr/>
        </p:nvSpPr>
        <p:spPr>
          <a:xfrm>
            <a:off x="7793705"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Suma binaria:</a:t>
            </a:r>
            <a:r>
              <a:rPr sz="1050" b="0">
                <a:solidFill>
                  <a:srgbClr val="2C3E56"/>
                </a:solidFill>
                <a:latin typeface="Segoe UI"/>
              </a:rPr>
              <a:t> S = A ⊕ B entrega el bit de suma sin considerar el acarreo entrante.</a:t>
            </a:r>
          </a:p>
        </p:txBody>
      </p:sp>
      <p:sp>
        <p:nvSpPr>
          <p:cNvPr id="24" name="Oval 23"/>
          <p:cNvSpPr/>
          <p:nvPr/>
        </p:nvSpPr>
        <p:spPr>
          <a:xfrm>
            <a:off x="7793705" y="184813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Paridad:</a:t>
            </a:r>
            <a:r>
              <a:rPr sz="1050" b="0">
                <a:solidFill>
                  <a:srgbClr val="2C3E56"/>
                </a:solidFill>
                <a:latin typeface="Segoe UI"/>
              </a:rPr>
              <a:t> encadenar XOR de todos los bits de un byte genera el bit de paridad impar en un solo chip.</a:t>
            </a:r>
          </a:p>
        </p:txBody>
      </p:sp>
      <p:sp>
        <p:nvSpPr>
          <p:cNvPr id="26" name="Oval 25"/>
          <p:cNvSpPr/>
          <p:nvPr/>
        </p:nvSpPr>
        <p:spPr>
          <a:xfrm>
            <a:off x="7793705" y="2269815"/>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Comparador de diferencia:</a:t>
            </a:r>
            <a:r>
              <a:rPr sz="1050" b="0">
                <a:solidFill>
                  <a:srgbClr val="2C3E56"/>
                </a:solidFill>
                <a:latin typeface="Segoe UI"/>
              </a:rPr>
              <a:t> dos palabras iguales dan 0 en todas sus XOR; cualquier diferencia produce al menos un 1.</a:t>
            </a:r>
          </a:p>
        </p:txBody>
      </p:sp>
      <p:sp>
        <p:nvSpPr>
          <p:cNvPr id="28" name="Oval 27"/>
          <p:cNvSpPr/>
          <p:nvPr/>
        </p:nvSpPr>
        <p:spPr>
          <a:xfrm>
            <a:off x="7793705" y="2865752"/>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Interruptor controlado:</a:t>
            </a:r>
            <a:r>
              <a:rPr sz="1050" b="0">
                <a:solidFill>
                  <a:srgbClr val="2C3E56"/>
                </a:solidFill>
                <a:latin typeface="Segoe UI"/>
              </a:rPr>
              <a:t> con una XOR la salida repite A cuando B = 0, y la invierte cuando B = 1 (inversor conmutable).</a:t>
            </a:r>
          </a:p>
        </p:txBody>
      </p:sp>
      <p:sp>
        <p:nvSpPr>
          <p:cNvPr id="30" name="Oval 29"/>
          <p:cNvSpPr/>
          <p:nvPr/>
        </p:nvSpPr>
        <p:spPr>
          <a:xfrm>
            <a:off x="7793705" y="346168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Generador pseudoaleatorio:</a:t>
            </a:r>
            <a:r>
              <a:rPr sz="1050" b="0">
                <a:solidFill>
                  <a:srgbClr val="2C3E56"/>
                </a:solidFill>
                <a:latin typeface="Segoe UI"/>
              </a:rPr>
              <a:t> realimentar varias etapas de un registro de desplazamiento con una XOR (LFSR).</a:t>
            </a:r>
          </a:p>
        </p:txBody>
      </p:sp>
      <p:sp>
        <p:nvSpPr>
          <p:cNvPr id="32" name="Oval 31"/>
          <p:cNvSpPr/>
          <p:nvPr/>
        </p:nvSpPr>
        <p:spPr>
          <a:xfrm>
            <a:off x="7793705" y="4057627"/>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 de transmisión:</a:t>
            </a:r>
            <a:r>
              <a:rPr sz="1050" b="0">
                <a:solidFill>
                  <a:srgbClr val="2C3E56"/>
                </a:solidFill>
                <a:latin typeface="Segoe UI"/>
              </a:rPr>
              <a:t> el receptor recalcula la paridad con XOR y la compara con la recibida para detectar errores.</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La XOR es la única compuerta cuya tabla coincide con la suma módulo 2: de ahí su papel central en la aritmética binaria y en la detección de errores.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XNOR / NEX-OR (Chip 74266)</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coincidencia: se activa cuando las entradas son iguales.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04675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xn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9A7008"/>
                </a:solidFill>
                <a:latin typeface="Consolas"/>
              </a:rPr>
              <a:t>74LS266 / 74266</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Exclusive-NOR (Open Collector)</a:t>
            </a:r>
          </a:p>
        </p:txBody>
      </p:sp>
      <p:sp>
        <p:nvSpPr>
          <p:cNvPr id="20" name="Oval 19"/>
          <p:cNvSpPr/>
          <p:nvPr/>
        </p:nvSpPr>
        <p:spPr>
          <a:xfrm>
            <a:off x="3959352" y="224942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XNOR en un DIP-14</a:t>
            </a:r>
          </a:p>
        </p:txBody>
      </p:sp>
      <p:sp>
        <p:nvSpPr>
          <p:cNvPr id="22" name="Oval 21"/>
          <p:cNvSpPr/>
          <p:nvPr/>
        </p:nvSpPr>
        <p:spPr>
          <a:xfrm>
            <a:off x="3959352" y="2565263"/>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si A = B (ambas 0 o ambas 1)</a:t>
            </a:r>
          </a:p>
        </p:txBody>
      </p:sp>
      <p:sp>
        <p:nvSpPr>
          <p:cNvPr id="24" name="Oval 23"/>
          <p:cNvSpPr/>
          <p:nvPr/>
        </p:nvSpPr>
        <p:spPr>
          <a:xfrm>
            <a:off x="3959352" y="2881103"/>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Salidas de COLECTOR ABIERTO</a:t>
            </a:r>
          </a:p>
        </p:txBody>
      </p:sp>
      <p:sp>
        <p:nvSpPr>
          <p:cNvPr id="26" name="Oval 25"/>
          <p:cNvSpPr/>
          <p:nvPr/>
        </p:nvSpPr>
        <p:spPr>
          <a:xfrm>
            <a:off x="3959352" y="3052739"/>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Requiere resistencia pull-up (4.7 kΩ)</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9A70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9A7008"/>
                </a:solidFill>
                <a:latin typeface="Consolas"/>
              </a:rPr>
              <a:t>Y = (A ⊕ B)' = A·B + A'·B'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9A7008"/>
                </a:solidFill>
                <a:latin typeface="Consolas"/>
              </a:rPr>
              <a:t>TABLA DE VERDAD · 74266</a:t>
            </a:r>
          </a:p>
        </p:txBody>
      </p:sp>
      <p:sp>
        <p:nvSpPr>
          <p:cNvPr id="32" name="Rectangle 31"/>
          <p:cNvSpPr/>
          <p:nvPr/>
        </p:nvSpPr>
        <p:spPr>
          <a:xfrm>
            <a:off x="6428232" y="1792224"/>
            <a:ext cx="5129784" cy="292608"/>
          </a:xfrm>
          <a:prstGeom prst="rect">
            <a:avLst/>
          </a:prstGeom>
          <a:solidFill>
            <a:srgbClr val="9A700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 ⊕ 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xn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Es una XOR con la salida invertida: produce '1' cuando las dos entradas coinciden. Su salida es de colector abierto, lo que significa que solo puede llevar la línea a '0' y necesita una resistencia externa de pull-up (típicamente 4.7 kΩ a VCC) para alcanzar el nivel alto. Esto permite conectar varias salidas al mismo nodo.</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Detectores de igualdad lógica, comparadores de magnitud (bits iguales en posiciones altas), verificadores de código binario, control de paridad par y circuitos de coincidencia de direcciones.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74266 y el detalle del colector abierto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único chip de la familia básica que exige resistencias pull-up externas.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15916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266.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Cuádruple compuerta XNOR con salidas de colector abierto en DIP-14. Al no tener transistor de pull-up interno, la salida queda en alta impedancia cuando debería estar en '1' y cae a '0' cuando la función se cumple.</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1Y=1, 1A=2, 1B=3 | 2Y=4, 2A=5, 2B=6 | GND=7 | 3A=8, 3B=9, 3Y=10 | 4A=11, 4B=12, 4Y=13 | VCC=14. Mismo patrón de salidas impares que el 7402.</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VOL máx 0.4 V con IOL 16 mA · corriente de fuga en alta 100 µA · tPD 15/20 ns · pull-up recomendada de 4.7 kΩ a 5 V para hasta 10 cargas TTL.</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9A7008"/>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Cálculo del pull-up: con una carga de 10 entradas TTL (0.4 mA cada una), la resistencia máxima es R = (VCC − VOHmín) / ITOTAL = (5 − 2.4) / 0.004 = 650 Ω. En la práctica se usa 4.7 kΩ porque el fan-out real rara vez es el máximo.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101"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102"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fltVal val="0.06"/>
                                          </p:val>
                                        </p:tav>
                                        <p:tav tm="100000">
                                          <p:val>
                                            <p:flt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XNOR en operación: comparación de igualdad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Tiempos y montaje de la compuerta de coincidencia.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27157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xn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74266: la salida permanece alta mientras ambas entradas tienen el mismo valor lógico.</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266.png"/>
          <p:cNvPicPr>
            <a:picLocks noChangeAspect="1"/>
          </p:cNvPicPr>
          <p:nvPr/>
        </p:nvPicPr>
        <p:blipFill>
          <a:blip r:embed="rId3"/>
          <a:srcRect l="10725" r="10725"/>
          <a:stretch>
            <a:fillRect/>
          </a:stretch>
        </p:blipFill>
        <p:spPr>
          <a:xfrm>
            <a:off x="4139168" y="1435608"/>
            <a:ext cx="3307064" cy="349300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Mapa de pines del 74266: salidas en los pines impares y colector abierto que exige pull-up externa.</a:t>
            </a:r>
          </a:p>
        </p:txBody>
      </p:sp>
      <p:sp>
        <p:nvSpPr>
          <p:cNvPr id="22" name="Oval 21"/>
          <p:cNvSpPr/>
          <p:nvPr/>
        </p:nvSpPr>
        <p:spPr>
          <a:xfrm>
            <a:off x="7793705" y="142646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Comparador de 1 bit:</a:t>
            </a:r>
            <a:r>
              <a:rPr sz="1050" b="0">
                <a:solidFill>
                  <a:srgbClr val="2C3E56"/>
                </a:solidFill>
                <a:latin typeface="Segoe UI"/>
              </a:rPr>
              <a:t> la salida es '1' cuando los bits comparados son iguales; en cascada (con AND) se comparan palabras completas.</a:t>
            </a:r>
          </a:p>
        </p:txBody>
      </p:sp>
      <p:sp>
        <p:nvSpPr>
          <p:cNvPr id="24" name="Oval 23"/>
          <p:cNvSpPr/>
          <p:nvPr/>
        </p:nvSpPr>
        <p:spPr>
          <a:xfrm>
            <a:off x="7793705" y="2022401"/>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Pull-up obligatoria:</a:t>
            </a:r>
            <a:r>
              <a:rPr sz="1050" b="0">
                <a:solidFill>
                  <a:srgbClr val="2C3E56"/>
                </a:solidFill>
                <a:latin typeface="Segoe UI"/>
              </a:rPr>
              <a:t> sin resistencia a VCC la salida nunca llega al nivel alto y el circuito parece 'muerto'.</a:t>
            </a:r>
          </a:p>
        </p:txBody>
      </p:sp>
      <p:sp>
        <p:nvSpPr>
          <p:cNvPr id="26" name="Oval 25"/>
          <p:cNvSpPr/>
          <p:nvPr/>
        </p:nvSpPr>
        <p:spPr>
          <a:xfrm>
            <a:off x="7793705" y="2444076"/>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Lógica cableada:</a:t>
            </a:r>
            <a:r>
              <a:rPr sz="1050" b="0">
                <a:solidFill>
                  <a:srgbClr val="2C3E56"/>
                </a:solidFill>
                <a:latin typeface="Segoe UI"/>
              </a:rPr>
              <a:t> al ser colector abierto, varias salidas XNOR pueden unirse en un solo nodo para obtener una función AND cableada.</a:t>
            </a:r>
          </a:p>
        </p:txBody>
      </p:sp>
      <p:sp>
        <p:nvSpPr>
          <p:cNvPr id="28" name="Oval 27"/>
          <p:cNvSpPr/>
          <p:nvPr/>
        </p:nvSpPr>
        <p:spPr>
          <a:xfrm>
            <a:off x="7793705" y="304001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98515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 práctica:</a:t>
            </a:r>
            <a:r>
              <a:rPr sz="1050" b="0">
                <a:solidFill>
                  <a:srgbClr val="2C3E56"/>
                </a:solidFill>
                <a:latin typeface="Segoe UI"/>
              </a:rPr>
              <a:t> medir la salida con el multímetro en las cuatro combinaciones; si nunca hay '1', falta la resistencia de pull-up.</a:t>
            </a:r>
          </a:p>
        </p:txBody>
      </p:sp>
      <p:sp>
        <p:nvSpPr>
          <p:cNvPr id="30" name="Oval 29"/>
          <p:cNvSpPr/>
          <p:nvPr/>
        </p:nvSpPr>
        <p:spPr>
          <a:xfrm>
            <a:off x="7793705" y="3635951"/>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8108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Alternativa:</a:t>
            </a:r>
            <a:r>
              <a:rPr sz="1050" b="0">
                <a:solidFill>
                  <a:srgbClr val="2C3E56"/>
                </a:solidFill>
                <a:latin typeface="Segoe UI"/>
              </a:rPr>
              <a:t> usar el 74HC7266 si se necesita una XNOR con salida estándar.</a:t>
            </a:r>
          </a:p>
        </p:txBody>
      </p:sp>
      <p:sp>
        <p:nvSpPr>
          <p:cNvPr id="32" name="Rounded Rectangle 31"/>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68112"/>
            <a:ext cx="32004" cy="640080"/>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9A7008"/>
                </a:solidFill>
                <a:latin typeface="Consolas"/>
              </a:rPr>
              <a:t>OBSERVACIÓN</a:t>
            </a:r>
          </a:p>
        </p:txBody>
      </p:sp>
      <p:sp>
        <p:nvSpPr>
          <p:cNvPr id="35" name="TextBox 3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Error típico de laboratorio: conectar el 74266 como si fuera un 7486. La tabla es inversa y la salida necesita pull-up, por lo que el circuito se comporta de manera desconcertante.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3" fill="hold">
                      <p:stCondLst>
                        <p:cond delay="indefinite"/>
                      </p:stCondLst>
                      <p:childTnLst>
                        <p:par>
                          <p:cTn id="84" fill="hold">
                            <p:stCondLst>
                              <p:cond delay="0"/>
                            </p:stCondLst>
                            <p:childTnLst>
                              <p:par>
                                <p:cTn id="73" fill="hold">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1" dur="420"/>
                                        <p:tgtEl>
                                          <p:spTgt spid="32"/>
                                        </p:tgtEl>
                                      </p:cBhvr>
                                    </p:animEffect>
                                  </p:childTnLst>
                                </p:cTn>
                              </p:par>
                              <p:par>
                                <p:cTn id="76" fill="hold">
                                  <p:stCondLst>
                                    <p:cond delay="110"/>
                                  </p:stCondLst>
                                  <p:childTnLst>
                                    <p:set>
                                      <p:cBhvr>
                                        <p:cTn id="75" dur="1" fill="hold">
                                          <p:stCondLst>
                                            <p:cond delay="0"/>
                                          </p:stCondLst>
                                        </p:cTn>
                                        <p:tgtEl>
                                          <p:spTgt spid="33"/>
                                        </p:tgtEl>
                                        <p:attrNameLst>
                                          <p:attrName>style.visibility</p:attrName>
                                        </p:attrNameLst>
                                      </p:cBhvr>
                                      <p:to>
                                        <p:strVal val="visible"/>
                                      </p:to>
                                    </p:set>
                                    <p:animEffect transition="in" filter="fade">
                                      <p:cBhvr>
                                        <p:cTn id="74" dur="420"/>
                                        <p:tgtEl>
                                          <p:spTgt spid="33"/>
                                        </p:tgtEl>
                                      </p:cBhvr>
                                    </p:animEffect>
                                  </p:childTnLst>
                                </p:cTn>
                              </p:par>
                              <p:par>
                                <p:cTn id="79" fill="hold">
                                  <p:stCondLst>
                                    <p:cond delay="2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7" dur="420"/>
                                        <p:tgtEl>
                                          <p:spTgt spid="34"/>
                                        </p:tgtEl>
                                      </p:cBhvr>
                                    </p:animEffect>
                                  </p:childTnLst>
                                </p:cTn>
                              </p:par>
                              <p:par>
                                <p:cTn id="82" fill="hold">
                                  <p:stCondLst>
                                    <p:cond delay="330"/>
                                  </p:stCondLst>
                                  <p:childTnLst>
                                    <p:set>
                                      <p:cBhvr>
                                        <p:cTn id="81" dur="1" fill="hold">
                                          <p:stCondLst>
                                            <p:cond delay="0"/>
                                          </p:stCondLst>
                                        </p:cTn>
                                        <p:tgtEl>
                                          <p:spTgt spid="35"/>
                                        </p:tgtEl>
                                        <p:attrNameLst>
                                          <p:attrName>style.visibility</p:attrName>
                                        </p:attrNameLst>
                                      </p:cBhvr>
                                      <p:to>
                                        <p:strVal val="visible"/>
                                      </p:to>
                                    </p:set>
                                    <p:animEffect transition="in" filter="fade">
                                      <p:cBhvr>
                                        <p:cTn id="80"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Comparativa total de los chips estudiados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Referencia rápida: función, compuertas por chip, tabla y aplicación principal.</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38398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977795"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Chip</a:t>
            </a:r>
          </a:p>
        </p:txBody>
      </p:sp>
      <p:sp>
        <p:nvSpPr>
          <p:cNvPr id="18" name="TextBox 17"/>
          <p:cNvSpPr txBox="1"/>
          <p:nvPr/>
        </p:nvSpPr>
        <p:spPr>
          <a:xfrm>
            <a:off x="1672739" y="1371600"/>
            <a:ext cx="165225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Función</a:t>
            </a:r>
          </a:p>
        </p:txBody>
      </p:sp>
      <p:sp>
        <p:nvSpPr>
          <p:cNvPr id="19" name="TextBox 18"/>
          <p:cNvSpPr txBox="1"/>
          <p:nvPr/>
        </p:nvSpPr>
        <p:spPr>
          <a:xfrm>
            <a:off x="3471298" y="1371600"/>
            <a:ext cx="1090205"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Compuertas</a:t>
            </a:r>
          </a:p>
        </p:txBody>
      </p:sp>
      <p:sp>
        <p:nvSpPr>
          <p:cNvPr id="20" name="TextBox 19"/>
          <p:cNvSpPr txBox="1"/>
          <p:nvPr/>
        </p:nvSpPr>
        <p:spPr>
          <a:xfrm>
            <a:off x="4707807" y="1371600"/>
            <a:ext cx="32259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Salida = 1 cuando…</a:t>
            </a:r>
          </a:p>
        </p:txBody>
      </p:sp>
      <p:sp>
        <p:nvSpPr>
          <p:cNvPr id="21" name="TextBox 20"/>
          <p:cNvSpPr txBox="1"/>
          <p:nvPr/>
        </p:nvSpPr>
        <p:spPr>
          <a:xfrm>
            <a:off x="8080105" y="1371600"/>
            <a:ext cx="3563223"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Aplicación estrella</a:t>
            </a:r>
          </a:p>
        </p:txBody>
      </p:sp>
      <p:sp>
        <p:nvSpPr>
          <p:cNvPr id="22" name="Rectangle 21"/>
          <p:cNvSpPr/>
          <p:nvPr/>
        </p:nvSpPr>
        <p:spPr>
          <a:xfrm>
            <a:off x="475488" y="170078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7408</a:t>
            </a:r>
          </a:p>
        </p:txBody>
      </p:sp>
      <p:sp>
        <p:nvSpPr>
          <p:cNvPr id="24" name="TextBox 23"/>
          <p:cNvSpPr txBox="1"/>
          <p:nvPr/>
        </p:nvSpPr>
        <p:spPr>
          <a:xfrm>
            <a:off x="1672739" y="170078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AND</a:t>
            </a:r>
          </a:p>
        </p:txBody>
      </p:sp>
      <p:sp>
        <p:nvSpPr>
          <p:cNvPr id="25" name="TextBox 24"/>
          <p:cNvSpPr txBox="1"/>
          <p:nvPr/>
        </p:nvSpPr>
        <p:spPr>
          <a:xfrm>
            <a:off x="3471298" y="170078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26" name="TextBox 25"/>
          <p:cNvSpPr txBox="1"/>
          <p:nvPr/>
        </p:nvSpPr>
        <p:spPr>
          <a:xfrm>
            <a:off x="4707807" y="170078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Todas las entradas están en '1'</a:t>
            </a:r>
          </a:p>
        </p:txBody>
      </p:sp>
      <p:sp>
        <p:nvSpPr>
          <p:cNvPr id="27" name="TextBox 26"/>
          <p:cNvSpPr txBox="1"/>
          <p:nvPr/>
        </p:nvSpPr>
        <p:spPr>
          <a:xfrm>
            <a:off x="8080105" y="170078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Doble confirmación de condiciones y máscaras de bits</a:t>
            </a:r>
          </a:p>
        </p:txBody>
      </p:sp>
      <p:sp>
        <p:nvSpPr>
          <p:cNvPr id="28" name="TextBox 27"/>
          <p:cNvSpPr txBox="1"/>
          <p:nvPr/>
        </p:nvSpPr>
        <p:spPr>
          <a:xfrm>
            <a:off x="548640" y="2086863"/>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7432</a:t>
            </a:r>
          </a:p>
        </p:txBody>
      </p:sp>
      <p:sp>
        <p:nvSpPr>
          <p:cNvPr id="29" name="TextBox 28"/>
          <p:cNvSpPr txBox="1"/>
          <p:nvPr/>
        </p:nvSpPr>
        <p:spPr>
          <a:xfrm>
            <a:off x="1672739" y="2086863"/>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OR</a:t>
            </a:r>
          </a:p>
        </p:txBody>
      </p:sp>
      <p:sp>
        <p:nvSpPr>
          <p:cNvPr id="30" name="TextBox 29"/>
          <p:cNvSpPr txBox="1"/>
          <p:nvPr/>
        </p:nvSpPr>
        <p:spPr>
          <a:xfrm>
            <a:off x="3471298" y="2086863"/>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31" name="TextBox 30"/>
          <p:cNvSpPr txBox="1"/>
          <p:nvPr/>
        </p:nvSpPr>
        <p:spPr>
          <a:xfrm>
            <a:off x="4707807" y="2086863"/>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Al menos una entrada está en '1'</a:t>
            </a:r>
          </a:p>
        </p:txBody>
      </p:sp>
      <p:sp>
        <p:nvSpPr>
          <p:cNvPr id="32" name="TextBox 31"/>
          <p:cNvSpPr txBox="1"/>
          <p:nvPr/>
        </p:nvSpPr>
        <p:spPr>
          <a:xfrm>
            <a:off x="8080105" y="2086863"/>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Alarmas multisensor y unión de señales</a:t>
            </a:r>
          </a:p>
        </p:txBody>
      </p:sp>
      <p:sp>
        <p:nvSpPr>
          <p:cNvPr id="33" name="Rectangle 32"/>
          <p:cNvSpPr/>
          <p:nvPr/>
        </p:nvSpPr>
        <p:spPr>
          <a:xfrm>
            <a:off x="475488" y="247294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47294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7404</a:t>
            </a:r>
          </a:p>
        </p:txBody>
      </p:sp>
      <p:sp>
        <p:nvSpPr>
          <p:cNvPr id="35" name="TextBox 34"/>
          <p:cNvSpPr txBox="1"/>
          <p:nvPr/>
        </p:nvSpPr>
        <p:spPr>
          <a:xfrm>
            <a:off x="1672739" y="247294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NOT</a:t>
            </a:r>
          </a:p>
        </p:txBody>
      </p:sp>
      <p:sp>
        <p:nvSpPr>
          <p:cNvPr id="36" name="TextBox 35"/>
          <p:cNvSpPr txBox="1"/>
          <p:nvPr/>
        </p:nvSpPr>
        <p:spPr>
          <a:xfrm>
            <a:off x="3471298" y="247294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6 inversores</a:t>
            </a:r>
          </a:p>
        </p:txBody>
      </p:sp>
      <p:sp>
        <p:nvSpPr>
          <p:cNvPr id="37" name="TextBox 36"/>
          <p:cNvSpPr txBox="1"/>
          <p:nvPr/>
        </p:nvSpPr>
        <p:spPr>
          <a:xfrm>
            <a:off x="4707807" y="247294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La entrada está en '0'</a:t>
            </a:r>
          </a:p>
        </p:txBody>
      </p:sp>
      <p:sp>
        <p:nvSpPr>
          <p:cNvPr id="38" name="TextBox 37"/>
          <p:cNvSpPr txBox="1"/>
          <p:nvPr/>
        </p:nvSpPr>
        <p:spPr>
          <a:xfrm>
            <a:off x="8080105" y="247294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Generar variables negadas y osciladores</a:t>
            </a:r>
          </a:p>
        </p:txBody>
      </p:sp>
      <p:sp>
        <p:nvSpPr>
          <p:cNvPr id="39" name="TextBox 38"/>
          <p:cNvSpPr txBox="1"/>
          <p:nvPr/>
        </p:nvSpPr>
        <p:spPr>
          <a:xfrm>
            <a:off x="548640" y="285902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7400</a:t>
            </a:r>
          </a:p>
        </p:txBody>
      </p:sp>
      <p:sp>
        <p:nvSpPr>
          <p:cNvPr id="40" name="TextBox 39"/>
          <p:cNvSpPr txBox="1"/>
          <p:nvPr/>
        </p:nvSpPr>
        <p:spPr>
          <a:xfrm>
            <a:off x="1672739" y="285902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NAND</a:t>
            </a:r>
          </a:p>
        </p:txBody>
      </p:sp>
      <p:sp>
        <p:nvSpPr>
          <p:cNvPr id="41" name="TextBox 40"/>
          <p:cNvSpPr txBox="1"/>
          <p:nvPr/>
        </p:nvSpPr>
        <p:spPr>
          <a:xfrm>
            <a:off x="3471298" y="285902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42" name="TextBox 41"/>
          <p:cNvSpPr txBox="1"/>
          <p:nvPr/>
        </p:nvSpPr>
        <p:spPr>
          <a:xfrm>
            <a:off x="4707807" y="285902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 todas las entradas están en '1'</a:t>
            </a:r>
          </a:p>
        </p:txBody>
      </p:sp>
      <p:sp>
        <p:nvSpPr>
          <p:cNvPr id="43" name="TextBox 42"/>
          <p:cNvSpPr txBox="1"/>
          <p:nvPr/>
        </p:nvSpPr>
        <p:spPr>
          <a:xfrm>
            <a:off x="8080105" y="285902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Lógica universal, latches y antirrebote</a:t>
            </a:r>
          </a:p>
        </p:txBody>
      </p:sp>
      <p:sp>
        <p:nvSpPr>
          <p:cNvPr id="44" name="Rectangle 43"/>
          <p:cNvSpPr/>
          <p:nvPr/>
        </p:nvSpPr>
        <p:spPr>
          <a:xfrm>
            <a:off x="475488" y="324510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24510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7402</a:t>
            </a:r>
          </a:p>
        </p:txBody>
      </p:sp>
      <p:sp>
        <p:nvSpPr>
          <p:cNvPr id="46" name="TextBox 45"/>
          <p:cNvSpPr txBox="1"/>
          <p:nvPr/>
        </p:nvSpPr>
        <p:spPr>
          <a:xfrm>
            <a:off x="1672739" y="324510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NOR</a:t>
            </a:r>
          </a:p>
        </p:txBody>
      </p:sp>
      <p:sp>
        <p:nvSpPr>
          <p:cNvPr id="47" name="TextBox 46"/>
          <p:cNvSpPr txBox="1"/>
          <p:nvPr/>
        </p:nvSpPr>
        <p:spPr>
          <a:xfrm>
            <a:off x="3471298" y="324510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48" name="TextBox 47"/>
          <p:cNvSpPr txBox="1"/>
          <p:nvPr/>
        </p:nvSpPr>
        <p:spPr>
          <a:xfrm>
            <a:off x="4707807" y="324510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Ninguna entrada está en '1'</a:t>
            </a:r>
          </a:p>
        </p:txBody>
      </p:sp>
      <p:sp>
        <p:nvSpPr>
          <p:cNvPr id="49" name="TextBox 48"/>
          <p:cNvSpPr txBox="1"/>
          <p:nvPr/>
        </p:nvSpPr>
        <p:spPr>
          <a:xfrm>
            <a:off x="8080105" y="324510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Lógica universal en CMOS y seguridades</a:t>
            </a:r>
          </a:p>
        </p:txBody>
      </p:sp>
      <p:sp>
        <p:nvSpPr>
          <p:cNvPr id="50" name="TextBox 49"/>
          <p:cNvSpPr txBox="1"/>
          <p:nvPr/>
        </p:nvSpPr>
        <p:spPr>
          <a:xfrm>
            <a:off x="548640" y="363118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7486</a:t>
            </a:r>
          </a:p>
        </p:txBody>
      </p:sp>
      <p:sp>
        <p:nvSpPr>
          <p:cNvPr id="51" name="TextBox 50"/>
          <p:cNvSpPr txBox="1"/>
          <p:nvPr/>
        </p:nvSpPr>
        <p:spPr>
          <a:xfrm>
            <a:off x="1672739" y="363118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XOR</a:t>
            </a:r>
          </a:p>
        </p:txBody>
      </p:sp>
      <p:sp>
        <p:nvSpPr>
          <p:cNvPr id="52" name="TextBox 51"/>
          <p:cNvSpPr txBox="1"/>
          <p:nvPr/>
        </p:nvSpPr>
        <p:spPr>
          <a:xfrm>
            <a:off x="3471298" y="363118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53" name="TextBox 52"/>
          <p:cNvSpPr txBox="1"/>
          <p:nvPr/>
        </p:nvSpPr>
        <p:spPr>
          <a:xfrm>
            <a:off x="4707807" y="363118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Las entradas son diferentes</a:t>
            </a:r>
          </a:p>
        </p:txBody>
      </p:sp>
      <p:sp>
        <p:nvSpPr>
          <p:cNvPr id="54" name="TextBox 53"/>
          <p:cNvSpPr txBox="1"/>
          <p:nvPr/>
        </p:nvSpPr>
        <p:spPr>
          <a:xfrm>
            <a:off x="8080105" y="363118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Sumadores y bit de paridad</a:t>
            </a:r>
          </a:p>
        </p:txBody>
      </p:sp>
      <p:sp>
        <p:nvSpPr>
          <p:cNvPr id="55" name="Rectangle 54"/>
          <p:cNvSpPr/>
          <p:nvPr/>
        </p:nvSpPr>
        <p:spPr>
          <a:xfrm>
            <a:off x="475488" y="401726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401726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74266</a:t>
            </a:r>
          </a:p>
        </p:txBody>
      </p:sp>
      <p:sp>
        <p:nvSpPr>
          <p:cNvPr id="57" name="TextBox 56"/>
          <p:cNvSpPr txBox="1"/>
          <p:nvPr/>
        </p:nvSpPr>
        <p:spPr>
          <a:xfrm>
            <a:off x="1672739" y="401726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XNOR</a:t>
            </a:r>
          </a:p>
        </p:txBody>
      </p:sp>
      <p:sp>
        <p:nvSpPr>
          <p:cNvPr id="58" name="TextBox 57"/>
          <p:cNvSpPr txBox="1"/>
          <p:nvPr/>
        </p:nvSpPr>
        <p:spPr>
          <a:xfrm>
            <a:off x="3471298" y="401726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59" name="TextBox 58"/>
          <p:cNvSpPr txBox="1"/>
          <p:nvPr/>
        </p:nvSpPr>
        <p:spPr>
          <a:xfrm>
            <a:off x="4707807" y="401726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Las entradas son iguales</a:t>
            </a:r>
          </a:p>
        </p:txBody>
      </p:sp>
      <p:sp>
        <p:nvSpPr>
          <p:cNvPr id="60" name="TextBox 59"/>
          <p:cNvSpPr txBox="1"/>
          <p:nvPr/>
        </p:nvSpPr>
        <p:spPr>
          <a:xfrm>
            <a:off x="8080105" y="401726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Comparadores de igualdad (con pull-up)</a:t>
            </a:r>
          </a:p>
        </p:txBody>
      </p:sp>
      <p:sp>
        <p:nvSpPr>
          <p:cNvPr id="61" name="TextBox 60"/>
          <p:cNvSpPr txBox="1"/>
          <p:nvPr/>
        </p:nvSpPr>
        <p:spPr>
          <a:xfrm>
            <a:off x="548640" y="440334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7414</a:t>
            </a:r>
          </a:p>
        </p:txBody>
      </p:sp>
      <p:sp>
        <p:nvSpPr>
          <p:cNvPr id="62" name="TextBox 61"/>
          <p:cNvSpPr txBox="1"/>
          <p:nvPr/>
        </p:nvSpPr>
        <p:spPr>
          <a:xfrm>
            <a:off x="1672739" y="440334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NOT Schmitt</a:t>
            </a:r>
          </a:p>
        </p:txBody>
      </p:sp>
      <p:sp>
        <p:nvSpPr>
          <p:cNvPr id="63" name="TextBox 62"/>
          <p:cNvSpPr txBox="1"/>
          <p:nvPr/>
        </p:nvSpPr>
        <p:spPr>
          <a:xfrm>
            <a:off x="3471298" y="440334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6 inversores</a:t>
            </a:r>
          </a:p>
        </p:txBody>
      </p:sp>
      <p:sp>
        <p:nvSpPr>
          <p:cNvPr id="64" name="TextBox 63"/>
          <p:cNvSpPr txBox="1"/>
          <p:nvPr/>
        </p:nvSpPr>
        <p:spPr>
          <a:xfrm>
            <a:off x="4707807" y="440334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La entrada supera el umbral VT+</a:t>
            </a:r>
          </a:p>
        </p:txBody>
      </p:sp>
      <p:sp>
        <p:nvSpPr>
          <p:cNvPr id="65" name="TextBox 64"/>
          <p:cNvSpPr txBox="1"/>
          <p:nvPr/>
        </p:nvSpPr>
        <p:spPr>
          <a:xfrm>
            <a:off x="8080105" y="440334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Señales lentas o con rebote y ruido</a:t>
            </a:r>
          </a:p>
        </p:txBody>
      </p:sp>
      <p:sp>
        <p:nvSpPr>
          <p:cNvPr id="66" name="Rectangle 65"/>
          <p:cNvSpPr/>
          <p:nvPr/>
        </p:nvSpPr>
        <p:spPr>
          <a:xfrm>
            <a:off x="475488" y="478942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78942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74132</a:t>
            </a:r>
          </a:p>
        </p:txBody>
      </p:sp>
      <p:sp>
        <p:nvSpPr>
          <p:cNvPr id="68" name="TextBox 67"/>
          <p:cNvSpPr txBox="1"/>
          <p:nvPr/>
        </p:nvSpPr>
        <p:spPr>
          <a:xfrm>
            <a:off x="1672739" y="478942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NAND Schmitt</a:t>
            </a:r>
          </a:p>
        </p:txBody>
      </p:sp>
      <p:sp>
        <p:nvSpPr>
          <p:cNvPr id="69" name="TextBox 68"/>
          <p:cNvSpPr txBox="1"/>
          <p:nvPr/>
        </p:nvSpPr>
        <p:spPr>
          <a:xfrm>
            <a:off x="3471298" y="478942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70" name="TextBox 69"/>
          <p:cNvSpPr txBox="1"/>
          <p:nvPr/>
        </p:nvSpPr>
        <p:spPr>
          <a:xfrm>
            <a:off x="4707807" y="478942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 todas las entradas en '1'</a:t>
            </a:r>
          </a:p>
        </p:txBody>
      </p:sp>
      <p:sp>
        <p:nvSpPr>
          <p:cNvPr id="71" name="TextBox 70"/>
          <p:cNvSpPr txBox="1"/>
          <p:nvPr/>
        </p:nvSpPr>
        <p:spPr>
          <a:xfrm>
            <a:off x="8080105" y="478942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Conformado de pulsos y osciladores RC</a:t>
            </a:r>
          </a:p>
        </p:txBody>
      </p:sp>
      <p:sp>
        <p:nvSpPr>
          <p:cNvPr id="72" name="Rounded Rectangle 71"/>
          <p:cNvSpPr/>
          <p:nvPr/>
        </p:nvSpPr>
        <p:spPr>
          <a:xfrm>
            <a:off x="475488" y="1371600"/>
            <a:ext cx="11240993" cy="3803904"/>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COMPATIBILIDAD</a:t>
            </a:r>
          </a:p>
        </p:txBody>
      </p:sp>
      <p:sp>
        <p:nvSpPr>
          <p:cNvPr id="76" name="TextBox 7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Todos los chips de la tabla existen en las subfamilias 74LS, 74ALS, 74F, 74HC y 74HCT con el MISMO pinout: se puede cambiar la tecnología sin rediseñar el circuito, ajustando solo la corriente y la velocidad.</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15"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16"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17"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1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19" dur="420"/>
                                        <p:tgtEl>
                                          <p:spTgt spid="20"/>
                                        </p:tgtEl>
                                      </p:cBhvr>
                                    </p:animEffect>
                                  </p:childTnLst>
                                </p:cTn>
                              </p:par>
                            </p:childTnLst>
                          </p:cTn>
                        </p:par>
                      </p:childTnLst>
                    </p:cTn>
                  </p:par>
                  <p:par>
                    <p:cTn id="213" fill="hold">
                      <p:stCondLst>
                        <p:cond delay="0"/>
                      </p:stCondLst>
                      <p:childTnLst>
                        <p:par>
                          <p:cTn id="214"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220"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22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222"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223"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224"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225"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22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227"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228"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229"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230"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23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232"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233"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234"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235"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23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237"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238"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239"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240"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24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242"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243"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244"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245"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24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247"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248"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249"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250"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25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252"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253"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254"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255"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2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257"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258"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259"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260"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26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262"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263"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264"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265"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26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267"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268"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269"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270" dur="420"/>
                                        <p:tgtEl>
                                          <p:spTgt spid="71"/>
                                        </p:tgtEl>
                                      </p:cBhvr>
                                    </p:animEffect>
                                  </p:childTnLst>
                                </p:cTn>
                              </p:par>
                              <p:par>
                                <p:cTn id="203" fill="hold">
                                  <p:stCondLst>
                                    <p:cond delay="5610"/>
                                  </p:stCondLst>
                                  <p:childTnLst>
                                    <p:set>
                                      <p:cBhvr>
                                        <p:cTn id="202" dur="1" fill="hold">
                                          <p:stCondLst>
                                            <p:cond delay="0"/>
                                          </p:stCondLst>
                                        </p:cTn>
                                        <p:tgtEl>
                                          <p:spTgt spid="73"/>
                                        </p:tgtEl>
                                        <p:attrNameLst>
                                          <p:attrName>style.visibility</p:attrName>
                                        </p:attrNameLst>
                                      </p:cBhvr>
                                      <p:to>
                                        <p:strVal val="visible"/>
                                      </p:to>
                                    </p:set>
                                    <p:animEffect transition="in" filter="wipe(left)">
                                      <p:cBhvr>
                                        <p:cTn id="201" dur="420"/>
                                        <p:tgtEl>
                                          <p:spTgt spid="73"/>
                                        </p:tgtEl>
                                      </p:cBhvr>
                                    </p:animEffect>
                                    <p:animEffect transition="in" filter="fade">
                                      <p:cBhvr>
                                        <p:cTn id="271" dur="420"/>
                                        <p:tgtEl>
                                          <p:spTgt spid="73"/>
                                        </p:tgtEl>
                                      </p:cBhvr>
                                    </p:animEffect>
                                  </p:childTnLst>
                                </p:cTn>
                              </p:par>
                              <p:par>
                                <p:cTn id="206" fill="hold">
                                  <p:stCondLst>
                                    <p:cond delay="5720"/>
                                  </p:stCondLst>
                                  <p:childTnLst>
                                    <p:set>
                                      <p:cBhvr>
                                        <p:cTn id="205" dur="1" fill="hold">
                                          <p:stCondLst>
                                            <p:cond delay="0"/>
                                          </p:stCondLst>
                                        </p:cTn>
                                        <p:tgtEl>
                                          <p:spTgt spid="74"/>
                                        </p:tgtEl>
                                        <p:attrNameLst>
                                          <p:attrName>style.visibility</p:attrName>
                                        </p:attrNameLst>
                                      </p:cBhvr>
                                      <p:to>
                                        <p:strVal val="visible"/>
                                      </p:to>
                                    </p:set>
                                    <p:animEffect transition="in" filter="wipe(left)">
                                      <p:cBhvr>
                                        <p:cTn id="204" dur="420"/>
                                        <p:tgtEl>
                                          <p:spTgt spid="74"/>
                                        </p:tgtEl>
                                      </p:cBhvr>
                                    </p:animEffect>
                                    <p:animEffect transition="in" filter="fade">
                                      <p:cBhvr>
                                        <p:cTn id="272" dur="420"/>
                                        <p:tgtEl>
                                          <p:spTgt spid="74"/>
                                        </p:tgtEl>
                                      </p:cBhvr>
                                    </p:animEffect>
                                  </p:childTnLst>
                                </p:cTn>
                              </p:par>
                              <p:par>
                                <p:cTn id="209" fill="hold">
                                  <p:stCondLst>
                                    <p:cond delay="5830"/>
                                  </p:stCondLst>
                                  <p:childTnLst>
                                    <p:set>
                                      <p:cBhvr>
                                        <p:cTn id="208" dur="1" fill="hold">
                                          <p:stCondLst>
                                            <p:cond delay="0"/>
                                          </p:stCondLst>
                                        </p:cTn>
                                        <p:tgtEl>
                                          <p:spTgt spid="75"/>
                                        </p:tgtEl>
                                        <p:attrNameLst>
                                          <p:attrName>style.visibility</p:attrName>
                                        </p:attrNameLst>
                                      </p:cBhvr>
                                      <p:to>
                                        <p:strVal val="visible"/>
                                      </p:to>
                                    </p:set>
                                    <p:animEffect transition="in" filter="wipe(left)">
                                      <p:cBhvr>
                                        <p:cTn id="207" dur="420"/>
                                        <p:tgtEl>
                                          <p:spTgt spid="75"/>
                                        </p:tgtEl>
                                      </p:cBhvr>
                                    </p:animEffect>
                                    <p:animEffect transition="in" filter="fade">
                                      <p:cBhvr>
                                        <p:cTn id="273" dur="420"/>
                                        <p:tgtEl>
                                          <p:spTgt spid="75"/>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wipe(left)">
                                      <p:cBhvr>
                                        <p:cTn id="210" dur="420"/>
                                        <p:tgtEl>
                                          <p:spTgt spid="76"/>
                                        </p:tgtEl>
                                      </p:cBhvr>
                                    </p:animEffect>
                                    <p:animEffect transition="in" filter="fade">
                                      <p:cBhvr>
                                        <p:cTn id="274" dur="42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Cómo leer cualquier símbolo de compuerta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Formas, burbujas y etiquetas: el lenguaje gráfico universal de la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49639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Forma y función</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Rectángulo con frente curvo = AND. Escudo puntiagudo = OR. Triángulo pequeño = buffer o NOT. La forma indica la operación aunque falte la etiqueta.</a:t>
            </a:r>
          </a:p>
        </p:txBody>
      </p:sp>
      <p:sp>
        <p:nvSpPr>
          <p:cNvPr id="21" name="Rounded Rectangle 20"/>
          <p:cNvSpPr/>
          <p:nvPr/>
        </p:nvSpPr>
        <p:spPr>
          <a:xfrm>
            <a:off x="619656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La burbuja de inversión</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círculo pequeño en la salida invierte el resultado: AND→NAND, OR→NOR, XOR→XNOR, buffer→NOT. En una entrada, la burbuja indica que ese pin es activo en bajo.</a:t>
            </a:r>
          </a:p>
        </p:txBody>
      </p:sp>
      <p:sp>
        <p:nvSpPr>
          <p:cNvPr id="26" name="Rounded Rectangle 25"/>
          <p:cNvSpPr/>
          <p:nvPr/>
        </p:nvSpPr>
        <p:spPr>
          <a:xfrm>
            <a:off x="47548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3</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Doble curva en el dorso</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La línea extra en la parte de atrás del símbolo identifica exclusividad: XOR y XNOR. Sin ella, el símbolo sería un OR o un NOR convencional.</a:t>
            </a:r>
          </a:p>
        </p:txBody>
      </p:sp>
      <p:sp>
        <p:nvSpPr>
          <p:cNvPr id="31" name="Rounded Rectangle 30"/>
          <p:cNvSpPr/>
          <p:nvPr/>
        </p:nvSpPr>
        <p:spPr>
          <a:xfrm>
            <a:off x="619656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4</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Etiquetas de pines</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Sobre las líneas de entrada se escriben las variables (A, B, CIN, CLK) y sobre la salida el nombre de la función (Y, S, COUT, Q). En equipos reales, una barra sobre el nombre indica nivel bajo activo.</a:t>
            </a:r>
          </a:p>
        </p:txBody>
      </p:sp>
      <p:sp>
        <p:nvSpPr>
          <p:cNvPr id="36" name="Rounded Rectangle 35"/>
          <p:cNvSpPr/>
          <p:nvPr/>
        </p:nvSpPr>
        <p:spPr>
          <a:xfrm>
            <a:off x="47548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5</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Compuertas de 3 o más entradas</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Se dibujan más líneas de entrada sobre el mismo símbolo. Existen AND de 3 entradas (7411), NAND de 8 (7430), OR de 4 (7402 ampliado), etcétera.</a:t>
            </a:r>
          </a:p>
        </p:txBody>
      </p:sp>
      <p:sp>
        <p:nvSpPr>
          <p:cNvPr id="41" name="Rounded Rectangle 40"/>
          <p:cNvSpPr/>
          <p:nvPr/>
        </p:nvSpPr>
        <p:spPr>
          <a:xfrm>
            <a:off x="619656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6</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Símbolos IEC vs. ANSI</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El símbolo ANSI (americano) usa formas; el IEC (europeo) usa rectángulos con el operador dentro (&amp;, ≥1, =1). Ambos describen la misma función y aparecen en distintos libros.</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mnemotécnica: 'burbuja a la salida, resultado invertido; burbuja a la entrada, señal activa en bajo'. Con esa sola idea se lee cualquier esquema comercial.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NAND vs. NOR: ¿cuál elegir como compuerta universal?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Ambas construyen cualquier función; la decisión es de economía de compuertas.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60880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0E8A5F"/>
                </a:solidFill>
                <a:latin typeface="Segoe UI Semibold"/>
              </a:rPr>
              <a:t>Compuerta NAND (7400)</a:t>
            </a:r>
          </a:p>
        </p:txBody>
      </p:sp>
      <p:sp>
        <p:nvSpPr>
          <p:cNvPr id="19" name="Oval 18"/>
          <p:cNvSpPr/>
          <p:nvPr/>
        </p:nvSpPr>
        <p:spPr>
          <a:xfrm>
            <a:off x="685799" y="197510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NOT:</a:t>
            </a:r>
            <a:r>
              <a:rPr sz="1150" b="0">
                <a:solidFill>
                  <a:srgbClr val="2C3E56"/>
                </a:solidFill>
                <a:latin typeface="Segoe UI"/>
              </a:rPr>
              <a:t> 1 compuerta · </a:t>
            </a:r>
            <a:r>
              <a:rPr sz="1150" b="1">
                <a:solidFill>
                  <a:srgbClr val="2C3E56"/>
                </a:solidFill>
                <a:latin typeface="Segoe UI Semibold"/>
              </a:rPr>
              <a:t>AND:</a:t>
            </a:r>
            <a:r>
              <a:rPr sz="1150" b="0">
                <a:solidFill>
                  <a:srgbClr val="2C3E56"/>
                </a:solidFill>
                <a:latin typeface="Segoe UI"/>
              </a:rPr>
              <a:t> 2 · </a:t>
            </a:r>
            <a:r>
              <a:rPr sz="1150" b="1">
                <a:solidFill>
                  <a:srgbClr val="2C3E56"/>
                </a:solidFill>
                <a:latin typeface="Segoe UI Semibold"/>
              </a:rPr>
              <a:t>OR:</a:t>
            </a:r>
            <a:r>
              <a:rPr sz="1150" b="0">
                <a:solidFill>
                  <a:srgbClr val="2C3E56"/>
                </a:solidFill>
                <a:latin typeface="Segoe UI"/>
              </a:rPr>
              <a:t> 3 · </a:t>
            </a:r>
            <a:r>
              <a:rPr sz="1150" b="1">
                <a:solidFill>
                  <a:srgbClr val="2C3E56"/>
                </a:solidFill>
                <a:latin typeface="Segoe UI Semibold"/>
              </a:rPr>
              <a:t>NOR:</a:t>
            </a:r>
            <a:r>
              <a:rPr sz="1150" b="0">
                <a:solidFill>
                  <a:srgbClr val="2C3E56"/>
                </a:solidFill>
                <a:latin typeface="Segoe UI"/>
              </a:rPr>
              <a:t> 4.</a:t>
            </a:r>
          </a:p>
        </p:txBody>
      </p:sp>
      <p:sp>
        <p:nvSpPr>
          <p:cNvPr id="21" name="Oval 20"/>
          <p:cNvSpPr/>
          <p:nvPr/>
        </p:nvSpPr>
        <p:spPr>
          <a:xfrm>
            <a:off x="685799" y="225532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200462"/>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Natural en TTL porque el transistor de salida sumidera corriente con eficiencia.</a:t>
            </a:r>
          </a:p>
        </p:txBody>
      </p:sp>
      <p:sp>
        <p:nvSpPr>
          <p:cNvPr id="23" name="Oval 22"/>
          <p:cNvSpPr/>
          <p:nvPr/>
        </p:nvSpPr>
        <p:spPr>
          <a:xfrm>
            <a:off x="685799" y="273347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67861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Menor retardo de propagación en la familia LS (9 ns típicos).</a:t>
            </a:r>
          </a:p>
        </p:txBody>
      </p:sp>
      <p:sp>
        <p:nvSpPr>
          <p:cNvPr id="25" name="Oval 24"/>
          <p:cNvSpPr/>
          <p:nvPr/>
        </p:nvSpPr>
        <p:spPr>
          <a:xfrm>
            <a:off x="685799" y="301369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2958835"/>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Es la compuerta básica de los latches SR y de la memoria estática.</a:t>
            </a:r>
          </a:p>
        </p:txBody>
      </p:sp>
      <p:sp>
        <p:nvSpPr>
          <p:cNvPr id="27" name="Oval 26"/>
          <p:cNvSpPr/>
          <p:nvPr/>
        </p:nvSpPr>
        <p:spPr>
          <a:xfrm>
            <a:off x="685799" y="329392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239058"/>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Ideal cuando el diseño tiene muchas </a:t>
            </a:r>
            <a:r>
              <a:rPr sz="1150" b="1">
                <a:solidFill>
                  <a:srgbClr val="2C3E56"/>
                </a:solidFill>
                <a:latin typeface="Segoe UI Semibold"/>
              </a:rPr>
              <a:t>AND y condiciones de habilitación</a:t>
            </a:r>
            <a:r>
              <a:rPr sz="1150" b="0">
                <a:solidFill>
                  <a:srgbClr val="2C3E56"/>
                </a:solidFill>
                <a:latin typeface="Segoe UI"/>
              </a:rPr>
              <a:t>.</a:t>
            </a:r>
          </a:p>
        </p:txBody>
      </p:sp>
      <p:sp>
        <p:nvSpPr>
          <p:cNvPr id="29" name="Oval 28"/>
          <p:cNvSpPr/>
          <p:nvPr/>
        </p:nvSpPr>
        <p:spPr>
          <a:xfrm>
            <a:off x="685799" y="377207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3717208"/>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Disponible también con colector abierto (7403) y Schmitt trigger (74132).</a:t>
            </a:r>
          </a:p>
        </p:txBody>
      </p:sp>
      <p:sp>
        <p:nvSpPr>
          <p:cNvPr id="31" name="Rounded Rectangle 30"/>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C42B6B"/>
                </a:solidFill>
                <a:latin typeface="Segoe UI Semibold"/>
              </a:rPr>
              <a:t>Compuerta NOR (7402)</a:t>
            </a:r>
          </a:p>
        </p:txBody>
      </p:sp>
      <p:sp>
        <p:nvSpPr>
          <p:cNvPr id="34" name="Oval 33"/>
          <p:cNvSpPr/>
          <p:nvPr/>
        </p:nvSpPr>
        <p:spPr>
          <a:xfrm>
            <a:off x="6416024" y="197510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NOT:</a:t>
            </a:r>
            <a:r>
              <a:rPr sz="1150" b="0">
                <a:solidFill>
                  <a:srgbClr val="2C3E56"/>
                </a:solidFill>
                <a:latin typeface="Segoe UI"/>
              </a:rPr>
              <a:t> 1 compuerta · </a:t>
            </a:r>
            <a:r>
              <a:rPr sz="1150" b="1">
                <a:solidFill>
                  <a:srgbClr val="2C3E56"/>
                </a:solidFill>
                <a:latin typeface="Segoe UI Semibold"/>
              </a:rPr>
              <a:t>OR:</a:t>
            </a:r>
            <a:r>
              <a:rPr sz="1150" b="0">
                <a:solidFill>
                  <a:srgbClr val="2C3E56"/>
                </a:solidFill>
                <a:latin typeface="Segoe UI"/>
              </a:rPr>
              <a:t> 2 · </a:t>
            </a:r>
            <a:r>
              <a:rPr sz="1150" b="1">
                <a:solidFill>
                  <a:srgbClr val="2C3E56"/>
                </a:solidFill>
                <a:latin typeface="Segoe UI Semibold"/>
              </a:rPr>
              <a:t>AND:</a:t>
            </a:r>
            <a:r>
              <a:rPr sz="1150" b="0">
                <a:solidFill>
                  <a:srgbClr val="2C3E56"/>
                </a:solidFill>
                <a:latin typeface="Segoe UI"/>
              </a:rPr>
              <a:t> 3 · </a:t>
            </a:r>
            <a:r>
              <a:rPr sz="1150" b="1">
                <a:solidFill>
                  <a:srgbClr val="2C3E56"/>
                </a:solidFill>
                <a:latin typeface="Segoe UI Semibold"/>
              </a:rPr>
              <a:t>NAND:</a:t>
            </a:r>
            <a:r>
              <a:rPr sz="1150" b="0">
                <a:solidFill>
                  <a:srgbClr val="2C3E56"/>
                </a:solidFill>
                <a:latin typeface="Segoe UI"/>
              </a:rPr>
              <a:t> 4.</a:t>
            </a:r>
          </a:p>
        </p:txBody>
      </p:sp>
      <p:sp>
        <p:nvSpPr>
          <p:cNvPr id="36" name="Oval 35"/>
          <p:cNvSpPr/>
          <p:nvPr/>
        </p:nvSpPr>
        <p:spPr>
          <a:xfrm>
            <a:off x="6416024" y="2255326"/>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20046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Natural en CMOS por su estructura de pares complementarios.</a:t>
            </a:r>
          </a:p>
        </p:txBody>
      </p:sp>
      <p:sp>
        <p:nvSpPr>
          <p:cNvPr id="38" name="Oval 37"/>
          <p:cNvSpPr/>
          <p:nvPr/>
        </p:nvSpPr>
        <p:spPr>
          <a:xfrm>
            <a:off x="6416024" y="253554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480685"/>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Menor consumo en reposo en tecnologías HC/HCT.</a:t>
            </a:r>
          </a:p>
        </p:txBody>
      </p:sp>
      <p:sp>
        <p:nvSpPr>
          <p:cNvPr id="40" name="Oval 39"/>
          <p:cNvSpPr/>
          <p:nvPr/>
        </p:nvSpPr>
        <p:spPr>
          <a:xfrm>
            <a:off x="6416024" y="2815772"/>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2760908"/>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Base del flip-flop y de los enclavamientos de seguridad industriales.</a:t>
            </a:r>
          </a:p>
        </p:txBody>
      </p:sp>
      <p:sp>
        <p:nvSpPr>
          <p:cNvPr id="42" name="Oval 41"/>
          <p:cNvSpPr/>
          <p:nvPr/>
        </p:nvSpPr>
        <p:spPr>
          <a:xfrm>
            <a:off x="6416024" y="309599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041131"/>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Ideal cuando el diseño tiene muchas </a:t>
            </a:r>
            <a:r>
              <a:rPr sz="1150" b="1">
                <a:solidFill>
                  <a:srgbClr val="2C3E56"/>
                </a:solidFill>
                <a:latin typeface="Segoe UI Semibold"/>
              </a:rPr>
              <a:t>OR y detección de condición nula</a:t>
            </a:r>
            <a:r>
              <a:rPr sz="1150" b="0">
                <a:solidFill>
                  <a:srgbClr val="2C3E56"/>
                </a:solidFill>
                <a:latin typeface="Segoe UI"/>
              </a:rPr>
              <a:t>.</a:t>
            </a:r>
          </a:p>
        </p:txBody>
      </p:sp>
      <p:sp>
        <p:nvSpPr>
          <p:cNvPr id="44" name="Oval 43"/>
          <p:cNvSpPr/>
          <p:nvPr/>
        </p:nvSpPr>
        <p:spPr>
          <a:xfrm>
            <a:off x="6416024" y="357414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3519281"/>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Cuidado con su </a:t>
            </a:r>
            <a:r>
              <a:rPr sz="1150" b="1">
                <a:solidFill>
                  <a:srgbClr val="2C3E56"/>
                </a:solidFill>
                <a:latin typeface="Segoe UI Semibold"/>
              </a:rPr>
              <a:t>pinout invertido</a:t>
            </a:r>
            <a:r>
              <a:rPr sz="1150" b="0">
                <a:solidFill>
                  <a:srgbClr val="2C3E56"/>
                </a:solidFill>
                <a:latin typeface="Segoe UI"/>
              </a:rPr>
              <a:t>: es la fuente principal de errores de cableado.</a:t>
            </a:r>
          </a:p>
        </p:txBody>
      </p:sp>
      <p:sp>
        <p:nvSpPr>
          <p:cNvPr id="46" name="Rounded Rectangle 4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un diseño real se cuentan las compuertas de cada tipo que exige la función y se elige el chip universal que menos integrados requiera. Comprometerse con un tipo de chip simplifica el armado y el diagnóstico.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fltVal val="0.06"/>
                                          </p:val>
                                        </p:tav>
                                        <p:tav tm="100000">
                                          <p:val>
                                            <p:flt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Notación, familias equivalentes y sustituciones seguras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comprar, sustituir e identificar un integrado TTL en la tienda o el laboratorio.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72121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26941"/>
          </a:xfrm>
          <a:prstGeom prst="rect">
            <a:avLst/>
          </a:prstGeom>
          <a:noFill/>
        </p:spPr>
        <p:txBody>
          <a:bodyPr wrap="square" lIns="0" rIns="0" tIns="0" bIns="0" anchor="t">
            <a:spAutoFit/>
          </a:bodyPr>
          <a:lstStyle/>
          <a:p>
            <a:pPr algn="l">
              <a:lnSpc>
                <a:spcPct val="113400"/>
              </a:lnSpc>
            </a:pPr>
            <a:r>
              <a:rPr sz="1125" b="1">
                <a:solidFill>
                  <a:srgbClr val="2C3E56"/>
                </a:solidFill>
                <a:latin typeface="Segoe UI Semibold"/>
              </a:rPr>
              <a:t>Estructura del código:</a:t>
            </a:r>
            <a:r>
              <a:rPr sz="1125" b="0">
                <a:solidFill>
                  <a:srgbClr val="2C3E56"/>
                </a:solidFill>
                <a:latin typeface="Segoe UI"/>
              </a:rPr>
              <a:t> 74 + subfamilia + número de función + tipo de encapsulado. Ejemplo: 74LS00N = familia 74, tecnología LS, función NAND cuádruple, encapsulado DIP.</a:t>
            </a:r>
          </a:p>
        </p:txBody>
      </p:sp>
      <p:sp>
        <p:nvSpPr>
          <p:cNvPr id="18" name="Oval 17"/>
          <p:cNvSpPr/>
          <p:nvPr/>
        </p:nvSpPr>
        <p:spPr>
          <a:xfrm>
            <a:off x="502919" y="195947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04611"/>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El número define la función, no la tecnología:</a:t>
            </a:r>
            <a:r>
              <a:rPr sz="1225" b="0">
                <a:solidFill>
                  <a:srgbClr val="2C3E56"/>
                </a:solidFill>
                <a:latin typeface="Segoe UI"/>
              </a:rPr>
              <a:t> 7400, 74LS00, 74ALS00, 74F00, 74HC00 y 74HCT00 son todos NAND cuádruples con el mismo pinout.</a:t>
            </a:r>
          </a:p>
        </p:txBody>
      </p:sp>
      <p:sp>
        <p:nvSpPr>
          <p:cNvPr id="20" name="Oval 19"/>
          <p:cNvSpPr/>
          <p:nvPr/>
        </p:nvSpPr>
        <p:spPr>
          <a:xfrm>
            <a:off x="502919" y="2492487"/>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437623"/>
            <a:ext cx="6723857" cy="640412"/>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Sustitución segura:</a:t>
            </a:r>
            <a:r>
              <a:rPr sz="1225" b="0">
                <a:solidFill>
                  <a:srgbClr val="2C3E56"/>
                </a:solidFill>
                <a:latin typeface="Segoe UI"/>
              </a:rPr>
              <a:t> cambiar un LS por un ALS o un HC es válido si se respetan las corrientes de entrada; LS se cambia por HC solo si el circuito no depende de la corriente de entrada TTL.</a:t>
            </a:r>
          </a:p>
        </p:txBody>
      </p:sp>
      <p:sp>
        <p:nvSpPr>
          <p:cNvPr id="22" name="Oval 21"/>
          <p:cNvSpPr/>
          <p:nvPr/>
        </p:nvSpPr>
        <p:spPr>
          <a:xfrm>
            <a:off x="502919" y="323896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184105"/>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Sustitución NO segura:</a:t>
            </a:r>
            <a:r>
              <a:rPr sz="1225" b="0">
                <a:solidFill>
                  <a:srgbClr val="2C3E56"/>
                </a:solidFill>
                <a:latin typeface="Segoe UI"/>
              </a:rPr>
              <a:t> reemplazar un 7402 por otro chip cuádruple sin revisar el pinout; el 7402 tiene las salidas en pines distintos.</a:t>
            </a:r>
          </a:p>
        </p:txBody>
      </p:sp>
      <p:sp>
        <p:nvSpPr>
          <p:cNvPr id="24" name="Oval 23"/>
          <p:cNvSpPr/>
          <p:nvPr/>
        </p:nvSpPr>
        <p:spPr>
          <a:xfrm>
            <a:off x="502919" y="3771981"/>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17117"/>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74HC vs. 74HCT:</a:t>
            </a:r>
            <a:r>
              <a:rPr sz="1225" b="0">
                <a:solidFill>
                  <a:srgbClr val="2C3E56"/>
                </a:solidFill>
                <a:latin typeface="Segoe UI"/>
              </a:rPr>
              <a:t> los HC tienen umbrales CMOS (2.5 V) y los HCT umbrales compatibles TTL (1.6 V); en un circuito TTL debe usarse HCT o LS.</a:t>
            </a:r>
          </a:p>
        </p:txBody>
      </p:sp>
      <p:sp>
        <p:nvSpPr>
          <p:cNvPr id="26" name="Oval 25"/>
          <p:cNvSpPr/>
          <p:nvPr/>
        </p:nvSpPr>
        <p:spPr>
          <a:xfrm>
            <a:off x="502919" y="430499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250129"/>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Chips con colector abierto (7403, 7405, 74266):</a:t>
            </a:r>
            <a:r>
              <a:rPr sz="1225" b="0">
                <a:solidFill>
                  <a:srgbClr val="2C3E56"/>
                </a:solidFill>
                <a:latin typeface="Segoe UI"/>
              </a:rPr>
              <a:t> siempre requieren resistencia de pull-up; sin ella no entregan nivel alto.</a:t>
            </a:r>
          </a:p>
        </p:txBody>
      </p:sp>
      <p:sp>
        <p:nvSpPr>
          <p:cNvPr id="28" name="Oval 27"/>
          <p:cNvSpPr/>
          <p:nvPr/>
        </p:nvSpPr>
        <p:spPr>
          <a:xfrm>
            <a:off x="502919" y="483800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783141"/>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Chips con buffer de tres estados (74125, 74126, 74125, 74LS244):</a:t>
            </a:r>
            <a:r>
              <a:rPr sz="1225" b="0">
                <a:solidFill>
                  <a:srgbClr val="2C3E56"/>
                </a:solidFill>
                <a:latin typeface="Segoe UI"/>
              </a:rPr>
              <a:t> se usan para compartir un bus de datos entre varias fuentes sin cortocircuito.</a:t>
            </a:r>
          </a:p>
        </p:txBody>
      </p:sp>
      <p:sp>
        <p:nvSpPr>
          <p:cNvPr id="30" name="Oval 29"/>
          <p:cNvSpPr/>
          <p:nvPr/>
        </p:nvSpPr>
        <p:spPr>
          <a:xfrm>
            <a:off x="502919" y="5371017"/>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316153"/>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Consumo y velocidad:</a:t>
            </a:r>
            <a:r>
              <a:rPr sz="1225" b="0">
                <a:solidFill>
                  <a:srgbClr val="2C3E56"/>
                </a:solidFill>
                <a:latin typeface="Segoe UI"/>
              </a:rPr>
              <a:t> un 74LS típico consume 2 mW por compuerta y un 74HC prácticamente nada en reposo, pero el HC es más sensible a ESD.</a:t>
            </a:r>
          </a:p>
        </p:txBody>
      </p:sp>
      <p:sp>
        <p:nvSpPr>
          <p:cNvPr id="32" name="Rounded Rectangle 31"/>
          <p:cNvSpPr/>
          <p:nvPr/>
        </p:nvSpPr>
        <p:spPr>
          <a:xfrm>
            <a:off x="7693121" y="1371600"/>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93121"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Rango comercial vs. militar</a:t>
            </a:r>
          </a:p>
        </p:txBody>
      </p:sp>
      <p:sp>
        <p:nvSpPr>
          <p:cNvPr id="35" name="TextBox 34"/>
          <p:cNvSpPr txBox="1"/>
          <p:nvPr/>
        </p:nvSpPr>
        <p:spPr>
          <a:xfrm>
            <a:off x="7876001" y="1828800"/>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Serie </a:t>
            </a:r>
            <a:r>
              <a:rPr sz="1100" b="1">
                <a:solidFill>
                  <a:srgbClr val="2C3E56"/>
                </a:solidFill>
                <a:latin typeface="Segoe UI Semibold"/>
              </a:rPr>
              <a:t>74XX</a:t>
            </a:r>
            <a:r>
              <a:rPr sz="1100" b="0">
                <a:solidFill>
                  <a:srgbClr val="2C3E56"/>
                </a:solidFill>
                <a:latin typeface="Segoe UI"/>
              </a:rPr>
              <a:t>: 0 °C a +70 °C, encapsulado plástico. Serie </a:t>
            </a:r>
            <a:r>
              <a:rPr sz="1100" b="1">
                <a:solidFill>
                  <a:srgbClr val="2C3E56"/>
                </a:solidFill>
                <a:latin typeface="Segoe UI Semibold"/>
              </a:rPr>
              <a:t>54XX</a:t>
            </a:r>
            <a:r>
              <a:rPr sz="1100" b="0">
                <a:solidFill>
                  <a:srgbClr val="2C3E56"/>
                </a:solidFill>
                <a:latin typeface="Segoe UI"/>
              </a:rPr>
              <a:t>: −55 °C a +125 °C, encapsulado cerámico. El número y el pinout son idénticos; solo cambia el rango y el precio.</a:t>
            </a:r>
          </a:p>
        </p:txBody>
      </p:sp>
      <p:sp>
        <p:nvSpPr>
          <p:cNvPr id="36" name="Rounded Rectangle 35"/>
          <p:cNvSpPr/>
          <p:nvPr/>
        </p:nvSpPr>
        <p:spPr>
          <a:xfrm>
            <a:off x="7693121" y="3041904"/>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93121" y="3151632"/>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76001" y="3188208"/>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Lectura de la fecha y el fabricante</a:t>
            </a:r>
          </a:p>
        </p:txBody>
      </p:sp>
      <p:sp>
        <p:nvSpPr>
          <p:cNvPr id="39" name="TextBox 38"/>
          <p:cNvSpPr txBox="1"/>
          <p:nvPr/>
        </p:nvSpPr>
        <p:spPr>
          <a:xfrm>
            <a:off x="7876001" y="3499104"/>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En el cuerpo del chip se graban el logotipo del fabricante, el código completo (SN74LS00N) y un código de fecha (por ejemplo 9708: año 1997, semana 8).</a:t>
            </a:r>
          </a:p>
        </p:txBody>
      </p:sp>
      <p:sp>
        <p:nvSpPr>
          <p:cNvPr id="40" name="Rounded Rectangle 39"/>
          <p:cNvSpPr/>
          <p:nvPr/>
        </p:nvSpPr>
        <p:spPr>
          <a:xfrm>
            <a:off x="7693121" y="4712208"/>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93121" y="48219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76001" y="4858512"/>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Encapsulados más comunes</a:t>
            </a:r>
          </a:p>
        </p:txBody>
      </p:sp>
      <p:sp>
        <p:nvSpPr>
          <p:cNvPr id="43" name="TextBox 42"/>
          <p:cNvSpPr txBox="1"/>
          <p:nvPr/>
        </p:nvSpPr>
        <p:spPr>
          <a:xfrm>
            <a:off x="7876001" y="5169408"/>
            <a:ext cx="3611879" cy="984504"/>
          </a:xfrm>
          <a:prstGeom prst="rect">
            <a:avLst/>
          </a:prstGeom>
          <a:noFill/>
        </p:spPr>
        <p:txBody>
          <a:bodyPr wrap="square" lIns="0" rIns="0" tIns="0" bIns="0" anchor="t">
            <a:spAutoFit/>
          </a:bodyPr>
          <a:lstStyle/>
          <a:p>
            <a:pPr algn="l">
              <a:lnSpc>
                <a:spcPct val="110000"/>
              </a:lnSpc>
            </a:pPr>
            <a:r>
              <a:rPr sz="1100" b="1">
                <a:solidFill>
                  <a:srgbClr val="2C3E56"/>
                </a:solidFill>
                <a:latin typeface="Segoe UI Semibold"/>
              </a:rPr>
              <a:t>N</a:t>
            </a:r>
            <a:r>
              <a:rPr sz="1100" b="0">
                <a:solidFill>
                  <a:srgbClr val="2C3E56"/>
                </a:solidFill>
                <a:latin typeface="Segoe UI"/>
              </a:rPr>
              <a:t> = DIP plástico, </a:t>
            </a:r>
            <a:r>
              <a:rPr sz="1100" b="1">
                <a:solidFill>
                  <a:srgbClr val="2C3E56"/>
                </a:solidFill>
                <a:latin typeface="Segoe UI Semibold"/>
              </a:rPr>
              <a:t>D</a:t>
            </a:r>
            <a:r>
              <a:rPr sz="1100" b="0">
                <a:solidFill>
                  <a:srgbClr val="2C3E56"/>
                </a:solidFill>
                <a:latin typeface="Segoe UI"/>
              </a:rPr>
              <a:t> = SOIC, </a:t>
            </a:r>
            <a:r>
              <a:rPr sz="1100" b="1">
                <a:solidFill>
                  <a:srgbClr val="2C3E56"/>
                </a:solidFill>
                <a:latin typeface="Segoe UI Semibold"/>
              </a:rPr>
              <a:t>PW</a:t>
            </a:r>
            <a:r>
              <a:rPr sz="1100" b="0">
                <a:solidFill>
                  <a:srgbClr val="2C3E56"/>
                </a:solidFill>
                <a:latin typeface="Segoe UI"/>
              </a:rPr>
              <a:t> = TSSOP, </a:t>
            </a:r>
            <a:r>
              <a:rPr sz="1100" b="1">
                <a:solidFill>
                  <a:srgbClr val="2C3E56"/>
                </a:solidFill>
                <a:latin typeface="Segoe UI Semibold"/>
              </a:rPr>
              <a:t>FK</a:t>
            </a:r>
            <a:r>
              <a:rPr sz="1100" b="0">
                <a:solidFill>
                  <a:srgbClr val="2C3E56"/>
                </a:solidFill>
                <a:latin typeface="Segoe UI"/>
              </a:rPr>
              <a:t> = LCCC. Para protoboard se requiere DIP de 0.3 pulgadas de ancho.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66"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anim calcmode="lin" valueType="num">
                                      <p:cBhvr additive="base">
                                        <p:cTn id="65" dur="420" fill="hold"/>
                                        <p:tgtEl>
                                          <p:spTgt spid="32"/>
                                        </p:tgtEl>
                                        <p:attrNameLst>
                                          <p:attrName>ppt_y</p:attrName>
                                        </p:attrNameLst>
                                      </p:cBhvr>
                                      <p:tavLst>
                                        <p:tav tm="0">
                                          <p:val>
                                            <p:fltVal val="0.06"/>
                                          </p:val>
                                        </p:tav>
                                        <p:tav tm="100000">
                                          <p:val>
                                            <p:fltVal val="0"/>
                                          </p:val>
                                        </p:tav>
                                      </p:tavLst>
                                    </p:anim>
                                  </p:childTnLst>
                                </p:cTn>
                              </p:par>
                              <p:par>
                                <p:cTn id="70" fill="hold">
                                  <p:stCondLst>
                                    <p:cond delay="1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7" dur="420"/>
                                        <p:tgtEl>
                                          <p:spTgt spid="33"/>
                                        </p:tgtEl>
                                      </p:cBhvr>
                                    </p:animEffect>
                                    <p:anim calcmode="lin" valueType="num">
                                      <p:cBhvr additive="base">
                                        <p:cTn id="69" dur="420" fill="hold"/>
                                        <p:tgtEl>
                                          <p:spTgt spid="33"/>
                                        </p:tgtEl>
                                        <p:attrNameLst>
                                          <p:attrName>ppt_y</p:attrName>
                                        </p:attrNameLst>
                                      </p:cBhvr>
                                      <p:tavLst>
                                        <p:tav tm="0">
                                          <p:val>
                                            <p:fltVal val="0.06"/>
                                          </p:val>
                                        </p:tav>
                                        <p:tav tm="100000">
                                          <p:val>
                                            <p:fltVal val="0"/>
                                          </p:val>
                                        </p:tav>
                                      </p:tavLst>
                                    </p:anim>
                                  </p:childTnLst>
                                </p:cTn>
                              </p:par>
                              <p:par>
                                <p:cTn id="74" fill="hold">
                                  <p:stCondLst>
                                    <p:cond delay="22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anim calcmode="lin" valueType="num">
                                      <p:cBhvr additive="base">
                                        <p:cTn id="73" dur="420" fill="hold"/>
                                        <p:tgtEl>
                                          <p:spTgt spid="34"/>
                                        </p:tgtEl>
                                        <p:attrNameLst>
                                          <p:attrName>ppt_y</p:attrName>
                                        </p:attrNameLst>
                                      </p:cBhvr>
                                      <p:tavLst>
                                        <p:tav tm="0">
                                          <p:val>
                                            <p:fltVal val="0.06"/>
                                          </p:val>
                                        </p:tav>
                                        <p:tav tm="100000">
                                          <p:val>
                                            <p:fltVal val="0"/>
                                          </p:val>
                                        </p:tav>
                                      </p:tavLst>
                                    </p:anim>
                                  </p:childTnLst>
                                </p:cTn>
                              </p:par>
                              <p:par>
                                <p:cTn id="78" fill="hold">
                                  <p:stCondLst>
                                    <p:cond delay="3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44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55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childTnLst>
                          </p:cTn>
                        </p:par>
                      </p:childTnLst>
                    </p:cTn>
                  </p:par>
                  <p:par>
                    <p:cTn id="113" fill="hold">
                      <p:stCondLst>
                        <p:cond delay="indefinite"/>
                      </p:stCondLst>
                      <p:childTnLst>
                        <p:par>
                          <p:cTn id="114" fill="hold">
                            <p:stCondLst>
                              <p:cond delay="0"/>
                            </p:stCondLst>
                            <p:childTnLst>
                              <p:par>
                                <p:cTn id="92" fill="hold">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89" dur="420"/>
                                        <p:tgtEl>
                                          <p:spTgt spid="38"/>
                                        </p:tgtEl>
                                      </p:cBhvr>
                                    </p:animEffect>
                                    <p:anim calcmode="lin" valueType="num">
                                      <p:cBhvr additive="base">
                                        <p:cTn id="91" dur="420" fill="hold"/>
                                        <p:tgtEl>
                                          <p:spTgt spid="38"/>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9"/>
                                        </p:tgtEl>
                                        <p:attrNameLst>
                                          <p:attrName>style.visibility</p:attrName>
                                        </p:attrNameLst>
                                      </p:cBhvr>
                                      <p:to>
                                        <p:strVal val="visible"/>
                                      </p:to>
                                    </p:set>
                                    <p:animEffect transition="in" filter="fade">
                                      <p:cBhvr>
                                        <p:cTn id="93" dur="420"/>
                                        <p:tgtEl>
                                          <p:spTgt spid="39"/>
                                        </p:tgtEl>
                                      </p:cBhvr>
                                    </p:animEffect>
                                    <p:anim calcmode="lin" valueType="num">
                                      <p:cBhvr additive="base">
                                        <p:cTn id="95" dur="420" fill="hold"/>
                                        <p:tgtEl>
                                          <p:spTgt spid="39"/>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7" dur="420"/>
                                        <p:tgtEl>
                                          <p:spTgt spid="40"/>
                                        </p:tgtEl>
                                      </p:cBhvr>
                                    </p:animEffect>
                                    <p:anim calcmode="lin" valueType="num">
                                      <p:cBhvr additive="base">
                                        <p:cTn id="99" dur="420" fill="hold"/>
                                        <p:tgtEl>
                                          <p:spTgt spid="40"/>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1" dur="420"/>
                                        <p:tgtEl>
                                          <p:spTgt spid="41"/>
                                        </p:tgtEl>
                                      </p:cBhvr>
                                    </p:animEffect>
                                    <p:anim calcmode="lin" valueType="num">
                                      <p:cBhvr additive="base">
                                        <p:cTn id="103" dur="420" fill="hold"/>
                                        <p:tgtEl>
                                          <p:spTgt spid="41"/>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anim calcmode="lin" valueType="num">
                                      <p:cBhvr additive="base">
                                        <p:cTn id="107" dur="420" fill="hold"/>
                                        <p:tgtEl>
                                          <p:spTgt spid="42"/>
                                        </p:tgtEl>
                                        <p:attrNameLst>
                                          <p:attrName>ppt_y</p:attrName>
                                        </p:attrNameLst>
                                      </p:cBhvr>
                                      <p:tavLst>
                                        <p:tav tm="0">
                                          <p:val>
                                            <p:fltVal val="0.06"/>
                                          </p:val>
                                        </p:tav>
                                        <p:tav tm="100000">
                                          <p:val>
                                            <p:fltVal val="0"/>
                                          </p:val>
                                        </p:tav>
                                      </p:tavLst>
                                    </p:anim>
                                  </p:childTnLst>
                                </p:cTn>
                              </p:par>
                              <p:par>
                                <p:cTn id="112" fill="hold">
                                  <p:stCondLst>
                                    <p:cond delay="55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1" dur="420" fill="hold"/>
                                        <p:tgtEl>
                                          <p:spTgt spid="43"/>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43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4833627"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6D46E0"/>
                </a:solidFill>
                <a:latin typeface="Consolas"/>
              </a:rPr>
              <a:t>03</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Hoja de datos, tiempos y parámetros</a:t>
            </a:r>
          </a:p>
        </p:txBody>
      </p:sp>
      <p:sp>
        <p:nvSpPr>
          <p:cNvPr id="15" name="Rectangle 14"/>
          <p:cNvSpPr/>
          <p:nvPr/>
        </p:nvSpPr>
        <p:spPr>
          <a:xfrm>
            <a:off x="475488" y="4370832"/>
            <a:ext cx="1645920" cy="457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data.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Cómo leer una hoja de datos: absolute maximum ratings y recommended operating conditions</a:t>
            </a:r>
          </a:p>
        </p:txBody>
      </p:sp>
      <p:sp>
        <p:nvSpPr>
          <p:cNvPr id="19" name="Oval 18"/>
          <p:cNvSpPr/>
          <p:nvPr/>
        </p:nvSpPr>
        <p:spPr>
          <a:xfrm>
            <a:off x="502919" y="4886956"/>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32092"/>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Parámetros eléctricos DC: VIL, VIH, VOL, VOH, IIH, IIL, IOH, IOL</a:t>
            </a:r>
          </a:p>
        </p:txBody>
      </p:sp>
      <p:sp>
        <p:nvSpPr>
          <p:cNvPr id="21" name="Oval 20"/>
          <p:cNvSpPr/>
          <p:nvPr/>
        </p:nvSpPr>
        <p:spPr>
          <a:xfrm>
            <a:off x="502919" y="510132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46465"/>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Tiempos de conmutación: tPLH, tPHL, tPD, tiempos de subida y bajada</a:t>
            </a:r>
          </a:p>
        </p:txBody>
      </p:sp>
      <p:sp>
        <p:nvSpPr>
          <p:cNvPr id="23" name="Oval 22"/>
          <p:cNvSpPr/>
          <p:nvPr/>
        </p:nvSpPr>
        <p:spPr>
          <a:xfrm>
            <a:off x="502919" y="531570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260838"/>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Fan-out, fan-in y cálculo de cargas conectadas a una salida</a:t>
            </a:r>
          </a:p>
        </p:txBody>
      </p:sp>
      <p:sp>
        <p:nvSpPr>
          <p:cNvPr id="25" name="Oval 24"/>
          <p:cNvSpPr/>
          <p:nvPr/>
        </p:nvSpPr>
        <p:spPr>
          <a:xfrm>
            <a:off x="502919" y="553007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475210"/>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Familias lógicas TTL y CMOS: comparación de velocidad, consumo y compatibilidad</a:t>
            </a:r>
          </a:p>
        </p:txBody>
      </p:sp>
      <p:sp>
        <p:nvSpPr>
          <p:cNvPr id="27" name="Oval 26"/>
          <p:cNvSpPr/>
          <p:nvPr/>
        </p:nvSpPr>
        <p:spPr>
          <a:xfrm>
            <a:off x="502919" y="574444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689583"/>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Encapsulados, nomenclatura, temperatura y protección electrostática</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Anatomía de una hoja de datos (datasheet)</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Todo manual del fabricante sigue la misma estructura; reconocerla ahorra horas de trabajo.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946037"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0.png"/>
          <p:cNvPicPr>
            <a:picLocks noChangeAspect="1"/>
          </p:cNvPicPr>
          <p:nvPr/>
        </p:nvPicPr>
        <p:blipFill>
          <a:blip r:embed="rId2"/>
          <a:stretch>
            <a:fillRect/>
          </a:stretch>
        </p:blipFill>
        <p:spPr>
          <a:xfrm>
            <a:off x="1887783" y="1435608"/>
            <a:ext cx="4210162"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Ejemplo real: el datasheet del 7400 siempre incluye descripción general, tabla de función, diagrama de pines, esquema lógico y tablas de parámetros eléctricos.</a:t>
            </a:r>
          </a:p>
        </p:txBody>
      </p:sp>
      <p:sp>
        <p:nvSpPr>
          <p:cNvPr id="19" name="Oval 18"/>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1. Descripción general:</a:t>
            </a:r>
            <a:r>
              <a:rPr sz="925" b="0">
                <a:solidFill>
                  <a:srgbClr val="2C3E56"/>
                </a:solidFill>
                <a:latin typeface="Segoe UI"/>
              </a:rPr>
              <a:t> nombre comercial, función y número de compuertas del integrado.</a:t>
            </a:r>
          </a:p>
        </p:txBody>
      </p:sp>
      <p:sp>
        <p:nvSpPr>
          <p:cNvPr id="21" name="Oval 20"/>
          <p:cNvSpPr/>
          <p:nvPr/>
        </p:nvSpPr>
        <p:spPr>
          <a:xfrm>
            <a:off x="7793705" y="177983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24967"/>
            <a:ext cx="3712463" cy="298503"/>
          </a:xfrm>
          <a:prstGeom prst="rect">
            <a:avLst/>
          </a:prstGeom>
          <a:noFill/>
        </p:spPr>
        <p:txBody>
          <a:bodyPr wrap="square" lIns="0" rIns="0" tIns="0" bIns="0" anchor="t">
            <a:spAutoFit/>
          </a:bodyPr>
          <a:lstStyle/>
          <a:p>
            <a:pPr algn="l">
              <a:lnSpc>
                <a:spcPct val="105000"/>
              </a:lnSpc>
            </a:pPr>
            <a:r>
              <a:rPr sz="825" b="1">
                <a:solidFill>
                  <a:srgbClr val="2C3E56"/>
                </a:solidFill>
                <a:latin typeface="Segoe UI Semibold"/>
              </a:rPr>
              <a:t>2. Diagrama de conexiones (pinout):</a:t>
            </a:r>
            <a:r>
              <a:rPr sz="825" b="0">
                <a:solidFill>
                  <a:srgbClr val="2C3E56"/>
                </a:solidFill>
                <a:latin typeface="Segoe UI"/>
              </a:rPr>
              <a:t> dibujo del encapsulado con el nombre de cada pin; es la primera hoja que se consulta.</a:t>
            </a:r>
          </a:p>
        </p:txBody>
      </p:sp>
      <p:sp>
        <p:nvSpPr>
          <p:cNvPr id="23" name="Oval 22"/>
          <p:cNvSpPr/>
          <p:nvPr/>
        </p:nvSpPr>
        <p:spPr>
          <a:xfrm>
            <a:off x="7793705" y="213319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078335"/>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3. Tabla de función / tabla de verdad:</a:t>
            </a:r>
            <a:r>
              <a:rPr sz="925" b="0">
                <a:solidFill>
                  <a:srgbClr val="2C3E56"/>
                </a:solidFill>
                <a:latin typeface="Segoe UI"/>
              </a:rPr>
              <a:t> indica la salida para cada combinación de entradas, incluyendo los estados de alta impedancia (Z) o prohibidos (X).</a:t>
            </a:r>
          </a:p>
        </p:txBody>
      </p:sp>
      <p:sp>
        <p:nvSpPr>
          <p:cNvPr id="25" name="Oval 24"/>
          <p:cNvSpPr/>
          <p:nvPr/>
        </p:nvSpPr>
        <p:spPr>
          <a:xfrm>
            <a:off x="7793705" y="263581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580955"/>
            <a:ext cx="3712463" cy="298503"/>
          </a:xfrm>
          <a:prstGeom prst="rect">
            <a:avLst/>
          </a:prstGeom>
          <a:noFill/>
        </p:spPr>
        <p:txBody>
          <a:bodyPr wrap="square" lIns="0" rIns="0" tIns="0" bIns="0" anchor="t">
            <a:spAutoFit/>
          </a:bodyPr>
          <a:lstStyle/>
          <a:p>
            <a:pPr algn="l">
              <a:lnSpc>
                <a:spcPct val="105000"/>
              </a:lnSpc>
            </a:pPr>
            <a:r>
              <a:rPr sz="825" b="1">
                <a:solidFill>
                  <a:srgbClr val="2C3E56"/>
                </a:solidFill>
                <a:latin typeface="Segoe UI Semibold"/>
              </a:rPr>
              <a:t>4. Esquema lógico equivalente:</a:t>
            </a:r>
            <a:r>
              <a:rPr sz="825" b="0">
                <a:solidFill>
                  <a:srgbClr val="2C3E56"/>
                </a:solidFill>
                <a:latin typeface="Segoe UI"/>
              </a:rPr>
              <a:t> muestra la estructura interna y sirve para entender entradas flotantes y corrientes de entrada.</a:t>
            </a:r>
          </a:p>
        </p:txBody>
      </p:sp>
      <p:sp>
        <p:nvSpPr>
          <p:cNvPr id="27" name="Oval 26"/>
          <p:cNvSpPr/>
          <p:nvPr/>
        </p:nvSpPr>
        <p:spPr>
          <a:xfrm>
            <a:off x="7793705" y="298918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2934323"/>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5. Absolute maximum ratings:</a:t>
            </a:r>
            <a:r>
              <a:rPr sz="925" b="0">
                <a:solidFill>
                  <a:srgbClr val="2C3E56"/>
                </a:solidFill>
                <a:latin typeface="Segoe UI"/>
              </a:rPr>
              <a:t> límites que NO deben alcanzarse nunca (típicamente −0.5 V a +7 V en VCC).</a:t>
            </a:r>
          </a:p>
        </p:txBody>
      </p:sp>
      <p:sp>
        <p:nvSpPr>
          <p:cNvPr id="29" name="Oval 28"/>
          <p:cNvSpPr/>
          <p:nvPr/>
        </p:nvSpPr>
        <p:spPr>
          <a:xfrm>
            <a:off x="7793705" y="3342555"/>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287691"/>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6. Recommended operating conditions:</a:t>
            </a:r>
            <a:r>
              <a:rPr sz="925" b="0">
                <a:solidFill>
                  <a:srgbClr val="2C3E56"/>
                </a:solidFill>
                <a:latin typeface="Segoe UI"/>
              </a:rPr>
              <a:t> rango en el que el fabricante garantiza el funcionamiento (4.75 V a 5.25 V, 0 °C a 70 °C).</a:t>
            </a:r>
          </a:p>
        </p:txBody>
      </p:sp>
      <p:sp>
        <p:nvSpPr>
          <p:cNvPr id="31" name="Oval 30"/>
          <p:cNvSpPr/>
          <p:nvPr/>
        </p:nvSpPr>
        <p:spPr>
          <a:xfrm>
            <a:off x="7793705" y="3845175"/>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790311"/>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7. Parámetros eléctricos (DC):</a:t>
            </a:r>
            <a:r>
              <a:rPr sz="925" b="0">
                <a:solidFill>
                  <a:srgbClr val="2C3E56"/>
                </a:solidFill>
                <a:latin typeface="Segoe UI"/>
              </a:rPr>
              <a:t> VIL, VIH, VOL, VOH, corrientes de entrada y salida.</a:t>
            </a:r>
          </a:p>
        </p:txBody>
      </p:sp>
      <p:sp>
        <p:nvSpPr>
          <p:cNvPr id="33" name="Oval 32"/>
          <p:cNvSpPr/>
          <p:nvPr/>
        </p:nvSpPr>
        <p:spPr>
          <a:xfrm>
            <a:off x="7793705" y="4198543"/>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143679"/>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8. Parámetros de conmutación (AC):</a:t>
            </a:r>
            <a:r>
              <a:rPr sz="925" b="0">
                <a:solidFill>
                  <a:srgbClr val="2C3E56"/>
                </a:solidFill>
                <a:latin typeface="Segoe UI"/>
              </a:rPr>
              <a:t> tPLH, tPHL, tiempos de subida y bajada, frecuencia máxima.</a:t>
            </a:r>
          </a:p>
        </p:txBody>
      </p:sp>
      <p:sp>
        <p:nvSpPr>
          <p:cNvPr id="35" name="Oval 34"/>
          <p:cNvSpPr/>
          <p:nvPr/>
        </p:nvSpPr>
        <p:spPr>
          <a:xfrm>
            <a:off x="7793705" y="455191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40009" y="4497047"/>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9. Curvas típicas y notas de aplicación:</a:t>
            </a:r>
            <a:r>
              <a:rPr sz="925" b="0">
                <a:solidFill>
                  <a:srgbClr val="2C3E56"/>
                </a:solidFill>
                <a:latin typeface="Segoe UI"/>
              </a:rPr>
              <a:t> gráficas de comportamiento frente a temperatura, carga y tensión de alimentación.</a:t>
            </a:r>
          </a:p>
        </p:txBody>
      </p:sp>
      <p:sp>
        <p:nvSpPr>
          <p:cNvPr id="37" name="Rounded Rectangle 36"/>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40" name="TextBox 3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Consejo profesional: antes de cablear se leen SOLO tres cosas: el pinout, la tabla de función y el rango de VCC. El resto se consulta cuando aparece un problema real.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fltVal val="0.06"/>
                                          </p:val>
                                        </p:tav>
                                        <p:tav tm="100000">
                                          <p:val>
                                            <p:fltVal val="0"/>
                                          </p:val>
                                        </p:tav>
                                      </p:tavLst>
                                    </p:anim>
                                  </p:childTnLst>
                                </p:cTn>
                              </p:par>
                            </p:childTnLst>
                          </p:cTn>
                        </p:par>
                      </p:childTnLst>
                    </p:cTn>
                  </p:par>
                  <p:par>
                    <p:cTn id="94" fill="hold">
                      <p:stCondLst>
                        <p:cond delay="indefinite"/>
                      </p:stCondLst>
                      <p:childTnLst>
                        <p:par>
                          <p:cTn id="95" fill="hold">
                            <p:stCondLst>
                              <p:cond delay="0"/>
                            </p:stCondLst>
                            <p:childTnLst>
                              <p:par>
                                <p:cTn id="77" fill="hold">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4" dur="420"/>
                                        <p:tgtEl>
                                          <p:spTgt spid="36"/>
                                        </p:tgtEl>
                                      </p:cBhvr>
                                    </p:animEffect>
                                    <p:anim calcmode="lin" valueType="num">
                                      <p:cBhvr additive="base">
                                        <p:cTn id="76" dur="420" fill="hold"/>
                                        <p:tgtEl>
                                          <p:spTgt spid="36"/>
                                        </p:tgtEl>
                                        <p:attrNameLst>
                                          <p:attrName>ppt_y</p:attrName>
                                        </p:attrNameLst>
                                      </p:cBhvr>
                                      <p:tavLst>
                                        <p:tav tm="0">
                                          <p:val>
                                            <p:fltVal val="0.06"/>
                                          </p:val>
                                        </p:tav>
                                        <p:tav tm="100000">
                                          <p:val>
                                            <p:fltVal val="0"/>
                                          </p:val>
                                        </p:tav>
                                      </p:tavLst>
                                    </p:anim>
                                  </p:childTnLst>
                                </p:cTn>
                              </p:par>
                              <p:par>
                                <p:cTn id="81" fill="hold">
                                  <p:stCondLst>
                                    <p:cond delay="110"/>
                                  </p:stCondLst>
                                  <p:childTnLst>
                                    <p:set>
                                      <p:cBhvr>
                                        <p:cTn id="79" dur="1" fill="hold">
                                          <p:stCondLst>
                                            <p:cond delay="0"/>
                                          </p:stCondLst>
                                        </p:cTn>
                                        <p:tgtEl>
                                          <p:spTgt spid="37"/>
                                        </p:tgtEl>
                                        <p:attrNameLst>
                                          <p:attrName>style.visibility</p:attrName>
                                        </p:attrNameLst>
                                      </p:cBhvr>
                                      <p:to>
                                        <p:strVal val="visible"/>
                                      </p:to>
                                    </p:set>
                                    <p:animEffect transition="in" filter="fade">
                                      <p:cBhvr>
                                        <p:cTn id="78" dur="420"/>
                                        <p:tgtEl>
                                          <p:spTgt spid="37"/>
                                        </p:tgtEl>
                                      </p:cBhvr>
                                    </p:animEffect>
                                    <p:anim calcmode="lin" valueType="num">
                                      <p:cBhvr additive="base">
                                        <p:cTn id="80" dur="420" fill="hold"/>
                                        <p:tgtEl>
                                          <p:spTgt spid="37"/>
                                        </p:tgtEl>
                                        <p:attrNameLst>
                                          <p:attrName>ppt_y</p:attrName>
                                        </p:attrNameLst>
                                      </p:cBhvr>
                                      <p:tavLst>
                                        <p:tav tm="0">
                                          <p:val>
                                            <p:fltVal val="0.06"/>
                                          </p:val>
                                        </p:tav>
                                        <p:tav tm="100000">
                                          <p:val>
                                            <p:fltVal val="0"/>
                                          </p:val>
                                        </p:tav>
                                      </p:tavLst>
                                    </p:anim>
                                  </p:childTnLst>
                                </p:cTn>
                              </p:par>
                              <p:par>
                                <p:cTn id="85" fill="hold">
                                  <p:stCondLst>
                                    <p:cond delay="220"/>
                                  </p:stCondLst>
                                  <p:childTnLst>
                                    <p:set>
                                      <p:cBhvr>
                                        <p:cTn id="83" dur="1" fill="hold">
                                          <p:stCondLst>
                                            <p:cond delay="0"/>
                                          </p:stCondLst>
                                        </p:cTn>
                                        <p:tgtEl>
                                          <p:spTgt spid="38"/>
                                        </p:tgtEl>
                                        <p:attrNameLst>
                                          <p:attrName>style.visibility</p:attrName>
                                        </p:attrNameLst>
                                      </p:cBhvr>
                                      <p:to>
                                        <p:strVal val="visible"/>
                                      </p:to>
                                    </p:set>
                                    <p:animEffect transition="in" filter="fade">
                                      <p:cBhvr>
                                        <p:cTn id="82" dur="420"/>
                                        <p:tgtEl>
                                          <p:spTgt spid="38"/>
                                        </p:tgtEl>
                                      </p:cBhvr>
                                    </p:animEffect>
                                    <p:anim calcmode="lin" valueType="num">
                                      <p:cBhvr additive="base">
                                        <p:cTn id="84" dur="420" fill="hold"/>
                                        <p:tgtEl>
                                          <p:spTgt spid="38"/>
                                        </p:tgtEl>
                                        <p:attrNameLst>
                                          <p:attrName>ppt_y</p:attrName>
                                        </p:attrNameLst>
                                      </p:cBhvr>
                                      <p:tavLst>
                                        <p:tav tm="0">
                                          <p:val>
                                            <p:fltVal val="0.06"/>
                                          </p:val>
                                        </p:tav>
                                        <p:tav tm="100000">
                                          <p:val>
                                            <p:fltVal val="0"/>
                                          </p:val>
                                        </p:tav>
                                      </p:tavLst>
                                    </p:anim>
                                  </p:childTnLst>
                                </p:cTn>
                              </p:par>
                              <p:par>
                                <p:cTn id="89" fill="hold">
                                  <p:stCondLst>
                                    <p:cond delay="330"/>
                                  </p:stCondLst>
                                  <p:childTnLst>
                                    <p:set>
                                      <p:cBhvr>
                                        <p:cTn id="87" dur="1" fill="hold">
                                          <p:stCondLst>
                                            <p:cond delay="0"/>
                                          </p:stCondLst>
                                        </p:cTn>
                                        <p:tgtEl>
                                          <p:spTgt spid="39"/>
                                        </p:tgtEl>
                                        <p:attrNameLst>
                                          <p:attrName>style.visibility</p:attrName>
                                        </p:attrNameLst>
                                      </p:cBhvr>
                                      <p:to>
                                        <p:strVal val="visible"/>
                                      </p:to>
                                    </p:set>
                                    <p:animEffect transition="in" filter="fade">
                                      <p:cBhvr>
                                        <p:cTn id="86" dur="420"/>
                                        <p:tgtEl>
                                          <p:spTgt spid="39"/>
                                        </p:tgtEl>
                                      </p:cBhvr>
                                    </p:animEffect>
                                    <p:anim calcmode="lin" valueType="num">
                                      <p:cBhvr additive="base">
                                        <p:cTn id="88" dur="420" fill="hold"/>
                                        <p:tgtEl>
                                          <p:spTgt spid="39"/>
                                        </p:tgtEl>
                                        <p:attrNameLst>
                                          <p:attrName>ppt_y</p:attrName>
                                        </p:attrNameLst>
                                      </p:cBhvr>
                                      <p:tavLst>
                                        <p:tav tm="0">
                                          <p:val>
                                            <p:fltVal val="0.06"/>
                                          </p:val>
                                        </p:tav>
                                        <p:tav tm="100000">
                                          <p:val>
                                            <p:fltVal val="0"/>
                                          </p:val>
                                        </p:tav>
                                      </p:tavLst>
                                    </p:anim>
                                  </p:childTnLst>
                                </p:cTn>
                              </p:par>
                              <p:par>
                                <p:cTn id="93" fill="hold">
                                  <p:stCondLst>
                                    <p:cond delay="440"/>
                                  </p:stCondLst>
                                  <p:childTnLst>
                                    <p:set>
                                      <p:cBhvr>
                                        <p:cTn id="91" dur="1" fill="hold">
                                          <p:stCondLst>
                                            <p:cond delay="0"/>
                                          </p:stCondLst>
                                        </p:cTn>
                                        <p:tgtEl>
                                          <p:spTgt spid="40"/>
                                        </p:tgtEl>
                                        <p:attrNameLst>
                                          <p:attrName>style.visibility</p:attrName>
                                        </p:attrNameLst>
                                      </p:cBhvr>
                                      <p:to>
                                        <p:strVal val="visible"/>
                                      </p:to>
                                    </p:set>
                                    <p:animEffect transition="in" filter="fade">
                                      <p:cBhvr>
                                        <p:cTn id="90" dur="420"/>
                                        <p:tgtEl>
                                          <p:spTgt spid="40"/>
                                        </p:tgtEl>
                                      </p:cBhvr>
                                    </p:animEffect>
                                    <p:anim calcmode="lin" valueType="num">
                                      <p:cBhvr additive="base">
                                        <p:cTn id="92" dur="420" fill="hold"/>
                                        <p:tgtEl>
                                          <p:spTgt spid="40"/>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00" b="1">
                <a:solidFill>
                  <a:srgbClr val="0D1A2B"/>
                </a:solidFill>
                <a:latin typeface="Segoe UI Semibold"/>
              </a:rPr>
              <a:t>Límites absolutos máximos (Absolute Maximum Ratings)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Valores que destruyen el chip si se superan, aunque sea por un instante.</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058447"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C8322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32259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Parámetro</a:t>
            </a:r>
          </a:p>
        </p:txBody>
      </p:sp>
      <p:sp>
        <p:nvSpPr>
          <p:cNvPr id="18" name="TextBox 17"/>
          <p:cNvSpPr txBox="1"/>
          <p:nvPr/>
        </p:nvSpPr>
        <p:spPr>
          <a:xfrm>
            <a:off x="3920938" y="1371600"/>
            <a:ext cx="1427435"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Símbolo</a:t>
            </a:r>
          </a:p>
        </p:txBody>
      </p:sp>
      <p:sp>
        <p:nvSpPr>
          <p:cNvPr id="19" name="TextBox 18"/>
          <p:cNvSpPr txBox="1"/>
          <p:nvPr/>
        </p:nvSpPr>
        <p:spPr>
          <a:xfrm>
            <a:off x="5494677" y="1371600"/>
            <a:ext cx="21018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Valor límite</a:t>
            </a:r>
          </a:p>
        </p:txBody>
      </p:sp>
      <p:sp>
        <p:nvSpPr>
          <p:cNvPr id="20" name="TextBox 19"/>
          <p:cNvSpPr txBox="1"/>
          <p:nvPr/>
        </p:nvSpPr>
        <p:spPr>
          <a:xfrm>
            <a:off x="7742875" y="1371600"/>
            <a:ext cx="3900453"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Consecuencia si se supera</a:t>
            </a:r>
          </a:p>
        </p:txBody>
      </p:sp>
      <p:sp>
        <p:nvSpPr>
          <p:cNvPr id="21" name="Rectangle 20"/>
          <p:cNvSpPr/>
          <p:nvPr/>
        </p:nvSpPr>
        <p:spPr>
          <a:xfrm>
            <a:off x="475488" y="1700784"/>
            <a:ext cx="11240993" cy="45720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Tensión de alimentación</a:t>
            </a:r>
          </a:p>
        </p:txBody>
      </p:sp>
      <p:sp>
        <p:nvSpPr>
          <p:cNvPr id="23" name="TextBox 22"/>
          <p:cNvSpPr txBox="1"/>
          <p:nvPr/>
        </p:nvSpPr>
        <p:spPr>
          <a:xfrm>
            <a:off x="3920938" y="17007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VCC</a:t>
            </a:r>
          </a:p>
        </p:txBody>
      </p:sp>
      <p:sp>
        <p:nvSpPr>
          <p:cNvPr id="24" name="TextBox 23"/>
          <p:cNvSpPr txBox="1"/>
          <p:nvPr/>
        </p:nvSpPr>
        <p:spPr>
          <a:xfrm>
            <a:off x="5494677" y="17007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−0.5 V a +7.0 V</a:t>
            </a:r>
          </a:p>
        </p:txBody>
      </p:sp>
      <p:sp>
        <p:nvSpPr>
          <p:cNvPr id="25" name="TextBox 24"/>
          <p:cNvSpPr txBox="1"/>
          <p:nvPr/>
        </p:nvSpPr>
        <p:spPr>
          <a:xfrm>
            <a:off x="7742875" y="17007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Destrucción del chip: superar 7 V perfora las uniones internas</a:t>
            </a:r>
          </a:p>
        </p:txBody>
      </p:sp>
      <p:sp>
        <p:nvSpPr>
          <p:cNvPr id="26" name="TextBox 25"/>
          <p:cNvSpPr txBox="1"/>
          <p:nvPr/>
        </p:nvSpPr>
        <p:spPr>
          <a:xfrm>
            <a:off x="548640" y="21579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Tensión de entrada</a:t>
            </a:r>
          </a:p>
        </p:txBody>
      </p:sp>
      <p:sp>
        <p:nvSpPr>
          <p:cNvPr id="27" name="TextBox 26"/>
          <p:cNvSpPr txBox="1"/>
          <p:nvPr/>
        </p:nvSpPr>
        <p:spPr>
          <a:xfrm>
            <a:off x="3920938" y="21579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VI</a:t>
            </a:r>
          </a:p>
        </p:txBody>
      </p:sp>
      <p:sp>
        <p:nvSpPr>
          <p:cNvPr id="28" name="TextBox 27"/>
          <p:cNvSpPr txBox="1"/>
          <p:nvPr/>
        </p:nvSpPr>
        <p:spPr>
          <a:xfrm>
            <a:off x="5494677" y="21579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−0.5 V a +5.5 V</a:t>
            </a:r>
          </a:p>
        </p:txBody>
      </p:sp>
      <p:sp>
        <p:nvSpPr>
          <p:cNvPr id="29" name="TextBox 28"/>
          <p:cNvSpPr txBox="1"/>
          <p:nvPr/>
        </p:nvSpPr>
        <p:spPr>
          <a:xfrm>
            <a:off x="7742875" y="21579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Corriente excesiva por los diodos de protección de entrada</a:t>
            </a:r>
          </a:p>
        </p:txBody>
      </p:sp>
      <p:sp>
        <p:nvSpPr>
          <p:cNvPr id="30" name="Rectangle 29"/>
          <p:cNvSpPr/>
          <p:nvPr/>
        </p:nvSpPr>
        <p:spPr>
          <a:xfrm>
            <a:off x="475488" y="2615184"/>
            <a:ext cx="11240993" cy="45720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6151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Corriente de salida</a:t>
            </a:r>
          </a:p>
        </p:txBody>
      </p:sp>
      <p:sp>
        <p:nvSpPr>
          <p:cNvPr id="32" name="TextBox 31"/>
          <p:cNvSpPr txBox="1"/>
          <p:nvPr/>
        </p:nvSpPr>
        <p:spPr>
          <a:xfrm>
            <a:off x="3920938" y="26151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IO</a:t>
            </a:r>
          </a:p>
        </p:txBody>
      </p:sp>
      <p:sp>
        <p:nvSpPr>
          <p:cNvPr id="33" name="TextBox 32"/>
          <p:cNvSpPr txBox="1"/>
          <p:nvPr/>
        </p:nvSpPr>
        <p:spPr>
          <a:xfrm>
            <a:off x="5494677" y="26151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±25 mA por pin (LS)</a:t>
            </a:r>
          </a:p>
        </p:txBody>
      </p:sp>
      <p:sp>
        <p:nvSpPr>
          <p:cNvPr id="34" name="TextBox 33"/>
          <p:cNvSpPr txBox="1"/>
          <p:nvPr/>
        </p:nvSpPr>
        <p:spPr>
          <a:xfrm>
            <a:off x="7742875" y="26151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Sobrecalentamiento del transistor de salida y pérdida de nivel</a:t>
            </a:r>
          </a:p>
        </p:txBody>
      </p:sp>
      <p:sp>
        <p:nvSpPr>
          <p:cNvPr id="35" name="TextBox 34"/>
          <p:cNvSpPr txBox="1"/>
          <p:nvPr/>
        </p:nvSpPr>
        <p:spPr>
          <a:xfrm>
            <a:off x="548640" y="30723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Temperatura de almacenamiento</a:t>
            </a:r>
          </a:p>
        </p:txBody>
      </p:sp>
      <p:sp>
        <p:nvSpPr>
          <p:cNvPr id="36" name="TextBox 35"/>
          <p:cNvSpPr txBox="1"/>
          <p:nvPr/>
        </p:nvSpPr>
        <p:spPr>
          <a:xfrm>
            <a:off x="3920938" y="30723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Tstg</a:t>
            </a:r>
          </a:p>
        </p:txBody>
      </p:sp>
      <p:sp>
        <p:nvSpPr>
          <p:cNvPr id="37" name="TextBox 36"/>
          <p:cNvSpPr txBox="1"/>
          <p:nvPr/>
        </p:nvSpPr>
        <p:spPr>
          <a:xfrm>
            <a:off x="5494677" y="30723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−65 °C a +150 °C</a:t>
            </a:r>
          </a:p>
        </p:txBody>
      </p:sp>
      <p:sp>
        <p:nvSpPr>
          <p:cNvPr id="38" name="TextBox 37"/>
          <p:cNvSpPr txBox="1"/>
          <p:nvPr/>
        </p:nvSpPr>
        <p:spPr>
          <a:xfrm>
            <a:off x="7742875" y="30723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Daño mecánico y del encapsulado por dilatación</a:t>
            </a:r>
          </a:p>
        </p:txBody>
      </p:sp>
      <p:sp>
        <p:nvSpPr>
          <p:cNvPr id="39" name="Rectangle 38"/>
          <p:cNvSpPr/>
          <p:nvPr/>
        </p:nvSpPr>
        <p:spPr>
          <a:xfrm>
            <a:off x="475488" y="3529584"/>
            <a:ext cx="11240993" cy="45720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5295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Temperatura de la unión</a:t>
            </a:r>
          </a:p>
        </p:txBody>
      </p:sp>
      <p:sp>
        <p:nvSpPr>
          <p:cNvPr id="41" name="TextBox 40"/>
          <p:cNvSpPr txBox="1"/>
          <p:nvPr/>
        </p:nvSpPr>
        <p:spPr>
          <a:xfrm>
            <a:off x="3920938" y="35295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TJ</a:t>
            </a:r>
          </a:p>
        </p:txBody>
      </p:sp>
      <p:sp>
        <p:nvSpPr>
          <p:cNvPr id="42" name="TextBox 41"/>
          <p:cNvSpPr txBox="1"/>
          <p:nvPr/>
        </p:nvSpPr>
        <p:spPr>
          <a:xfrm>
            <a:off x="5494677" y="35295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+150 °C máximo</a:t>
            </a:r>
          </a:p>
        </p:txBody>
      </p:sp>
      <p:sp>
        <p:nvSpPr>
          <p:cNvPr id="43" name="TextBox 42"/>
          <p:cNvSpPr txBox="1"/>
          <p:nvPr/>
        </p:nvSpPr>
        <p:spPr>
          <a:xfrm>
            <a:off x="7742875" y="35295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Falla térmica inmediata y pérdida de las características</a:t>
            </a:r>
          </a:p>
        </p:txBody>
      </p:sp>
      <p:sp>
        <p:nvSpPr>
          <p:cNvPr id="44" name="TextBox 43"/>
          <p:cNvSpPr txBox="1"/>
          <p:nvPr/>
        </p:nvSpPr>
        <p:spPr>
          <a:xfrm>
            <a:off x="548640" y="3986783"/>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Temperatura de soldadura (10 s)</a:t>
            </a:r>
          </a:p>
        </p:txBody>
      </p:sp>
      <p:sp>
        <p:nvSpPr>
          <p:cNvPr id="45" name="TextBox 44"/>
          <p:cNvSpPr txBox="1"/>
          <p:nvPr/>
        </p:nvSpPr>
        <p:spPr>
          <a:xfrm>
            <a:off x="3920938" y="3986783"/>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TL</a:t>
            </a:r>
          </a:p>
        </p:txBody>
      </p:sp>
      <p:sp>
        <p:nvSpPr>
          <p:cNvPr id="46" name="TextBox 45"/>
          <p:cNvSpPr txBox="1"/>
          <p:nvPr/>
        </p:nvSpPr>
        <p:spPr>
          <a:xfrm>
            <a:off x="5494677" y="3986783"/>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+260 °C</a:t>
            </a:r>
          </a:p>
        </p:txBody>
      </p:sp>
      <p:sp>
        <p:nvSpPr>
          <p:cNvPr id="47" name="TextBox 46"/>
          <p:cNvSpPr txBox="1"/>
          <p:nvPr/>
        </p:nvSpPr>
        <p:spPr>
          <a:xfrm>
            <a:off x="7742875" y="3986783"/>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Deformación del plástico y desplazamiento de los pines</a:t>
            </a:r>
          </a:p>
        </p:txBody>
      </p:sp>
      <p:sp>
        <p:nvSpPr>
          <p:cNvPr id="48" name="Rectangle 47"/>
          <p:cNvSpPr/>
          <p:nvPr/>
        </p:nvSpPr>
        <p:spPr>
          <a:xfrm>
            <a:off x="475488" y="4443983"/>
            <a:ext cx="11240993" cy="45720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443983"/>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Disipación del encapsulado</a:t>
            </a:r>
          </a:p>
        </p:txBody>
      </p:sp>
      <p:sp>
        <p:nvSpPr>
          <p:cNvPr id="50" name="TextBox 49"/>
          <p:cNvSpPr txBox="1"/>
          <p:nvPr/>
        </p:nvSpPr>
        <p:spPr>
          <a:xfrm>
            <a:off x="3920938" y="4443983"/>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PD</a:t>
            </a:r>
          </a:p>
        </p:txBody>
      </p:sp>
      <p:sp>
        <p:nvSpPr>
          <p:cNvPr id="51" name="TextBox 50"/>
          <p:cNvSpPr txBox="1"/>
          <p:nvPr/>
        </p:nvSpPr>
        <p:spPr>
          <a:xfrm>
            <a:off x="5494677" y="4443983"/>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 500 mW (DIP-14)</a:t>
            </a:r>
          </a:p>
        </p:txBody>
      </p:sp>
      <p:sp>
        <p:nvSpPr>
          <p:cNvPr id="52" name="TextBox 51"/>
          <p:cNvSpPr txBox="1"/>
          <p:nvPr/>
        </p:nvSpPr>
        <p:spPr>
          <a:xfrm>
            <a:off x="7742875" y="4443983"/>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Aumento de temperatura interno por encima de lo tolerado</a:t>
            </a:r>
          </a:p>
        </p:txBody>
      </p:sp>
      <p:sp>
        <p:nvSpPr>
          <p:cNvPr id="53" name="Rounded Rectangle 52"/>
          <p:cNvSpPr/>
          <p:nvPr/>
        </p:nvSpPr>
        <p:spPr>
          <a:xfrm>
            <a:off x="475488" y="1371600"/>
            <a:ext cx="11240993" cy="3529583"/>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75488" y="5468112"/>
            <a:ext cx="32004" cy="640080"/>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¡CUIDADO!</a:t>
            </a:r>
          </a:p>
        </p:txBody>
      </p:sp>
      <p:sp>
        <p:nvSpPr>
          <p:cNvPr id="57" name="TextBox 5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Advertencia de taller: invertir la alimentación (VCC a GND y GND a VCC) es la causa número uno de chips muertos en prácticas estudiantiles. Antes de conectar la fuente, verificar con el multímetro en modo continuidad que VCC y GND no estén en corto.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158"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159"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160"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161"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162" dur="420"/>
                                        <p:tgtEl>
                                          <p:spTgt spid="20"/>
                                        </p:tgtEl>
                                      </p:cBhvr>
                                    </p:animEffect>
                                  </p:childTnLst>
                                </p:cTn>
                              </p:par>
                            </p:childTnLst>
                          </p:cTn>
                        </p:par>
                      </p:childTnLst>
                    </p:cTn>
                  </p:par>
                  <p:par>
                    <p:cTn id="156" fill="hold">
                      <p:stCondLst>
                        <p:cond delay="indefinite"/>
                      </p:stCondLst>
                      <p:childTnLst>
                        <p:par>
                          <p:cTn id="157"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4" dur="420"/>
                                        <p:tgtEl>
                                          <p:spTgt spid="54"/>
                                        </p:tgtEl>
                                      </p:cBhvr>
                                    </p:animEffect>
                                  </p:childTnLst>
                                </p:cTn>
                              </p:par>
                              <p:par>
                                <p:cTn id="149" fill="hold">
                                  <p:stCondLst>
                                    <p:cond delay="3630"/>
                                  </p:stCondLst>
                                  <p:childTnLst>
                                    <p:set>
                                      <p:cBhvr>
                                        <p:cTn id="148" dur="1" fill="hold">
                                          <p:stCondLst>
                                            <p:cond delay="0"/>
                                          </p:stCondLst>
                                        </p:cTn>
                                        <p:tgtEl>
                                          <p:spTgt spid="55"/>
                                        </p:tgtEl>
                                        <p:attrNameLst>
                                          <p:attrName>style.visibility</p:attrName>
                                        </p:attrNameLst>
                                      </p:cBhvr>
                                      <p:to>
                                        <p:strVal val="visible"/>
                                      </p:to>
                                    </p:set>
                                    <p:animEffect transition="in" filter="fade">
                                      <p:cBhvr>
                                        <p:cTn id="147" dur="420"/>
                                        <p:tgtEl>
                                          <p:spTgt spid="55"/>
                                        </p:tgtEl>
                                      </p:cBhvr>
                                    </p:animEffect>
                                  </p:childTnLst>
                                </p:cTn>
                              </p:par>
                              <p:par>
                                <p:cTn id="152" fill="hold">
                                  <p:stCondLst>
                                    <p:cond delay="374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0" dur="420"/>
                                        <p:tgtEl>
                                          <p:spTgt spid="56"/>
                                        </p:tgtEl>
                                      </p:cBhvr>
                                    </p:animEffect>
                                  </p:childTnLst>
                                </p:cTn>
                              </p:par>
                              <p:par>
                                <p:cTn id="155" fill="hold">
                                  <p:stCondLst>
                                    <p:cond delay="3850"/>
                                  </p:stCondLst>
                                  <p:childTnLst>
                                    <p:set>
                                      <p:cBhvr>
                                        <p:cTn id="154" dur="1" fill="hold">
                                          <p:stCondLst>
                                            <p:cond delay="0"/>
                                          </p:stCondLst>
                                        </p:cTn>
                                        <p:tgtEl>
                                          <p:spTgt spid="57"/>
                                        </p:tgtEl>
                                        <p:attrNameLst>
                                          <p:attrName>style.visibility</p:attrName>
                                        </p:attrNameLst>
                                      </p:cBhvr>
                                      <p:to>
                                        <p:strVal val="visible"/>
                                      </p:to>
                                    </p:set>
                                    <p:animEffect transition="in" filter="fade">
                                      <p:cBhvr>
                                        <p:cTn id="153" dur="42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0D1A2B"/>
                </a:solidFill>
                <a:latin typeface="Segoe UI Semibold"/>
              </a:rPr>
              <a:t>Parámetros eléctricos recomendados (DC) del 74LS00</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Las condiciones en las que el fabricante garantiza los niveles lógicos.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170857"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97779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Parámetro</a:t>
            </a:r>
          </a:p>
        </p:txBody>
      </p:sp>
      <p:sp>
        <p:nvSpPr>
          <p:cNvPr id="18" name="TextBox 17"/>
          <p:cNvSpPr txBox="1"/>
          <p:nvPr/>
        </p:nvSpPr>
        <p:spPr>
          <a:xfrm>
            <a:off x="1672739"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Pin</a:t>
            </a:r>
          </a:p>
        </p:txBody>
      </p:sp>
      <p:sp>
        <p:nvSpPr>
          <p:cNvPr id="19" name="TextBox 18"/>
          <p:cNvSpPr txBox="1"/>
          <p:nvPr/>
        </p:nvSpPr>
        <p:spPr>
          <a:xfrm>
            <a:off x="2684428"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Mín.</a:t>
            </a:r>
          </a:p>
        </p:txBody>
      </p:sp>
      <p:sp>
        <p:nvSpPr>
          <p:cNvPr id="20" name="TextBox 19"/>
          <p:cNvSpPr txBox="1"/>
          <p:nvPr/>
        </p:nvSpPr>
        <p:spPr>
          <a:xfrm>
            <a:off x="3696118"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Típ.</a:t>
            </a:r>
          </a:p>
        </p:txBody>
      </p:sp>
      <p:sp>
        <p:nvSpPr>
          <p:cNvPr id="21" name="TextBox 20"/>
          <p:cNvSpPr txBox="1"/>
          <p:nvPr/>
        </p:nvSpPr>
        <p:spPr>
          <a:xfrm>
            <a:off x="4707807"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Máx.</a:t>
            </a:r>
          </a:p>
        </p:txBody>
      </p:sp>
      <p:sp>
        <p:nvSpPr>
          <p:cNvPr id="22" name="TextBox 21"/>
          <p:cNvSpPr txBox="1"/>
          <p:nvPr/>
        </p:nvSpPr>
        <p:spPr>
          <a:xfrm>
            <a:off x="5719497"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Unidad</a:t>
            </a:r>
          </a:p>
        </p:txBody>
      </p:sp>
      <p:sp>
        <p:nvSpPr>
          <p:cNvPr id="23" name="TextBox 22"/>
          <p:cNvSpPr txBox="1"/>
          <p:nvPr/>
        </p:nvSpPr>
        <p:spPr>
          <a:xfrm>
            <a:off x="6731186" y="1371600"/>
            <a:ext cx="4912143"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Qué significa</a:t>
            </a:r>
          </a:p>
        </p:txBody>
      </p:sp>
      <p:sp>
        <p:nvSpPr>
          <p:cNvPr id="24" name="Rectangle 23"/>
          <p:cNvSpPr/>
          <p:nvPr/>
        </p:nvSpPr>
        <p:spPr>
          <a:xfrm>
            <a:off x="475488" y="1700784"/>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1700784"/>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VCC</a:t>
            </a:r>
          </a:p>
        </p:txBody>
      </p:sp>
      <p:sp>
        <p:nvSpPr>
          <p:cNvPr id="26" name="TextBox 25"/>
          <p:cNvSpPr txBox="1"/>
          <p:nvPr/>
        </p:nvSpPr>
        <p:spPr>
          <a:xfrm>
            <a:off x="1672739"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14</a:t>
            </a:r>
          </a:p>
        </p:txBody>
      </p:sp>
      <p:sp>
        <p:nvSpPr>
          <p:cNvPr id="27" name="TextBox 26"/>
          <p:cNvSpPr txBox="1"/>
          <p:nvPr/>
        </p:nvSpPr>
        <p:spPr>
          <a:xfrm>
            <a:off x="2684428"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4.75</a:t>
            </a:r>
          </a:p>
        </p:txBody>
      </p:sp>
      <p:sp>
        <p:nvSpPr>
          <p:cNvPr id="28" name="TextBox 27"/>
          <p:cNvSpPr txBox="1"/>
          <p:nvPr/>
        </p:nvSpPr>
        <p:spPr>
          <a:xfrm>
            <a:off x="3696118"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5.0</a:t>
            </a:r>
          </a:p>
        </p:txBody>
      </p:sp>
      <p:sp>
        <p:nvSpPr>
          <p:cNvPr id="29" name="TextBox 28"/>
          <p:cNvSpPr txBox="1"/>
          <p:nvPr/>
        </p:nvSpPr>
        <p:spPr>
          <a:xfrm>
            <a:off x="4707807"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5.25</a:t>
            </a:r>
          </a:p>
        </p:txBody>
      </p:sp>
      <p:sp>
        <p:nvSpPr>
          <p:cNvPr id="30" name="TextBox 29"/>
          <p:cNvSpPr txBox="1"/>
          <p:nvPr/>
        </p:nvSpPr>
        <p:spPr>
          <a:xfrm>
            <a:off x="5719497"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31" name="TextBox 30"/>
          <p:cNvSpPr txBox="1"/>
          <p:nvPr/>
        </p:nvSpPr>
        <p:spPr>
          <a:xfrm>
            <a:off x="6731186" y="1700784"/>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Tensión de alimentación garantizada</a:t>
            </a:r>
          </a:p>
        </p:txBody>
      </p:sp>
      <p:sp>
        <p:nvSpPr>
          <p:cNvPr id="32" name="TextBox 31"/>
          <p:cNvSpPr txBox="1"/>
          <p:nvPr/>
        </p:nvSpPr>
        <p:spPr>
          <a:xfrm>
            <a:off x="548640" y="2016667"/>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VIH</a:t>
            </a:r>
          </a:p>
        </p:txBody>
      </p:sp>
      <p:sp>
        <p:nvSpPr>
          <p:cNvPr id="33" name="TextBox 32"/>
          <p:cNvSpPr txBox="1"/>
          <p:nvPr/>
        </p:nvSpPr>
        <p:spPr>
          <a:xfrm>
            <a:off x="1672739"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a:t>
            </a:r>
          </a:p>
        </p:txBody>
      </p:sp>
      <p:sp>
        <p:nvSpPr>
          <p:cNvPr id="34" name="TextBox 33"/>
          <p:cNvSpPr txBox="1"/>
          <p:nvPr/>
        </p:nvSpPr>
        <p:spPr>
          <a:xfrm>
            <a:off x="2684428"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2.0</a:t>
            </a:r>
          </a:p>
        </p:txBody>
      </p:sp>
      <p:sp>
        <p:nvSpPr>
          <p:cNvPr id="35" name="TextBox 34"/>
          <p:cNvSpPr txBox="1"/>
          <p:nvPr/>
        </p:nvSpPr>
        <p:spPr>
          <a:xfrm>
            <a:off x="3696118"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36" name="TextBox 35"/>
          <p:cNvSpPr txBox="1"/>
          <p:nvPr/>
        </p:nvSpPr>
        <p:spPr>
          <a:xfrm>
            <a:off x="4707807"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37" name="TextBox 36"/>
          <p:cNvSpPr txBox="1"/>
          <p:nvPr/>
        </p:nvSpPr>
        <p:spPr>
          <a:xfrm>
            <a:off x="5719497"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38" name="TextBox 37"/>
          <p:cNvSpPr txBox="1"/>
          <p:nvPr/>
        </p:nvSpPr>
        <p:spPr>
          <a:xfrm>
            <a:off x="6731186" y="2016667"/>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Mínima tensión que se lee como nivel alto</a:t>
            </a:r>
          </a:p>
        </p:txBody>
      </p:sp>
      <p:sp>
        <p:nvSpPr>
          <p:cNvPr id="39" name="Rectangle 38"/>
          <p:cNvSpPr/>
          <p:nvPr/>
        </p:nvSpPr>
        <p:spPr>
          <a:xfrm>
            <a:off x="475488" y="2332551"/>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2332551"/>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VIL</a:t>
            </a:r>
          </a:p>
        </p:txBody>
      </p:sp>
      <p:sp>
        <p:nvSpPr>
          <p:cNvPr id="41" name="TextBox 40"/>
          <p:cNvSpPr txBox="1"/>
          <p:nvPr/>
        </p:nvSpPr>
        <p:spPr>
          <a:xfrm>
            <a:off x="1672739"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a:t>
            </a:r>
          </a:p>
        </p:txBody>
      </p:sp>
      <p:sp>
        <p:nvSpPr>
          <p:cNvPr id="42" name="TextBox 41"/>
          <p:cNvSpPr txBox="1"/>
          <p:nvPr/>
        </p:nvSpPr>
        <p:spPr>
          <a:xfrm>
            <a:off x="2684428"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43" name="TextBox 42"/>
          <p:cNvSpPr txBox="1"/>
          <p:nvPr/>
        </p:nvSpPr>
        <p:spPr>
          <a:xfrm>
            <a:off x="3696118"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44" name="TextBox 43"/>
          <p:cNvSpPr txBox="1"/>
          <p:nvPr/>
        </p:nvSpPr>
        <p:spPr>
          <a:xfrm>
            <a:off x="4707807"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0.8</a:t>
            </a:r>
          </a:p>
        </p:txBody>
      </p:sp>
      <p:sp>
        <p:nvSpPr>
          <p:cNvPr id="45" name="TextBox 44"/>
          <p:cNvSpPr txBox="1"/>
          <p:nvPr/>
        </p:nvSpPr>
        <p:spPr>
          <a:xfrm>
            <a:off x="5719497"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46" name="TextBox 45"/>
          <p:cNvSpPr txBox="1"/>
          <p:nvPr/>
        </p:nvSpPr>
        <p:spPr>
          <a:xfrm>
            <a:off x="6731186" y="2332551"/>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Máxima tensión que se lee como nivel bajo</a:t>
            </a:r>
          </a:p>
        </p:txBody>
      </p:sp>
      <p:sp>
        <p:nvSpPr>
          <p:cNvPr id="47" name="TextBox 46"/>
          <p:cNvSpPr txBox="1"/>
          <p:nvPr/>
        </p:nvSpPr>
        <p:spPr>
          <a:xfrm>
            <a:off x="548640" y="2648434"/>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VOH</a:t>
            </a:r>
          </a:p>
        </p:txBody>
      </p:sp>
      <p:sp>
        <p:nvSpPr>
          <p:cNvPr id="48" name="TextBox 47"/>
          <p:cNvSpPr txBox="1"/>
          <p:nvPr/>
        </p:nvSpPr>
        <p:spPr>
          <a:xfrm>
            <a:off x="1672739"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49" name="TextBox 48"/>
          <p:cNvSpPr txBox="1"/>
          <p:nvPr/>
        </p:nvSpPr>
        <p:spPr>
          <a:xfrm>
            <a:off x="2684428"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2.7</a:t>
            </a:r>
          </a:p>
        </p:txBody>
      </p:sp>
      <p:sp>
        <p:nvSpPr>
          <p:cNvPr id="50" name="TextBox 49"/>
          <p:cNvSpPr txBox="1"/>
          <p:nvPr/>
        </p:nvSpPr>
        <p:spPr>
          <a:xfrm>
            <a:off x="3696118"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3.4</a:t>
            </a:r>
          </a:p>
        </p:txBody>
      </p:sp>
      <p:sp>
        <p:nvSpPr>
          <p:cNvPr id="51" name="TextBox 50"/>
          <p:cNvSpPr txBox="1"/>
          <p:nvPr/>
        </p:nvSpPr>
        <p:spPr>
          <a:xfrm>
            <a:off x="4707807"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52" name="TextBox 51"/>
          <p:cNvSpPr txBox="1"/>
          <p:nvPr/>
        </p:nvSpPr>
        <p:spPr>
          <a:xfrm>
            <a:off x="5719497"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53" name="TextBox 52"/>
          <p:cNvSpPr txBox="1"/>
          <p:nvPr/>
        </p:nvSpPr>
        <p:spPr>
          <a:xfrm>
            <a:off x="6731186" y="2648434"/>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Mínima tensión entregada como nivel alto</a:t>
            </a:r>
          </a:p>
        </p:txBody>
      </p:sp>
      <p:sp>
        <p:nvSpPr>
          <p:cNvPr id="54" name="Rectangle 53"/>
          <p:cNvSpPr/>
          <p:nvPr/>
        </p:nvSpPr>
        <p:spPr>
          <a:xfrm>
            <a:off x="475488" y="2964318"/>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548640" y="2964318"/>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VOL</a:t>
            </a:r>
          </a:p>
        </p:txBody>
      </p:sp>
      <p:sp>
        <p:nvSpPr>
          <p:cNvPr id="56" name="TextBox 55"/>
          <p:cNvSpPr txBox="1"/>
          <p:nvPr/>
        </p:nvSpPr>
        <p:spPr>
          <a:xfrm>
            <a:off x="1672739"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57" name="TextBox 56"/>
          <p:cNvSpPr txBox="1"/>
          <p:nvPr/>
        </p:nvSpPr>
        <p:spPr>
          <a:xfrm>
            <a:off x="2684428"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58" name="TextBox 57"/>
          <p:cNvSpPr txBox="1"/>
          <p:nvPr/>
        </p:nvSpPr>
        <p:spPr>
          <a:xfrm>
            <a:off x="3696118"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0.25</a:t>
            </a:r>
          </a:p>
        </p:txBody>
      </p:sp>
      <p:sp>
        <p:nvSpPr>
          <p:cNvPr id="59" name="TextBox 58"/>
          <p:cNvSpPr txBox="1"/>
          <p:nvPr/>
        </p:nvSpPr>
        <p:spPr>
          <a:xfrm>
            <a:off x="4707807"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0.5</a:t>
            </a:r>
          </a:p>
        </p:txBody>
      </p:sp>
      <p:sp>
        <p:nvSpPr>
          <p:cNvPr id="60" name="TextBox 59"/>
          <p:cNvSpPr txBox="1"/>
          <p:nvPr/>
        </p:nvSpPr>
        <p:spPr>
          <a:xfrm>
            <a:off x="5719497"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61" name="TextBox 60"/>
          <p:cNvSpPr txBox="1"/>
          <p:nvPr/>
        </p:nvSpPr>
        <p:spPr>
          <a:xfrm>
            <a:off x="6731186" y="2964318"/>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Máxima tensión entregada como '0'</a:t>
            </a:r>
          </a:p>
        </p:txBody>
      </p:sp>
      <p:sp>
        <p:nvSpPr>
          <p:cNvPr id="62" name="TextBox 61"/>
          <p:cNvSpPr txBox="1"/>
          <p:nvPr/>
        </p:nvSpPr>
        <p:spPr>
          <a:xfrm>
            <a:off x="548640" y="3280202"/>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IIH</a:t>
            </a:r>
          </a:p>
        </p:txBody>
      </p:sp>
      <p:sp>
        <p:nvSpPr>
          <p:cNvPr id="63" name="TextBox 62"/>
          <p:cNvSpPr txBox="1"/>
          <p:nvPr/>
        </p:nvSpPr>
        <p:spPr>
          <a:xfrm>
            <a:off x="1672739"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a:t>
            </a:r>
          </a:p>
        </p:txBody>
      </p:sp>
      <p:sp>
        <p:nvSpPr>
          <p:cNvPr id="64" name="TextBox 63"/>
          <p:cNvSpPr txBox="1"/>
          <p:nvPr/>
        </p:nvSpPr>
        <p:spPr>
          <a:xfrm>
            <a:off x="2684428"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65" name="TextBox 64"/>
          <p:cNvSpPr txBox="1"/>
          <p:nvPr/>
        </p:nvSpPr>
        <p:spPr>
          <a:xfrm>
            <a:off x="3696118"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66" name="TextBox 65"/>
          <p:cNvSpPr txBox="1"/>
          <p:nvPr/>
        </p:nvSpPr>
        <p:spPr>
          <a:xfrm>
            <a:off x="4707807"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20</a:t>
            </a:r>
          </a:p>
        </p:txBody>
      </p:sp>
      <p:sp>
        <p:nvSpPr>
          <p:cNvPr id="67" name="TextBox 66"/>
          <p:cNvSpPr txBox="1"/>
          <p:nvPr/>
        </p:nvSpPr>
        <p:spPr>
          <a:xfrm>
            <a:off x="5719497"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µA</a:t>
            </a:r>
          </a:p>
        </p:txBody>
      </p:sp>
      <p:sp>
        <p:nvSpPr>
          <p:cNvPr id="68" name="TextBox 67"/>
          <p:cNvSpPr txBox="1"/>
          <p:nvPr/>
        </p:nvSpPr>
        <p:spPr>
          <a:xfrm>
            <a:off x="6731186" y="3280202"/>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que absorbe una entrada en alto</a:t>
            </a:r>
          </a:p>
        </p:txBody>
      </p:sp>
      <p:sp>
        <p:nvSpPr>
          <p:cNvPr id="69" name="Rectangle 68"/>
          <p:cNvSpPr/>
          <p:nvPr/>
        </p:nvSpPr>
        <p:spPr>
          <a:xfrm>
            <a:off x="475488" y="3596085"/>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548640" y="3596085"/>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IIL</a:t>
            </a:r>
          </a:p>
        </p:txBody>
      </p:sp>
      <p:sp>
        <p:nvSpPr>
          <p:cNvPr id="71" name="TextBox 70"/>
          <p:cNvSpPr txBox="1"/>
          <p:nvPr/>
        </p:nvSpPr>
        <p:spPr>
          <a:xfrm>
            <a:off x="1672739"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a:t>
            </a:r>
          </a:p>
        </p:txBody>
      </p:sp>
      <p:sp>
        <p:nvSpPr>
          <p:cNvPr id="72" name="TextBox 71"/>
          <p:cNvSpPr txBox="1"/>
          <p:nvPr/>
        </p:nvSpPr>
        <p:spPr>
          <a:xfrm>
            <a:off x="2684428"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73" name="TextBox 72"/>
          <p:cNvSpPr txBox="1"/>
          <p:nvPr/>
        </p:nvSpPr>
        <p:spPr>
          <a:xfrm>
            <a:off x="3696118"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74" name="TextBox 73"/>
          <p:cNvSpPr txBox="1"/>
          <p:nvPr/>
        </p:nvSpPr>
        <p:spPr>
          <a:xfrm>
            <a:off x="4707807"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−0.4</a:t>
            </a:r>
          </a:p>
        </p:txBody>
      </p:sp>
      <p:sp>
        <p:nvSpPr>
          <p:cNvPr id="75" name="TextBox 74"/>
          <p:cNvSpPr txBox="1"/>
          <p:nvPr/>
        </p:nvSpPr>
        <p:spPr>
          <a:xfrm>
            <a:off x="5719497"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76" name="TextBox 75"/>
          <p:cNvSpPr txBox="1"/>
          <p:nvPr/>
        </p:nvSpPr>
        <p:spPr>
          <a:xfrm>
            <a:off x="6731186" y="3596085"/>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que entrega una entrada en bajo</a:t>
            </a:r>
          </a:p>
        </p:txBody>
      </p:sp>
      <p:sp>
        <p:nvSpPr>
          <p:cNvPr id="77" name="TextBox 76"/>
          <p:cNvSpPr txBox="1"/>
          <p:nvPr/>
        </p:nvSpPr>
        <p:spPr>
          <a:xfrm>
            <a:off x="548640" y="3911969"/>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IOH</a:t>
            </a:r>
          </a:p>
        </p:txBody>
      </p:sp>
      <p:sp>
        <p:nvSpPr>
          <p:cNvPr id="78" name="TextBox 77"/>
          <p:cNvSpPr txBox="1"/>
          <p:nvPr/>
        </p:nvSpPr>
        <p:spPr>
          <a:xfrm>
            <a:off x="1672739"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79" name="TextBox 78"/>
          <p:cNvSpPr txBox="1"/>
          <p:nvPr/>
        </p:nvSpPr>
        <p:spPr>
          <a:xfrm>
            <a:off x="2684428"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80" name="TextBox 79"/>
          <p:cNvSpPr txBox="1"/>
          <p:nvPr/>
        </p:nvSpPr>
        <p:spPr>
          <a:xfrm>
            <a:off x="3696118"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−0.4</a:t>
            </a:r>
          </a:p>
        </p:txBody>
      </p:sp>
      <p:sp>
        <p:nvSpPr>
          <p:cNvPr id="81" name="TextBox 80"/>
          <p:cNvSpPr txBox="1"/>
          <p:nvPr/>
        </p:nvSpPr>
        <p:spPr>
          <a:xfrm>
            <a:off x="4707807"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−0.8</a:t>
            </a:r>
          </a:p>
        </p:txBody>
      </p:sp>
      <p:sp>
        <p:nvSpPr>
          <p:cNvPr id="82" name="TextBox 81"/>
          <p:cNvSpPr txBox="1"/>
          <p:nvPr/>
        </p:nvSpPr>
        <p:spPr>
          <a:xfrm>
            <a:off x="5719497"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83" name="TextBox 82"/>
          <p:cNvSpPr txBox="1"/>
          <p:nvPr/>
        </p:nvSpPr>
        <p:spPr>
          <a:xfrm>
            <a:off x="6731186" y="3911969"/>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máxima entregada en nivel alto</a:t>
            </a:r>
          </a:p>
        </p:txBody>
      </p:sp>
      <p:sp>
        <p:nvSpPr>
          <p:cNvPr id="84" name="Rectangle 83"/>
          <p:cNvSpPr/>
          <p:nvPr/>
        </p:nvSpPr>
        <p:spPr>
          <a:xfrm>
            <a:off x="475488" y="4227853"/>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548640" y="4227853"/>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IOL</a:t>
            </a:r>
          </a:p>
        </p:txBody>
      </p:sp>
      <p:sp>
        <p:nvSpPr>
          <p:cNvPr id="86" name="TextBox 85"/>
          <p:cNvSpPr txBox="1"/>
          <p:nvPr/>
        </p:nvSpPr>
        <p:spPr>
          <a:xfrm>
            <a:off x="1672739"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87" name="TextBox 86"/>
          <p:cNvSpPr txBox="1"/>
          <p:nvPr/>
        </p:nvSpPr>
        <p:spPr>
          <a:xfrm>
            <a:off x="2684428"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88" name="TextBox 87"/>
          <p:cNvSpPr txBox="1"/>
          <p:nvPr/>
        </p:nvSpPr>
        <p:spPr>
          <a:xfrm>
            <a:off x="3696118"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8.0</a:t>
            </a:r>
          </a:p>
        </p:txBody>
      </p:sp>
      <p:sp>
        <p:nvSpPr>
          <p:cNvPr id="89" name="TextBox 88"/>
          <p:cNvSpPr txBox="1"/>
          <p:nvPr/>
        </p:nvSpPr>
        <p:spPr>
          <a:xfrm>
            <a:off x="4707807"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16</a:t>
            </a:r>
          </a:p>
        </p:txBody>
      </p:sp>
      <p:sp>
        <p:nvSpPr>
          <p:cNvPr id="90" name="TextBox 89"/>
          <p:cNvSpPr txBox="1"/>
          <p:nvPr/>
        </p:nvSpPr>
        <p:spPr>
          <a:xfrm>
            <a:off x="5719497"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91" name="TextBox 90"/>
          <p:cNvSpPr txBox="1"/>
          <p:nvPr/>
        </p:nvSpPr>
        <p:spPr>
          <a:xfrm>
            <a:off x="6731186" y="4227853"/>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máxima absorbida en nivel bajo</a:t>
            </a:r>
          </a:p>
        </p:txBody>
      </p:sp>
      <p:sp>
        <p:nvSpPr>
          <p:cNvPr id="92" name="TextBox 91"/>
          <p:cNvSpPr txBox="1"/>
          <p:nvPr/>
        </p:nvSpPr>
        <p:spPr>
          <a:xfrm>
            <a:off x="548640" y="4543736"/>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IOS</a:t>
            </a:r>
          </a:p>
        </p:txBody>
      </p:sp>
      <p:sp>
        <p:nvSpPr>
          <p:cNvPr id="93" name="TextBox 92"/>
          <p:cNvSpPr txBox="1"/>
          <p:nvPr/>
        </p:nvSpPr>
        <p:spPr>
          <a:xfrm>
            <a:off x="1672739"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94" name="TextBox 93"/>
          <p:cNvSpPr txBox="1"/>
          <p:nvPr/>
        </p:nvSpPr>
        <p:spPr>
          <a:xfrm>
            <a:off x="2684428"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−20</a:t>
            </a:r>
          </a:p>
        </p:txBody>
      </p:sp>
      <p:sp>
        <p:nvSpPr>
          <p:cNvPr id="95" name="TextBox 94"/>
          <p:cNvSpPr txBox="1"/>
          <p:nvPr/>
        </p:nvSpPr>
        <p:spPr>
          <a:xfrm>
            <a:off x="3696118"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96" name="TextBox 95"/>
          <p:cNvSpPr txBox="1"/>
          <p:nvPr/>
        </p:nvSpPr>
        <p:spPr>
          <a:xfrm>
            <a:off x="4707807"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−100</a:t>
            </a:r>
          </a:p>
        </p:txBody>
      </p:sp>
      <p:sp>
        <p:nvSpPr>
          <p:cNvPr id="97" name="TextBox 96"/>
          <p:cNvSpPr txBox="1"/>
          <p:nvPr/>
        </p:nvSpPr>
        <p:spPr>
          <a:xfrm>
            <a:off x="5719497"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98" name="TextBox 97"/>
          <p:cNvSpPr txBox="1"/>
          <p:nvPr/>
        </p:nvSpPr>
        <p:spPr>
          <a:xfrm>
            <a:off x="6731186" y="4543736"/>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de cortocircuito momentánea</a:t>
            </a:r>
          </a:p>
        </p:txBody>
      </p:sp>
      <p:sp>
        <p:nvSpPr>
          <p:cNvPr id="99" name="Rectangle 98"/>
          <p:cNvSpPr/>
          <p:nvPr/>
        </p:nvSpPr>
        <p:spPr>
          <a:xfrm>
            <a:off x="475488" y="4859620"/>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548640" y="4859620"/>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ICC</a:t>
            </a:r>
          </a:p>
        </p:txBody>
      </p:sp>
      <p:sp>
        <p:nvSpPr>
          <p:cNvPr id="101" name="TextBox 100"/>
          <p:cNvSpPr txBox="1"/>
          <p:nvPr/>
        </p:nvSpPr>
        <p:spPr>
          <a:xfrm>
            <a:off x="1672739"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VCC</a:t>
            </a:r>
          </a:p>
        </p:txBody>
      </p:sp>
      <p:sp>
        <p:nvSpPr>
          <p:cNvPr id="102" name="TextBox 101"/>
          <p:cNvSpPr txBox="1"/>
          <p:nvPr/>
        </p:nvSpPr>
        <p:spPr>
          <a:xfrm>
            <a:off x="2684428"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103" name="TextBox 102"/>
          <p:cNvSpPr txBox="1"/>
          <p:nvPr/>
        </p:nvSpPr>
        <p:spPr>
          <a:xfrm>
            <a:off x="3696118"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1.6</a:t>
            </a:r>
          </a:p>
        </p:txBody>
      </p:sp>
      <p:sp>
        <p:nvSpPr>
          <p:cNvPr id="104" name="TextBox 103"/>
          <p:cNvSpPr txBox="1"/>
          <p:nvPr/>
        </p:nvSpPr>
        <p:spPr>
          <a:xfrm>
            <a:off x="4707807"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3.4</a:t>
            </a:r>
          </a:p>
        </p:txBody>
      </p:sp>
      <p:sp>
        <p:nvSpPr>
          <p:cNvPr id="105" name="TextBox 104"/>
          <p:cNvSpPr txBox="1"/>
          <p:nvPr/>
        </p:nvSpPr>
        <p:spPr>
          <a:xfrm>
            <a:off x="5719497"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106" name="TextBox 105"/>
          <p:cNvSpPr txBox="1"/>
          <p:nvPr/>
        </p:nvSpPr>
        <p:spPr>
          <a:xfrm>
            <a:off x="6731186" y="4859620"/>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Consumo total del integrado en reposo</a:t>
            </a:r>
          </a:p>
        </p:txBody>
      </p:sp>
      <p:sp>
        <p:nvSpPr>
          <p:cNvPr id="107" name="Rounded Rectangle 106"/>
          <p:cNvSpPr/>
          <p:nvPr/>
        </p:nvSpPr>
        <p:spPr>
          <a:xfrm>
            <a:off x="475488" y="1371600"/>
            <a:ext cx="11240993" cy="3803904"/>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LECTURA DE LA TABLA</a:t>
            </a:r>
          </a:p>
        </p:txBody>
      </p:sp>
      <p:sp>
        <p:nvSpPr>
          <p:cNvPr id="111" name="TextBox 11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Contraste clave: el TTL absorbe 16 mA en bajo pero solo entrega 0.4 mA en alto. Por eso se encienden LEDs y se manejan cargas conectándolas entre la salida y VCC (lógica de sumidero), no entre la salida y GND.</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320"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321"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22"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23"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324" dur="420"/>
                                        <p:tgtEl>
                                          <p:spTgt spid="20"/>
                                        </p:tgtEl>
                                      </p:cBhvr>
                                    </p:animEffect>
                                  </p:childTnLst>
                                </p:cTn>
                              </p:par>
                            </p:childTnLst>
                          </p:cTn>
                        </p:par>
                      </p:childTnLst>
                    </p:cTn>
                  </p:par>
                  <p:par>
                    <p:cTn id="318" fill="hold">
                      <p:stCondLst>
                        <p:cond delay="0"/>
                      </p:stCondLst>
                      <p:childTnLst>
                        <p:par>
                          <p:cTn id="31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325"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326"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327"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328"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329"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330"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331"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332"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333"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334"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335"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336"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337"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338"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339"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340"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341"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342"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343"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344"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345"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346"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347"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348"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349"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350"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351"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352"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353"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354"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355"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356"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357"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358"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359"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360"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361"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362"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363"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364"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365"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366"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367"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368"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369"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370"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371"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372"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373"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374"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375"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376"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377"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378"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379"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380" dur="420"/>
                                        <p:tgtEl>
                                          <p:spTgt spid="76"/>
                                        </p:tgtEl>
                                      </p:cBhvr>
                                    </p:animEffect>
                                  </p:childTnLst>
                                </p:cTn>
                              </p:par>
                              <p:par>
                                <p:cTn id="218" fill="hold">
                                  <p:stCondLst>
                                    <p:cond delay="6160"/>
                                  </p:stCondLst>
                                  <p:childTnLst>
                                    <p:set>
                                      <p:cBhvr>
                                        <p:cTn id="217" dur="1" fill="hold">
                                          <p:stCondLst>
                                            <p:cond delay="0"/>
                                          </p:stCondLst>
                                        </p:cTn>
                                        <p:tgtEl>
                                          <p:spTgt spid="77"/>
                                        </p:tgtEl>
                                        <p:attrNameLst>
                                          <p:attrName>style.visibility</p:attrName>
                                        </p:attrNameLst>
                                      </p:cBhvr>
                                      <p:to>
                                        <p:strVal val="visible"/>
                                      </p:to>
                                    </p:set>
                                    <p:animEffect transition="in" filter="wipe(left)">
                                      <p:cBhvr>
                                        <p:cTn id="216" dur="420"/>
                                        <p:tgtEl>
                                          <p:spTgt spid="77"/>
                                        </p:tgtEl>
                                      </p:cBhvr>
                                    </p:animEffect>
                                    <p:animEffect transition="in" filter="fade">
                                      <p:cBhvr>
                                        <p:cTn id="381" dur="420"/>
                                        <p:tgtEl>
                                          <p:spTgt spid="77"/>
                                        </p:tgtEl>
                                      </p:cBhvr>
                                    </p:animEffect>
                                  </p:childTnLst>
                                </p:cTn>
                              </p:par>
                              <p:par>
                                <p:cTn id="221" fill="hold">
                                  <p:stCondLst>
                                    <p:cond delay="6270"/>
                                  </p:stCondLst>
                                  <p:childTnLst>
                                    <p:set>
                                      <p:cBhvr>
                                        <p:cTn id="220" dur="1" fill="hold">
                                          <p:stCondLst>
                                            <p:cond delay="0"/>
                                          </p:stCondLst>
                                        </p:cTn>
                                        <p:tgtEl>
                                          <p:spTgt spid="78"/>
                                        </p:tgtEl>
                                        <p:attrNameLst>
                                          <p:attrName>style.visibility</p:attrName>
                                        </p:attrNameLst>
                                      </p:cBhvr>
                                      <p:to>
                                        <p:strVal val="visible"/>
                                      </p:to>
                                    </p:set>
                                    <p:animEffect transition="in" filter="wipe(left)">
                                      <p:cBhvr>
                                        <p:cTn id="219" dur="420"/>
                                        <p:tgtEl>
                                          <p:spTgt spid="78"/>
                                        </p:tgtEl>
                                      </p:cBhvr>
                                    </p:animEffect>
                                    <p:animEffect transition="in" filter="fade">
                                      <p:cBhvr>
                                        <p:cTn id="382" dur="420"/>
                                        <p:tgtEl>
                                          <p:spTgt spid="78"/>
                                        </p:tgtEl>
                                      </p:cBhvr>
                                    </p:animEffect>
                                  </p:childTnLst>
                                </p:cTn>
                              </p:par>
                              <p:par>
                                <p:cTn id="224" fill="hold">
                                  <p:stCondLst>
                                    <p:cond delay="6380"/>
                                  </p:stCondLst>
                                  <p:childTnLst>
                                    <p:set>
                                      <p:cBhvr>
                                        <p:cTn id="223" dur="1" fill="hold">
                                          <p:stCondLst>
                                            <p:cond delay="0"/>
                                          </p:stCondLst>
                                        </p:cTn>
                                        <p:tgtEl>
                                          <p:spTgt spid="79"/>
                                        </p:tgtEl>
                                        <p:attrNameLst>
                                          <p:attrName>style.visibility</p:attrName>
                                        </p:attrNameLst>
                                      </p:cBhvr>
                                      <p:to>
                                        <p:strVal val="visible"/>
                                      </p:to>
                                    </p:set>
                                    <p:animEffect transition="in" filter="wipe(left)">
                                      <p:cBhvr>
                                        <p:cTn id="222" dur="420"/>
                                        <p:tgtEl>
                                          <p:spTgt spid="79"/>
                                        </p:tgtEl>
                                      </p:cBhvr>
                                    </p:animEffect>
                                    <p:animEffect transition="in" filter="fade">
                                      <p:cBhvr>
                                        <p:cTn id="383" dur="420"/>
                                        <p:tgtEl>
                                          <p:spTgt spid="79"/>
                                        </p:tgtEl>
                                      </p:cBhvr>
                                    </p:animEffect>
                                  </p:childTnLst>
                                </p:cTn>
                              </p:par>
                              <p:par>
                                <p:cTn id="227" fill="hold">
                                  <p:stCondLst>
                                    <p:cond delay="6490"/>
                                  </p:stCondLst>
                                  <p:childTnLst>
                                    <p:set>
                                      <p:cBhvr>
                                        <p:cTn id="226" dur="1" fill="hold">
                                          <p:stCondLst>
                                            <p:cond delay="0"/>
                                          </p:stCondLst>
                                        </p:cTn>
                                        <p:tgtEl>
                                          <p:spTgt spid="80"/>
                                        </p:tgtEl>
                                        <p:attrNameLst>
                                          <p:attrName>style.visibility</p:attrName>
                                        </p:attrNameLst>
                                      </p:cBhvr>
                                      <p:to>
                                        <p:strVal val="visible"/>
                                      </p:to>
                                    </p:set>
                                    <p:animEffect transition="in" filter="wipe(left)">
                                      <p:cBhvr>
                                        <p:cTn id="225" dur="420"/>
                                        <p:tgtEl>
                                          <p:spTgt spid="80"/>
                                        </p:tgtEl>
                                      </p:cBhvr>
                                    </p:animEffect>
                                    <p:animEffect transition="in" filter="fade">
                                      <p:cBhvr>
                                        <p:cTn id="384" dur="420"/>
                                        <p:tgtEl>
                                          <p:spTgt spid="80"/>
                                        </p:tgtEl>
                                      </p:cBhvr>
                                    </p:animEffect>
                                  </p:childTnLst>
                                </p:cTn>
                              </p:par>
                              <p:par>
                                <p:cTn id="230" fill="hold">
                                  <p:stCondLst>
                                    <p:cond delay="6600"/>
                                  </p:stCondLst>
                                  <p:childTnLst>
                                    <p:set>
                                      <p:cBhvr>
                                        <p:cTn id="229" dur="1" fill="hold">
                                          <p:stCondLst>
                                            <p:cond delay="0"/>
                                          </p:stCondLst>
                                        </p:cTn>
                                        <p:tgtEl>
                                          <p:spTgt spid="81"/>
                                        </p:tgtEl>
                                        <p:attrNameLst>
                                          <p:attrName>style.visibility</p:attrName>
                                        </p:attrNameLst>
                                      </p:cBhvr>
                                      <p:to>
                                        <p:strVal val="visible"/>
                                      </p:to>
                                    </p:set>
                                    <p:animEffect transition="in" filter="wipe(left)">
                                      <p:cBhvr>
                                        <p:cTn id="228" dur="420"/>
                                        <p:tgtEl>
                                          <p:spTgt spid="81"/>
                                        </p:tgtEl>
                                      </p:cBhvr>
                                    </p:animEffect>
                                    <p:animEffect transition="in" filter="fade">
                                      <p:cBhvr>
                                        <p:cTn id="385" dur="420"/>
                                        <p:tgtEl>
                                          <p:spTgt spid="81"/>
                                        </p:tgtEl>
                                      </p:cBhvr>
                                    </p:animEffect>
                                  </p:childTnLst>
                                </p:cTn>
                              </p:par>
                              <p:par>
                                <p:cTn id="233" fill="hold">
                                  <p:stCondLst>
                                    <p:cond delay="6710"/>
                                  </p:stCondLst>
                                  <p:childTnLst>
                                    <p:set>
                                      <p:cBhvr>
                                        <p:cTn id="232" dur="1" fill="hold">
                                          <p:stCondLst>
                                            <p:cond delay="0"/>
                                          </p:stCondLst>
                                        </p:cTn>
                                        <p:tgtEl>
                                          <p:spTgt spid="82"/>
                                        </p:tgtEl>
                                        <p:attrNameLst>
                                          <p:attrName>style.visibility</p:attrName>
                                        </p:attrNameLst>
                                      </p:cBhvr>
                                      <p:to>
                                        <p:strVal val="visible"/>
                                      </p:to>
                                    </p:set>
                                    <p:animEffect transition="in" filter="wipe(left)">
                                      <p:cBhvr>
                                        <p:cTn id="231" dur="420"/>
                                        <p:tgtEl>
                                          <p:spTgt spid="82"/>
                                        </p:tgtEl>
                                      </p:cBhvr>
                                    </p:animEffect>
                                    <p:animEffect transition="in" filter="fade">
                                      <p:cBhvr>
                                        <p:cTn id="386" dur="420"/>
                                        <p:tgtEl>
                                          <p:spTgt spid="82"/>
                                        </p:tgtEl>
                                      </p:cBhvr>
                                    </p:animEffect>
                                  </p:childTnLst>
                                </p:cTn>
                              </p:par>
                              <p:par>
                                <p:cTn id="236" fill="hold">
                                  <p:stCondLst>
                                    <p:cond delay="6820"/>
                                  </p:stCondLst>
                                  <p:childTnLst>
                                    <p:set>
                                      <p:cBhvr>
                                        <p:cTn id="235" dur="1" fill="hold">
                                          <p:stCondLst>
                                            <p:cond delay="0"/>
                                          </p:stCondLst>
                                        </p:cTn>
                                        <p:tgtEl>
                                          <p:spTgt spid="83"/>
                                        </p:tgtEl>
                                        <p:attrNameLst>
                                          <p:attrName>style.visibility</p:attrName>
                                        </p:attrNameLst>
                                      </p:cBhvr>
                                      <p:to>
                                        <p:strVal val="visible"/>
                                      </p:to>
                                    </p:set>
                                    <p:animEffect transition="in" filter="wipe(left)">
                                      <p:cBhvr>
                                        <p:cTn id="234" dur="420"/>
                                        <p:tgtEl>
                                          <p:spTgt spid="83"/>
                                        </p:tgtEl>
                                      </p:cBhvr>
                                    </p:animEffect>
                                    <p:animEffect transition="in" filter="fade">
                                      <p:cBhvr>
                                        <p:cTn id="387" dur="420"/>
                                        <p:tgtEl>
                                          <p:spTgt spid="83"/>
                                        </p:tgtEl>
                                      </p:cBhvr>
                                    </p:animEffect>
                                  </p:childTnLst>
                                </p:cTn>
                              </p:par>
                              <p:par>
                                <p:cTn id="239" fill="hold">
                                  <p:stCondLst>
                                    <p:cond delay="6930"/>
                                  </p:stCondLst>
                                  <p:childTnLst>
                                    <p:set>
                                      <p:cBhvr>
                                        <p:cTn id="238" dur="1" fill="hold">
                                          <p:stCondLst>
                                            <p:cond delay="0"/>
                                          </p:stCondLst>
                                        </p:cTn>
                                        <p:tgtEl>
                                          <p:spTgt spid="84"/>
                                        </p:tgtEl>
                                        <p:attrNameLst>
                                          <p:attrName>style.visibility</p:attrName>
                                        </p:attrNameLst>
                                      </p:cBhvr>
                                      <p:to>
                                        <p:strVal val="visible"/>
                                      </p:to>
                                    </p:set>
                                    <p:animEffect transition="in" filter="wipe(left)">
                                      <p:cBhvr>
                                        <p:cTn id="237" dur="420"/>
                                        <p:tgtEl>
                                          <p:spTgt spid="84"/>
                                        </p:tgtEl>
                                      </p:cBhvr>
                                    </p:animEffect>
                                    <p:animEffect transition="in" filter="fade">
                                      <p:cBhvr>
                                        <p:cTn id="388" dur="420"/>
                                        <p:tgtEl>
                                          <p:spTgt spid="84"/>
                                        </p:tgtEl>
                                      </p:cBhvr>
                                    </p:animEffect>
                                  </p:childTnLst>
                                </p:cTn>
                              </p:par>
                              <p:par>
                                <p:cTn id="242" fill="hold">
                                  <p:stCondLst>
                                    <p:cond delay="7040"/>
                                  </p:stCondLst>
                                  <p:childTnLst>
                                    <p:set>
                                      <p:cBhvr>
                                        <p:cTn id="241" dur="1" fill="hold">
                                          <p:stCondLst>
                                            <p:cond delay="0"/>
                                          </p:stCondLst>
                                        </p:cTn>
                                        <p:tgtEl>
                                          <p:spTgt spid="85"/>
                                        </p:tgtEl>
                                        <p:attrNameLst>
                                          <p:attrName>style.visibility</p:attrName>
                                        </p:attrNameLst>
                                      </p:cBhvr>
                                      <p:to>
                                        <p:strVal val="visible"/>
                                      </p:to>
                                    </p:set>
                                    <p:animEffect transition="in" filter="wipe(left)">
                                      <p:cBhvr>
                                        <p:cTn id="240" dur="420"/>
                                        <p:tgtEl>
                                          <p:spTgt spid="85"/>
                                        </p:tgtEl>
                                      </p:cBhvr>
                                    </p:animEffect>
                                    <p:animEffect transition="in" filter="fade">
                                      <p:cBhvr>
                                        <p:cTn id="389" dur="420"/>
                                        <p:tgtEl>
                                          <p:spTgt spid="85"/>
                                        </p:tgtEl>
                                      </p:cBhvr>
                                    </p:animEffect>
                                  </p:childTnLst>
                                </p:cTn>
                              </p:par>
                              <p:par>
                                <p:cTn id="245" fill="hold">
                                  <p:stCondLst>
                                    <p:cond delay="7150"/>
                                  </p:stCondLst>
                                  <p:childTnLst>
                                    <p:set>
                                      <p:cBhvr>
                                        <p:cTn id="244" dur="1" fill="hold">
                                          <p:stCondLst>
                                            <p:cond delay="0"/>
                                          </p:stCondLst>
                                        </p:cTn>
                                        <p:tgtEl>
                                          <p:spTgt spid="86"/>
                                        </p:tgtEl>
                                        <p:attrNameLst>
                                          <p:attrName>style.visibility</p:attrName>
                                        </p:attrNameLst>
                                      </p:cBhvr>
                                      <p:to>
                                        <p:strVal val="visible"/>
                                      </p:to>
                                    </p:set>
                                    <p:animEffect transition="in" filter="wipe(left)">
                                      <p:cBhvr>
                                        <p:cTn id="243" dur="420"/>
                                        <p:tgtEl>
                                          <p:spTgt spid="86"/>
                                        </p:tgtEl>
                                      </p:cBhvr>
                                    </p:animEffect>
                                    <p:animEffect transition="in" filter="fade">
                                      <p:cBhvr>
                                        <p:cTn id="390" dur="420"/>
                                        <p:tgtEl>
                                          <p:spTgt spid="86"/>
                                        </p:tgtEl>
                                      </p:cBhvr>
                                    </p:animEffect>
                                  </p:childTnLst>
                                </p:cTn>
                              </p:par>
                              <p:par>
                                <p:cTn id="248" fill="hold">
                                  <p:stCondLst>
                                    <p:cond delay="7260"/>
                                  </p:stCondLst>
                                  <p:childTnLst>
                                    <p:set>
                                      <p:cBhvr>
                                        <p:cTn id="247" dur="1" fill="hold">
                                          <p:stCondLst>
                                            <p:cond delay="0"/>
                                          </p:stCondLst>
                                        </p:cTn>
                                        <p:tgtEl>
                                          <p:spTgt spid="87"/>
                                        </p:tgtEl>
                                        <p:attrNameLst>
                                          <p:attrName>style.visibility</p:attrName>
                                        </p:attrNameLst>
                                      </p:cBhvr>
                                      <p:to>
                                        <p:strVal val="visible"/>
                                      </p:to>
                                    </p:set>
                                    <p:animEffect transition="in" filter="wipe(left)">
                                      <p:cBhvr>
                                        <p:cTn id="246" dur="420"/>
                                        <p:tgtEl>
                                          <p:spTgt spid="87"/>
                                        </p:tgtEl>
                                      </p:cBhvr>
                                    </p:animEffect>
                                    <p:animEffect transition="in" filter="fade">
                                      <p:cBhvr>
                                        <p:cTn id="391" dur="420"/>
                                        <p:tgtEl>
                                          <p:spTgt spid="87"/>
                                        </p:tgtEl>
                                      </p:cBhvr>
                                    </p:animEffect>
                                  </p:childTnLst>
                                </p:cTn>
                              </p:par>
                              <p:par>
                                <p:cTn id="251" fill="hold">
                                  <p:stCondLst>
                                    <p:cond delay="7370"/>
                                  </p:stCondLst>
                                  <p:childTnLst>
                                    <p:set>
                                      <p:cBhvr>
                                        <p:cTn id="250" dur="1" fill="hold">
                                          <p:stCondLst>
                                            <p:cond delay="0"/>
                                          </p:stCondLst>
                                        </p:cTn>
                                        <p:tgtEl>
                                          <p:spTgt spid="88"/>
                                        </p:tgtEl>
                                        <p:attrNameLst>
                                          <p:attrName>style.visibility</p:attrName>
                                        </p:attrNameLst>
                                      </p:cBhvr>
                                      <p:to>
                                        <p:strVal val="visible"/>
                                      </p:to>
                                    </p:set>
                                    <p:animEffect transition="in" filter="wipe(left)">
                                      <p:cBhvr>
                                        <p:cTn id="249" dur="420"/>
                                        <p:tgtEl>
                                          <p:spTgt spid="88"/>
                                        </p:tgtEl>
                                      </p:cBhvr>
                                    </p:animEffect>
                                    <p:animEffect transition="in" filter="fade">
                                      <p:cBhvr>
                                        <p:cTn id="392" dur="420"/>
                                        <p:tgtEl>
                                          <p:spTgt spid="88"/>
                                        </p:tgtEl>
                                      </p:cBhvr>
                                    </p:animEffect>
                                  </p:childTnLst>
                                </p:cTn>
                              </p:par>
                              <p:par>
                                <p:cTn id="254" fill="hold">
                                  <p:stCondLst>
                                    <p:cond delay="7480"/>
                                  </p:stCondLst>
                                  <p:childTnLst>
                                    <p:set>
                                      <p:cBhvr>
                                        <p:cTn id="253" dur="1" fill="hold">
                                          <p:stCondLst>
                                            <p:cond delay="0"/>
                                          </p:stCondLst>
                                        </p:cTn>
                                        <p:tgtEl>
                                          <p:spTgt spid="89"/>
                                        </p:tgtEl>
                                        <p:attrNameLst>
                                          <p:attrName>style.visibility</p:attrName>
                                        </p:attrNameLst>
                                      </p:cBhvr>
                                      <p:to>
                                        <p:strVal val="visible"/>
                                      </p:to>
                                    </p:set>
                                    <p:animEffect transition="in" filter="wipe(left)">
                                      <p:cBhvr>
                                        <p:cTn id="252" dur="420"/>
                                        <p:tgtEl>
                                          <p:spTgt spid="89"/>
                                        </p:tgtEl>
                                      </p:cBhvr>
                                    </p:animEffect>
                                    <p:animEffect transition="in" filter="fade">
                                      <p:cBhvr>
                                        <p:cTn id="393" dur="420"/>
                                        <p:tgtEl>
                                          <p:spTgt spid="89"/>
                                        </p:tgtEl>
                                      </p:cBhvr>
                                    </p:animEffect>
                                  </p:childTnLst>
                                </p:cTn>
                              </p:par>
                              <p:par>
                                <p:cTn id="257" fill="hold">
                                  <p:stCondLst>
                                    <p:cond delay="7590"/>
                                  </p:stCondLst>
                                  <p:childTnLst>
                                    <p:set>
                                      <p:cBhvr>
                                        <p:cTn id="256" dur="1" fill="hold">
                                          <p:stCondLst>
                                            <p:cond delay="0"/>
                                          </p:stCondLst>
                                        </p:cTn>
                                        <p:tgtEl>
                                          <p:spTgt spid="90"/>
                                        </p:tgtEl>
                                        <p:attrNameLst>
                                          <p:attrName>style.visibility</p:attrName>
                                        </p:attrNameLst>
                                      </p:cBhvr>
                                      <p:to>
                                        <p:strVal val="visible"/>
                                      </p:to>
                                    </p:set>
                                    <p:animEffect transition="in" filter="wipe(left)">
                                      <p:cBhvr>
                                        <p:cTn id="255" dur="420"/>
                                        <p:tgtEl>
                                          <p:spTgt spid="90"/>
                                        </p:tgtEl>
                                      </p:cBhvr>
                                    </p:animEffect>
                                    <p:animEffect transition="in" filter="fade">
                                      <p:cBhvr>
                                        <p:cTn id="394" dur="420"/>
                                        <p:tgtEl>
                                          <p:spTgt spid="90"/>
                                        </p:tgtEl>
                                      </p:cBhvr>
                                    </p:animEffect>
                                  </p:childTnLst>
                                </p:cTn>
                              </p:par>
                              <p:par>
                                <p:cTn id="260" fill="hold">
                                  <p:stCondLst>
                                    <p:cond delay="7700"/>
                                  </p:stCondLst>
                                  <p:childTnLst>
                                    <p:set>
                                      <p:cBhvr>
                                        <p:cTn id="259" dur="1" fill="hold">
                                          <p:stCondLst>
                                            <p:cond delay="0"/>
                                          </p:stCondLst>
                                        </p:cTn>
                                        <p:tgtEl>
                                          <p:spTgt spid="91"/>
                                        </p:tgtEl>
                                        <p:attrNameLst>
                                          <p:attrName>style.visibility</p:attrName>
                                        </p:attrNameLst>
                                      </p:cBhvr>
                                      <p:to>
                                        <p:strVal val="visible"/>
                                      </p:to>
                                    </p:set>
                                    <p:animEffect transition="in" filter="wipe(left)">
                                      <p:cBhvr>
                                        <p:cTn id="258" dur="420"/>
                                        <p:tgtEl>
                                          <p:spTgt spid="91"/>
                                        </p:tgtEl>
                                      </p:cBhvr>
                                    </p:animEffect>
                                    <p:animEffect transition="in" filter="fade">
                                      <p:cBhvr>
                                        <p:cTn id="395" dur="420"/>
                                        <p:tgtEl>
                                          <p:spTgt spid="91"/>
                                        </p:tgtEl>
                                      </p:cBhvr>
                                    </p:animEffect>
                                  </p:childTnLst>
                                </p:cTn>
                              </p:par>
                              <p:par>
                                <p:cTn id="263" fill="hold">
                                  <p:stCondLst>
                                    <p:cond delay="7810"/>
                                  </p:stCondLst>
                                  <p:childTnLst>
                                    <p:set>
                                      <p:cBhvr>
                                        <p:cTn id="262" dur="1" fill="hold">
                                          <p:stCondLst>
                                            <p:cond delay="0"/>
                                          </p:stCondLst>
                                        </p:cTn>
                                        <p:tgtEl>
                                          <p:spTgt spid="92"/>
                                        </p:tgtEl>
                                        <p:attrNameLst>
                                          <p:attrName>style.visibility</p:attrName>
                                        </p:attrNameLst>
                                      </p:cBhvr>
                                      <p:to>
                                        <p:strVal val="visible"/>
                                      </p:to>
                                    </p:set>
                                    <p:animEffect transition="in" filter="wipe(left)">
                                      <p:cBhvr>
                                        <p:cTn id="261" dur="420"/>
                                        <p:tgtEl>
                                          <p:spTgt spid="92"/>
                                        </p:tgtEl>
                                      </p:cBhvr>
                                    </p:animEffect>
                                    <p:animEffect transition="in" filter="fade">
                                      <p:cBhvr>
                                        <p:cTn id="396" dur="420"/>
                                        <p:tgtEl>
                                          <p:spTgt spid="92"/>
                                        </p:tgtEl>
                                      </p:cBhvr>
                                    </p:animEffect>
                                  </p:childTnLst>
                                </p:cTn>
                              </p:par>
                              <p:par>
                                <p:cTn id="266" fill="hold">
                                  <p:stCondLst>
                                    <p:cond delay="7920"/>
                                  </p:stCondLst>
                                  <p:childTnLst>
                                    <p:set>
                                      <p:cBhvr>
                                        <p:cTn id="265" dur="1" fill="hold">
                                          <p:stCondLst>
                                            <p:cond delay="0"/>
                                          </p:stCondLst>
                                        </p:cTn>
                                        <p:tgtEl>
                                          <p:spTgt spid="93"/>
                                        </p:tgtEl>
                                        <p:attrNameLst>
                                          <p:attrName>style.visibility</p:attrName>
                                        </p:attrNameLst>
                                      </p:cBhvr>
                                      <p:to>
                                        <p:strVal val="visible"/>
                                      </p:to>
                                    </p:set>
                                    <p:animEffect transition="in" filter="wipe(left)">
                                      <p:cBhvr>
                                        <p:cTn id="264" dur="420"/>
                                        <p:tgtEl>
                                          <p:spTgt spid="93"/>
                                        </p:tgtEl>
                                      </p:cBhvr>
                                    </p:animEffect>
                                    <p:animEffect transition="in" filter="fade">
                                      <p:cBhvr>
                                        <p:cTn id="397" dur="420"/>
                                        <p:tgtEl>
                                          <p:spTgt spid="93"/>
                                        </p:tgtEl>
                                      </p:cBhvr>
                                    </p:animEffect>
                                  </p:childTnLst>
                                </p:cTn>
                              </p:par>
                              <p:par>
                                <p:cTn id="269" fill="hold">
                                  <p:stCondLst>
                                    <p:cond delay="8030"/>
                                  </p:stCondLst>
                                  <p:childTnLst>
                                    <p:set>
                                      <p:cBhvr>
                                        <p:cTn id="268" dur="1" fill="hold">
                                          <p:stCondLst>
                                            <p:cond delay="0"/>
                                          </p:stCondLst>
                                        </p:cTn>
                                        <p:tgtEl>
                                          <p:spTgt spid="94"/>
                                        </p:tgtEl>
                                        <p:attrNameLst>
                                          <p:attrName>style.visibility</p:attrName>
                                        </p:attrNameLst>
                                      </p:cBhvr>
                                      <p:to>
                                        <p:strVal val="visible"/>
                                      </p:to>
                                    </p:set>
                                    <p:animEffect transition="in" filter="wipe(left)">
                                      <p:cBhvr>
                                        <p:cTn id="267" dur="420"/>
                                        <p:tgtEl>
                                          <p:spTgt spid="94"/>
                                        </p:tgtEl>
                                      </p:cBhvr>
                                    </p:animEffect>
                                    <p:animEffect transition="in" filter="fade">
                                      <p:cBhvr>
                                        <p:cTn id="398" dur="420"/>
                                        <p:tgtEl>
                                          <p:spTgt spid="94"/>
                                        </p:tgtEl>
                                      </p:cBhvr>
                                    </p:animEffect>
                                  </p:childTnLst>
                                </p:cTn>
                              </p:par>
                              <p:par>
                                <p:cTn id="272" fill="hold">
                                  <p:stCondLst>
                                    <p:cond delay="8140"/>
                                  </p:stCondLst>
                                  <p:childTnLst>
                                    <p:set>
                                      <p:cBhvr>
                                        <p:cTn id="271" dur="1" fill="hold">
                                          <p:stCondLst>
                                            <p:cond delay="0"/>
                                          </p:stCondLst>
                                        </p:cTn>
                                        <p:tgtEl>
                                          <p:spTgt spid="95"/>
                                        </p:tgtEl>
                                        <p:attrNameLst>
                                          <p:attrName>style.visibility</p:attrName>
                                        </p:attrNameLst>
                                      </p:cBhvr>
                                      <p:to>
                                        <p:strVal val="visible"/>
                                      </p:to>
                                    </p:set>
                                    <p:animEffect transition="in" filter="wipe(left)">
                                      <p:cBhvr>
                                        <p:cTn id="270" dur="420"/>
                                        <p:tgtEl>
                                          <p:spTgt spid="95"/>
                                        </p:tgtEl>
                                      </p:cBhvr>
                                    </p:animEffect>
                                    <p:animEffect transition="in" filter="fade">
                                      <p:cBhvr>
                                        <p:cTn id="399" dur="420"/>
                                        <p:tgtEl>
                                          <p:spTgt spid="95"/>
                                        </p:tgtEl>
                                      </p:cBhvr>
                                    </p:animEffect>
                                  </p:childTnLst>
                                </p:cTn>
                              </p:par>
                              <p:par>
                                <p:cTn id="275" fill="hold">
                                  <p:stCondLst>
                                    <p:cond delay="8250"/>
                                  </p:stCondLst>
                                  <p:childTnLst>
                                    <p:set>
                                      <p:cBhvr>
                                        <p:cTn id="274" dur="1" fill="hold">
                                          <p:stCondLst>
                                            <p:cond delay="0"/>
                                          </p:stCondLst>
                                        </p:cTn>
                                        <p:tgtEl>
                                          <p:spTgt spid="96"/>
                                        </p:tgtEl>
                                        <p:attrNameLst>
                                          <p:attrName>style.visibility</p:attrName>
                                        </p:attrNameLst>
                                      </p:cBhvr>
                                      <p:to>
                                        <p:strVal val="visible"/>
                                      </p:to>
                                    </p:set>
                                    <p:animEffect transition="in" filter="wipe(left)">
                                      <p:cBhvr>
                                        <p:cTn id="273" dur="420"/>
                                        <p:tgtEl>
                                          <p:spTgt spid="96"/>
                                        </p:tgtEl>
                                      </p:cBhvr>
                                    </p:animEffect>
                                    <p:animEffect transition="in" filter="fade">
                                      <p:cBhvr>
                                        <p:cTn id="400" dur="420"/>
                                        <p:tgtEl>
                                          <p:spTgt spid="96"/>
                                        </p:tgtEl>
                                      </p:cBhvr>
                                    </p:animEffect>
                                  </p:childTnLst>
                                </p:cTn>
                              </p:par>
                              <p:par>
                                <p:cTn id="278" fill="hold">
                                  <p:stCondLst>
                                    <p:cond delay="8360"/>
                                  </p:stCondLst>
                                  <p:childTnLst>
                                    <p:set>
                                      <p:cBhvr>
                                        <p:cTn id="277" dur="1" fill="hold">
                                          <p:stCondLst>
                                            <p:cond delay="0"/>
                                          </p:stCondLst>
                                        </p:cTn>
                                        <p:tgtEl>
                                          <p:spTgt spid="97"/>
                                        </p:tgtEl>
                                        <p:attrNameLst>
                                          <p:attrName>style.visibility</p:attrName>
                                        </p:attrNameLst>
                                      </p:cBhvr>
                                      <p:to>
                                        <p:strVal val="visible"/>
                                      </p:to>
                                    </p:set>
                                    <p:animEffect transition="in" filter="wipe(left)">
                                      <p:cBhvr>
                                        <p:cTn id="276" dur="420"/>
                                        <p:tgtEl>
                                          <p:spTgt spid="97"/>
                                        </p:tgtEl>
                                      </p:cBhvr>
                                    </p:animEffect>
                                    <p:animEffect transition="in" filter="fade">
                                      <p:cBhvr>
                                        <p:cTn id="401" dur="420"/>
                                        <p:tgtEl>
                                          <p:spTgt spid="97"/>
                                        </p:tgtEl>
                                      </p:cBhvr>
                                    </p:animEffect>
                                  </p:childTnLst>
                                </p:cTn>
                              </p:par>
                              <p:par>
                                <p:cTn id="281" fill="hold">
                                  <p:stCondLst>
                                    <p:cond delay="8470"/>
                                  </p:stCondLst>
                                  <p:childTnLst>
                                    <p:set>
                                      <p:cBhvr>
                                        <p:cTn id="280" dur="1" fill="hold">
                                          <p:stCondLst>
                                            <p:cond delay="0"/>
                                          </p:stCondLst>
                                        </p:cTn>
                                        <p:tgtEl>
                                          <p:spTgt spid="98"/>
                                        </p:tgtEl>
                                        <p:attrNameLst>
                                          <p:attrName>style.visibility</p:attrName>
                                        </p:attrNameLst>
                                      </p:cBhvr>
                                      <p:to>
                                        <p:strVal val="visible"/>
                                      </p:to>
                                    </p:set>
                                    <p:animEffect transition="in" filter="wipe(left)">
                                      <p:cBhvr>
                                        <p:cTn id="279" dur="420"/>
                                        <p:tgtEl>
                                          <p:spTgt spid="98"/>
                                        </p:tgtEl>
                                      </p:cBhvr>
                                    </p:animEffect>
                                    <p:animEffect transition="in" filter="fade">
                                      <p:cBhvr>
                                        <p:cTn id="402" dur="420"/>
                                        <p:tgtEl>
                                          <p:spTgt spid="98"/>
                                        </p:tgtEl>
                                      </p:cBhvr>
                                    </p:animEffect>
                                  </p:childTnLst>
                                </p:cTn>
                              </p:par>
                              <p:par>
                                <p:cTn id="284" fill="hold">
                                  <p:stCondLst>
                                    <p:cond delay="8580"/>
                                  </p:stCondLst>
                                  <p:childTnLst>
                                    <p:set>
                                      <p:cBhvr>
                                        <p:cTn id="283" dur="1" fill="hold">
                                          <p:stCondLst>
                                            <p:cond delay="0"/>
                                          </p:stCondLst>
                                        </p:cTn>
                                        <p:tgtEl>
                                          <p:spTgt spid="99"/>
                                        </p:tgtEl>
                                        <p:attrNameLst>
                                          <p:attrName>style.visibility</p:attrName>
                                        </p:attrNameLst>
                                      </p:cBhvr>
                                      <p:to>
                                        <p:strVal val="visible"/>
                                      </p:to>
                                    </p:set>
                                    <p:animEffect transition="in" filter="wipe(left)">
                                      <p:cBhvr>
                                        <p:cTn id="282" dur="420"/>
                                        <p:tgtEl>
                                          <p:spTgt spid="99"/>
                                        </p:tgtEl>
                                      </p:cBhvr>
                                    </p:animEffect>
                                    <p:animEffect transition="in" filter="fade">
                                      <p:cBhvr>
                                        <p:cTn id="403" dur="420"/>
                                        <p:tgtEl>
                                          <p:spTgt spid="99"/>
                                        </p:tgtEl>
                                      </p:cBhvr>
                                    </p:animEffect>
                                  </p:childTnLst>
                                </p:cTn>
                              </p:par>
                              <p:par>
                                <p:cTn id="287" fill="hold">
                                  <p:stCondLst>
                                    <p:cond delay="8690"/>
                                  </p:stCondLst>
                                  <p:childTnLst>
                                    <p:set>
                                      <p:cBhvr>
                                        <p:cTn id="286" dur="1" fill="hold">
                                          <p:stCondLst>
                                            <p:cond delay="0"/>
                                          </p:stCondLst>
                                        </p:cTn>
                                        <p:tgtEl>
                                          <p:spTgt spid="100"/>
                                        </p:tgtEl>
                                        <p:attrNameLst>
                                          <p:attrName>style.visibility</p:attrName>
                                        </p:attrNameLst>
                                      </p:cBhvr>
                                      <p:to>
                                        <p:strVal val="visible"/>
                                      </p:to>
                                    </p:set>
                                    <p:animEffect transition="in" filter="wipe(left)">
                                      <p:cBhvr>
                                        <p:cTn id="285" dur="420"/>
                                        <p:tgtEl>
                                          <p:spTgt spid="100"/>
                                        </p:tgtEl>
                                      </p:cBhvr>
                                    </p:animEffect>
                                    <p:animEffect transition="in" filter="fade">
                                      <p:cBhvr>
                                        <p:cTn id="404" dur="420"/>
                                        <p:tgtEl>
                                          <p:spTgt spid="100"/>
                                        </p:tgtEl>
                                      </p:cBhvr>
                                    </p:animEffect>
                                  </p:childTnLst>
                                </p:cTn>
                              </p:par>
                              <p:par>
                                <p:cTn id="290" fill="hold">
                                  <p:stCondLst>
                                    <p:cond delay="8800"/>
                                  </p:stCondLst>
                                  <p:childTnLst>
                                    <p:set>
                                      <p:cBhvr>
                                        <p:cTn id="289" dur="1" fill="hold">
                                          <p:stCondLst>
                                            <p:cond delay="0"/>
                                          </p:stCondLst>
                                        </p:cTn>
                                        <p:tgtEl>
                                          <p:spTgt spid="101"/>
                                        </p:tgtEl>
                                        <p:attrNameLst>
                                          <p:attrName>style.visibility</p:attrName>
                                        </p:attrNameLst>
                                      </p:cBhvr>
                                      <p:to>
                                        <p:strVal val="visible"/>
                                      </p:to>
                                    </p:set>
                                    <p:animEffect transition="in" filter="wipe(left)">
                                      <p:cBhvr>
                                        <p:cTn id="288" dur="420"/>
                                        <p:tgtEl>
                                          <p:spTgt spid="101"/>
                                        </p:tgtEl>
                                      </p:cBhvr>
                                    </p:animEffect>
                                    <p:animEffect transition="in" filter="fade">
                                      <p:cBhvr>
                                        <p:cTn id="405" dur="420"/>
                                        <p:tgtEl>
                                          <p:spTgt spid="101"/>
                                        </p:tgtEl>
                                      </p:cBhvr>
                                    </p:animEffect>
                                  </p:childTnLst>
                                </p:cTn>
                              </p:par>
                              <p:par>
                                <p:cTn id="293" fill="hold">
                                  <p:stCondLst>
                                    <p:cond delay="8910"/>
                                  </p:stCondLst>
                                  <p:childTnLst>
                                    <p:set>
                                      <p:cBhvr>
                                        <p:cTn id="292" dur="1" fill="hold">
                                          <p:stCondLst>
                                            <p:cond delay="0"/>
                                          </p:stCondLst>
                                        </p:cTn>
                                        <p:tgtEl>
                                          <p:spTgt spid="102"/>
                                        </p:tgtEl>
                                        <p:attrNameLst>
                                          <p:attrName>style.visibility</p:attrName>
                                        </p:attrNameLst>
                                      </p:cBhvr>
                                      <p:to>
                                        <p:strVal val="visible"/>
                                      </p:to>
                                    </p:set>
                                    <p:animEffect transition="in" filter="wipe(left)">
                                      <p:cBhvr>
                                        <p:cTn id="291" dur="420"/>
                                        <p:tgtEl>
                                          <p:spTgt spid="102"/>
                                        </p:tgtEl>
                                      </p:cBhvr>
                                    </p:animEffect>
                                    <p:animEffect transition="in" filter="fade">
                                      <p:cBhvr>
                                        <p:cTn id="406" dur="420"/>
                                        <p:tgtEl>
                                          <p:spTgt spid="102"/>
                                        </p:tgtEl>
                                      </p:cBhvr>
                                    </p:animEffect>
                                  </p:childTnLst>
                                </p:cTn>
                              </p:par>
                              <p:par>
                                <p:cTn id="296" fill="hold">
                                  <p:stCondLst>
                                    <p:cond delay="9020"/>
                                  </p:stCondLst>
                                  <p:childTnLst>
                                    <p:set>
                                      <p:cBhvr>
                                        <p:cTn id="295" dur="1" fill="hold">
                                          <p:stCondLst>
                                            <p:cond delay="0"/>
                                          </p:stCondLst>
                                        </p:cTn>
                                        <p:tgtEl>
                                          <p:spTgt spid="103"/>
                                        </p:tgtEl>
                                        <p:attrNameLst>
                                          <p:attrName>style.visibility</p:attrName>
                                        </p:attrNameLst>
                                      </p:cBhvr>
                                      <p:to>
                                        <p:strVal val="visible"/>
                                      </p:to>
                                    </p:set>
                                    <p:animEffect transition="in" filter="wipe(left)">
                                      <p:cBhvr>
                                        <p:cTn id="294" dur="420"/>
                                        <p:tgtEl>
                                          <p:spTgt spid="103"/>
                                        </p:tgtEl>
                                      </p:cBhvr>
                                    </p:animEffect>
                                    <p:animEffect transition="in" filter="fade">
                                      <p:cBhvr>
                                        <p:cTn id="407" dur="420"/>
                                        <p:tgtEl>
                                          <p:spTgt spid="103"/>
                                        </p:tgtEl>
                                      </p:cBhvr>
                                    </p:animEffect>
                                  </p:childTnLst>
                                </p:cTn>
                              </p:par>
                              <p:par>
                                <p:cTn id="299" fill="hold">
                                  <p:stCondLst>
                                    <p:cond delay="9130"/>
                                  </p:stCondLst>
                                  <p:childTnLst>
                                    <p:set>
                                      <p:cBhvr>
                                        <p:cTn id="298" dur="1" fill="hold">
                                          <p:stCondLst>
                                            <p:cond delay="0"/>
                                          </p:stCondLst>
                                        </p:cTn>
                                        <p:tgtEl>
                                          <p:spTgt spid="104"/>
                                        </p:tgtEl>
                                        <p:attrNameLst>
                                          <p:attrName>style.visibility</p:attrName>
                                        </p:attrNameLst>
                                      </p:cBhvr>
                                      <p:to>
                                        <p:strVal val="visible"/>
                                      </p:to>
                                    </p:set>
                                    <p:animEffect transition="in" filter="wipe(left)">
                                      <p:cBhvr>
                                        <p:cTn id="297" dur="420"/>
                                        <p:tgtEl>
                                          <p:spTgt spid="104"/>
                                        </p:tgtEl>
                                      </p:cBhvr>
                                    </p:animEffect>
                                    <p:animEffect transition="in" filter="fade">
                                      <p:cBhvr>
                                        <p:cTn id="408" dur="420"/>
                                        <p:tgtEl>
                                          <p:spTgt spid="104"/>
                                        </p:tgtEl>
                                      </p:cBhvr>
                                    </p:animEffect>
                                  </p:childTnLst>
                                </p:cTn>
                              </p:par>
                              <p:par>
                                <p:cTn id="302" fill="hold">
                                  <p:stCondLst>
                                    <p:cond delay="9240"/>
                                  </p:stCondLst>
                                  <p:childTnLst>
                                    <p:set>
                                      <p:cBhvr>
                                        <p:cTn id="301" dur="1" fill="hold">
                                          <p:stCondLst>
                                            <p:cond delay="0"/>
                                          </p:stCondLst>
                                        </p:cTn>
                                        <p:tgtEl>
                                          <p:spTgt spid="105"/>
                                        </p:tgtEl>
                                        <p:attrNameLst>
                                          <p:attrName>style.visibility</p:attrName>
                                        </p:attrNameLst>
                                      </p:cBhvr>
                                      <p:to>
                                        <p:strVal val="visible"/>
                                      </p:to>
                                    </p:set>
                                    <p:animEffect transition="in" filter="wipe(left)">
                                      <p:cBhvr>
                                        <p:cTn id="300" dur="420"/>
                                        <p:tgtEl>
                                          <p:spTgt spid="105"/>
                                        </p:tgtEl>
                                      </p:cBhvr>
                                    </p:animEffect>
                                    <p:animEffect transition="in" filter="fade">
                                      <p:cBhvr>
                                        <p:cTn id="409" dur="420"/>
                                        <p:tgtEl>
                                          <p:spTgt spid="105"/>
                                        </p:tgtEl>
                                      </p:cBhvr>
                                    </p:animEffect>
                                  </p:childTnLst>
                                </p:cTn>
                              </p:par>
                              <p:par>
                                <p:cTn id="305" fill="hold">
                                  <p:stCondLst>
                                    <p:cond delay="9350"/>
                                  </p:stCondLst>
                                  <p:childTnLst>
                                    <p:set>
                                      <p:cBhvr>
                                        <p:cTn id="304" dur="1" fill="hold">
                                          <p:stCondLst>
                                            <p:cond delay="0"/>
                                          </p:stCondLst>
                                        </p:cTn>
                                        <p:tgtEl>
                                          <p:spTgt spid="106"/>
                                        </p:tgtEl>
                                        <p:attrNameLst>
                                          <p:attrName>style.visibility</p:attrName>
                                        </p:attrNameLst>
                                      </p:cBhvr>
                                      <p:to>
                                        <p:strVal val="visible"/>
                                      </p:to>
                                    </p:set>
                                    <p:animEffect transition="in" filter="wipe(left)">
                                      <p:cBhvr>
                                        <p:cTn id="303" dur="420"/>
                                        <p:tgtEl>
                                          <p:spTgt spid="106"/>
                                        </p:tgtEl>
                                      </p:cBhvr>
                                    </p:animEffect>
                                    <p:animEffect transition="in" filter="fade">
                                      <p:cBhvr>
                                        <p:cTn id="410" dur="420"/>
                                        <p:tgtEl>
                                          <p:spTgt spid="106"/>
                                        </p:tgtEl>
                                      </p:cBhvr>
                                    </p:animEffect>
                                  </p:childTnLst>
                                </p:cTn>
                              </p:par>
                              <p:par>
                                <p:cTn id="308" fill="hold">
                                  <p:stCondLst>
                                    <p:cond delay="9460"/>
                                  </p:stCondLst>
                                  <p:childTnLst>
                                    <p:set>
                                      <p:cBhvr>
                                        <p:cTn id="307" dur="1" fill="hold">
                                          <p:stCondLst>
                                            <p:cond delay="0"/>
                                          </p:stCondLst>
                                        </p:cTn>
                                        <p:tgtEl>
                                          <p:spTgt spid="108"/>
                                        </p:tgtEl>
                                        <p:attrNameLst>
                                          <p:attrName>style.visibility</p:attrName>
                                        </p:attrNameLst>
                                      </p:cBhvr>
                                      <p:to>
                                        <p:strVal val="visible"/>
                                      </p:to>
                                    </p:set>
                                    <p:animEffect transition="in" filter="wipe(left)">
                                      <p:cBhvr>
                                        <p:cTn id="306" dur="420"/>
                                        <p:tgtEl>
                                          <p:spTgt spid="108"/>
                                        </p:tgtEl>
                                      </p:cBhvr>
                                    </p:animEffect>
                                    <p:animEffect transition="in" filter="fade">
                                      <p:cBhvr>
                                        <p:cTn id="411" dur="420"/>
                                        <p:tgtEl>
                                          <p:spTgt spid="108"/>
                                        </p:tgtEl>
                                      </p:cBhvr>
                                    </p:animEffect>
                                  </p:childTnLst>
                                </p:cTn>
                              </p:par>
                              <p:par>
                                <p:cTn id="311" fill="hold">
                                  <p:stCondLst>
                                    <p:cond delay="9570"/>
                                  </p:stCondLst>
                                  <p:childTnLst>
                                    <p:set>
                                      <p:cBhvr>
                                        <p:cTn id="310" dur="1" fill="hold">
                                          <p:stCondLst>
                                            <p:cond delay="0"/>
                                          </p:stCondLst>
                                        </p:cTn>
                                        <p:tgtEl>
                                          <p:spTgt spid="109"/>
                                        </p:tgtEl>
                                        <p:attrNameLst>
                                          <p:attrName>style.visibility</p:attrName>
                                        </p:attrNameLst>
                                      </p:cBhvr>
                                      <p:to>
                                        <p:strVal val="visible"/>
                                      </p:to>
                                    </p:set>
                                    <p:animEffect transition="in" filter="wipe(left)">
                                      <p:cBhvr>
                                        <p:cTn id="309" dur="420"/>
                                        <p:tgtEl>
                                          <p:spTgt spid="109"/>
                                        </p:tgtEl>
                                      </p:cBhvr>
                                    </p:animEffect>
                                    <p:animEffect transition="in" filter="fade">
                                      <p:cBhvr>
                                        <p:cTn id="412" dur="420"/>
                                        <p:tgtEl>
                                          <p:spTgt spid="109"/>
                                        </p:tgtEl>
                                      </p:cBhvr>
                                    </p:animEffect>
                                  </p:childTnLst>
                                </p:cTn>
                              </p:par>
                              <p:par>
                                <p:cTn id="314" fill="hold">
                                  <p:stCondLst>
                                    <p:cond delay="9680"/>
                                  </p:stCondLst>
                                  <p:childTnLst>
                                    <p:set>
                                      <p:cBhvr>
                                        <p:cTn id="313" dur="1" fill="hold">
                                          <p:stCondLst>
                                            <p:cond delay="0"/>
                                          </p:stCondLst>
                                        </p:cTn>
                                        <p:tgtEl>
                                          <p:spTgt spid="110"/>
                                        </p:tgtEl>
                                        <p:attrNameLst>
                                          <p:attrName>style.visibility</p:attrName>
                                        </p:attrNameLst>
                                      </p:cBhvr>
                                      <p:to>
                                        <p:strVal val="visible"/>
                                      </p:to>
                                    </p:set>
                                    <p:animEffect transition="in" filter="wipe(left)">
                                      <p:cBhvr>
                                        <p:cTn id="312" dur="420"/>
                                        <p:tgtEl>
                                          <p:spTgt spid="110"/>
                                        </p:tgtEl>
                                      </p:cBhvr>
                                    </p:animEffect>
                                    <p:animEffect transition="in" filter="fade">
                                      <p:cBhvr>
                                        <p:cTn id="413" dur="420"/>
                                        <p:tgtEl>
                                          <p:spTgt spid="110"/>
                                        </p:tgtEl>
                                      </p:cBhvr>
                                    </p:animEffect>
                                  </p:childTnLst>
                                </p:cTn>
                              </p:par>
                              <p:par>
                                <p:cTn id="317" fill="hold">
                                  <p:stCondLst>
                                    <p:cond delay="9790"/>
                                  </p:stCondLst>
                                  <p:childTnLst>
                                    <p:set>
                                      <p:cBhvr>
                                        <p:cTn id="316" dur="1" fill="hold">
                                          <p:stCondLst>
                                            <p:cond delay="0"/>
                                          </p:stCondLst>
                                        </p:cTn>
                                        <p:tgtEl>
                                          <p:spTgt spid="111"/>
                                        </p:tgtEl>
                                        <p:attrNameLst>
                                          <p:attrName>style.visibility</p:attrName>
                                        </p:attrNameLst>
                                      </p:cBhvr>
                                      <p:to>
                                        <p:strVal val="visible"/>
                                      </p:to>
                                    </p:set>
                                    <p:animEffect transition="in" filter="wipe(left)">
                                      <p:cBhvr>
                                        <p:cTn id="315" dur="420"/>
                                        <p:tgtEl>
                                          <p:spTgt spid="111"/>
                                        </p:tgtEl>
                                      </p:cBhvr>
                                    </p:animEffect>
                                    <p:animEffect transition="in" filter="fade">
                                      <p:cBhvr>
                                        <p:cTn id="414" dur="42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Tiempo de propagación y límites de frecuencia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retardo entre causa y efecto que define la velocidad máxima del circuito.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28326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rop_delay.png"/>
          <p:cNvPicPr>
            <a:picLocks noChangeAspect="1"/>
          </p:cNvPicPr>
          <p:nvPr/>
        </p:nvPicPr>
        <p:blipFill>
          <a:blip r:embed="rId2"/>
          <a:stretch>
            <a:fillRect/>
          </a:stretch>
        </p:blipFill>
        <p:spPr>
          <a:xfrm>
            <a:off x="539496" y="2562149"/>
            <a:ext cx="3307064" cy="1239924"/>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El retardo de propagación tPD se mide entre el 50 % del flanco de entrada y el 50 % del flanco correspondiente de salida.</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ime_nand.png"/>
          <p:cNvPicPr>
            <a:picLocks noChangeAspect="1"/>
          </p:cNvPicPr>
          <p:nvPr/>
        </p:nvPicPr>
        <p:blipFill>
          <a:blip r:embed="rId3"/>
          <a:stretch>
            <a:fillRect/>
          </a:stretch>
        </p:blipFill>
        <p:spPr>
          <a:xfrm>
            <a:off x="4139168" y="2636405"/>
            <a:ext cx="3307064" cy="109141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En cadenas largas de compuertas los retardos se suman; el circuito puede dejar de funcionar si el pulso es más corto que el retardo acumulado.</a:t>
            </a:r>
          </a:p>
        </p:txBody>
      </p:sp>
      <p:sp>
        <p:nvSpPr>
          <p:cNvPr id="22" name="Oval 21"/>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tPLH:</a:t>
            </a:r>
            <a:r>
              <a:rPr sz="1050" b="0">
                <a:solidFill>
                  <a:srgbClr val="2C3E56"/>
                </a:solidFill>
                <a:latin typeface="Segoe UI"/>
              </a:rPr>
              <a:t> retardo de propagación de nivel bajo a nivel alto (salida subiendo).</a:t>
            </a:r>
          </a:p>
        </p:txBody>
      </p:sp>
      <p:sp>
        <p:nvSpPr>
          <p:cNvPr id="24" name="Oval 23"/>
          <p:cNvSpPr/>
          <p:nvPr/>
        </p:nvSpPr>
        <p:spPr>
          <a:xfrm>
            <a:off x="7793705" y="18481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tPHL:</a:t>
            </a:r>
            <a:r>
              <a:rPr sz="1050" b="0">
                <a:solidFill>
                  <a:srgbClr val="2C3E56"/>
                </a:solidFill>
                <a:latin typeface="Segoe UI"/>
              </a:rPr>
              <a:t> retardo de propagación de nivel alto a nivel bajo (salida bajando).</a:t>
            </a:r>
          </a:p>
        </p:txBody>
      </p:sp>
      <p:sp>
        <p:nvSpPr>
          <p:cNvPr id="26" name="Oval 25"/>
          <p:cNvSpPr/>
          <p:nvPr/>
        </p:nvSpPr>
        <p:spPr>
          <a:xfrm>
            <a:off x="7793705" y="226981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tPD promedio:</a:t>
            </a:r>
            <a:r>
              <a:rPr sz="1050" b="0">
                <a:solidFill>
                  <a:srgbClr val="2C3E56"/>
                </a:solidFill>
                <a:latin typeface="Segoe UI"/>
              </a:rPr>
              <a:t> 8 a 15 ns en la subfamilia 74LS; en 74HC baja a 8 ns y en 74F llega a 3 ns.</a:t>
            </a:r>
          </a:p>
        </p:txBody>
      </p:sp>
      <p:sp>
        <p:nvSpPr>
          <p:cNvPr id="28" name="Oval 27"/>
          <p:cNvSpPr/>
          <p:nvPr/>
        </p:nvSpPr>
        <p:spPr>
          <a:xfrm>
            <a:off x="7793705" y="2691490"/>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636626"/>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Frecuencia máxima:</a:t>
            </a:r>
            <a:r>
              <a:rPr sz="1050" b="0">
                <a:solidFill>
                  <a:srgbClr val="2C3E56"/>
                </a:solidFill>
                <a:latin typeface="Segoe UI"/>
              </a:rPr>
              <a:t> en un contador de n etapas, fMÁX ≈ 1 / (2·n·tPD). Para 4 etapas y tPD = 10 ns, fMÁX ≈ 12.5 MHz.</a:t>
            </a:r>
          </a:p>
        </p:txBody>
      </p:sp>
      <p:sp>
        <p:nvSpPr>
          <p:cNvPr id="30" name="Oval 29"/>
          <p:cNvSpPr/>
          <p:nvPr/>
        </p:nvSpPr>
        <p:spPr>
          <a:xfrm>
            <a:off x="7793705" y="3287428"/>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Tiempo de subida/bajada:</a:t>
            </a:r>
            <a:r>
              <a:rPr sz="1050" b="0">
                <a:solidFill>
                  <a:srgbClr val="2C3E56"/>
                </a:solidFill>
                <a:latin typeface="Segoe UI"/>
              </a:rPr>
              <a:t> 15 ns típicos en LS; afectan la integridad de la señal en pistas largas.</a:t>
            </a:r>
          </a:p>
        </p:txBody>
      </p:sp>
      <p:sp>
        <p:nvSpPr>
          <p:cNvPr id="32" name="Oval 31"/>
          <p:cNvSpPr/>
          <p:nvPr/>
        </p:nvSpPr>
        <p:spPr>
          <a:xfrm>
            <a:off x="7793705" y="37091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Riesgos (hazards):</a:t>
            </a:r>
            <a:r>
              <a:rPr sz="1050" b="0">
                <a:solidFill>
                  <a:srgbClr val="2C3E56"/>
                </a:solidFill>
                <a:latin typeface="Segoe UI"/>
              </a:rPr>
              <a:t> diferencias de retardo entre rutas pueden producir pulsos falsos; se corrigen con un capacitor o añadiendo un registro.</a:t>
            </a:r>
          </a:p>
        </p:txBody>
      </p:sp>
      <p:sp>
        <p:nvSpPr>
          <p:cNvPr id="34" name="Oval 33"/>
          <p:cNvSpPr/>
          <p:nvPr/>
        </p:nvSpPr>
        <p:spPr>
          <a:xfrm>
            <a:off x="7793705" y="4305040"/>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250176"/>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Diseño seguro:</a:t>
            </a:r>
            <a:r>
              <a:rPr sz="1000" b="0">
                <a:solidFill>
                  <a:srgbClr val="2C3E56"/>
                </a:solidFill>
                <a:latin typeface="Segoe UI"/>
              </a:rPr>
              <a:t> si se necesita alta velocidad, usar 74F, 74ACT o cambiar a una tecnología moderna de 3.3 V.</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Un circuito digital no es 'instantáneo': cada compuerta cobra un peaje de nanosegundos. En osciloscopios educativos el retardo es invisible, pero en diseños de decenas de MHz se vuelve el factor dominante.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0D1A2B"/>
                </a:solidFill>
                <a:latin typeface="Segoe UI Semibold"/>
              </a:rPr>
              <a:t>Parámetros de conmutación (AC) comparados por subfamilia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mismo chip cambia de velocidad y consumo según la tecnología usada.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39567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C2690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1018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Subfamilia</a:t>
            </a:r>
          </a:p>
        </p:txBody>
      </p:sp>
      <p:sp>
        <p:nvSpPr>
          <p:cNvPr id="18" name="TextBox 17"/>
          <p:cNvSpPr txBox="1"/>
          <p:nvPr/>
        </p:nvSpPr>
        <p:spPr>
          <a:xfrm>
            <a:off x="2796838" y="1371600"/>
            <a:ext cx="187707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tPD típico (ns)</a:t>
            </a:r>
          </a:p>
        </p:txBody>
      </p:sp>
      <p:sp>
        <p:nvSpPr>
          <p:cNvPr id="19" name="TextBox 18"/>
          <p:cNvSpPr txBox="1"/>
          <p:nvPr/>
        </p:nvSpPr>
        <p:spPr>
          <a:xfrm>
            <a:off x="4820217" y="1371600"/>
            <a:ext cx="187707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fMÁX típica</a:t>
            </a:r>
          </a:p>
        </p:txBody>
      </p:sp>
      <p:sp>
        <p:nvSpPr>
          <p:cNvPr id="20" name="TextBox 19"/>
          <p:cNvSpPr txBox="1"/>
          <p:nvPr/>
        </p:nvSpPr>
        <p:spPr>
          <a:xfrm>
            <a:off x="6843596" y="1371600"/>
            <a:ext cx="187707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IOH/IOL (mA)</a:t>
            </a:r>
          </a:p>
        </p:txBody>
      </p:sp>
      <p:sp>
        <p:nvSpPr>
          <p:cNvPr id="21" name="TextBox 20"/>
          <p:cNvSpPr txBox="1"/>
          <p:nvPr/>
        </p:nvSpPr>
        <p:spPr>
          <a:xfrm>
            <a:off x="8866975" y="1371600"/>
            <a:ext cx="277635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Consumo por compuerta</a:t>
            </a:r>
          </a:p>
        </p:txBody>
      </p:sp>
      <p:sp>
        <p:nvSpPr>
          <p:cNvPr id="22" name="Rectangle 21"/>
          <p:cNvSpPr/>
          <p:nvPr/>
        </p:nvSpPr>
        <p:spPr>
          <a:xfrm>
            <a:off x="475488" y="1700784"/>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 (estándar)</a:t>
            </a:r>
          </a:p>
        </p:txBody>
      </p:sp>
      <p:sp>
        <p:nvSpPr>
          <p:cNvPr id="24" name="TextBox 23"/>
          <p:cNvSpPr txBox="1"/>
          <p:nvPr/>
        </p:nvSpPr>
        <p:spPr>
          <a:xfrm>
            <a:off x="2796838" y="1700784"/>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10</a:t>
            </a:r>
          </a:p>
        </p:txBody>
      </p:sp>
      <p:sp>
        <p:nvSpPr>
          <p:cNvPr id="25" name="TextBox 24"/>
          <p:cNvSpPr txBox="1"/>
          <p:nvPr/>
        </p:nvSpPr>
        <p:spPr>
          <a:xfrm>
            <a:off x="4820217" y="1700784"/>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25 MHz</a:t>
            </a:r>
          </a:p>
        </p:txBody>
      </p:sp>
      <p:sp>
        <p:nvSpPr>
          <p:cNvPr id="26" name="TextBox 25"/>
          <p:cNvSpPr txBox="1"/>
          <p:nvPr/>
        </p:nvSpPr>
        <p:spPr>
          <a:xfrm>
            <a:off x="6843596" y="1700784"/>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−0.4 / 16</a:t>
            </a:r>
          </a:p>
        </p:txBody>
      </p:sp>
      <p:sp>
        <p:nvSpPr>
          <p:cNvPr id="27" name="TextBox 26"/>
          <p:cNvSpPr txBox="1"/>
          <p:nvPr/>
        </p:nvSpPr>
        <p:spPr>
          <a:xfrm>
            <a:off x="8866975" y="1700784"/>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10 mW</a:t>
            </a:r>
          </a:p>
        </p:txBody>
      </p:sp>
      <p:sp>
        <p:nvSpPr>
          <p:cNvPr id="28" name="TextBox 27"/>
          <p:cNvSpPr txBox="1"/>
          <p:nvPr/>
        </p:nvSpPr>
        <p:spPr>
          <a:xfrm>
            <a:off x="548640" y="2084831"/>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74L (bajo consumo)</a:t>
            </a:r>
          </a:p>
        </p:txBody>
      </p:sp>
      <p:sp>
        <p:nvSpPr>
          <p:cNvPr id="29" name="TextBox 28"/>
          <p:cNvSpPr txBox="1"/>
          <p:nvPr/>
        </p:nvSpPr>
        <p:spPr>
          <a:xfrm>
            <a:off x="2796838" y="2084831"/>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33</a:t>
            </a:r>
          </a:p>
        </p:txBody>
      </p:sp>
      <p:sp>
        <p:nvSpPr>
          <p:cNvPr id="30" name="TextBox 29"/>
          <p:cNvSpPr txBox="1"/>
          <p:nvPr/>
        </p:nvSpPr>
        <p:spPr>
          <a:xfrm>
            <a:off x="4820217" y="2084831"/>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 MHz</a:t>
            </a:r>
          </a:p>
        </p:txBody>
      </p:sp>
      <p:sp>
        <p:nvSpPr>
          <p:cNvPr id="31" name="TextBox 30"/>
          <p:cNvSpPr txBox="1"/>
          <p:nvPr/>
        </p:nvSpPr>
        <p:spPr>
          <a:xfrm>
            <a:off x="6843596" y="2084831"/>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−0.2 / 3.6</a:t>
            </a:r>
          </a:p>
        </p:txBody>
      </p:sp>
      <p:sp>
        <p:nvSpPr>
          <p:cNvPr id="32" name="TextBox 31"/>
          <p:cNvSpPr txBox="1"/>
          <p:nvPr/>
        </p:nvSpPr>
        <p:spPr>
          <a:xfrm>
            <a:off x="8866975" y="2084831"/>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 mW</a:t>
            </a:r>
          </a:p>
        </p:txBody>
      </p:sp>
      <p:sp>
        <p:nvSpPr>
          <p:cNvPr id="33" name="Rectangle 32"/>
          <p:cNvSpPr/>
          <p:nvPr/>
        </p:nvSpPr>
        <p:spPr>
          <a:xfrm>
            <a:off x="475488" y="2468879"/>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468879"/>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74LS (Schottky baja potencia)</a:t>
            </a:r>
          </a:p>
        </p:txBody>
      </p:sp>
      <p:sp>
        <p:nvSpPr>
          <p:cNvPr id="35" name="TextBox 34"/>
          <p:cNvSpPr txBox="1"/>
          <p:nvPr/>
        </p:nvSpPr>
        <p:spPr>
          <a:xfrm>
            <a:off x="2796838" y="2468879"/>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9.5</a:t>
            </a:r>
          </a:p>
        </p:txBody>
      </p:sp>
      <p:sp>
        <p:nvSpPr>
          <p:cNvPr id="36" name="TextBox 35"/>
          <p:cNvSpPr txBox="1"/>
          <p:nvPr/>
        </p:nvSpPr>
        <p:spPr>
          <a:xfrm>
            <a:off x="4820217" y="2468879"/>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30 MHz</a:t>
            </a:r>
          </a:p>
        </p:txBody>
      </p:sp>
      <p:sp>
        <p:nvSpPr>
          <p:cNvPr id="37" name="TextBox 36"/>
          <p:cNvSpPr txBox="1"/>
          <p:nvPr/>
        </p:nvSpPr>
        <p:spPr>
          <a:xfrm>
            <a:off x="6843596" y="2468879"/>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−0.4 / 8</a:t>
            </a:r>
          </a:p>
        </p:txBody>
      </p:sp>
      <p:sp>
        <p:nvSpPr>
          <p:cNvPr id="38" name="TextBox 37"/>
          <p:cNvSpPr txBox="1"/>
          <p:nvPr/>
        </p:nvSpPr>
        <p:spPr>
          <a:xfrm>
            <a:off x="8866975" y="2468879"/>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 mW</a:t>
            </a:r>
          </a:p>
        </p:txBody>
      </p:sp>
      <p:sp>
        <p:nvSpPr>
          <p:cNvPr id="39" name="TextBox 38"/>
          <p:cNvSpPr txBox="1"/>
          <p:nvPr/>
        </p:nvSpPr>
        <p:spPr>
          <a:xfrm>
            <a:off x="548640" y="2852927"/>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74S (Schottky)</a:t>
            </a:r>
          </a:p>
        </p:txBody>
      </p:sp>
      <p:sp>
        <p:nvSpPr>
          <p:cNvPr id="40" name="TextBox 39"/>
          <p:cNvSpPr txBox="1"/>
          <p:nvPr/>
        </p:nvSpPr>
        <p:spPr>
          <a:xfrm>
            <a:off x="2796838" y="2852927"/>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a:t>
            </a:r>
          </a:p>
        </p:txBody>
      </p:sp>
      <p:sp>
        <p:nvSpPr>
          <p:cNvPr id="41" name="TextBox 40"/>
          <p:cNvSpPr txBox="1"/>
          <p:nvPr/>
        </p:nvSpPr>
        <p:spPr>
          <a:xfrm>
            <a:off x="4820217" y="2852927"/>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60 MHz</a:t>
            </a:r>
          </a:p>
        </p:txBody>
      </p:sp>
      <p:sp>
        <p:nvSpPr>
          <p:cNvPr id="42" name="TextBox 41"/>
          <p:cNvSpPr txBox="1"/>
          <p:nvPr/>
        </p:nvSpPr>
        <p:spPr>
          <a:xfrm>
            <a:off x="6843596" y="2852927"/>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 / 20</a:t>
            </a:r>
          </a:p>
        </p:txBody>
      </p:sp>
      <p:sp>
        <p:nvSpPr>
          <p:cNvPr id="43" name="TextBox 42"/>
          <p:cNvSpPr txBox="1"/>
          <p:nvPr/>
        </p:nvSpPr>
        <p:spPr>
          <a:xfrm>
            <a:off x="8866975" y="2852927"/>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20 mW</a:t>
            </a:r>
          </a:p>
        </p:txBody>
      </p:sp>
      <p:sp>
        <p:nvSpPr>
          <p:cNvPr id="44" name="Rectangle 43"/>
          <p:cNvSpPr/>
          <p:nvPr/>
        </p:nvSpPr>
        <p:spPr>
          <a:xfrm>
            <a:off x="475488" y="3236975"/>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236975"/>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74ALS (avanzada)</a:t>
            </a:r>
          </a:p>
        </p:txBody>
      </p:sp>
      <p:sp>
        <p:nvSpPr>
          <p:cNvPr id="46" name="TextBox 45"/>
          <p:cNvSpPr txBox="1"/>
          <p:nvPr/>
        </p:nvSpPr>
        <p:spPr>
          <a:xfrm>
            <a:off x="2796838" y="3236975"/>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a:t>
            </a:r>
          </a:p>
        </p:txBody>
      </p:sp>
      <p:sp>
        <p:nvSpPr>
          <p:cNvPr id="47" name="TextBox 46"/>
          <p:cNvSpPr txBox="1"/>
          <p:nvPr/>
        </p:nvSpPr>
        <p:spPr>
          <a:xfrm>
            <a:off x="4820217" y="3236975"/>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50 MHz</a:t>
            </a:r>
          </a:p>
        </p:txBody>
      </p:sp>
      <p:sp>
        <p:nvSpPr>
          <p:cNvPr id="48" name="TextBox 47"/>
          <p:cNvSpPr txBox="1"/>
          <p:nvPr/>
        </p:nvSpPr>
        <p:spPr>
          <a:xfrm>
            <a:off x="6843596" y="3236975"/>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−0.4 / 8</a:t>
            </a:r>
          </a:p>
        </p:txBody>
      </p:sp>
      <p:sp>
        <p:nvSpPr>
          <p:cNvPr id="49" name="TextBox 48"/>
          <p:cNvSpPr txBox="1"/>
          <p:nvPr/>
        </p:nvSpPr>
        <p:spPr>
          <a:xfrm>
            <a:off x="8866975" y="3236975"/>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1.2 mW</a:t>
            </a:r>
          </a:p>
        </p:txBody>
      </p:sp>
      <p:sp>
        <p:nvSpPr>
          <p:cNvPr id="50" name="TextBox 49"/>
          <p:cNvSpPr txBox="1"/>
          <p:nvPr/>
        </p:nvSpPr>
        <p:spPr>
          <a:xfrm>
            <a:off x="548640" y="3621023"/>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74F (rápida)</a:t>
            </a:r>
          </a:p>
        </p:txBody>
      </p:sp>
      <p:sp>
        <p:nvSpPr>
          <p:cNvPr id="51" name="TextBox 50"/>
          <p:cNvSpPr txBox="1"/>
          <p:nvPr/>
        </p:nvSpPr>
        <p:spPr>
          <a:xfrm>
            <a:off x="2796838" y="3621023"/>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a:t>
            </a:r>
          </a:p>
        </p:txBody>
      </p:sp>
      <p:sp>
        <p:nvSpPr>
          <p:cNvPr id="52" name="TextBox 51"/>
          <p:cNvSpPr txBox="1"/>
          <p:nvPr/>
        </p:nvSpPr>
        <p:spPr>
          <a:xfrm>
            <a:off x="4820217" y="3621023"/>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100 MHz</a:t>
            </a:r>
          </a:p>
        </p:txBody>
      </p:sp>
      <p:sp>
        <p:nvSpPr>
          <p:cNvPr id="53" name="TextBox 52"/>
          <p:cNvSpPr txBox="1"/>
          <p:nvPr/>
        </p:nvSpPr>
        <p:spPr>
          <a:xfrm>
            <a:off x="6843596" y="3621023"/>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 / 20</a:t>
            </a:r>
          </a:p>
        </p:txBody>
      </p:sp>
      <p:sp>
        <p:nvSpPr>
          <p:cNvPr id="54" name="TextBox 53"/>
          <p:cNvSpPr txBox="1"/>
          <p:nvPr/>
        </p:nvSpPr>
        <p:spPr>
          <a:xfrm>
            <a:off x="8866975" y="3621023"/>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4.5 mW</a:t>
            </a:r>
          </a:p>
        </p:txBody>
      </p:sp>
      <p:sp>
        <p:nvSpPr>
          <p:cNvPr id="55" name="Rectangle 54"/>
          <p:cNvSpPr/>
          <p:nvPr/>
        </p:nvSpPr>
        <p:spPr>
          <a:xfrm>
            <a:off x="475488" y="4005072"/>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4005072"/>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74HC (CMOS alta velocidad)</a:t>
            </a:r>
          </a:p>
        </p:txBody>
      </p:sp>
      <p:sp>
        <p:nvSpPr>
          <p:cNvPr id="57" name="TextBox 56"/>
          <p:cNvSpPr txBox="1"/>
          <p:nvPr/>
        </p:nvSpPr>
        <p:spPr>
          <a:xfrm>
            <a:off x="2796838" y="4005072"/>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a:t>
            </a:r>
          </a:p>
        </p:txBody>
      </p:sp>
      <p:sp>
        <p:nvSpPr>
          <p:cNvPr id="58" name="TextBox 57"/>
          <p:cNvSpPr txBox="1"/>
          <p:nvPr/>
        </p:nvSpPr>
        <p:spPr>
          <a:xfrm>
            <a:off x="4820217" y="4005072"/>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40 MHz</a:t>
            </a:r>
          </a:p>
        </p:txBody>
      </p:sp>
      <p:sp>
        <p:nvSpPr>
          <p:cNvPr id="59" name="TextBox 58"/>
          <p:cNvSpPr txBox="1"/>
          <p:nvPr/>
        </p:nvSpPr>
        <p:spPr>
          <a:xfrm>
            <a:off x="6843596" y="4005072"/>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 / 4</a:t>
            </a:r>
          </a:p>
        </p:txBody>
      </p:sp>
      <p:sp>
        <p:nvSpPr>
          <p:cNvPr id="60" name="TextBox 59"/>
          <p:cNvSpPr txBox="1"/>
          <p:nvPr/>
        </p:nvSpPr>
        <p:spPr>
          <a:xfrm>
            <a:off x="8866975" y="4005072"/>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0.02 mW</a:t>
            </a:r>
          </a:p>
        </p:txBody>
      </p:sp>
      <p:sp>
        <p:nvSpPr>
          <p:cNvPr id="61" name="TextBox 60"/>
          <p:cNvSpPr txBox="1"/>
          <p:nvPr/>
        </p:nvSpPr>
        <p:spPr>
          <a:xfrm>
            <a:off x="548640" y="4389120"/>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74HCT (CMOS compatible TTL)</a:t>
            </a:r>
          </a:p>
        </p:txBody>
      </p:sp>
      <p:sp>
        <p:nvSpPr>
          <p:cNvPr id="62" name="TextBox 61"/>
          <p:cNvSpPr txBox="1"/>
          <p:nvPr/>
        </p:nvSpPr>
        <p:spPr>
          <a:xfrm>
            <a:off x="2796838" y="4389120"/>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9</a:t>
            </a:r>
          </a:p>
        </p:txBody>
      </p:sp>
      <p:sp>
        <p:nvSpPr>
          <p:cNvPr id="63" name="TextBox 62"/>
          <p:cNvSpPr txBox="1"/>
          <p:nvPr/>
        </p:nvSpPr>
        <p:spPr>
          <a:xfrm>
            <a:off x="4820217" y="4389120"/>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35 MHz</a:t>
            </a:r>
          </a:p>
        </p:txBody>
      </p:sp>
      <p:sp>
        <p:nvSpPr>
          <p:cNvPr id="64" name="TextBox 63"/>
          <p:cNvSpPr txBox="1"/>
          <p:nvPr/>
        </p:nvSpPr>
        <p:spPr>
          <a:xfrm>
            <a:off x="6843596" y="4389120"/>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 / 4</a:t>
            </a:r>
          </a:p>
        </p:txBody>
      </p:sp>
      <p:sp>
        <p:nvSpPr>
          <p:cNvPr id="65" name="TextBox 64"/>
          <p:cNvSpPr txBox="1"/>
          <p:nvPr/>
        </p:nvSpPr>
        <p:spPr>
          <a:xfrm>
            <a:off x="8866975" y="4389120"/>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0.02 mW</a:t>
            </a:r>
          </a:p>
        </p:txBody>
      </p:sp>
      <p:sp>
        <p:nvSpPr>
          <p:cNvPr id="66" name="Rectangle 65"/>
          <p:cNvSpPr/>
          <p:nvPr/>
        </p:nvSpPr>
        <p:spPr>
          <a:xfrm>
            <a:off x="475488" y="4773168"/>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773168"/>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74AHC / 74LVC (modernos)</a:t>
            </a:r>
          </a:p>
        </p:txBody>
      </p:sp>
      <p:sp>
        <p:nvSpPr>
          <p:cNvPr id="68" name="TextBox 67"/>
          <p:cNvSpPr txBox="1"/>
          <p:nvPr/>
        </p:nvSpPr>
        <p:spPr>
          <a:xfrm>
            <a:off x="2796838" y="4773168"/>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a:t>
            </a:r>
          </a:p>
        </p:txBody>
      </p:sp>
      <p:sp>
        <p:nvSpPr>
          <p:cNvPr id="69" name="TextBox 68"/>
          <p:cNvSpPr txBox="1"/>
          <p:nvPr/>
        </p:nvSpPr>
        <p:spPr>
          <a:xfrm>
            <a:off x="4820217" y="4773168"/>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&gt;100 MHz</a:t>
            </a:r>
          </a:p>
        </p:txBody>
      </p:sp>
      <p:sp>
        <p:nvSpPr>
          <p:cNvPr id="70" name="TextBox 69"/>
          <p:cNvSpPr txBox="1"/>
          <p:nvPr/>
        </p:nvSpPr>
        <p:spPr>
          <a:xfrm>
            <a:off x="6843596" y="4773168"/>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 / ±8</a:t>
            </a:r>
          </a:p>
        </p:txBody>
      </p:sp>
      <p:sp>
        <p:nvSpPr>
          <p:cNvPr id="71" name="TextBox 70"/>
          <p:cNvSpPr txBox="1"/>
          <p:nvPr/>
        </p:nvSpPr>
        <p:spPr>
          <a:xfrm>
            <a:off x="8866975" y="4773168"/>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 0 en reposo</a:t>
            </a:r>
          </a:p>
        </p:txBody>
      </p:sp>
      <p:sp>
        <p:nvSpPr>
          <p:cNvPr id="72" name="Rounded Rectangle 71"/>
          <p:cNvSpPr/>
          <p:nvPr/>
        </p:nvSpPr>
        <p:spPr>
          <a:xfrm>
            <a:off x="475488" y="1371600"/>
            <a:ext cx="11240993" cy="3785615"/>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CRITERIO DE DISEÑO</a:t>
            </a:r>
          </a:p>
        </p:txBody>
      </p:sp>
      <p:sp>
        <p:nvSpPr>
          <p:cNvPr id="76" name="TextBox 7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Criterio de elección: si el circuito es lento y alimentado por batería, elegir HC; si debe convivir con lógica TTL, elegir LS o HCT; si se requiere velocidad, F o LVC. Nunca mezclar HC con LS sin revisar los umbrales.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15"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16"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17"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1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19" dur="420"/>
                                        <p:tgtEl>
                                          <p:spTgt spid="20"/>
                                        </p:tgtEl>
                                      </p:cBhvr>
                                    </p:animEffect>
                                  </p:childTnLst>
                                </p:cTn>
                              </p:par>
                            </p:childTnLst>
                          </p:cTn>
                        </p:par>
                      </p:childTnLst>
                    </p:cTn>
                  </p:par>
                  <p:par>
                    <p:cTn id="213" fill="hold">
                      <p:stCondLst>
                        <p:cond delay="0"/>
                      </p:stCondLst>
                      <p:childTnLst>
                        <p:par>
                          <p:cTn id="214"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220"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22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222"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223"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224"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225"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22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227"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228"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229"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230"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23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232"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233"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234"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235"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23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237"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238"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239"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240"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24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242"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243"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244"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245"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24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247"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248"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249"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250"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25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252"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253"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254"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255"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2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257"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258"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259"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260"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26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262"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263"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264"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265"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26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267"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268"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269"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270" dur="420"/>
                                        <p:tgtEl>
                                          <p:spTgt spid="71"/>
                                        </p:tgtEl>
                                      </p:cBhvr>
                                    </p:animEffect>
                                  </p:childTnLst>
                                </p:cTn>
                              </p:par>
                              <p:par>
                                <p:cTn id="203" fill="hold">
                                  <p:stCondLst>
                                    <p:cond delay="5610"/>
                                  </p:stCondLst>
                                  <p:childTnLst>
                                    <p:set>
                                      <p:cBhvr>
                                        <p:cTn id="202" dur="1" fill="hold">
                                          <p:stCondLst>
                                            <p:cond delay="0"/>
                                          </p:stCondLst>
                                        </p:cTn>
                                        <p:tgtEl>
                                          <p:spTgt spid="73"/>
                                        </p:tgtEl>
                                        <p:attrNameLst>
                                          <p:attrName>style.visibility</p:attrName>
                                        </p:attrNameLst>
                                      </p:cBhvr>
                                      <p:to>
                                        <p:strVal val="visible"/>
                                      </p:to>
                                    </p:set>
                                    <p:animEffect transition="in" filter="wipe(left)">
                                      <p:cBhvr>
                                        <p:cTn id="201" dur="420"/>
                                        <p:tgtEl>
                                          <p:spTgt spid="73"/>
                                        </p:tgtEl>
                                      </p:cBhvr>
                                    </p:animEffect>
                                    <p:animEffect transition="in" filter="fade">
                                      <p:cBhvr>
                                        <p:cTn id="271" dur="420"/>
                                        <p:tgtEl>
                                          <p:spTgt spid="73"/>
                                        </p:tgtEl>
                                      </p:cBhvr>
                                    </p:animEffect>
                                  </p:childTnLst>
                                </p:cTn>
                              </p:par>
                              <p:par>
                                <p:cTn id="206" fill="hold">
                                  <p:stCondLst>
                                    <p:cond delay="5720"/>
                                  </p:stCondLst>
                                  <p:childTnLst>
                                    <p:set>
                                      <p:cBhvr>
                                        <p:cTn id="205" dur="1" fill="hold">
                                          <p:stCondLst>
                                            <p:cond delay="0"/>
                                          </p:stCondLst>
                                        </p:cTn>
                                        <p:tgtEl>
                                          <p:spTgt spid="74"/>
                                        </p:tgtEl>
                                        <p:attrNameLst>
                                          <p:attrName>style.visibility</p:attrName>
                                        </p:attrNameLst>
                                      </p:cBhvr>
                                      <p:to>
                                        <p:strVal val="visible"/>
                                      </p:to>
                                    </p:set>
                                    <p:animEffect transition="in" filter="wipe(left)">
                                      <p:cBhvr>
                                        <p:cTn id="204" dur="420"/>
                                        <p:tgtEl>
                                          <p:spTgt spid="74"/>
                                        </p:tgtEl>
                                      </p:cBhvr>
                                    </p:animEffect>
                                    <p:animEffect transition="in" filter="fade">
                                      <p:cBhvr>
                                        <p:cTn id="272" dur="420"/>
                                        <p:tgtEl>
                                          <p:spTgt spid="74"/>
                                        </p:tgtEl>
                                      </p:cBhvr>
                                    </p:animEffect>
                                  </p:childTnLst>
                                </p:cTn>
                              </p:par>
                              <p:par>
                                <p:cTn id="209" fill="hold">
                                  <p:stCondLst>
                                    <p:cond delay="5830"/>
                                  </p:stCondLst>
                                  <p:childTnLst>
                                    <p:set>
                                      <p:cBhvr>
                                        <p:cTn id="208" dur="1" fill="hold">
                                          <p:stCondLst>
                                            <p:cond delay="0"/>
                                          </p:stCondLst>
                                        </p:cTn>
                                        <p:tgtEl>
                                          <p:spTgt spid="75"/>
                                        </p:tgtEl>
                                        <p:attrNameLst>
                                          <p:attrName>style.visibility</p:attrName>
                                        </p:attrNameLst>
                                      </p:cBhvr>
                                      <p:to>
                                        <p:strVal val="visible"/>
                                      </p:to>
                                    </p:set>
                                    <p:animEffect transition="in" filter="wipe(left)">
                                      <p:cBhvr>
                                        <p:cTn id="207" dur="420"/>
                                        <p:tgtEl>
                                          <p:spTgt spid="75"/>
                                        </p:tgtEl>
                                      </p:cBhvr>
                                    </p:animEffect>
                                    <p:animEffect transition="in" filter="fade">
                                      <p:cBhvr>
                                        <p:cTn id="273" dur="420"/>
                                        <p:tgtEl>
                                          <p:spTgt spid="75"/>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wipe(left)">
                                      <p:cBhvr>
                                        <p:cTn id="210" dur="420"/>
                                        <p:tgtEl>
                                          <p:spTgt spid="76"/>
                                        </p:tgtEl>
                                      </p:cBhvr>
                                    </p:animEffect>
                                    <p:animEffect transition="in" filter="fade">
                                      <p:cBhvr>
                                        <p:cTn id="274" dur="42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Fan-out: cuántas entradas soporta una salida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límite práctico que explica por qué un LED se atenúa cuando se conectan más cargas.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50808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nout.png"/>
          <p:cNvPicPr>
            <a:picLocks noChangeAspect="1"/>
          </p:cNvPicPr>
          <p:nvPr/>
        </p:nvPicPr>
        <p:blipFill>
          <a:blip r:embed="rId2"/>
          <a:stretch>
            <a:fillRect/>
          </a:stretch>
        </p:blipFill>
        <p:spPr>
          <a:xfrm>
            <a:off x="539496" y="2355345"/>
            <a:ext cx="3307064" cy="1653532"/>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Una salida TTL estándar puede gobernar hasta 10 entradas de la misma familia sin salir de los niveles garantizados.</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ower_setup.png"/>
          <p:cNvPicPr>
            <a:picLocks noChangeAspect="1"/>
          </p:cNvPicPr>
          <p:nvPr/>
        </p:nvPicPr>
        <p:blipFill>
          <a:blip r:embed="rId3"/>
          <a:stretch>
            <a:fillRect/>
          </a:stretch>
        </p:blipFill>
        <p:spPr>
          <a:xfrm>
            <a:off x="4139168" y="2386715"/>
            <a:ext cx="3307064" cy="159079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Montaje típico: 5 V estables, capacitor de desacople de 100 nF junto al chip y resistencia en serie con el LED de salida.</a:t>
            </a:r>
          </a:p>
        </p:txBody>
      </p:sp>
      <p:sp>
        <p:nvSpPr>
          <p:cNvPr id="22" name="Oval 21"/>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Definición:</a:t>
            </a:r>
            <a:r>
              <a:rPr sz="1050" b="0">
                <a:solidFill>
                  <a:srgbClr val="2C3E56"/>
                </a:solidFill>
                <a:latin typeface="Segoe UI"/>
              </a:rPr>
              <a:t> número máximo de entradas de la misma familia que una salida puede controlar respetando VOH y VOL.</a:t>
            </a:r>
          </a:p>
        </p:txBody>
      </p:sp>
      <p:sp>
        <p:nvSpPr>
          <p:cNvPr id="24" name="Oval 23"/>
          <p:cNvSpPr/>
          <p:nvPr/>
        </p:nvSpPr>
        <p:spPr>
          <a:xfrm>
            <a:off x="7793705" y="202240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Cálculo en alto:</a:t>
            </a:r>
            <a:r>
              <a:rPr sz="1050" b="0">
                <a:solidFill>
                  <a:srgbClr val="2C3E56"/>
                </a:solidFill>
                <a:latin typeface="Segoe UI"/>
              </a:rPr>
              <a:t> 10 entradas × 20 µA = 200 µA, menor que IOH de 400 µA garantizados.</a:t>
            </a:r>
          </a:p>
        </p:txBody>
      </p:sp>
      <p:sp>
        <p:nvSpPr>
          <p:cNvPr id="26" name="Oval 25"/>
          <p:cNvSpPr/>
          <p:nvPr/>
        </p:nvSpPr>
        <p:spPr>
          <a:xfrm>
            <a:off x="7793705" y="244407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Cálculo en bajo:</a:t>
            </a:r>
            <a:r>
              <a:rPr sz="1050" b="0">
                <a:solidFill>
                  <a:srgbClr val="2C3E56"/>
                </a:solidFill>
                <a:latin typeface="Segoe UI"/>
              </a:rPr>
              <a:t> 10 entradas × 0.4 mA = 4 mA, menor que IOL de 8 mA.</a:t>
            </a:r>
          </a:p>
        </p:txBody>
      </p:sp>
      <p:sp>
        <p:nvSpPr>
          <p:cNvPr id="28" name="Oval 27"/>
          <p:cNvSpPr/>
          <p:nvPr/>
        </p:nvSpPr>
        <p:spPr>
          <a:xfrm>
            <a:off x="7793705" y="286575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Fan-out en TTL estándar:</a:t>
            </a:r>
            <a:r>
              <a:rPr sz="1050" b="0">
                <a:solidFill>
                  <a:srgbClr val="2C3E56"/>
                </a:solidFill>
                <a:latin typeface="Segoe UI"/>
              </a:rPr>
              <a:t> 10. En 74LS también 10; en 74HC depende de la corriente de entrada (típicamente 10 a 20).</a:t>
            </a:r>
          </a:p>
        </p:txBody>
      </p:sp>
      <p:sp>
        <p:nvSpPr>
          <p:cNvPr id="30" name="Oval 29"/>
          <p:cNvSpPr/>
          <p:nvPr/>
        </p:nvSpPr>
        <p:spPr>
          <a:xfrm>
            <a:off x="7793705" y="346168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Si se excede el fan-out:</a:t>
            </a:r>
            <a:r>
              <a:rPr sz="1050" b="0">
                <a:solidFill>
                  <a:srgbClr val="2C3E56"/>
                </a:solidFill>
                <a:latin typeface="Segoe UI"/>
              </a:rPr>
              <a:t> los niveles se degradan, aparecen errores intermitentes y aumenta la temperatura del chip.</a:t>
            </a:r>
          </a:p>
        </p:txBody>
      </p:sp>
      <p:sp>
        <p:nvSpPr>
          <p:cNvPr id="32" name="Oval 31"/>
          <p:cNvSpPr/>
          <p:nvPr/>
        </p:nvSpPr>
        <p:spPr>
          <a:xfrm>
            <a:off x="7793705" y="4057627"/>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Solución:</a:t>
            </a:r>
            <a:r>
              <a:rPr sz="1050" b="0">
                <a:solidFill>
                  <a:srgbClr val="2C3E56"/>
                </a:solidFill>
                <a:latin typeface="Segoe UI"/>
              </a:rPr>
              <a:t> añadir un buffer (7404, 7407, 74LS244) o dividir la carga en dos salidas distintas.</a:t>
            </a:r>
          </a:p>
        </p:txBody>
      </p:sp>
      <p:sp>
        <p:nvSpPr>
          <p:cNvPr id="34" name="Oval 33"/>
          <p:cNvSpPr/>
          <p:nvPr/>
        </p:nvSpPr>
        <p:spPr>
          <a:xfrm>
            <a:off x="7793705" y="447930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24438"/>
            <a:ext cx="3712463" cy="697047"/>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Separar fan-out de carga resistiva:</a:t>
            </a:r>
            <a:r>
              <a:rPr sz="1050" b="0">
                <a:solidFill>
                  <a:srgbClr val="2C3E56"/>
                </a:solidFill>
                <a:latin typeface="Segoe UI"/>
              </a:rPr>
              <a:t> encender un LED exige 10 mA y consume casi todo el presupuesto de corriente de una salida TTL: conviene usar transistor o driver dedicado.</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Ejemplo concreto: la salida de un 74LS00 puede encender un LED de 10 mA o alimentar 10 entradas lógicas, pero no ambas cosas sin exceder el límite de corriente.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Familias lógicas: TTL vs. CMOS y sus variantes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misma función lógica, distintas tripas: velocidad, consumo y robustez.</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62049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TTL</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TTL bipolar (74XX, 74LS, 74S, 74F)</a:t>
            </a:r>
          </a:p>
        </p:txBody>
      </p:sp>
      <p:sp>
        <p:nvSpPr>
          <p:cNvPr id="20" name="TextBox 19"/>
          <p:cNvSpPr txBox="1"/>
          <p:nvPr/>
        </p:nvSpPr>
        <p:spPr>
          <a:xfrm>
            <a:off x="65836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Usa transistores de unión bipolar (BJT). Es rápida, robusta y muy tolerante a ESD, pero consume corriente de forma continua y exige una alimentación muy estable de 5 V.</a:t>
            </a:r>
          </a:p>
        </p:txBody>
      </p:sp>
      <p:sp>
        <p:nvSpPr>
          <p:cNvPr id="21" name="Rounded Rectangle 20"/>
          <p:cNvSpPr/>
          <p:nvPr/>
        </p:nvSpPr>
        <p:spPr>
          <a:xfrm>
            <a:off x="619656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CMOS</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CMOS (74HC, 74HCT, 4000)</a:t>
            </a:r>
          </a:p>
        </p:txBody>
      </p:sp>
      <p:sp>
        <p:nvSpPr>
          <p:cNvPr id="25" name="TextBox 24"/>
          <p:cNvSpPr txBox="1"/>
          <p:nvPr/>
        </p:nvSpPr>
        <p:spPr>
          <a:xfrm>
            <a:off x="637944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Usa pares de transistores MOSFET complementarios. Consumo casi nulo en reposo, margen de ruido mayor y rango de alimentación amplio (2 V a 6 V), pero es sensible a la electricidad estática.</a:t>
            </a:r>
          </a:p>
        </p:txBody>
      </p:sp>
      <p:sp>
        <p:nvSpPr>
          <p:cNvPr id="26" name="Rounded Rectangle 25"/>
          <p:cNvSpPr/>
          <p:nvPr/>
        </p:nvSpPr>
        <p:spPr>
          <a:xfrm>
            <a:off x="47548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Bi</a:t>
            </a:r>
          </a:p>
        </p:txBody>
      </p:sp>
      <p:sp>
        <p:nvSpPr>
          <p:cNvPr id="29" name="TextBox 28"/>
          <p:cNvSpPr txBox="1"/>
          <p:nvPr/>
        </p:nvSpPr>
        <p:spPr>
          <a:xfrm>
            <a:off x="65836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BiCMOS y variantes modernas</a:t>
            </a:r>
          </a:p>
        </p:txBody>
      </p:sp>
      <p:sp>
        <p:nvSpPr>
          <p:cNvPr id="30" name="TextBox 29"/>
          <p:cNvSpPr txBox="1"/>
          <p:nvPr/>
        </p:nvSpPr>
        <p:spPr>
          <a:xfrm>
            <a:off x="65836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Combinan entrada CMOS con salida bipolar para lograr velocidad TTL y consumo CMOS: familias 74ABT, 74ACT, 74LVC. Son las que se usan hoy en placas comerciales.</a:t>
            </a:r>
          </a:p>
        </p:txBody>
      </p:sp>
      <p:sp>
        <p:nvSpPr>
          <p:cNvPr id="31" name="Rounded Rectangle 30"/>
          <p:cNvSpPr/>
          <p:nvPr/>
        </p:nvSpPr>
        <p:spPr>
          <a:xfrm>
            <a:off x="619656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3488436"/>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3497579"/>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Z</a:t>
            </a:r>
          </a:p>
        </p:txBody>
      </p:sp>
      <p:sp>
        <p:nvSpPr>
          <p:cNvPr id="34" name="TextBox 33"/>
          <p:cNvSpPr txBox="1"/>
          <p:nvPr/>
        </p:nvSpPr>
        <p:spPr>
          <a:xfrm>
            <a:off x="637944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Lógica de 3 estados y colector abierto</a:t>
            </a:r>
          </a:p>
        </p:txBody>
      </p:sp>
      <p:sp>
        <p:nvSpPr>
          <p:cNvPr id="35" name="TextBox 34"/>
          <p:cNvSpPr txBox="1"/>
          <p:nvPr/>
        </p:nvSpPr>
        <p:spPr>
          <a:xfrm>
            <a:off x="637944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Las salidas de tres estados (Z) permiten conectar varios chips a un mismo bus apagándolos por el pin OE. Las de colector abierto permiten lógica cableada con una resistencia pull-up compartida.</a:t>
            </a:r>
          </a:p>
        </p:txBody>
      </p:sp>
      <p:sp>
        <p:nvSpPr>
          <p:cNvPr id="36" name="Rounded Rectangle 3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22392"/>
            <a:ext cx="32004" cy="68580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REGLA DE COMPATIBILIDAD</a:t>
            </a:r>
          </a:p>
        </p:txBody>
      </p:sp>
      <p:sp>
        <p:nvSpPr>
          <p:cNvPr id="39" name="TextBox 3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 oro de compatibilidad: una salida TTL alimenta con seguridad una entrada CMOS-HCT; una salida CMOS-HC alimenta sin problemas una entrada TTL, pero una entrada HC no reconoce bien una salida TTL estándar por el umbral desplazado.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14" fill="hold">
                      <p:stCondLst>
                        <p:cond delay="indefinite"/>
                      </p:stCondLst>
                      <p:childTnLst>
                        <p:par>
                          <p:cTn id="115" fill="hold">
                            <p:stCondLst>
                              <p:cond delay="0"/>
                            </p:stCondLst>
                            <p:childTnLst>
                              <p:par>
                                <p:cTn id="113"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childTnLst>
                                </p:cTn>
                              </p:par>
                            </p:childTnLst>
                          </p:cTn>
                        </p:par>
                      </p:childTnLst>
                    </p:cTn>
                  </p:par>
                  <p:par>
                    <p:cTn id="125" fill="hold">
                      <p:stCondLst>
                        <p:cond delay="indefinite"/>
                      </p:stCondLst>
                      <p:childTnLst>
                        <p:par>
                          <p:cTn id="126" fill="hold">
                            <p:stCondLst>
                              <p:cond delay="0"/>
                            </p:stCondLst>
                            <p:childTnLst>
                              <p:par>
                                <p:cTn id="118" fill="hold">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6" dur="420"/>
                                        <p:tgtEl>
                                          <p:spTgt spid="37"/>
                                        </p:tgtEl>
                                      </p:cBhvr>
                                    </p:animEffect>
                                  </p:childTnLst>
                                </p:cTn>
                              </p:par>
                              <p:par>
                                <p:cTn id="121" fill="hold">
                                  <p:stCondLst>
                                    <p:cond delay="11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childTnLst>
                                </p:cTn>
                              </p:par>
                              <p:par>
                                <p:cTn id="124" fill="hold">
                                  <p:stCondLst>
                                    <p:cond delay="22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Tabla gráfica de familias y consumo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Comparación visual de velocidad y disipación por compuerta.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73290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milies.png"/>
          <p:cNvPicPr>
            <a:picLocks noChangeAspect="1"/>
          </p:cNvPicPr>
          <p:nvPr/>
        </p:nvPicPr>
        <p:blipFill>
          <a:blip r:embed="rId2"/>
          <a:stretch>
            <a:fillRect/>
          </a:stretch>
        </p:blipFill>
        <p:spPr>
          <a:xfrm>
            <a:off x="539496" y="2452463"/>
            <a:ext cx="3307064" cy="145929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Gráfica comparativa: las familias modernas (ALS, F, HC) logran relaciones velocidad/consumo muy superiores a la TTL original.</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ly_tree.png"/>
          <p:cNvPicPr>
            <a:picLocks noChangeAspect="1"/>
          </p:cNvPicPr>
          <p:nvPr/>
        </p:nvPicPr>
        <p:blipFill>
          <a:blip r:embed="rId3"/>
          <a:stretch>
            <a:fillRect/>
          </a:stretch>
        </p:blipFill>
        <p:spPr>
          <a:xfrm>
            <a:off x="4139168" y="2531142"/>
            <a:ext cx="3307064" cy="1301939"/>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Árbol de la familia 74XX: la estructura del código permite identificar la tecnología, la función y el encapsulado.</a:t>
            </a:r>
          </a:p>
        </p:txBody>
      </p:sp>
      <p:sp>
        <p:nvSpPr>
          <p:cNvPr id="22" name="Oval 21"/>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TTL original (1963):</a:t>
            </a:r>
            <a:r>
              <a:rPr sz="1050" b="0">
                <a:solidFill>
                  <a:srgbClr val="2C3E56"/>
                </a:solidFill>
                <a:latin typeface="Segoe UI"/>
              </a:rPr>
              <a:t> 10 ns y 10 mW por compuerta; hoy obsoleta pero didáctica.</a:t>
            </a:r>
          </a:p>
        </p:txBody>
      </p:sp>
      <p:sp>
        <p:nvSpPr>
          <p:cNvPr id="24" name="Oval 23"/>
          <p:cNvSpPr/>
          <p:nvPr/>
        </p:nvSpPr>
        <p:spPr>
          <a:xfrm>
            <a:off x="7793705" y="184813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74L:</a:t>
            </a:r>
            <a:r>
              <a:rPr sz="1050" b="0">
                <a:solidFill>
                  <a:srgbClr val="2C3E56"/>
                </a:solidFill>
                <a:latin typeface="Segoe UI"/>
              </a:rPr>
              <a:t> redujo el consumo a costa de velocidad; se usó en equipos portátiles de los años setenta.</a:t>
            </a:r>
          </a:p>
        </p:txBody>
      </p:sp>
      <p:sp>
        <p:nvSpPr>
          <p:cNvPr id="26" name="Oval 25"/>
          <p:cNvSpPr/>
          <p:nvPr/>
        </p:nvSpPr>
        <p:spPr>
          <a:xfrm>
            <a:off x="7793705" y="226981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74LS (1977):</a:t>
            </a:r>
            <a:r>
              <a:rPr sz="1050" b="0">
                <a:solidFill>
                  <a:srgbClr val="2C3E56"/>
                </a:solidFill>
                <a:latin typeface="Segoe UI"/>
              </a:rPr>
              <a:t> el equilibrio histórico; sigue fabricándose y es el estándar de la enseñanza.</a:t>
            </a:r>
          </a:p>
        </p:txBody>
      </p:sp>
      <p:sp>
        <p:nvSpPr>
          <p:cNvPr id="28" name="Oval 27"/>
          <p:cNvSpPr/>
          <p:nvPr/>
        </p:nvSpPr>
        <p:spPr>
          <a:xfrm>
            <a:off x="7793705" y="269149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74S y 74F:</a:t>
            </a:r>
            <a:r>
              <a:rPr sz="1050" b="0">
                <a:solidFill>
                  <a:srgbClr val="2C3E56"/>
                </a:solidFill>
                <a:latin typeface="Segoe UI"/>
              </a:rPr>
              <a:t> para computadoras de los años ochenta; 20 mW por compuerta.</a:t>
            </a:r>
          </a:p>
        </p:txBody>
      </p:sp>
      <p:sp>
        <p:nvSpPr>
          <p:cNvPr id="30" name="Oval 29"/>
          <p:cNvSpPr/>
          <p:nvPr/>
        </p:nvSpPr>
        <p:spPr>
          <a:xfrm>
            <a:off x="7793705" y="311316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74ALS:</a:t>
            </a:r>
            <a:r>
              <a:rPr sz="1050" b="0">
                <a:solidFill>
                  <a:srgbClr val="2C3E56"/>
                </a:solidFill>
                <a:latin typeface="Segoe UI"/>
              </a:rPr>
              <a:t> versión mejorada del LS, con menor consumo y mayor velocidad.</a:t>
            </a:r>
          </a:p>
        </p:txBody>
      </p:sp>
      <p:sp>
        <p:nvSpPr>
          <p:cNvPr id="32" name="Oval 31"/>
          <p:cNvSpPr/>
          <p:nvPr/>
        </p:nvSpPr>
        <p:spPr>
          <a:xfrm>
            <a:off x="7793705" y="353484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47997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74HC / HCT:</a:t>
            </a:r>
            <a:r>
              <a:rPr sz="1050" b="0">
                <a:solidFill>
                  <a:srgbClr val="2C3E56"/>
                </a:solidFill>
                <a:latin typeface="Segoe UI"/>
              </a:rPr>
              <a:t> la generación CMOS actual, con consumo prácticamente nulo en reposo.</a:t>
            </a:r>
          </a:p>
        </p:txBody>
      </p:sp>
      <p:sp>
        <p:nvSpPr>
          <p:cNvPr id="34" name="Oval 33"/>
          <p:cNvSpPr/>
          <p:nvPr/>
        </p:nvSpPr>
        <p:spPr>
          <a:xfrm>
            <a:off x="7793705" y="395651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3901653"/>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74AHC / LVC:</a:t>
            </a:r>
            <a:r>
              <a:rPr sz="1050" b="0">
                <a:solidFill>
                  <a:srgbClr val="2C3E56"/>
                </a:solidFill>
                <a:latin typeface="Segoe UI"/>
              </a:rPr>
              <a:t> optimizadas para 3.3 V y 1.8 V, con frecuencias de más de 100 MHz.</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dato moderno convive con el histórico: los chips modernos consumen millonésimas de vatio por compuerta, pero el principio lógico y la tabla de verdad son exactamente los mismos que en 1963.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0D1A2B"/>
                </a:solidFill>
                <a:latin typeface="Segoe UI Semibold"/>
              </a:rPr>
              <a:t>Nomenclatura de encapsulados y cómo pedir el chip correcto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sufijo del código indica el tipo de encapsulado, no la función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84531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65225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Sufijo típico</a:t>
            </a:r>
          </a:p>
        </p:txBody>
      </p:sp>
      <p:sp>
        <p:nvSpPr>
          <p:cNvPr id="18" name="TextBox 17"/>
          <p:cNvSpPr txBox="1"/>
          <p:nvPr/>
        </p:nvSpPr>
        <p:spPr>
          <a:xfrm>
            <a:off x="2347198" y="1371600"/>
            <a:ext cx="232671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Encapsulado</a:t>
            </a:r>
          </a:p>
        </p:txBody>
      </p:sp>
      <p:sp>
        <p:nvSpPr>
          <p:cNvPr id="19" name="TextBox 18"/>
          <p:cNvSpPr txBox="1"/>
          <p:nvPr/>
        </p:nvSpPr>
        <p:spPr>
          <a:xfrm>
            <a:off x="4820217" y="1371600"/>
            <a:ext cx="21018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Pines disponibles</a:t>
            </a:r>
          </a:p>
        </p:txBody>
      </p:sp>
      <p:sp>
        <p:nvSpPr>
          <p:cNvPr id="20" name="TextBox 19"/>
          <p:cNvSpPr txBox="1"/>
          <p:nvPr/>
        </p:nvSpPr>
        <p:spPr>
          <a:xfrm>
            <a:off x="7068416" y="1371600"/>
            <a:ext cx="4574913"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Uso recomendado</a:t>
            </a:r>
          </a:p>
        </p:txBody>
      </p:sp>
      <p:sp>
        <p:nvSpPr>
          <p:cNvPr id="21" name="Rectangle 20"/>
          <p:cNvSpPr/>
          <p:nvPr/>
        </p:nvSpPr>
        <p:spPr>
          <a:xfrm>
            <a:off x="475488" y="1700784"/>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N</a:t>
            </a:r>
          </a:p>
        </p:txBody>
      </p:sp>
      <p:sp>
        <p:nvSpPr>
          <p:cNvPr id="23" name="TextBox 22"/>
          <p:cNvSpPr txBox="1"/>
          <p:nvPr/>
        </p:nvSpPr>
        <p:spPr>
          <a:xfrm>
            <a:off x="2347198" y="1700784"/>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DIP plástico (DIP-14/16)</a:t>
            </a:r>
          </a:p>
        </p:txBody>
      </p:sp>
      <p:sp>
        <p:nvSpPr>
          <p:cNvPr id="24" name="TextBox 23"/>
          <p:cNvSpPr txBox="1"/>
          <p:nvPr/>
        </p:nvSpPr>
        <p:spPr>
          <a:xfrm>
            <a:off x="4820217" y="1700784"/>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14, 16, 20, 24</a:t>
            </a:r>
          </a:p>
        </p:txBody>
      </p:sp>
      <p:sp>
        <p:nvSpPr>
          <p:cNvPr id="25" name="TextBox 24"/>
          <p:cNvSpPr txBox="1"/>
          <p:nvPr/>
        </p:nvSpPr>
        <p:spPr>
          <a:xfrm>
            <a:off x="7068416" y="1700784"/>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Protoboard y prácticas de laboratorio</a:t>
            </a:r>
          </a:p>
        </p:txBody>
      </p:sp>
      <p:sp>
        <p:nvSpPr>
          <p:cNvPr id="26" name="TextBox 25"/>
          <p:cNvSpPr txBox="1"/>
          <p:nvPr/>
        </p:nvSpPr>
        <p:spPr>
          <a:xfrm>
            <a:off x="548640" y="2084831"/>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D</a:t>
            </a:r>
          </a:p>
        </p:txBody>
      </p:sp>
      <p:sp>
        <p:nvSpPr>
          <p:cNvPr id="27" name="TextBox 26"/>
          <p:cNvSpPr txBox="1"/>
          <p:nvPr/>
        </p:nvSpPr>
        <p:spPr>
          <a:xfrm>
            <a:off x="2347198" y="2084831"/>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SOIC SMD</a:t>
            </a:r>
          </a:p>
        </p:txBody>
      </p:sp>
      <p:sp>
        <p:nvSpPr>
          <p:cNvPr id="28" name="TextBox 27"/>
          <p:cNvSpPr txBox="1"/>
          <p:nvPr/>
        </p:nvSpPr>
        <p:spPr>
          <a:xfrm>
            <a:off x="4820217" y="2084831"/>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14, 16</a:t>
            </a:r>
          </a:p>
        </p:txBody>
      </p:sp>
      <p:sp>
        <p:nvSpPr>
          <p:cNvPr id="29" name="TextBox 28"/>
          <p:cNvSpPr txBox="1"/>
          <p:nvPr/>
        </p:nvSpPr>
        <p:spPr>
          <a:xfrm>
            <a:off x="7068416" y="2084831"/>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Placas comerciales de inserción superficial</a:t>
            </a:r>
          </a:p>
        </p:txBody>
      </p:sp>
      <p:sp>
        <p:nvSpPr>
          <p:cNvPr id="30" name="Rectangle 29"/>
          <p:cNvSpPr/>
          <p:nvPr/>
        </p:nvSpPr>
        <p:spPr>
          <a:xfrm>
            <a:off x="475488" y="2468879"/>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468879"/>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PW / TSSOP</a:t>
            </a:r>
          </a:p>
        </p:txBody>
      </p:sp>
      <p:sp>
        <p:nvSpPr>
          <p:cNvPr id="32" name="TextBox 31"/>
          <p:cNvSpPr txBox="1"/>
          <p:nvPr/>
        </p:nvSpPr>
        <p:spPr>
          <a:xfrm>
            <a:off x="2347198" y="2468879"/>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TSSOP muy delgado</a:t>
            </a:r>
          </a:p>
        </p:txBody>
      </p:sp>
      <p:sp>
        <p:nvSpPr>
          <p:cNvPr id="33" name="TextBox 32"/>
          <p:cNvSpPr txBox="1"/>
          <p:nvPr/>
        </p:nvSpPr>
        <p:spPr>
          <a:xfrm>
            <a:off x="4820217" y="2468879"/>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14, 16</a:t>
            </a:r>
          </a:p>
        </p:txBody>
      </p:sp>
      <p:sp>
        <p:nvSpPr>
          <p:cNvPr id="34" name="TextBox 33"/>
          <p:cNvSpPr txBox="1"/>
          <p:nvPr/>
        </p:nvSpPr>
        <p:spPr>
          <a:xfrm>
            <a:off x="7068416" y="2468879"/>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Equipos compactos y portátiles</a:t>
            </a:r>
          </a:p>
        </p:txBody>
      </p:sp>
      <p:sp>
        <p:nvSpPr>
          <p:cNvPr id="35" name="TextBox 34"/>
          <p:cNvSpPr txBox="1"/>
          <p:nvPr/>
        </p:nvSpPr>
        <p:spPr>
          <a:xfrm>
            <a:off x="548640" y="2852927"/>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DB / SSOP</a:t>
            </a:r>
          </a:p>
        </p:txBody>
      </p:sp>
      <p:sp>
        <p:nvSpPr>
          <p:cNvPr id="36" name="TextBox 35"/>
          <p:cNvSpPr txBox="1"/>
          <p:nvPr/>
        </p:nvSpPr>
        <p:spPr>
          <a:xfrm>
            <a:off x="2347198" y="2852927"/>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SSOP</a:t>
            </a:r>
          </a:p>
        </p:txBody>
      </p:sp>
      <p:sp>
        <p:nvSpPr>
          <p:cNvPr id="37" name="TextBox 36"/>
          <p:cNvSpPr txBox="1"/>
          <p:nvPr/>
        </p:nvSpPr>
        <p:spPr>
          <a:xfrm>
            <a:off x="4820217" y="2852927"/>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16, 20</a:t>
            </a:r>
          </a:p>
        </p:txBody>
      </p:sp>
      <p:sp>
        <p:nvSpPr>
          <p:cNvPr id="38" name="TextBox 37"/>
          <p:cNvSpPr txBox="1"/>
          <p:nvPr/>
        </p:nvSpPr>
        <p:spPr>
          <a:xfrm>
            <a:off x="7068416" y="2852927"/>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Instrumentación y módulos industriales</a:t>
            </a:r>
          </a:p>
        </p:txBody>
      </p:sp>
      <p:sp>
        <p:nvSpPr>
          <p:cNvPr id="39" name="Rectangle 38"/>
          <p:cNvSpPr/>
          <p:nvPr/>
        </p:nvSpPr>
        <p:spPr>
          <a:xfrm>
            <a:off x="475488" y="3236975"/>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236975"/>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FK</a:t>
            </a:r>
          </a:p>
        </p:txBody>
      </p:sp>
      <p:sp>
        <p:nvSpPr>
          <p:cNvPr id="41" name="TextBox 40"/>
          <p:cNvSpPr txBox="1"/>
          <p:nvPr/>
        </p:nvSpPr>
        <p:spPr>
          <a:xfrm>
            <a:off x="2347198" y="3236975"/>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LCCC cerámico</a:t>
            </a:r>
          </a:p>
        </p:txBody>
      </p:sp>
      <p:sp>
        <p:nvSpPr>
          <p:cNvPr id="42" name="TextBox 41"/>
          <p:cNvSpPr txBox="1"/>
          <p:nvPr/>
        </p:nvSpPr>
        <p:spPr>
          <a:xfrm>
            <a:off x="4820217" y="3236975"/>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20, 28</a:t>
            </a:r>
          </a:p>
        </p:txBody>
      </p:sp>
      <p:sp>
        <p:nvSpPr>
          <p:cNvPr id="43" name="TextBox 42"/>
          <p:cNvSpPr txBox="1"/>
          <p:nvPr/>
        </p:nvSpPr>
        <p:spPr>
          <a:xfrm>
            <a:off x="7068416" y="3236975"/>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Uso militar y aeroespacial (serie 54XX)</a:t>
            </a:r>
          </a:p>
        </p:txBody>
      </p:sp>
      <p:sp>
        <p:nvSpPr>
          <p:cNvPr id="44" name="TextBox 43"/>
          <p:cNvSpPr txBox="1"/>
          <p:nvPr/>
        </p:nvSpPr>
        <p:spPr>
          <a:xfrm>
            <a:off x="548640" y="3621023"/>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J / W</a:t>
            </a:r>
          </a:p>
        </p:txBody>
      </p:sp>
      <p:sp>
        <p:nvSpPr>
          <p:cNvPr id="45" name="TextBox 44"/>
          <p:cNvSpPr txBox="1"/>
          <p:nvPr/>
        </p:nvSpPr>
        <p:spPr>
          <a:xfrm>
            <a:off x="2347198" y="3621023"/>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Cerámico DIP</a:t>
            </a:r>
          </a:p>
        </p:txBody>
      </p:sp>
      <p:sp>
        <p:nvSpPr>
          <p:cNvPr id="46" name="TextBox 45"/>
          <p:cNvSpPr txBox="1"/>
          <p:nvPr/>
        </p:nvSpPr>
        <p:spPr>
          <a:xfrm>
            <a:off x="4820217" y="3621023"/>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14, 16</a:t>
            </a:r>
          </a:p>
        </p:txBody>
      </p:sp>
      <p:sp>
        <p:nvSpPr>
          <p:cNvPr id="47" name="TextBox 46"/>
          <p:cNvSpPr txBox="1"/>
          <p:nvPr/>
        </p:nvSpPr>
        <p:spPr>
          <a:xfrm>
            <a:off x="7068416" y="3621023"/>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Ambientes de temperatura extrema</a:t>
            </a:r>
          </a:p>
        </p:txBody>
      </p:sp>
      <p:sp>
        <p:nvSpPr>
          <p:cNvPr id="48" name="Rectangle 47"/>
          <p:cNvSpPr/>
          <p:nvPr/>
        </p:nvSpPr>
        <p:spPr>
          <a:xfrm>
            <a:off x="475488" y="4005072"/>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005072"/>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Sin sufijo</a:t>
            </a:r>
          </a:p>
        </p:txBody>
      </p:sp>
      <p:sp>
        <p:nvSpPr>
          <p:cNvPr id="50" name="TextBox 49"/>
          <p:cNvSpPr txBox="1"/>
          <p:nvPr/>
        </p:nvSpPr>
        <p:spPr>
          <a:xfrm>
            <a:off x="2347198" y="4005072"/>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Según fabricante</a:t>
            </a:r>
          </a:p>
        </p:txBody>
      </p:sp>
      <p:sp>
        <p:nvSpPr>
          <p:cNvPr id="51" name="TextBox 50"/>
          <p:cNvSpPr txBox="1"/>
          <p:nvPr/>
        </p:nvSpPr>
        <p:spPr>
          <a:xfrm>
            <a:off x="4820217" y="4005072"/>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Variable</a:t>
            </a:r>
          </a:p>
        </p:txBody>
      </p:sp>
      <p:sp>
        <p:nvSpPr>
          <p:cNvPr id="52" name="TextBox 51"/>
          <p:cNvSpPr txBox="1"/>
          <p:nvPr/>
        </p:nvSpPr>
        <p:spPr>
          <a:xfrm>
            <a:off x="7068416" y="4005072"/>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Consultar siempre el datasheet</a:t>
            </a:r>
          </a:p>
        </p:txBody>
      </p:sp>
      <p:sp>
        <p:nvSpPr>
          <p:cNvPr id="53" name="Rounded Rectangle 52"/>
          <p:cNvSpPr/>
          <p:nvPr/>
        </p:nvSpPr>
        <p:spPr>
          <a:xfrm>
            <a:off x="475488" y="1371600"/>
            <a:ext cx="11240993" cy="3017520"/>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LECTURA DEL CÓDIGO</a:t>
            </a:r>
          </a:p>
        </p:txBody>
      </p:sp>
      <p:sp>
        <p:nvSpPr>
          <p:cNvPr id="57" name="TextBox 5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Cómo leer un código completo: </a:t>
            </a:r>
            <a:r>
              <a:rPr sz="1050" b="1">
                <a:solidFill>
                  <a:srgbClr val="2C3E56"/>
                </a:solidFill>
                <a:latin typeface="Segoe UI Semibold"/>
              </a:rPr>
              <a:t>SN74LS00N</a:t>
            </a:r>
            <a:r>
              <a:rPr sz="1050" b="0">
                <a:solidFill>
                  <a:srgbClr val="2C3E56"/>
                </a:solidFill>
                <a:latin typeface="Segoe UI"/>
              </a:rPr>
              <a:t> = Semiconductor Network, familia 74, tecnología LS (Schottky de baja potencia), función 00 (NAND cuádruple), encapsulado N (DIP plástico).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158"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159"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160"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161"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162" dur="420"/>
                                        <p:tgtEl>
                                          <p:spTgt spid="20"/>
                                        </p:tgtEl>
                                      </p:cBhvr>
                                    </p:animEffect>
                                  </p:childTnLst>
                                </p:cTn>
                              </p:par>
                            </p:childTnLst>
                          </p:cTn>
                        </p:par>
                      </p:childTnLst>
                    </p:cTn>
                  </p:par>
                  <p:par>
                    <p:cTn id="156" fill="hold">
                      <p:stCondLst>
                        <p:cond delay="indefinite"/>
                      </p:stCondLst>
                      <p:childTnLst>
                        <p:par>
                          <p:cTn id="157"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4" dur="420"/>
                                        <p:tgtEl>
                                          <p:spTgt spid="54"/>
                                        </p:tgtEl>
                                      </p:cBhvr>
                                    </p:animEffect>
                                  </p:childTnLst>
                                </p:cTn>
                              </p:par>
                              <p:par>
                                <p:cTn id="149" fill="hold">
                                  <p:stCondLst>
                                    <p:cond delay="3630"/>
                                  </p:stCondLst>
                                  <p:childTnLst>
                                    <p:set>
                                      <p:cBhvr>
                                        <p:cTn id="148" dur="1" fill="hold">
                                          <p:stCondLst>
                                            <p:cond delay="0"/>
                                          </p:stCondLst>
                                        </p:cTn>
                                        <p:tgtEl>
                                          <p:spTgt spid="55"/>
                                        </p:tgtEl>
                                        <p:attrNameLst>
                                          <p:attrName>style.visibility</p:attrName>
                                        </p:attrNameLst>
                                      </p:cBhvr>
                                      <p:to>
                                        <p:strVal val="visible"/>
                                      </p:to>
                                    </p:set>
                                    <p:animEffect transition="in" filter="fade">
                                      <p:cBhvr>
                                        <p:cTn id="147" dur="420"/>
                                        <p:tgtEl>
                                          <p:spTgt spid="55"/>
                                        </p:tgtEl>
                                      </p:cBhvr>
                                    </p:animEffect>
                                  </p:childTnLst>
                                </p:cTn>
                              </p:par>
                              <p:par>
                                <p:cTn id="152" fill="hold">
                                  <p:stCondLst>
                                    <p:cond delay="374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0" dur="420"/>
                                        <p:tgtEl>
                                          <p:spTgt spid="56"/>
                                        </p:tgtEl>
                                      </p:cBhvr>
                                    </p:animEffect>
                                  </p:childTnLst>
                                </p:cTn>
                              </p:par>
                              <p:par>
                                <p:cTn id="155" fill="hold">
                                  <p:stCondLst>
                                    <p:cond delay="3850"/>
                                  </p:stCondLst>
                                  <p:childTnLst>
                                    <p:set>
                                      <p:cBhvr>
                                        <p:cTn id="154" dur="1" fill="hold">
                                          <p:stCondLst>
                                            <p:cond delay="0"/>
                                          </p:stCondLst>
                                        </p:cTn>
                                        <p:tgtEl>
                                          <p:spTgt spid="57"/>
                                        </p:tgtEl>
                                        <p:attrNameLst>
                                          <p:attrName>style.visibility</p:attrName>
                                        </p:attrNameLst>
                                      </p:cBhvr>
                                      <p:to>
                                        <p:strVal val="visible"/>
                                      </p:to>
                                    </p:set>
                                    <p:animEffect transition="in" filter="fade">
                                      <p:cBhvr>
                                        <p:cTn id="153" dur="42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Estructura interna: del transistor a la compuerta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Por qué el TTL absorbe mejor que entrega, y por qué el CMOS casi no consume.</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95772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1920240"/>
          </a:xfrm>
          <a:prstGeom prst="roundRect">
            <a:avLst>
              <a:gd name="adj" fmla="val 212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mos.png"/>
          <p:cNvPicPr>
            <a:picLocks noChangeAspect="1"/>
          </p:cNvPicPr>
          <p:nvPr/>
        </p:nvPicPr>
        <p:blipFill>
          <a:blip r:embed="rId2"/>
          <a:srcRect t="4019" b="4019"/>
          <a:stretch>
            <a:fillRect/>
          </a:stretch>
        </p:blipFill>
        <p:spPr>
          <a:xfrm>
            <a:off x="539496" y="1435608"/>
            <a:ext cx="3307064" cy="1408176"/>
          </a:xfrm>
          <a:prstGeom prst="roundRect">
            <a:avLst>
              <a:gd name="adj" fmla="val 1658"/>
            </a:avLst>
          </a:prstGeom>
        </p:spPr>
      </p:pic>
      <p:sp>
        <p:nvSpPr>
          <p:cNvPr id="18" name="TextBox 17"/>
          <p:cNvSpPr txBox="1"/>
          <p:nvPr/>
        </p:nvSpPr>
        <p:spPr>
          <a:xfrm>
            <a:off x="603504" y="2889504"/>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Estructura CMOS de un inversor: el transistor PMOS conduce en el nivel alto y el NMOS en el bajo, nunca ambos a la vez.</a:t>
            </a:r>
          </a:p>
        </p:txBody>
      </p:sp>
      <p:sp>
        <p:nvSpPr>
          <p:cNvPr id="19" name="Rounded Rectangle 18"/>
          <p:cNvSpPr/>
          <p:nvPr/>
        </p:nvSpPr>
        <p:spPr>
          <a:xfrm>
            <a:off x="4075160" y="1371600"/>
            <a:ext cx="3435080" cy="1920240"/>
          </a:xfrm>
          <a:prstGeom prst="roundRect">
            <a:avLst>
              <a:gd name="adj" fmla="val 212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brication.png"/>
          <p:cNvPicPr>
            <a:picLocks noChangeAspect="1"/>
          </p:cNvPicPr>
          <p:nvPr/>
        </p:nvPicPr>
        <p:blipFill>
          <a:blip r:embed="rId3"/>
          <a:srcRect l="11517" r="11517"/>
          <a:stretch>
            <a:fillRect/>
          </a:stretch>
        </p:blipFill>
        <p:spPr>
          <a:xfrm>
            <a:off x="4139168" y="1435608"/>
            <a:ext cx="3307064" cy="1408176"/>
          </a:xfrm>
          <a:prstGeom prst="roundRect">
            <a:avLst>
              <a:gd name="adj" fmla="val 1658"/>
            </a:avLst>
          </a:prstGeom>
        </p:spPr>
      </p:pic>
      <p:sp>
        <p:nvSpPr>
          <p:cNvPr id="21" name="TextBox 20"/>
          <p:cNvSpPr txBox="1"/>
          <p:nvPr/>
        </p:nvSpPr>
        <p:spPr>
          <a:xfrm>
            <a:off x="4203176" y="2889504"/>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Del silicio al circuito impreso: oblea, litografía, encapsulado y montaje final en placa.</a:t>
            </a:r>
          </a:p>
        </p:txBody>
      </p:sp>
      <p:sp>
        <p:nvSpPr>
          <p:cNvPr id="22" name="Rounded Rectangle 21"/>
          <p:cNvSpPr/>
          <p:nvPr/>
        </p:nvSpPr>
        <p:spPr>
          <a:xfrm>
            <a:off x="475488" y="3456432"/>
            <a:ext cx="3435080" cy="1920240"/>
          </a:xfrm>
          <a:prstGeom prst="roundRect">
            <a:avLst>
              <a:gd name="adj" fmla="val 212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mage16.png"/>
          <p:cNvPicPr>
            <a:picLocks noChangeAspect="1"/>
          </p:cNvPicPr>
          <p:nvPr/>
        </p:nvPicPr>
        <p:blipFill>
          <a:blip r:embed="rId4"/>
          <a:stretch>
            <a:fillRect/>
          </a:stretch>
        </p:blipFill>
        <p:spPr>
          <a:xfrm>
            <a:off x="1045364" y="3520440"/>
            <a:ext cx="2295326" cy="1408176"/>
          </a:xfrm>
          <a:prstGeom prst="roundRect">
            <a:avLst>
              <a:gd name="adj" fmla="val 1658"/>
            </a:avLst>
          </a:prstGeom>
        </p:spPr>
      </p:pic>
      <p:sp>
        <p:nvSpPr>
          <p:cNvPr id="24" name="TextBox 23"/>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Oblea de silicio (wafer) con cientos de circuitos integrados antes de cortarse en dados. Imagen: magnific.com.</a:t>
            </a:r>
          </a:p>
        </p:txBody>
      </p:sp>
      <p:sp>
        <p:nvSpPr>
          <p:cNvPr id="25" name="Oval 24"/>
          <p:cNvSpPr/>
          <p:nvPr/>
        </p:nvSpPr>
        <p:spPr>
          <a:xfrm>
            <a:off x="7793705" y="1426464"/>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Etapa de entrada TTL:</a:t>
            </a:r>
            <a:r>
              <a:rPr sz="1000" b="0">
                <a:solidFill>
                  <a:srgbClr val="2C3E56"/>
                </a:solidFill>
                <a:latin typeface="Segoe UI"/>
              </a:rPr>
              <a:t> un transistor multiemisor que se comporta como '1' flotante y consume corriente cuando la entrada está en bajo (IIL = 0.4 mA).</a:t>
            </a:r>
          </a:p>
        </p:txBody>
      </p:sp>
      <p:sp>
        <p:nvSpPr>
          <p:cNvPr id="27" name="Oval 26"/>
          <p:cNvSpPr/>
          <p:nvPr/>
        </p:nvSpPr>
        <p:spPr>
          <a:xfrm>
            <a:off x="7793705" y="2022401"/>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Etapa de salida TTL (totem-pole):</a:t>
            </a:r>
            <a:r>
              <a:rPr sz="1050" b="0">
                <a:solidFill>
                  <a:srgbClr val="2C3E56"/>
                </a:solidFill>
                <a:latin typeface="Segoe UI"/>
              </a:rPr>
              <a:t> dos transistores en serie; el inferior (NPN) absorbe corriente con eficiencia, el superior entrega muy poca.</a:t>
            </a:r>
          </a:p>
        </p:txBody>
      </p:sp>
      <p:sp>
        <p:nvSpPr>
          <p:cNvPr id="29" name="Oval 28"/>
          <p:cNvSpPr/>
          <p:nvPr/>
        </p:nvSpPr>
        <p:spPr>
          <a:xfrm>
            <a:off x="7793705" y="2618338"/>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Estructura CMOS:</a:t>
            </a:r>
            <a:r>
              <a:rPr sz="1050" b="0">
                <a:solidFill>
                  <a:srgbClr val="2C3E56"/>
                </a:solidFill>
                <a:latin typeface="Segoe UI"/>
              </a:rPr>
              <a:t> par complementario NMOS/PMOS; en estado estable uno de los dos está apagado y no circula corriente.</a:t>
            </a:r>
          </a:p>
        </p:txBody>
      </p:sp>
      <p:sp>
        <p:nvSpPr>
          <p:cNvPr id="31" name="Oval 30"/>
          <p:cNvSpPr/>
          <p:nvPr/>
        </p:nvSpPr>
        <p:spPr>
          <a:xfrm>
            <a:off x="7793705" y="3214276"/>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Corriente de conmutación CMOS:</a:t>
            </a:r>
            <a:r>
              <a:rPr sz="1000" b="0">
                <a:solidFill>
                  <a:srgbClr val="2C3E56"/>
                </a:solidFill>
                <a:latin typeface="Segoe UI"/>
              </a:rPr>
              <a:t> solo fluye durante las transiciones, y crece con la frecuencia: P ≈ C·V²·f.</a:t>
            </a:r>
          </a:p>
        </p:txBody>
      </p:sp>
      <p:sp>
        <p:nvSpPr>
          <p:cNvPr id="33" name="Oval 32"/>
          <p:cNvSpPr/>
          <p:nvPr/>
        </p:nvSpPr>
        <p:spPr>
          <a:xfrm>
            <a:off x="7793705" y="3635951"/>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358108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Protección de entrada:</a:t>
            </a:r>
            <a:r>
              <a:rPr sz="1050" b="0">
                <a:solidFill>
                  <a:srgbClr val="2C3E56"/>
                </a:solidFill>
                <a:latin typeface="Segoe UI"/>
              </a:rPr>
              <a:t> los chips CMOS incluyen diodos hacia VCC y GND que absorben descargas pequeñas, pero no resisten ESD fuerte.</a:t>
            </a:r>
          </a:p>
        </p:txBody>
      </p:sp>
      <p:sp>
        <p:nvSpPr>
          <p:cNvPr id="35" name="Oval 34"/>
          <p:cNvSpPr/>
          <p:nvPr/>
        </p:nvSpPr>
        <p:spPr>
          <a:xfrm>
            <a:off x="7793705" y="4231888"/>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40009" y="417702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Encapsulado:</a:t>
            </a:r>
            <a:r>
              <a:rPr sz="1050" b="0">
                <a:solidFill>
                  <a:srgbClr val="2C3E56"/>
                </a:solidFill>
                <a:latin typeface="Segoe UI"/>
              </a:rPr>
              <a:t> el die de silicio se pega al marco y se conecta por hilos de oro (wire bonding) a los pines; el plástico lo sella.</a:t>
            </a:r>
          </a:p>
        </p:txBody>
      </p:sp>
      <p:sp>
        <p:nvSpPr>
          <p:cNvPr id="37" name="Rounded Rectangle 36"/>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OBSERVACIÓN</a:t>
            </a:r>
          </a:p>
        </p:txBody>
      </p:sp>
      <p:sp>
        <p:nvSpPr>
          <p:cNvPr id="40" name="TextBox 3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Consecuencia práctica: en TTL, conectar la carga entre la salida y VCC (sumidero); en CMOS da igual porque entrega y absorbe corriente de forma simétrica.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4" fill="hold">
                      <p:stCondLst>
                        <p:cond delay="indefinite"/>
                      </p:stCondLst>
                      <p:childTnLst>
                        <p:par>
                          <p:cTn id="55" fill="hold">
                            <p:stCondLst>
                              <p:cond delay="0"/>
                            </p:stCondLst>
                            <p:childTnLst>
                              <p:par>
                                <p:cTn id="47" fill="hold">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5" dur="420"/>
                                        <p:tgtEl>
                                          <p:spTgt spid="22"/>
                                        </p:tgtEl>
                                      </p:cBhvr>
                                    </p:animEffect>
                                  </p:childTnLst>
                                </p:cTn>
                              </p:par>
                              <p:par>
                                <p:cTn id="50" fill="hold">
                                  <p:stCondLst>
                                    <p:cond delay="110"/>
                                  </p:stCondLst>
                                  <p:childTnLst>
                                    <p:set>
                                      <p:cBhvr>
                                        <p:cTn id="49" dur="1" fill="hold">
                                          <p:stCondLst>
                                            <p:cond delay="0"/>
                                          </p:stCondLst>
                                        </p:cTn>
                                        <p:tgtEl>
                                          <p:spTgt spid="23"/>
                                        </p:tgtEl>
                                        <p:attrNameLst>
                                          <p:attrName>style.visibility</p:attrName>
                                        </p:attrNameLst>
                                      </p:cBhvr>
                                      <p:to>
                                        <p:strVal val="visible"/>
                                      </p:to>
                                    </p:set>
                                    <p:animEffect transition="in" filter="fade">
                                      <p:cBhvr>
                                        <p:cTn id="48" dur="420"/>
                                        <p:tgtEl>
                                          <p:spTgt spid="23"/>
                                        </p:tgtEl>
                                      </p:cBhvr>
                                    </p:animEffect>
                                  </p:childTnLst>
                                </p:cTn>
                              </p:par>
                              <p:par>
                                <p:cTn id="53" fill="hold">
                                  <p:stCondLst>
                                    <p:cond delay="220"/>
                                  </p:stCondLst>
                                  <p:childTnLst>
                                    <p:set>
                                      <p:cBhvr>
                                        <p:cTn id="52" dur="1" fill="hold">
                                          <p:stCondLst>
                                            <p:cond delay="0"/>
                                          </p:stCondLst>
                                        </p:cTn>
                                        <p:tgtEl>
                                          <p:spTgt spid="24"/>
                                        </p:tgtEl>
                                        <p:attrNameLst>
                                          <p:attrName>style.visibility</p:attrName>
                                        </p:attrNameLst>
                                      </p:cBhvr>
                                      <p:to>
                                        <p:strVal val="visible"/>
                                      </p:to>
                                    </p:set>
                                    <p:animEffect transition="in" filter="fade">
                                      <p:cBhvr>
                                        <p:cTn id="51" dur="420"/>
                                        <p:tgtEl>
                                          <p:spTgt spid="24"/>
                                        </p:tgtEl>
                                      </p:cBhvr>
                                    </p:animEffect>
                                  </p:childTnLst>
                                </p:cTn>
                              </p:par>
                            </p:childTnLst>
                          </p:cTn>
                        </p:par>
                      </p:childTnLst>
                    </p:cTn>
                  </p:par>
                  <p:par>
                    <p:cTn id="64" fill="hold">
                      <p:stCondLst>
                        <p:cond delay="indefinite"/>
                      </p:stCondLst>
                      <p:childTnLst>
                        <p:par>
                          <p:cTn id="65" fill="hold">
                            <p:stCondLst>
                              <p:cond delay="0"/>
                            </p:stCondLst>
                            <p:childTnLst>
                              <p:par>
                                <p:cTn id="59" fill="hold">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6" dur="420"/>
                                        <p:tgtEl>
                                          <p:spTgt spid="26"/>
                                        </p:tgtEl>
                                      </p:cBhvr>
                                    </p:animEffect>
                                    <p:anim calcmode="lin" valueType="num">
                                      <p:cBhvr additive="base">
                                        <p:cTn id="58" dur="420" fill="hold"/>
                                        <p:tgtEl>
                                          <p:spTgt spid="26"/>
                                        </p:tgtEl>
                                        <p:attrNameLst>
                                          <p:attrName>ppt_y</p:attrName>
                                        </p:attrNameLst>
                                      </p:cBhvr>
                                      <p:tavLst>
                                        <p:tav tm="0">
                                          <p:val>
                                            <p:fltVal val="0.06"/>
                                          </p:val>
                                        </p:tav>
                                        <p:tav tm="100000">
                                          <p:val>
                                            <p:fltVal val="0"/>
                                          </p:val>
                                        </p:tav>
                                      </p:tavLst>
                                    </p:anim>
                                  </p:childTnLst>
                                </p:cTn>
                              </p:par>
                              <p:par>
                                <p:cTn id="63" fill="hold">
                                  <p:stCondLst>
                                    <p:cond delay="110"/>
                                  </p:stCondLst>
                                  <p:childTnLst>
                                    <p:set>
                                      <p:cBhvr>
                                        <p:cTn id="61" dur="1" fill="hold">
                                          <p:stCondLst>
                                            <p:cond delay="0"/>
                                          </p:stCondLst>
                                        </p:cTn>
                                        <p:tgtEl>
                                          <p:spTgt spid="28"/>
                                        </p:tgtEl>
                                        <p:attrNameLst>
                                          <p:attrName>style.visibility</p:attrName>
                                        </p:attrNameLst>
                                      </p:cBhvr>
                                      <p:to>
                                        <p:strVal val="visible"/>
                                      </p:to>
                                    </p:set>
                                    <p:animEffect transition="in" filter="fade">
                                      <p:cBhvr>
                                        <p:cTn id="60" dur="420"/>
                                        <p:tgtEl>
                                          <p:spTgt spid="28"/>
                                        </p:tgtEl>
                                      </p:cBhvr>
                                    </p:animEffect>
                                    <p:anim calcmode="lin" valueType="num">
                                      <p:cBhvr additive="base">
                                        <p:cTn id="62" dur="420" fill="hold"/>
                                        <p:tgtEl>
                                          <p:spTgt spid="28"/>
                                        </p:tgtEl>
                                        <p:attrNameLst>
                                          <p:attrName>ppt_y</p:attrName>
                                        </p:attrNameLst>
                                      </p:cBhvr>
                                      <p:tavLst>
                                        <p:tav tm="0">
                                          <p:val>
                                            <p:fltVal val="0.06"/>
                                          </p:val>
                                        </p:tav>
                                        <p:tav tm="100000">
                                          <p:val>
                                            <p:fltVal val="0"/>
                                          </p:val>
                                        </p:tav>
                                      </p:tavLst>
                                    </p:anim>
                                  </p:childTnLst>
                                </p:cTn>
                              </p:par>
                            </p:childTnLst>
                          </p:cTn>
                        </p:par>
                      </p:childTnLst>
                    </p:cTn>
                  </p:par>
                  <p:par>
                    <p:cTn id="74" fill="hold">
                      <p:stCondLst>
                        <p:cond delay="indefinite"/>
                      </p:stCondLst>
                      <p:childTnLst>
                        <p:par>
                          <p:cTn id="75" fill="hold">
                            <p:stCondLst>
                              <p:cond delay="0"/>
                            </p:stCondLst>
                            <p:childTnLst>
                              <p:par>
                                <p:cTn id="69" fill="hold">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6" dur="420"/>
                                        <p:tgtEl>
                                          <p:spTgt spid="30"/>
                                        </p:tgtEl>
                                      </p:cBhvr>
                                    </p:animEffect>
                                    <p:anim calcmode="lin" valueType="num">
                                      <p:cBhvr additive="base">
                                        <p:cTn id="68" dur="420" fill="hold"/>
                                        <p:tgtEl>
                                          <p:spTgt spid="30"/>
                                        </p:tgtEl>
                                        <p:attrNameLst>
                                          <p:attrName>ppt_y</p:attrName>
                                        </p:attrNameLst>
                                      </p:cBhvr>
                                      <p:tavLst>
                                        <p:tav tm="0">
                                          <p:val>
                                            <p:fltVal val="0.06"/>
                                          </p:val>
                                        </p:tav>
                                        <p:tav tm="100000">
                                          <p:val>
                                            <p:fltVal val="0"/>
                                          </p:val>
                                        </p:tav>
                                      </p:tavLst>
                                    </p:anim>
                                  </p:childTnLst>
                                </p:cTn>
                              </p:par>
                              <p:par>
                                <p:cTn id="73" fill="hold">
                                  <p:stCondLst>
                                    <p:cond delay="110"/>
                                  </p:stCondLst>
                                  <p:childTnLst>
                                    <p:set>
                                      <p:cBhvr>
                                        <p:cTn id="71" dur="1" fill="hold">
                                          <p:stCondLst>
                                            <p:cond delay="0"/>
                                          </p:stCondLst>
                                        </p:cTn>
                                        <p:tgtEl>
                                          <p:spTgt spid="32"/>
                                        </p:tgtEl>
                                        <p:attrNameLst>
                                          <p:attrName>style.visibility</p:attrName>
                                        </p:attrNameLst>
                                      </p:cBhvr>
                                      <p:to>
                                        <p:strVal val="visible"/>
                                      </p:to>
                                    </p:set>
                                    <p:animEffect transition="in" filter="fade">
                                      <p:cBhvr>
                                        <p:cTn id="70" dur="420"/>
                                        <p:tgtEl>
                                          <p:spTgt spid="32"/>
                                        </p:tgtEl>
                                      </p:cBhvr>
                                    </p:animEffect>
                                    <p:anim calcmode="lin" valueType="num">
                                      <p:cBhvr additive="base">
                                        <p:cTn id="72"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100" fill="hold">
                      <p:stCondLst>
                        <p:cond delay="indefinite"/>
                      </p:stCondLst>
                      <p:childTnLst>
                        <p:par>
                          <p:cTn id="101" fill="hold">
                            <p:stCondLst>
                              <p:cond delay="0"/>
                            </p:stCondLst>
                            <p:childTnLst>
                              <p:par>
                                <p:cTn id="79" fill="hold">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6" dur="420"/>
                                        <p:tgtEl>
                                          <p:spTgt spid="34"/>
                                        </p:tgtEl>
                                      </p:cBhvr>
                                    </p:animEffect>
                                    <p:anim calcmode="lin" valueType="num">
                                      <p:cBhvr additive="base">
                                        <p:cTn id="78" dur="420" fill="hold"/>
                                        <p:tgtEl>
                                          <p:spTgt spid="34"/>
                                        </p:tgtEl>
                                        <p:attrNameLst>
                                          <p:attrName>ppt_y</p:attrName>
                                        </p:attrNameLst>
                                      </p:cBhvr>
                                      <p:tavLst>
                                        <p:tav tm="0">
                                          <p:val>
                                            <p:fltVal val="0.06"/>
                                          </p:val>
                                        </p:tav>
                                        <p:tav tm="100000">
                                          <p:val>
                                            <p:fltVal val="0"/>
                                          </p:val>
                                        </p:tav>
                                      </p:tavLst>
                                    </p:anim>
                                  </p:childTnLst>
                                </p:cTn>
                              </p:par>
                              <p:par>
                                <p:cTn id="83" fill="hold">
                                  <p:stCondLst>
                                    <p:cond delay="110"/>
                                  </p:stCondLst>
                                  <p:childTnLst>
                                    <p:set>
                                      <p:cBhvr>
                                        <p:cTn id="81" dur="1" fill="hold">
                                          <p:stCondLst>
                                            <p:cond delay="0"/>
                                          </p:stCondLst>
                                        </p:cTn>
                                        <p:tgtEl>
                                          <p:spTgt spid="36"/>
                                        </p:tgtEl>
                                        <p:attrNameLst>
                                          <p:attrName>style.visibility</p:attrName>
                                        </p:attrNameLst>
                                      </p:cBhvr>
                                      <p:to>
                                        <p:strVal val="visible"/>
                                      </p:to>
                                    </p:set>
                                    <p:animEffect transition="in" filter="fade">
                                      <p:cBhvr>
                                        <p:cTn id="80" dur="420"/>
                                        <p:tgtEl>
                                          <p:spTgt spid="36"/>
                                        </p:tgtEl>
                                      </p:cBhvr>
                                    </p:animEffect>
                                    <p:anim calcmode="lin" valueType="num">
                                      <p:cBhvr additive="base">
                                        <p:cTn id="82" dur="420" fill="hold"/>
                                        <p:tgtEl>
                                          <p:spTgt spid="36"/>
                                        </p:tgtEl>
                                        <p:attrNameLst>
                                          <p:attrName>ppt_y</p:attrName>
                                        </p:attrNameLst>
                                      </p:cBhvr>
                                      <p:tavLst>
                                        <p:tav tm="0">
                                          <p:val>
                                            <p:fltVal val="0.06"/>
                                          </p:val>
                                        </p:tav>
                                        <p:tav tm="100000">
                                          <p:val>
                                            <p:fltVal val="0"/>
                                          </p:val>
                                        </p:tav>
                                      </p:tavLst>
                                    </p:anim>
                                  </p:childTnLst>
                                </p:cTn>
                              </p:par>
                              <p:par>
                                <p:cTn id="87" fill="hold">
                                  <p:stCondLst>
                                    <p:cond delay="22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anim calcmode="lin" valueType="num">
                                      <p:cBhvr additive="base">
                                        <p:cTn id="86" dur="420" fill="hold"/>
                                        <p:tgtEl>
                                          <p:spTgt spid="37"/>
                                        </p:tgtEl>
                                        <p:attrNameLst>
                                          <p:attrName>ppt_y</p:attrName>
                                        </p:attrNameLst>
                                      </p:cBhvr>
                                      <p:tavLst>
                                        <p:tav tm="0">
                                          <p:val>
                                            <p:fltVal val="0.06"/>
                                          </p:val>
                                        </p:tav>
                                        <p:tav tm="100000">
                                          <p:val>
                                            <p:fltVal val="0"/>
                                          </p:val>
                                        </p:tav>
                                      </p:tavLst>
                                    </p:anim>
                                  </p:childTnLst>
                                </p:cTn>
                              </p:par>
                              <p:par>
                                <p:cTn id="91" fill="hold">
                                  <p:stCondLst>
                                    <p:cond delay="330"/>
                                  </p:stCondLst>
                                  <p:childTnLst>
                                    <p:set>
                                      <p:cBhvr>
                                        <p:cTn id="89" dur="1" fill="hold">
                                          <p:stCondLst>
                                            <p:cond delay="0"/>
                                          </p:stCondLst>
                                        </p:cTn>
                                        <p:tgtEl>
                                          <p:spTgt spid="38"/>
                                        </p:tgtEl>
                                        <p:attrNameLst>
                                          <p:attrName>style.visibility</p:attrName>
                                        </p:attrNameLst>
                                      </p:cBhvr>
                                      <p:to>
                                        <p:strVal val="visible"/>
                                      </p:to>
                                    </p:set>
                                    <p:animEffect transition="in" filter="fade">
                                      <p:cBhvr>
                                        <p:cTn id="88" dur="420"/>
                                        <p:tgtEl>
                                          <p:spTgt spid="38"/>
                                        </p:tgtEl>
                                      </p:cBhvr>
                                    </p:animEffect>
                                    <p:anim calcmode="lin" valueType="num">
                                      <p:cBhvr additive="base">
                                        <p:cTn id="90" dur="420" fill="hold"/>
                                        <p:tgtEl>
                                          <p:spTgt spid="38"/>
                                        </p:tgtEl>
                                        <p:attrNameLst>
                                          <p:attrName>ppt_y</p:attrName>
                                        </p:attrNameLst>
                                      </p:cBhvr>
                                      <p:tavLst>
                                        <p:tav tm="0">
                                          <p:val>
                                            <p:fltVal val="0.06"/>
                                          </p:val>
                                        </p:tav>
                                        <p:tav tm="100000">
                                          <p:val>
                                            <p:fltVal val="0"/>
                                          </p:val>
                                        </p:tav>
                                      </p:tavLst>
                                    </p:anim>
                                  </p:childTnLst>
                                </p:cTn>
                              </p:par>
                              <p:par>
                                <p:cTn id="95" fill="hold">
                                  <p:stCondLst>
                                    <p:cond delay="440"/>
                                  </p:stCondLst>
                                  <p:childTnLst>
                                    <p:set>
                                      <p:cBhvr>
                                        <p:cTn id="93" dur="1" fill="hold">
                                          <p:stCondLst>
                                            <p:cond delay="0"/>
                                          </p:stCondLst>
                                        </p:cTn>
                                        <p:tgtEl>
                                          <p:spTgt spid="39"/>
                                        </p:tgtEl>
                                        <p:attrNameLst>
                                          <p:attrName>style.visibility</p:attrName>
                                        </p:attrNameLst>
                                      </p:cBhvr>
                                      <p:to>
                                        <p:strVal val="visible"/>
                                      </p:to>
                                    </p:set>
                                    <p:animEffect transition="in" filter="fade">
                                      <p:cBhvr>
                                        <p:cTn id="92" dur="420"/>
                                        <p:tgtEl>
                                          <p:spTgt spid="39"/>
                                        </p:tgtEl>
                                      </p:cBhvr>
                                    </p:animEffect>
                                    <p:anim calcmode="lin" valueType="num">
                                      <p:cBhvr additive="base">
                                        <p:cTn id="94" dur="420" fill="hold"/>
                                        <p:tgtEl>
                                          <p:spTgt spid="39"/>
                                        </p:tgtEl>
                                        <p:attrNameLst>
                                          <p:attrName>ppt_y</p:attrName>
                                        </p:attrNameLst>
                                      </p:cBhvr>
                                      <p:tavLst>
                                        <p:tav tm="0">
                                          <p:val>
                                            <p:fltVal val="0.06"/>
                                          </p:val>
                                        </p:tav>
                                        <p:tav tm="100000">
                                          <p:val>
                                            <p:fltVal val="0"/>
                                          </p:val>
                                        </p:tav>
                                      </p:tavLst>
                                    </p:anim>
                                  </p:childTnLst>
                                </p:cTn>
                              </p:par>
                              <p:par>
                                <p:cTn id="99" fill="hold">
                                  <p:stCondLst>
                                    <p:cond delay="550"/>
                                  </p:stCondLst>
                                  <p:childTnLst>
                                    <p:set>
                                      <p:cBhvr>
                                        <p:cTn id="97" dur="1" fill="hold">
                                          <p:stCondLst>
                                            <p:cond delay="0"/>
                                          </p:stCondLst>
                                        </p:cTn>
                                        <p:tgtEl>
                                          <p:spTgt spid="40"/>
                                        </p:tgtEl>
                                        <p:attrNameLst>
                                          <p:attrName>style.visibility</p:attrName>
                                        </p:attrNameLst>
                                      </p:cBhvr>
                                      <p:to>
                                        <p:strVal val="visible"/>
                                      </p:to>
                                    </p:set>
                                    <p:animEffect transition="in" filter="fade">
                                      <p:cBhvr>
                                        <p:cTn id="96" dur="420"/>
                                        <p:tgtEl>
                                          <p:spTgt spid="40"/>
                                        </p:tgtEl>
                                      </p:cBhvr>
                                    </p:animEffect>
                                    <p:anim calcmode="lin" valueType="num">
                                      <p:cBhvr additive="base">
                                        <p:cTn id="98" dur="420" fill="hold"/>
                                        <p:tgtEl>
                                          <p:spTgt spid="40"/>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0D1A2B"/>
                </a:solidFill>
                <a:latin typeface="Segoe UI Semibold"/>
              </a:rPr>
              <a:t>Comparación TTL vs. CMOS: qué mirar antes de elegir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Tabla de decisión entre las dos tecnologías.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07013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0C7C7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32671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Criterio</a:t>
            </a:r>
          </a:p>
        </p:txBody>
      </p:sp>
      <p:sp>
        <p:nvSpPr>
          <p:cNvPr id="18" name="TextBox 17"/>
          <p:cNvSpPr txBox="1"/>
          <p:nvPr/>
        </p:nvSpPr>
        <p:spPr>
          <a:xfrm>
            <a:off x="3021658" y="1371600"/>
            <a:ext cx="255153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TTL (74LS)</a:t>
            </a:r>
          </a:p>
        </p:txBody>
      </p:sp>
      <p:sp>
        <p:nvSpPr>
          <p:cNvPr id="19" name="TextBox 18"/>
          <p:cNvSpPr txBox="1"/>
          <p:nvPr/>
        </p:nvSpPr>
        <p:spPr>
          <a:xfrm>
            <a:off x="5719497" y="1371600"/>
            <a:ext cx="255153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CMOS (74HC / HCT)</a:t>
            </a:r>
          </a:p>
        </p:txBody>
      </p:sp>
      <p:sp>
        <p:nvSpPr>
          <p:cNvPr id="20" name="TextBox 19"/>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Comentario práctico</a:t>
            </a:r>
          </a:p>
        </p:txBody>
      </p:sp>
      <p:sp>
        <p:nvSpPr>
          <p:cNvPr id="21" name="Rectangle 20"/>
          <p:cNvSpPr/>
          <p:nvPr/>
        </p:nvSpPr>
        <p:spPr>
          <a:xfrm>
            <a:off x="475488" y="1700784"/>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Tensión de alimentación</a:t>
            </a:r>
          </a:p>
        </p:txBody>
      </p:sp>
      <p:sp>
        <p:nvSpPr>
          <p:cNvPr id="23" name="TextBox 22"/>
          <p:cNvSpPr txBox="1"/>
          <p:nvPr/>
        </p:nvSpPr>
        <p:spPr>
          <a:xfrm>
            <a:off x="3021658" y="1700784"/>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5 V ± 5 %</a:t>
            </a:r>
          </a:p>
        </p:txBody>
      </p:sp>
      <p:sp>
        <p:nvSpPr>
          <p:cNvPr id="24" name="TextBox 23"/>
          <p:cNvSpPr txBox="1"/>
          <p:nvPr/>
        </p:nvSpPr>
        <p:spPr>
          <a:xfrm>
            <a:off x="5719497" y="1700784"/>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 V a 6 V</a:t>
            </a:r>
          </a:p>
        </p:txBody>
      </p:sp>
      <p:sp>
        <p:nvSpPr>
          <p:cNvPr id="25" name="TextBox 24"/>
          <p:cNvSpPr txBox="1"/>
          <p:nvPr/>
        </p:nvSpPr>
        <p:spPr>
          <a:xfrm>
            <a:off x="8417335" y="1700784"/>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CMOS tolera fuentes variables</a:t>
            </a:r>
          </a:p>
        </p:txBody>
      </p:sp>
      <p:sp>
        <p:nvSpPr>
          <p:cNvPr id="26" name="TextBox 25"/>
          <p:cNvSpPr txBox="1"/>
          <p:nvPr/>
        </p:nvSpPr>
        <p:spPr>
          <a:xfrm>
            <a:off x="548640" y="2048255"/>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Umbral de entrada (VIH)</a:t>
            </a:r>
          </a:p>
        </p:txBody>
      </p:sp>
      <p:sp>
        <p:nvSpPr>
          <p:cNvPr id="27" name="TextBox 26"/>
          <p:cNvSpPr txBox="1"/>
          <p:nvPr/>
        </p:nvSpPr>
        <p:spPr>
          <a:xfrm>
            <a:off x="3021658" y="2048255"/>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2.0 V</a:t>
            </a:r>
          </a:p>
        </p:txBody>
      </p:sp>
      <p:sp>
        <p:nvSpPr>
          <p:cNvPr id="28" name="TextBox 27"/>
          <p:cNvSpPr txBox="1"/>
          <p:nvPr/>
        </p:nvSpPr>
        <p:spPr>
          <a:xfrm>
            <a:off x="5719497" y="2048255"/>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3.5 V a 5 V (HC) / 2.0 V (HCT)</a:t>
            </a:r>
          </a:p>
        </p:txBody>
      </p:sp>
      <p:sp>
        <p:nvSpPr>
          <p:cNvPr id="29" name="TextBox 28"/>
          <p:cNvSpPr txBox="1"/>
          <p:nvPr/>
        </p:nvSpPr>
        <p:spPr>
          <a:xfrm>
            <a:off x="8417335" y="2048255"/>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HC no reconoce bien una salida TTL</a:t>
            </a:r>
          </a:p>
        </p:txBody>
      </p:sp>
      <p:sp>
        <p:nvSpPr>
          <p:cNvPr id="30" name="Rectangle 29"/>
          <p:cNvSpPr/>
          <p:nvPr/>
        </p:nvSpPr>
        <p:spPr>
          <a:xfrm>
            <a:off x="475488" y="2395727"/>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395727"/>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Margen de ruido</a:t>
            </a:r>
          </a:p>
        </p:txBody>
      </p:sp>
      <p:sp>
        <p:nvSpPr>
          <p:cNvPr id="32" name="TextBox 31"/>
          <p:cNvSpPr txBox="1"/>
          <p:nvPr/>
        </p:nvSpPr>
        <p:spPr>
          <a:xfrm>
            <a:off x="3021658" y="2395727"/>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0.4 V</a:t>
            </a:r>
          </a:p>
        </p:txBody>
      </p:sp>
      <p:sp>
        <p:nvSpPr>
          <p:cNvPr id="33" name="TextBox 32"/>
          <p:cNvSpPr txBox="1"/>
          <p:nvPr/>
        </p:nvSpPr>
        <p:spPr>
          <a:xfrm>
            <a:off x="5719497" y="2395727"/>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1.5 V o más</a:t>
            </a:r>
          </a:p>
        </p:txBody>
      </p:sp>
      <p:sp>
        <p:nvSpPr>
          <p:cNvPr id="34" name="TextBox 33"/>
          <p:cNvSpPr txBox="1"/>
          <p:nvPr/>
        </p:nvSpPr>
        <p:spPr>
          <a:xfrm>
            <a:off x="8417335" y="2395727"/>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CMOS es mucho más inmune al ruido</a:t>
            </a:r>
          </a:p>
        </p:txBody>
      </p:sp>
      <p:sp>
        <p:nvSpPr>
          <p:cNvPr id="35" name="TextBox 34"/>
          <p:cNvSpPr txBox="1"/>
          <p:nvPr/>
        </p:nvSpPr>
        <p:spPr>
          <a:xfrm>
            <a:off x="548640" y="2743199"/>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Consumo en reposo</a:t>
            </a:r>
          </a:p>
        </p:txBody>
      </p:sp>
      <p:sp>
        <p:nvSpPr>
          <p:cNvPr id="36" name="TextBox 35"/>
          <p:cNvSpPr txBox="1"/>
          <p:nvPr/>
        </p:nvSpPr>
        <p:spPr>
          <a:xfrm>
            <a:off x="3021658" y="2743199"/>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1.6 mA por chip</a:t>
            </a:r>
          </a:p>
        </p:txBody>
      </p:sp>
      <p:sp>
        <p:nvSpPr>
          <p:cNvPr id="37" name="TextBox 36"/>
          <p:cNvSpPr txBox="1"/>
          <p:nvPr/>
        </p:nvSpPr>
        <p:spPr>
          <a:xfrm>
            <a:off x="5719497" y="2743199"/>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 1 µA por chip</a:t>
            </a:r>
          </a:p>
        </p:txBody>
      </p:sp>
      <p:sp>
        <p:nvSpPr>
          <p:cNvPr id="38" name="TextBox 37"/>
          <p:cNvSpPr txBox="1"/>
          <p:nvPr/>
        </p:nvSpPr>
        <p:spPr>
          <a:xfrm>
            <a:off x="8417335" y="2743199"/>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Decisivo en equipos a batería</a:t>
            </a:r>
          </a:p>
        </p:txBody>
      </p:sp>
      <p:sp>
        <p:nvSpPr>
          <p:cNvPr id="39" name="Rectangle 38"/>
          <p:cNvSpPr/>
          <p:nvPr/>
        </p:nvSpPr>
        <p:spPr>
          <a:xfrm>
            <a:off x="475488" y="3090671"/>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090671"/>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Disipación por compuerta</a:t>
            </a:r>
          </a:p>
        </p:txBody>
      </p:sp>
      <p:sp>
        <p:nvSpPr>
          <p:cNvPr id="41" name="TextBox 40"/>
          <p:cNvSpPr txBox="1"/>
          <p:nvPr/>
        </p:nvSpPr>
        <p:spPr>
          <a:xfrm>
            <a:off x="3021658" y="3090671"/>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 mW</a:t>
            </a:r>
          </a:p>
        </p:txBody>
      </p:sp>
      <p:sp>
        <p:nvSpPr>
          <p:cNvPr id="42" name="TextBox 41"/>
          <p:cNvSpPr txBox="1"/>
          <p:nvPr/>
        </p:nvSpPr>
        <p:spPr>
          <a:xfrm>
            <a:off x="5719497" y="3090671"/>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0.02 mW</a:t>
            </a:r>
          </a:p>
        </p:txBody>
      </p:sp>
      <p:sp>
        <p:nvSpPr>
          <p:cNvPr id="43" name="TextBox 42"/>
          <p:cNvSpPr txBox="1"/>
          <p:nvPr/>
        </p:nvSpPr>
        <p:spPr>
          <a:xfrm>
            <a:off x="8417335" y="3090671"/>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CMOS disipa 100 veces menos</a:t>
            </a:r>
          </a:p>
        </p:txBody>
      </p:sp>
      <p:sp>
        <p:nvSpPr>
          <p:cNvPr id="44" name="TextBox 43"/>
          <p:cNvSpPr txBox="1"/>
          <p:nvPr/>
        </p:nvSpPr>
        <p:spPr>
          <a:xfrm>
            <a:off x="548640" y="3438143"/>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Velocidad (tPD)</a:t>
            </a:r>
          </a:p>
        </p:txBody>
      </p:sp>
      <p:sp>
        <p:nvSpPr>
          <p:cNvPr id="45" name="TextBox 44"/>
          <p:cNvSpPr txBox="1"/>
          <p:nvPr/>
        </p:nvSpPr>
        <p:spPr>
          <a:xfrm>
            <a:off x="3021658" y="3438143"/>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9.5 ns</a:t>
            </a:r>
          </a:p>
        </p:txBody>
      </p:sp>
      <p:sp>
        <p:nvSpPr>
          <p:cNvPr id="46" name="TextBox 45"/>
          <p:cNvSpPr txBox="1"/>
          <p:nvPr/>
        </p:nvSpPr>
        <p:spPr>
          <a:xfrm>
            <a:off x="5719497" y="3438143"/>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 ns</a:t>
            </a:r>
          </a:p>
        </p:txBody>
      </p:sp>
      <p:sp>
        <p:nvSpPr>
          <p:cNvPr id="47" name="TextBox 46"/>
          <p:cNvSpPr txBox="1"/>
          <p:nvPr/>
        </p:nvSpPr>
        <p:spPr>
          <a:xfrm>
            <a:off x="8417335" y="3438143"/>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Comparables en la práctica</a:t>
            </a:r>
          </a:p>
        </p:txBody>
      </p:sp>
      <p:sp>
        <p:nvSpPr>
          <p:cNvPr id="48" name="Rectangle 47"/>
          <p:cNvSpPr/>
          <p:nvPr/>
        </p:nvSpPr>
        <p:spPr>
          <a:xfrm>
            <a:off x="475488" y="3785615"/>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785615"/>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Corriente de salida</a:t>
            </a:r>
          </a:p>
        </p:txBody>
      </p:sp>
      <p:sp>
        <p:nvSpPr>
          <p:cNvPr id="50" name="TextBox 49"/>
          <p:cNvSpPr txBox="1"/>
          <p:nvPr/>
        </p:nvSpPr>
        <p:spPr>
          <a:xfrm>
            <a:off x="3021658" y="3785615"/>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 mA</a:t>
            </a:r>
          </a:p>
        </p:txBody>
      </p:sp>
      <p:sp>
        <p:nvSpPr>
          <p:cNvPr id="51" name="TextBox 50"/>
          <p:cNvSpPr txBox="1"/>
          <p:nvPr/>
        </p:nvSpPr>
        <p:spPr>
          <a:xfrm>
            <a:off x="5719497" y="3785615"/>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 mA</a:t>
            </a:r>
          </a:p>
        </p:txBody>
      </p:sp>
      <p:sp>
        <p:nvSpPr>
          <p:cNvPr id="52" name="TextBox 51"/>
          <p:cNvSpPr txBox="1"/>
          <p:nvPr/>
        </p:nvSpPr>
        <p:spPr>
          <a:xfrm>
            <a:off x="8417335" y="3785615"/>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TTL LS maneja más corriente</a:t>
            </a:r>
          </a:p>
        </p:txBody>
      </p:sp>
      <p:sp>
        <p:nvSpPr>
          <p:cNvPr id="53" name="TextBox 52"/>
          <p:cNvSpPr txBox="1"/>
          <p:nvPr/>
        </p:nvSpPr>
        <p:spPr>
          <a:xfrm>
            <a:off x="548640" y="4133087"/>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Sensibilidad a ESD</a:t>
            </a:r>
          </a:p>
        </p:txBody>
      </p:sp>
      <p:sp>
        <p:nvSpPr>
          <p:cNvPr id="54" name="TextBox 53"/>
          <p:cNvSpPr txBox="1"/>
          <p:nvPr/>
        </p:nvSpPr>
        <p:spPr>
          <a:xfrm>
            <a:off x="3021658" y="4133087"/>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Baja</a:t>
            </a:r>
          </a:p>
        </p:txBody>
      </p:sp>
      <p:sp>
        <p:nvSpPr>
          <p:cNvPr id="55" name="TextBox 54"/>
          <p:cNvSpPr txBox="1"/>
          <p:nvPr/>
        </p:nvSpPr>
        <p:spPr>
          <a:xfrm>
            <a:off x="5719497" y="4133087"/>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Alta</a:t>
            </a:r>
          </a:p>
        </p:txBody>
      </p:sp>
      <p:sp>
        <p:nvSpPr>
          <p:cNvPr id="56" name="TextBox 55"/>
          <p:cNvSpPr txBox="1"/>
          <p:nvPr/>
        </p:nvSpPr>
        <p:spPr>
          <a:xfrm>
            <a:off x="8417335" y="4133087"/>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CMOS exige pulsera y tapete</a:t>
            </a:r>
          </a:p>
        </p:txBody>
      </p:sp>
      <p:sp>
        <p:nvSpPr>
          <p:cNvPr id="57" name="Rectangle 56"/>
          <p:cNvSpPr/>
          <p:nvPr/>
        </p:nvSpPr>
        <p:spPr>
          <a:xfrm>
            <a:off x="475488" y="4480559"/>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8640" y="4480559"/>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Entradas flotantes</a:t>
            </a:r>
          </a:p>
        </p:txBody>
      </p:sp>
      <p:sp>
        <p:nvSpPr>
          <p:cNvPr id="59" name="TextBox 58"/>
          <p:cNvSpPr txBox="1"/>
          <p:nvPr/>
        </p:nvSpPr>
        <p:spPr>
          <a:xfrm>
            <a:off x="3021658" y="4480559"/>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Se leen como '1' por diseño</a:t>
            </a:r>
          </a:p>
        </p:txBody>
      </p:sp>
      <p:sp>
        <p:nvSpPr>
          <p:cNvPr id="60" name="TextBox 59"/>
          <p:cNvSpPr txBox="1"/>
          <p:nvPr/>
        </p:nvSpPr>
        <p:spPr>
          <a:xfrm>
            <a:off x="5719497" y="4480559"/>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Prohibidas: oscilan</a:t>
            </a:r>
          </a:p>
        </p:txBody>
      </p:sp>
      <p:sp>
        <p:nvSpPr>
          <p:cNvPr id="61" name="TextBox 60"/>
          <p:cNvSpPr txBox="1"/>
          <p:nvPr/>
        </p:nvSpPr>
        <p:spPr>
          <a:xfrm>
            <a:off x="8417335" y="4480559"/>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En CMOS hay que fijar siempre la entrada</a:t>
            </a:r>
          </a:p>
        </p:txBody>
      </p:sp>
      <p:sp>
        <p:nvSpPr>
          <p:cNvPr id="62" name="TextBox 61"/>
          <p:cNvSpPr txBox="1"/>
          <p:nvPr/>
        </p:nvSpPr>
        <p:spPr>
          <a:xfrm>
            <a:off x="548640" y="4828031"/>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Compatibilidad con TTL</a:t>
            </a:r>
          </a:p>
        </p:txBody>
      </p:sp>
      <p:sp>
        <p:nvSpPr>
          <p:cNvPr id="63" name="TextBox 62"/>
          <p:cNvSpPr txBox="1"/>
          <p:nvPr/>
        </p:nvSpPr>
        <p:spPr>
          <a:xfrm>
            <a:off x="3021658" y="4828031"/>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Nativa</a:t>
            </a:r>
          </a:p>
        </p:txBody>
      </p:sp>
      <p:sp>
        <p:nvSpPr>
          <p:cNvPr id="64" name="TextBox 63"/>
          <p:cNvSpPr txBox="1"/>
          <p:nvPr/>
        </p:nvSpPr>
        <p:spPr>
          <a:xfrm>
            <a:off x="5719497" y="4828031"/>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Requiere versión HCT</a:t>
            </a:r>
          </a:p>
        </p:txBody>
      </p:sp>
      <p:sp>
        <p:nvSpPr>
          <p:cNvPr id="65" name="TextBox 64"/>
          <p:cNvSpPr txBox="1"/>
          <p:nvPr/>
        </p:nvSpPr>
        <p:spPr>
          <a:xfrm>
            <a:off x="8417335" y="4828031"/>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Elegir HCT para mezclar</a:t>
            </a:r>
          </a:p>
        </p:txBody>
      </p:sp>
      <p:sp>
        <p:nvSpPr>
          <p:cNvPr id="66" name="Rounded Rectangle 65"/>
          <p:cNvSpPr/>
          <p:nvPr/>
        </p:nvSpPr>
        <p:spPr>
          <a:xfrm>
            <a:off x="475488" y="1371600"/>
            <a:ext cx="11240993" cy="3803903"/>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DECISIÓN PRÁCTICA</a:t>
            </a:r>
          </a:p>
        </p:txBody>
      </p:sp>
      <p:sp>
        <p:nvSpPr>
          <p:cNvPr id="70" name="TextBox 6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Elección estándar en prácticas: 74LS cuando se necesita corriente y robustez; 74HC cuando se busca bajo consumo y mayor margen de ruido; 74HCT cuando hay que mezclar ambos mundos.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197"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19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199"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00"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01" dur="420"/>
                                        <p:tgtEl>
                                          <p:spTgt spid="20"/>
                                        </p:tgtEl>
                                      </p:cBhvr>
                                    </p:animEffect>
                                  </p:childTnLst>
                                </p:cTn>
                              </p:par>
                            </p:childTnLst>
                          </p:cTn>
                        </p:par>
                      </p:childTnLst>
                    </p:cTn>
                  </p:par>
                  <p:par>
                    <p:cTn id="195" fill="hold">
                      <p:stCondLst>
                        <p:cond delay="indefinite"/>
                      </p:stCondLst>
                      <p:childTnLst>
                        <p:par>
                          <p:cTn id="196"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7"/>
                                        </p:tgtEl>
                                        <p:attrNameLst>
                                          <p:attrName>style.visibility</p:attrName>
                                        </p:attrNameLst>
                                      </p:cBhvr>
                                      <p:to>
                                        <p:strVal val="visible"/>
                                      </p:to>
                                    </p:set>
                                    <p:animEffect transition="in" filter="fade">
                                      <p:cBhvr>
                                        <p:cTn id="183" dur="420"/>
                                        <p:tgtEl>
                                          <p:spTgt spid="67"/>
                                        </p:tgtEl>
                                      </p:cBhvr>
                                    </p:animEffect>
                                  </p:childTnLst>
                                </p:cTn>
                              </p:par>
                              <p:par>
                                <p:cTn id="188" fill="hold">
                                  <p:stCondLst>
                                    <p:cond delay="5060"/>
                                  </p:stCondLst>
                                  <p:childTnLst>
                                    <p:set>
                                      <p:cBhvr>
                                        <p:cTn id="187" dur="1" fill="hold">
                                          <p:stCondLst>
                                            <p:cond delay="0"/>
                                          </p:stCondLst>
                                        </p:cTn>
                                        <p:tgtEl>
                                          <p:spTgt spid="68"/>
                                        </p:tgtEl>
                                        <p:attrNameLst>
                                          <p:attrName>style.visibility</p:attrName>
                                        </p:attrNameLst>
                                      </p:cBhvr>
                                      <p:to>
                                        <p:strVal val="visible"/>
                                      </p:to>
                                    </p:set>
                                    <p:animEffect transition="in" filter="fade">
                                      <p:cBhvr>
                                        <p:cTn id="186" dur="420"/>
                                        <p:tgtEl>
                                          <p:spTgt spid="68"/>
                                        </p:tgtEl>
                                      </p:cBhvr>
                                    </p:animEffect>
                                  </p:childTnLst>
                                </p:cTn>
                              </p:par>
                              <p:par>
                                <p:cTn id="191" fill="hold">
                                  <p:stCondLst>
                                    <p:cond delay="5170"/>
                                  </p:stCondLst>
                                  <p:childTnLst>
                                    <p:set>
                                      <p:cBhvr>
                                        <p:cTn id="190" dur="1" fill="hold">
                                          <p:stCondLst>
                                            <p:cond delay="0"/>
                                          </p:stCondLst>
                                        </p:cTn>
                                        <p:tgtEl>
                                          <p:spTgt spid="69"/>
                                        </p:tgtEl>
                                        <p:attrNameLst>
                                          <p:attrName>style.visibility</p:attrName>
                                        </p:attrNameLst>
                                      </p:cBhvr>
                                      <p:to>
                                        <p:strVal val="visible"/>
                                      </p:to>
                                    </p:set>
                                    <p:animEffect transition="in" filter="fade">
                                      <p:cBhvr>
                                        <p:cTn id="189" dur="420"/>
                                        <p:tgtEl>
                                          <p:spTgt spid="69"/>
                                        </p:tgtEl>
                                      </p:cBhvr>
                                    </p:animEffect>
                                  </p:childTnLst>
                                </p:cTn>
                              </p:par>
                              <p:par>
                                <p:cTn id="194" fill="hold">
                                  <p:stCondLst>
                                    <p:cond delay="5280"/>
                                  </p:stCondLst>
                                  <p:childTnLst>
                                    <p:set>
                                      <p:cBhvr>
                                        <p:cTn id="193" dur="1" fill="hold">
                                          <p:stCondLst>
                                            <p:cond delay="0"/>
                                          </p:stCondLst>
                                        </p:cTn>
                                        <p:tgtEl>
                                          <p:spTgt spid="70"/>
                                        </p:tgtEl>
                                        <p:attrNameLst>
                                          <p:attrName>style.visibility</p:attrName>
                                        </p:attrNameLst>
                                      </p:cBhvr>
                                      <p:to>
                                        <p:strVal val="visible"/>
                                      </p:to>
                                    </p:set>
                                    <p:animEffect transition="in" filter="fade">
                                      <p:cBhvr>
                                        <p:cTn id="192" dur="42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Protección electrostática (ESD) y cuidado del integrado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enemigo invisible: una descarga que no se siente puede dañar un chip CMOS.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18254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sd.png"/>
          <p:cNvPicPr>
            <a:picLocks noChangeAspect="1"/>
          </p:cNvPicPr>
          <p:nvPr/>
        </p:nvPicPr>
        <p:blipFill>
          <a:blip r:embed="rId2"/>
          <a:stretch>
            <a:fillRect/>
          </a:stretch>
        </p:blipFill>
        <p:spPr>
          <a:xfrm>
            <a:off x="539496" y="2355345"/>
            <a:ext cx="3307064" cy="1653532"/>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Buenas prácticas: pulsera antiestática, tapete disipativo, almacenamiento en tubo conductivo y nunca insertar el chip con la alimentación encendida.</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6.png"/>
          <p:cNvPicPr>
            <a:picLocks noChangeAspect="1"/>
          </p:cNvPicPr>
          <p:nvPr/>
        </p:nvPicPr>
        <p:blipFill>
          <a:blip r:embed="rId3"/>
          <a:stretch>
            <a:fillRect/>
          </a:stretch>
        </p:blipFill>
        <p:spPr>
          <a:xfrm>
            <a:off x="4139168" y="2057119"/>
            <a:ext cx="3307064" cy="2249985"/>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Integrados en encapsulado DIP: los pines son el punto de entrada de las descargas electrostáticas durante el manejo.</a:t>
            </a:r>
          </a:p>
        </p:txBody>
      </p:sp>
      <p:sp>
        <p:nvSpPr>
          <p:cNvPr id="22" name="Oval 21"/>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Origen de la descarga:</a:t>
            </a:r>
            <a:r>
              <a:rPr sz="1050" b="0">
                <a:solidFill>
                  <a:srgbClr val="2C3E56"/>
                </a:solidFill>
                <a:latin typeface="Segoe UI"/>
              </a:rPr>
              <a:t> el cuerpo humano acumula hasta 10 kV; el movimiento sobre una alfombra puede superar los 20 kV.</a:t>
            </a:r>
          </a:p>
        </p:txBody>
      </p:sp>
      <p:sp>
        <p:nvSpPr>
          <p:cNvPr id="24" name="Oval 23"/>
          <p:cNvSpPr/>
          <p:nvPr/>
        </p:nvSpPr>
        <p:spPr>
          <a:xfrm>
            <a:off x="7793705" y="202240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Umbral de daño:</a:t>
            </a:r>
            <a:r>
              <a:rPr sz="1050" b="0">
                <a:solidFill>
                  <a:srgbClr val="2C3E56"/>
                </a:solidFill>
                <a:latin typeface="Segoe UI"/>
              </a:rPr>
              <a:t> los chips CMOS modernos pueden dañarse con tensiones de apenas 50 V en una entrada, muy por debajo del nivel perceptible.</a:t>
            </a:r>
          </a:p>
        </p:txBody>
      </p:sp>
      <p:sp>
        <p:nvSpPr>
          <p:cNvPr id="26" name="Oval 25"/>
          <p:cNvSpPr/>
          <p:nvPr/>
        </p:nvSpPr>
        <p:spPr>
          <a:xfrm>
            <a:off x="7793705" y="2618338"/>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Daño latente:</a:t>
            </a:r>
            <a:r>
              <a:rPr sz="1050" b="0">
                <a:solidFill>
                  <a:srgbClr val="2C3E56"/>
                </a:solidFill>
                <a:latin typeface="Segoe UI"/>
              </a:rPr>
              <a:t> el chip puede quedar degradado y fallar días después, con comportamiento errático difícil de diagnosticar.</a:t>
            </a:r>
          </a:p>
        </p:txBody>
      </p:sp>
      <p:sp>
        <p:nvSpPr>
          <p:cNvPr id="28" name="Oval 27"/>
          <p:cNvSpPr/>
          <p:nvPr/>
        </p:nvSpPr>
        <p:spPr>
          <a:xfrm>
            <a:off x="7793705" y="3214276"/>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Pulsera antiestática:</a:t>
            </a:r>
            <a:r>
              <a:rPr sz="1050" b="0">
                <a:solidFill>
                  <a:srgbClr val="2C3E56"/>
                </a:solidFill>
                <a:latin typeface="Segoe UI"/>
              </a:rPr>
              <a:t> debe incluir resistencia de 1 MΩ para seguridad eléctrica del usuario.</a:t>
            </a:r>
          </a:p>
        </p:txBody>
      </p:sp>
      <p:sp>
        <p:nvSpPr>
          <p:cNvPr id="30" name="Oval 29"/>
          <p:cNvSpPr/>
          <p:nvPr/>
        </p:nvSpPr>
        <p:spPr>
          <a:xfrm>
            <a:off x="7793705" y="363595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81087"/>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Almacenamiento:</a:t>
            </a:r>
            <a:r>
              <a:rPr sz="1000" b="0">
                <a:solidFill>
                  <a:srgbClr val="2C3E56"/>
                </a:solidFill>
                <a:latin typeface="Segoe UI"/>
              </a:rPr>
              <a:t> tubos plásticos conductivos o bolsas metalizadas; nunca espuma común sin protección.</a:t>
            </a:r>
          </a:p>
        </p:txBody>
      </p:sp>
      <p:sp>
        <p:nvSpPr>
          <p:cNvPr id="32" name="Oval 31"/>
          <p:cNvSpPr/>
          <p:nvPr/>
        </p:nvSpPr>
        <p:spPr>
          <a:xfrm>
            <a:off x="7793705" y="405762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Al soldar:</a:t>
            </a:r>
            <a:r>
              <a:rPr sz="1050" b="0">
                <a:solidFill>
                  <a:srgbClr val="2C3E56"/>
                </a:solidFill>
                <a:latin typeface="Segoe UI"/>
              </a:rPr>
              <a:t> usar cautín con conexión a tierra y evitar chips con la alimentación activa.</a:t>
            </a:r>
          </a:p>
        </p:txBody>
      </p:sp>
      <p:sp>
        <p:nvSpPr>
          <p:cNvPr id="34" name="Oval 33"/>
          <p:cNvSpPr/>
          <p:nvPr/>
        </p:nvSpPr>
        <p:spPr>
          <a:xfrm>
            <a:off x="7793705" y="447930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2443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si un chip se comporta de forma errática y el cableado ya se revisó, sustituirlo por otro es la prueba definitiva.</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el laboratorio de la escuela las descargas se acumulan con la ropa de invierno y el calzado con suela de goma: la pulsera antiestática no es un adorno, evita perder un chip de la práctica.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Notas de aplicación del datasheet</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Recomendaciones que los fabricantes repiten página tras página y que evitan fallas reales.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29495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Desacople obligatorio</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capacitor de 100 nF entre VCC y GND por cada integrado, colocado a menos de 2 cm del chip. Sin él, las corrientes de conmutación bajan VCC momentáneamente y aparecen escrituras erróneas en registros.</a:t>
            </a:r>
          </a:p>
        </p:txBody>
      </p:sp>
      <p:sp>
        <p:nvSpPr>
          <p:cNvPr id="21" name="Rounded Rectangle 20"/>
          <p:cNvSpPr/>
          <p:nvPr/>
        </p:nvSpPr>
        <p:spPr>
          <a:xfrm>
            <a:off x="619656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Entradas no utilizadas</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Nunca dejar entradas al aire. En TTL se pueden dejar flotando (se leen como '1'), pero en CMOS oscilan y duplican el consumo. Conectar a VCC o a GND según convenga a la función.</a:t>
            </a:r>
          </a:p>
        </p:txBody>
      </p:sp>
      <p:sp>
        <p:nvSpPr>
          <p:cNvPr id="26" name="Rounded Rectangle 25"/>
          <p:cNvSpPr/>
          <p:nvPr/>
        </p:nvSpPr>
        <p:spPr>
          <a:xfrm>
            <a:off x="47548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3</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Protección de salidas</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No conectar dos salidas directamente entre sí: si una intenta poner '1' y la otra '0' se produce un cortocircuito (corriente IOS de hasta 100 mA) y el chip se calienta. Usar salidas de tres estados.</a:t>
            </a:r>
          </a:p>
        </p:txBody>
      </p:sp>
      <p:sp>
        <p:nvSpPr>
          <p:cNvPr id="31" name="Rounded Rectangle 30"/>
          <p:cNvSpPr/>
          <p:nvPr/>
        </p:nvSpPr>
        <p:spPr>
          <a:xfrm>
            <a:off x="619656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4</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Carga capacitiva</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Al manejar cables largos o entradas de muchos chips, la capacidad acumulada redondea los flancos y aumenta el retardo real. Añadir buffers o resistencias en serie de 100 Ω.</a:t>
            </a:r>
          </a:p>
        </p:txBody>
      </p:sp>
      <p:sp>
        <p:nvSpPr>
          <p:cNvPr id="36" name="Rounded Rectangle 35"/>
          <p:cNvSpPr/>
          <p:nvPr/>
        </p:nvSpPr>
        <p:spPr>
          <a:xfrm>
            <a:off x="47548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5</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Umbrales de entrada</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Mantener las señales por debajo de VIL o por encima de VIH de forma estable. Una señal que oscila cerca del umbral causa salidas indefinidas y consumo elevado.</a:t>
            </a:r>
          </a:p>
        </p:txBody>
      </p:sp>
      <p:sp>
        <p:nvSpPr>
          <p:cNvPr id="41" name="Rounded Rectangle 40"/>
          <p:cNvSpPr/>
          <p:nvPr/>
        </p:nvSpPr>
        <p:spPr>
          <a:xfrm>
            <a:off x="619656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6</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Temperatura y disipación</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La potencia disipada eleva la temperatura de la unión. En encapsulados DIP, más de 500 mW exige ventilación o reducción de la frecuencia de conmutación.</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RESUMEN DE LA HOJA DE DATOS</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Todos los fabricantes incluyen estas seis notas en la sección de aplicación del datasheet: son la diferencia entre un prototipo que funciona y uno que falla de forma intermitente.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50" b="1">
                <a:solidFill>
                  <a:srgbClr val="0D1A2B"/>
                </a:solidFill>
                <a:latin typeface="Segoe UI Semibold"/>
              </a:rPr>
              <a:t>El datasheet como documento legal: absolute vs. recommended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diferencia entre 'aguanta' y 'funciona garantizado'.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40736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milies.png"/>
          <p:cNvPicPr>
            <a:picLocks noChangeAspect="1"/>
          </p:cNvPicPr>
          <p:nvPr/>
        </p:nvPicPr>
        <p:blipFill>
          <a:blip r:embed="rId2"/>
          <a:stretch>
            <a:fillRect/>
          </a:stretch>
        </p:blipFill>
        <p:spPr>
          <a:xfrm>
            <a:off x="539496" y="2452463"/>
            <a:ext cx="3307064" cy="145929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Curvas típicas: el fabricante publica gráficas de retardo y corriente frente a temperatura, tensión y carga.</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ly_tree.png"/>
          <p:cNvPicPr>
            <a:picLocks noChangeAspect="1"/>
          </p:cNvPicPr>
          <p:nvPr/>
        </p:nvPicPr>
        <p:blipFill>
          <a:blip r:embed="rId3"/>
          <a:stretch>
            <a:fillRect/>
          </a:stretch>
        </p:blipFill>
        <p:spPr>
          <a:xfrm>
            <a:off x="4139168" y="2531142"/>
            <a:ext cx="3307064" cy="1301939"/>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El mismo número de función mantiene su comportamiento a través de todas las subfamilias: solo cambian los valores de velocidad y consumo.</a:t>
            </a:r>
          </a:p>
        </p:txBody>
      </p:sp>
      <p:sp>
        <p:nvSpPr>
          <p:cNvPr id="22" name="Oval 21"/>
          <p:cNvSpPr/>
          <p:nvPr/>
        </p:nvSpPr>
        <p:spPr>
          <a:xfrm>
            <a:off x="7793705" y="1426464"/>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Absolute maximum ratings:</a:t>
            </a:r>
            <a:r>
              <a:rPr sz="1000" b="0">
                <a:solidFill>
                  <a:srgbClr val="2C3E56"/>
                </a:solidFill>
                <a:latin typeface="Segoe UI"/>
              </a:rPr>
              <a:t> límites de supervivencia. Alcanzarlos no garantiza funcionamiento, solo indica que el chip no debería destruirse de inmediato.</a:t>
            </a:r>
          </a:p>
        </p:txBody>
      </p:sp>
      <p:sp>
        <p:nvSpPr>
          <p:cNvPr id="24" name="Oval 23"/>
          <p:cNvSpPr/>
          <p:nvPr/>
        </p:nvSpPr>
        <p:spPr>
          <a:xfrm>
            <a:off x="7793705" y="2022401"/>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Recommended operating conditions:</a:t>
            </a:r>
            <a:r>
              <a:rPr sz="1050" b="0">
                <a:solidFill>
                  <a:srgbClr val="2C3E56"/>
                </a:solidFill>
                <a:latin typeface="Segoe UI"/>
              </a:rPr>
              <a:t> rango en el que TODOS los parámetros de las tablas eléctricas se cumplen.</a:t>
            </a:r>
          </a:p>
        </p:txBody>
      </p:sp>
      <p:sp>
        <p:nvSpPr>
          <p:cNvPr id="26" name="Oval 25"/>
          <p:cNvSpPr/>
          <p:nvPr/>
        </p:nvSpPr>
        <p:spPr>
          <a:xfrm>
            <a:off x="7793705" y="2618338"/>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Valores 'típicos':</a:t>
            </a:r>
            <a:r>
              <a:rPr sz="1050" b="0">
                <a:solidFill>
                  <a:srgbClr val="2C3E56"/>
                </a:solidFill>
                <a:latin typeface="Segoe UI"/>
              </a:rPr>
              <a:t> promedio estadístico de la producción; no son valores garantizados y no deben usarse para diseño crítico.</a:t>
            </a:r>
          </a:p>
        </p:txBody>
      </p:sp>
      <p:sp>
        <p:nvSpPr>
          <p:cNvPr id="28" name="Oval 27"/>
          <p:cNvSpPr/>
          <p:nvPr/>
        </p:nvSpPr>
        <p:spPr>
          <a:xfrm>
            <a:off x="7793705" y="3214276"/>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Valores 'máximos' y 'mínimos':</a:t>
            </a:r>
            <a:r>
              <a:rPr sz="1050" b="0">
                <a:solidFill>
                  <a:srgbClr val="2C3E56"/>
                </a:solidFill>
                <a:latin typeface="Segoe UI"/>
              </a:rPr>
              <a:t> los únicos que se pueden usar para garantizar un diseño ante variación de lote, temperatura y tensión.</a:t>
            </a:r>
          </a:p>
        </p:txBody>
      </p:sp>
      <p:sp>
        <p:nvSpPr>
          <p:cNvPr id="30" name="Oval 29"/>
          <p:cNvSpPr/>
          <p:nvPr/>
        </p:nvSpPr>
        <p:spPr>
          <a:xfrm>
            <a:off x="7793705" y="3810213"/>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755349"/>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Rango de temperatura:</a:t>
            </a:r>
            <a:r>
              <a:rPr sz="1050" b="0">
                <a:solidFill>
                  <a:srgbClr val="2C3E56"/>
                </a:solidFill>
                <a:latin typeface="Segoe UI"/>
              </a:rPr>
              <a:t> 74XX comercial de 0 °C a 70 °C; 54XX militar de −55 °C a +125 °C.</a:t>
            </a:r>
          </a:p>
        </p:txBody>
      </p:sp>
      <p:sp>
        <p:nvSpPr>
          <p:cNvPr id="32" name="Oval 31"/>
          <p:cNvSpPr/>
          <p:nvPr/>
        </p:nvSpPr>
        <p:spPr>
          <a:xfrm>
            <a:off x="7793705" y="4231888"/>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17702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Notas al pie:</a:t>
            </a:r>
            <a:r>
              <a:rPr sz="1050" b="0">
                <a:solidFill>
                  <a:srgbClr val="2C3E56"/>
                </a:solidFill>
                <a:latin typeface="Segoe UI"/>
              </a:rPr>
              <a:t> contienen condiciones de medición (carga, VCC, temperatura) sin las cuales cualquier número se malinterpreta.</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RIGOR DE INGENIERÍA</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un reporte técnico se citan los valores mínimos y máximos, nunca los típicos: 'el tPD típico es 9.5 ns' es información, pero el diseño debe soportar el máximo garantizado de 15 ns.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58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6519776"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0E8A5F"/>
                </a:solidFill>
                <a:latin typeface="Consolas"/>
              </a:rPr>
              <a:t>04</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Aplicaciones reales de la Serie 74XX</a:t>
            </a:r>
          </a:p>
        </p:txBody>
      </p:sp>
      <p:sp>
        <p:nvSpPr>
          <p:cNvPr id="15" name="Rectangle 14"/>
          <p:cNvSpPr/>
          <p:nvPr/>
        </p:nvSpPr>
        <p:spPr>
          <a:xfrm>
            <a:off x="475488" y="4370832"/>
            <a:ext cx="1645920" cy="457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apps.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Lógica combinacional vs. secuencial: la diferencia esencial</a:t>
            </a:r>
          </a:p>
        </p:txBody>
      </p:sp>
      <p:sp>
        <p:nvSpPr>
          <p:cNvPr id="19" name="Oval 18"/>
          <p:cNvSpPr/>
          <p:nvPr/>
        </p:nvSpPr>
        <p:spPr>
          <a:xfrm>
            <a:off x="502919" y="491300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Sumadores: medio sumador, sumador completo y 74LS83/74LS283 en cascada</a:t>
            </a:r>
          </a:p>
        </p:txBody>
      </p:sp>
      <p:sp>
        <p:nvSpPr>
          <p:cNvPr id="21" name="Oval 20"/>
          <p:cNvSpPr/>
          <p:nvPr/>
        </p:nvSpPr>
        <p:spPr>
          <a:xfrm>
            <a:off x="502919" y="515342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Multiplexores, decodificadores y codificadores (74LS151, 74LS138, 74LS148)</a:t>
            </a:r>
          </a:p>
        </p:txBody>
      </p:sp>
      <p:sp>
        <p:nvSpPr>
          <p:cNvPr id="23" name="Oval 22"/>
          <p:cNvSpPr/>
          <p:nvPr/>
        </p:nvSpPr>
        <p:spPr>
          <a:xfrm>
            <a:off x="502919" y="539384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Displays de 7 segmentos y decodificadores BCD (74LS47 / 74LS48)</a:t>
            </a:r>
          </a:p>
        </p:txBody>
      </p:sp>
      <p:sp>
        <p:nvSpPr>
          <p:cNvPr id="25" name="Oval 24"/>
          <p:cNvSpPr/>
          <p:nvPr/>
        </p:nvSpPr>
        <p:spPr>
          <a:xfrm>
            <a:off x="502919" y="563426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Memoria de un bit: latch SR, flip-flop D y registros (74LS74, 74LS164)</a:t>
            </a:r>
          </a:p>
        </p:txBody>
      </p:sp>
      <p:sp>
        <p:nvSpPr>
          <p:cNvPr id="27" name="Oval 26"/>
          <p:cNvSpPr/>
          <p:nvPr/>
        </p:nvSpPr>
        <p:spPr>
          <a:xfrm>
            <a:off x="502919" y="587468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Contadores binarios y memorias de la familia 74LS</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Lógica combinacional vs. lógica secuencial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 memoria o sin memoria: la división fundamental de los circuitos digitales.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632186"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1920240"/>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mb_vs_seq.png"/>
          <p:cNvPicPr>
            <a:picLocks noChangeAspect="1"/>
          </p:cNvPicPr>
          <p:nvPr/>
        </p:nvPicPr>
        <p:blipFill>
          <a:blip r:embed="rId2"/>
          <a:stretch>
            <a:fillRect/>
          </a:stretch>
        </p:blipFill>
        <p:spPr>
          <a:xfrm>
            <a:off x="2155003" y="1435608"/>
            <a:ext cx="3675722" cy="1408176"/>
          </a:xfrm>
          <a:prstGeom prst="roundRect">
            <a:avLst>
              <a:gd name="adj" fmla="val 794"/>
            </a:avLst>
          </a:prstGeom>
        </p:spPr>
      </p:pic>
      <p:sp>
        <p:nvSpPr>
          <p:cNvPr id="18" name="TextBox 17"/>
          <p:cNvSpPr txBox="1"/>
          <p:nvPr/>
        </p:nvSpPr>
        <p:spPr>
          <a:xfrm>
            <a:off x="603504" y="2889504"/>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El circuito combinacional responde solo a las entradas presentes; el secuencial guarda un estado previo y depende de él.</a:t>
            </a:r>
          </a:p>
        </p:txBody>
      </p:sp>
      <p:sp>
        <p:nvSpPr>
          <p:cNvPr id="19" name="Rounded Rectangle 18"/>
          <p:cNvSpPr/>
          <p:nvPr/>
        </p:nvSpPr>
        <p:spPr>
          <a:xfrm>
            <a:off x="475488" y="3456432"/>
            <a:ext cx="7034753" cy="1920240"/>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7.png"/>
          <p:cNvPicPr>
            <a:picLocks noChangeAspect="1"/>
          </p:cNvPicPr>
          <p:nvPr/>
        </p:nvPicPr>
        <p:blipFill>
          <a:blip r:embed="rId3"/>
          <a:stretch>
            <a:fillRect/>
          </a:stretch>
        </p:blipFill>
        <p:spPr>
          <a:xfrm>
            <a:off x="3386566" y="3520440"/>
            <a:ext cx="1212596" cy="1408176"/>
          </a:xfrm>
          <a:prstGeom prst="roundRect">
            <a:avLst>
              <a:gd name="adj" fmla="val 794"/>
            </a:avLst>
          </a:prstGeom>
        </p:spPr>
      </p:pic>
      <p:sp>
        <p:nvSpPr>
          <p:cNvPr id="21" name="TextBox 20"/>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Panel didáctico de laboratorio (2019): símbolos reales de compuertas, multiplexor, decodificador, codificador, flip-flops y sumador de 4 bits. Fotografía del autor.</a:t>
            </a:r>
          </a:p>
        </p:txBody>
      </p:sp>
      <p:sp>
        <p:nvSpPr>
          <p:cNvPr id="22" name="Oval 21"/>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Circuito combinacional:</a:t>
            </a:r>
            <a:r>
              <a:rPr sz="1025" b="0">
                <a:solidFill>
                  <a:srgbClr val="2C3E56"/>
                </a:solidFill>
                <a:latin typeface="Segoe UI"/>
              </a:rPr>
              <a:t> la salida depende EXCLUSIVAMENTE de las entradas actuales. No tiene memoria ni reloj.</a:t>
            </a:r>
          </a:p>
        </p:txBody>
      </p:sp>
      <p:sp>
        <p:nvSpPr>
          <p:cNvPr id="24" name="Oval 23"/>
          <p:cNvSpPr/>
          <p:nvPr/>
        </p:nvSpPr>
        <p:spPr>
          <a:xfrm>
            <a:off x="7793705" y="200346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0">
                <a:solidFill>
                  <a:srgbClr val="2C3E56"/>
                </a:solidFill>
                <a:latin typeface="Segoe UI"/>
              </a:rPr>
              <a:t>Ejemplos combinacionales: compuertas sueltas, comparadores, sumadores, multiplexores, decodificadores (7400, 7408, 7486, 74138).</a:t>
            </a:r>
          </a:p>
        </p:txBody>
      </p:sp>
      <p:sp>
        <p:nvSpPr>
          <p:cNvPr id="26" name="Oval 25"/>
          <p:cNvSpPr/>
          <p:nvPr/>
        </p:nvSpPr>
        <p:spPr>
          <a:xfrm>
            <a:off x="7793705" y="2580458"/>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975" b="1">
                <a:solidFill>
                  <a:srgbClr val="2C3E56"/>
                </a:solidFill>
                <a:latin typeface="Segoe UI Semibold"/>
              </a:rPr>
              <a:t>Circuito secuencial:</a:t>
            </a:r>
            <a:r>
              <a:rPr sz="975" b="0">
                <a:solidFill>
                  <a:srgbClr val="2C3E56"/>
                </a:solidFill>
                <a:latin typeface="Segoe UI"/>
              </a:rPr>
              <a:t> la salida depende de las entradas Y del estado anterior, almacenado en biestables.</a:t>
            </a:r>
          </a:p>
        </p:txBody>
      </p:sp>
      <p:sp>
        <p:nvSpPr>
          <p:cNvPr id="28" name="Oval 27"/>
          <p:cNvSpPr/>
          <p:nvPr/>
        </p:nvSpPr>
        <p:spPr>
          <a:xfrm>
            <a:off x="7793705" y="2988288"/>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933424"/>
            <a:ext cx="3712463" cy="338335"/>
          </a:xfrm>
          <a:prstGeom prst="rect">
            <a:avLst/>
          </a:prstGeom>
          <a:noFill/>
        </p:spPr>
        <p:txBody>
          <a:bodyPr wrap="square" lIns="0" rIns="0" tIns="0" bIns="0" anchor="t">
            <a:spAutoFit/>
          </a:bodyPr>
          <a:lstStyle/>
          <a:p>
            <a:pPr algn="l">
              <a:lnSpc>
                <a:spcPct val="107400"/>
              </a:lnSpc>
            </a:pPr>
            <a:r>
              <a:rPr sz="1025" b="0">
                <a:solidFill>
                  <a:srgbClr val="2C3E56"/>
                </a:solidFill>
                <a:latin typeface="Segoe UI"/>
              </a:rPr>
              <a:t>Ejemplos secuenciales: latches, flip-flops, contadores, registros y memorias (7474, 74161, 74164, 74189).</a:t>
            </a:r>
          </a:p>
        </p:txBody>
      </p:sp>
      <p:sp>
        <p:nvSpPr>
          <p:cNvPr id="30" name="Oval 29"/>
          <p:cNvSpPr/>
          <p:nvPr/>
        </p:nvSpPr>
        <p:spPr>
          <a:xfrm>
            <a:off x="7793705" y="3396117"/>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341253"/>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El reloj</a:t>
            </a:r>
            <a:r>
              <a:rPr sz="1025" b="0">
                <a:solidFill>
                  <a:srgbClr val="2C3E56"/>
                </a:solidFill>
                <a:latin typeface="Segoe UI"/>
              </a:rPr>
              <a:t> sincroniza los cambios de estado: sin flanco no hay cambio, y eso elimina los glitches de la lógica combinacional intermedia.</a:t>
            </a:r>
          </a:p>
        </p:txBody>
      </p:sp>
      <p:sp>
        <p:nvSpPr>
          <p:cNvPr id="32" name="Oval 31"/>
          <p:cNvSpPr/>
          <p:nvPr/>
        </p:nvSpPr>
        <p:spPr>
          <a:xfrm>
            <a:off x="7793705" y="397311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Diseño mixto:</a:t>
            </a:r>
            <a:r>
              <a:rPr sz="1025" b="0">
                <a:solidFill>
                  <a:srgbClr val="2C3E56"/>
                </a:solidFill>
                <a:latin typeface="Segoe UI"/>
              </a:rPr>
              <a:t> en la práctica todo sistema digital combina ambos mundos: la lógica combinacional decide, el registro memoriza.</a:t>
            </a:r>
          </a:p>
        </p:txBody>
      </p:sp>
      <p:sp>
        <p:nvSpPr>
          <p:cNvPr id="34" name="Oval 33"/>
          <p:cNvSpPr/>
          <p:nvPr/>
        </p:nvSpPr>
        <p:spPr>
          <a:xfrm>
            <a:off x="7793705" y="455011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Dos tipos de máquina de estados:</a:t>
            </a:r>
            <a:r>
              <a:rPr sz="1025" b="0">
                <a:solidFill>
                  <a:srgbClr val="2C3E56"/>
                </a:solidFill>
                <a:latin typeface="Segoe UI"/>
              </a:rPr>
              <a:t> Moore (la salida depende del estado), Mealy (depende de estado y entradas).</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Ejercicio mental: un semáforo con temporizador es secuencial; detectar si dos números binarios son iguales con XOR y AND es combinacional.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Medio sumador (Half Adder) con compuertas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célula aritmética mínima: una XOR y una AND bastan para sumar dos bits.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744596"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lf_adder.png"/>
          <p:cNvPicPr>
            <a:picLocks noChangeAspect="1"/>
          </p:cNvPicPr>
          <p:nvPr/>
        </p:nvPicPr>
        <p:blipFill>
          <a:blip r:embed="rId2"/>
          <a:srcRect t="4483" b="4483"/>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Medio sumador: S = A ⊕ B entrega la suma y C = A·B el acarreo. Es el circuito aritmético más simple que existe.</a:t>
            </a:r>
          </a:p>
        </p:txBody>
      </p:sp>
      <p:sp>
        <p:nvSpPr>
          <p:cNvPr id="19" name="Oval 18"/>
          <p:cNvSpPr/>
          <p:nvPr/>
        </p:nvSpPr>
        <p:spPr>
          <a:xfrm>
            <a:off x="7793705"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Suma (S):</a:t>
            </a:r>
            <a:r>
              <a:rPr sz="1050" b="0">
                <a:solidFill>
                  <a:srgbClr val="2C3E56"/>
                </a:solidFill>
                <a:latin typeface="Segoe UI"/>
              </a:rPr>
              <a:t> A ⊕ B. Es '1' cuando las entradas son diferentes, lo que equivale a 1 + 0 o 0 + 1.</a:t>
            </a:r>
          </a:p>
        </p:txBody>
      </p:sp>
      <p:sp>
        <p:nvSpPr>
          <p:cNvPr id="21" name="Oval 20"/>
          <p:cNvSpPr/>
          <p:nvPr/>
        </p:nvSpPr>
        <p:spPr>
          <a:xfrm>
            <a:off x="7793705" y="184813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Acarreo (C):</a:t>
            </a:r>
            <a:r>
              <a:rPr sz="1050" b="0">
                <a:solidFill>
                  <a:srgbClr val="2C3E56"/>
                </a:solidFill>
                <a:latin typeface="Segoe UI"/>
              </a:rPr>
              <a:t> A · B. Solo hay acarreo cuando ambas entradas son '1' (1 + 1 = 10₂).</a:t>
            </a:r>
          </a:p>
        </p:txBody>
      </p:sp>
      <p:sp>
        <p:nvSpPr>
          <p:cNvPr id="23" name="Oval 22"/>
          <p:cNvSpPr/>
          <p:nvPr/>
        </p:nvSpPr>
        <p:spPr>
          <a:xfrm>
            <a:off x="7793705" y="2269815"/>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Limitación:</a:t>
            </a:r>
            <a:r>
              <a:rPr sz="1050" b="0">
                <a:solidFill>
                  <a:srgbClr val="2C3E56"/>
                </a:solidFill>
                <a:latin typeface="Segoe UI"/>
              </a:rPr>
              <a:t> no considera un acarreo entrante, por lo que no se puede encadenar directamente.</a:t>
            </a:r>
          </a:p>
        </p:txBody>
      </p:sp>
      <p:sp>
        <p:nvSpPr>
          <p:cNvPr id="25" name="Oval 24"/>
          <p:cNvSpPr/>
          <p:nvPr/>
        </p:nvSpPr>
        <p:spPr>
          <a:xfrm>
            <a:off x="7793705" y="2691490"/>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Tabla de verdad:</a:t>
            </a:r>
            <a:r>
              <a:rPr sz="1050" b="0">
                <a:solidFill>
                  <a:srgbClr val="2C3E56"/>
                </a:solidFill>
                <a:latin typeface="Segoe UI"/>
              </a:rPr>
              <a:t> 0+0=00, 0+1=01, 1+0=01, 1+1=10. El resultado se lee como C seguido de S.</a:t>
            </a:r>
          </a:p>
        </p:txBody>
      </p:sp>
      <p:sp>
        <p:nvSpPr>
          <p:cNvPr id="27" name="Oval 26"/>
          <p:cNvSpPr/>
          <p:nvPr/>
        </p:nvSpPr>
        <p:spPr>
          <a:xfrm>
            <a:off x="7793705" y="311316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Implementación:</a:t>
            </a:r>
            <a:r>
              <a:rPr sz="1050" b="0">
                <a:solidFill>
                  <a:srgbClr val="2C3E56"/>
                </a:solidFill>
                <a:latin typeface="Segoe UI"/>
              </a:rPr>
              <a:t> un 7486 (XOR) y un 7408 (AND) forman el circuito completo; también se hace con 5 compuertas NAND del 7400.</a:t>
            </a:r>
          </a:p>
        </p:txBody>
      </p:sp>
      <p:sp>
        <p:nvSpPr>
          <p:cNvPr id="29" name="Oval 28"/>
          <p:cNvSpPr/>
          <p:nvPr/>
        </p:nvSpPr>
        <p:spPr>
          <a:xfrm>
            <a:off x="7793705" y="370910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Uso:</a:t>
            </a:r>
            <a:r>
              <a:rPr sz="1050" b="0">
                <a:solidFill>
                  <a:srgbClr val="2C3E56"/>
                </a:solidFill>
                <a:latin typeface="Segoe UI"/>
              </a:rPr>
              <a:t> es la primera práctica de aritmética digital y el bloque de construcción del sumador completo.</a:t>
            </a:r>
          </a:p>
        </p:txBody>
      </p:sp>
      <p:sp>
        <p:nvSpPr>
          <p:cNvPr id="31" name="Oval 30"/>
          <p:cNvSpPr/>
          <p:nvPr/>
        </p:nvSpPr>
        <p:spPr>
          <a:xfrm>
            <a:off x="7793705" y="413077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probar las cuatro combinaciones con LEDs y comprobar que solo 1+1 produce acarreo.</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Del medio sumador al procesador: encadenando sumadores completos se construye la unidad aritmética lógica (ALU) que suma, resta y compara en cualquier CPU.</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Sumador completo (Full Adder)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Añade el acarreo entrante y permite encadenar sumadores para palabras de varios bits.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857006"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ull_adder.png"/>
          <p:cNvPicPr>
            <a:picLocks noChangeAspect="1"/>
          </p:cNvPicPr>
          <p:nvPr/>
        </p:nvPicPr>
        <p:blipFill>
          <a:blip r:embed="rId2"/>
          <a:srcRect l="7204" r="7204"/>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Sumador completo: dos XOR para la suma, dos AND para los acarreos parciales y una OR para el acarreo de salida.</a:t>
            </a:r>
          </a:p>
        </p:txBody>
      </p:sp>
      <p:sp>
        <p:nvSpPr>
          <p:cNvPr id="19" name="Oval 18"/>
          <p:cNvSpPr/>
          <p:nvPr/>
        </p:nvSpPr>
        <p:spPr>
          <a:xfrm>
            <a:off x="7793705" y="1426464"/>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Entradas:</a:t>
            </a:r>
            <a:r>
              <a:rPr sz="1050" b="0">
                <a:solidFill>
                  <a:srgbClr val="2C3E56"/>
                </a:solidFill>
                <a:latin typeface="Segoe UI"/>
              </a:rPr>
              <a:t> A, B y Cin (acarreo entrante de la etapa anterior).</a:t>
            </a:r>
          </a:p>
        </p:txBody>
      </p:sp>
      <p:sp>
        <p:nvSpPr>
          <p:cNvPr id="21" name="Oval 20"/>
          <p:cNvSpPr/>
          <p:nvPr/>
        </p:nvSpPr>
        <p:spPr>
          <a:xfrm>
            <a:off x="7793705" y="1848139"/>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Suma:</a:t>
            </a:r>
            <a:r>
              <a:rPr sz="1050" b="0">
                <a:solidFill>
                  <a:srgbClr val="2C3E56"/>
                </a:solidFill>
                <a:latin typeface="Segoe UI"/>
              </a:rPr>
              <a:t> S = A ⊕ B ⊕ Cin. Es '1' cuando el número de entradas altas es IMPAR.</a:t>
            </a:r>
          </a:p>
        </p:txBody>
      </p:sp>
      <p:sp>
        <p:nvSpPr>
          <p:cNvPr id="23" name="Oval 22"/>
          <p:cNvSpPr/>
          <p:nvPr/>
        </p:nvSpPr>
        <p:spPr>
          <a:xfrm>
            <a:off x="7793705" y="2269815"/>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Acarreo de salida:</a:t>
            </a:r>
            <a:r>
              <a:rPr sz="1050" b="0">
                <a:solidFill>
                  <a:srgbClr val="2C3E56"/>
                </a:solidFill>
                <a:latin typeface="Segoe UI"/>
              </a:rPr>
              <a:t> Cout = A·B + Cin·(A ⊕ B). Se activa cuando al menos dos entradas son '1'.</a:t>
            </a:r>
          </a:p>
        </p:txBody>
      </p:sp>
      <p:sp>
        <p:nvSpPr>
          <p:cNvPr id="25" name="Oval 24"/>
          <p:cNvSpPr/>
          <p:nvPr/>
        </p:nvSpPr>
        <p:spPr>
          <a:xfrm>
            <a:off x="7793705" y="2691490"/>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Componentes:</a:t>
            </a:r>
            <a:r>
              <a:rPr sz="1000" b="0">
                <a:solidFill>
                  <a:srgbClr val="2C3E56"/>
                </a:solidFill>
                <a:latin typeface="Segoe UI"/>
              </a:rPr>
              <a:t> dos XOR (una del 7486), dos AND y una OR (7408 + 7432), o nueve compuertas NAND del 7400.</a:t>
            </a:r>
          </a:p>
        </p:txBody>
      </p:sp>
      <p:sp>
        <p:nvSpPr>
          <p:cNvPr id="27" name="Oval 26"/>
          <p:cNvSpPr/>
          <p:nvPr/>
        </p:nvSpPr>
        <p:spPr>
          <a:xfrm>
            <a:off x="7793705" y="3113166"/>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Integrado dedicado:</a:t>
            </a:r>
            <a:r>
              <a:rPr sz="1050" b="0">
                <a:solidFill>
                  <a:srgbClr val="2C3E56"/>
                </a:solidFill>
                <a:latin typeface="Segoe UI"/>
              </a:rPr>
              <a:t> el 74LS83 (y el 74LS283) contiene un sumador completo de 4 bits con acarreo rápido en un solo chip.</a:t>
            </a:r>
          </a:p>
        </p:txBody>
      </p:sp>
      <p:sp>
        <p:nvSpPr>
          <p:cNvPr id="29" name="Oval 28"/>
          <p:cNvSpPr/>
          <p:nvPr/>
        </p:nvSpPr>
        <p:spPr>
          <a:xfrm>
            <a:off x="7793705" y="3709103"/>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a:t>
            </a:r>
            <a:r>
              <a:rPr sz="1050" b="0">
                <a:solidFill>
                  <a:srgbClr val="2C3E56"/>
                </a:solidFill>
                <a:latin typeface="Segoe UI"/>
              </a:rPr>
              <a:t> es el bloque básico de las ALU; con 32 de ellos se construye un sumador de 32 bits como el de un procesador sencillo.</a:t>
            </a:r>
          </a:p>
        </p:txBody>
      </p:sp>
      <p:sp>
        <p:nvSpPr>
          <p:cNvPr id="31" name="Oval 30"/>
          <p:cNvSpPr/>
          <p:nvPr/>
        </p:nvSpPr>
        <p:spPr>
          <a:xfrm>
            <a:off x="7793705" y="4305040"/>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25017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Resta:</a:t>
            </a:r>
            <a:r>
              <a:rPr sz="1050" b="0">
                <a:solidFill>
                  <a:srgbClr val="2C3E56"/>
                </a:solidFill>
                <a:latin typeface="Segoe UI"/>
              </a:rPr>
              <a:t> invirtiendo B y poniendo Cin = 1 se obtiene A − B mediante complemento a dos.</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Cálculo del retardo en cascada: cuatro sumadores completos encadenados acumulan 4 × tPD de acarreo, lo que limita la frecuencia máxima de la suma.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Sumador binario de 4 bits en cascada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suman palabras completas y por qué el acarreo se propaga como una onda.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96941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ipple_adder.png"/>
          <p:cNvPicPr>
            <a:picLocks noChangeAspect="1"/>
          </p:cNvPicPr>
          <p:nvPr/>
        </p:nvPicPr>
        <p:blipFill>
          <a:blip r:embed="rId2"/>
          <a:stretch>
            <a:fillRect/>
          </a:stretch>
        </p:blipFill>
        <p:spPr>
          <a:xfrm>
            <a:off x="539496" y="2270875"/>
            <a:ext cx="6906737" cy="182247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Sumador de acarreo ondulante: cada etapa entrega su acarreo a la siguiente; se implementa con 74LS83 o con cuatro sumadores completos.</a:t>
            </a:r>
          </a:p>
        </p:txBody>
      </p:sp>
      <p:sp>
        <p:nvSpPr>
          <p:cNvPr id="19" name="Oval 18"/>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Arquitectura ripple-carry:</a:t>
            </a:r>
            <a:r>
              <a:rPr sz="1025" b="0">
                <a:solidFill>
                  <a:srgbClr val="2C3E56"/>
                </a:solidFill>
                <a:latin typeface="Segoe UI"/>
              </a:rPr>
              <a:t> el acarreo viaja de la etapa menos significativa a la más significativa, como en una suma hecha a mano.</a:t>
            </a:r>
          </a:p>
        </p:txBody>
      </p:sp>
      <p:sp>
        <p:nvSpPr>
          <p:cNvPr id="21" name="Oval 20"/>
          <p:cNvSpPr/>
          <p:nvPr/>
        </p:nvSpPr>
        <p:spPr>
          <a:xfrm>
            <a:off x="7793705" y="200346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Resultado:</a:t>
            </a:r>
            <a:r>
              <a:rPr sz="1025" b="0">
                <a:solidFill>
                  <a:srgbClr val="2C3E56"/>
                </a:solidFill>
                <a:latin typeface="Segoe UI"/>
              </a:rPr>
              <a:t> 4 bits de suma (S0–S3) más el acarreo final C4, que indica desbordamiento de la palabra.</a:t>
            </a:r>
          </a:p>
        </p:txBody>
      </p:sp>
      <p:sp>
        <p:nvSpPr>
          <p:cNvPr id="23" name="Oval 22"/>
          <p:cNvSpPr/>
          <p:nvPr/>
        </p:nvSpPr>
        <p:spPr>
          <a:xfrm>
            <a:off x="7793705" y="241129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56426"/>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Ejemplo:</a:t>
            </a:r>
            <a:r>
              <a:rPr sz="1025" b="0">
                <a:solidFill>
                  <a:srgbClr val="2C3E56"/>
                </a:solidFill>
                <a:latin typeface="Segoe UI"/>
              </a:rPr>
              <a:t> 1011₂ + 0110₂ = 10001₂ (11 + 6 = 17, con acarreo de salida).</a:t>
            </a:r>
          </a:p>
        </p:txBody>
      </p:sp>
      <p:sp>
        <p:nvSpPr>
          <p:cNvPr id="25" name="Oval 24"/>
          <p:cNvSpPr/>
          <p:nvPr/>
        </p:nvSpPr>
        <p:spPr>
          <a:xfrm>
            <a:off x="7793705" y="281912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764256"/>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Integrado 74LS83:</a:t>
            </a:r>
            <a:r>
              <a:rPr sz="1025" b="0">
                <a:solidFill>
                  <a:srgbClr val="2C3E56"/>
                </a:solidFill>
                <a:latin typeface="Segoe UI"/>
              </a:rPr>
              <a:t> contiene el sumador de 4 bits completo y permite encadenar dos chips para obtener 8 bits.</a:t>
            </a:r>
          </a:p>
        </p:txBody>
      </p:sp>
      <p:sp>
        <p:nvSpPr>
          <p:cNvPr id="27" name="Oval 26"/>
          <p:cNvSpPr/>
          <p:nvPr/>
        </p:nvSpPr>
        <p:spPr>
          <a:xfrm>
            <a:off x="7793705" y="339611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341253"/>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Prestaciones:</a:t>
            </a:r>
            <a:r>
              <a:rPr sz="1025" b="0">
                <a:solidFill>
                  <a:srgbClr val="2C3E56"/>
                </a:solidFill>
                <a:latin typeface="Segoe UI"/>
              </a:rPr>
              <a:t> máxima frecuencia de operación limitada por el tiempo de propagación del acarreo (unos 20 ns por etapa en 74LS83).</a:t>
            </a:r>
          </a:p>
        </p:txBody>
      </p:sp>
      <p:sp>
        <p:nvSpPr>
          <p:cNvPr id="29" name="Oval 28"/>
          <p:cNvSpPr/>
          <p:nvPr/>
        </p:nvSpPr>
        <p:spPr>
          <a:xfrm>
            <a:off x="7793705" y="397311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Alternativa rápida:</a:t>
            </a:r>
            <a:r>
              <a:rPr sz="1025" b="0">
                <a:solidFill>
                  <a:srgbClr val="2C3E56"/>
                </a:solidFill>
                <a:latin typeface="Segoe UI"/>
              </a:rPr>
              <a:t> el 74LS283 usa lógica de anticipación de acarreo, mucho más rápida que el encadenamiento simple.</a:t>
            </a:r>
          </a:p>
        </p:txBody>
      </p:sp>
      <p:sp>
        <p:nvSpPr>
          <p:cNvPr id="31" name="Oval 30"/>
          <p:cNvSpPr/>
          <p:nvPr/>
        </p:nvSpPr>
        <p:spPr>
          <a:xfrm>
            <a:off x="7793705" y="455011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975" b="1">
                <a:solidFill>
                  <a:srgbClr val="2C3E56"/>
                </a:solidFill>
                <a:latin typeface="Segoe UI Semibold"/>
              </a:rPr>
              <a:t>Aplicación histórica:</a:t>
            </a:r>
            <a:r>
              <a:rPr sz="975" b="0">
                <a:solidFill>
                  <a:srgbClr val="2C3E56"/>
                </a:solidFill>
                <a:latin typeface="Segoe UI"/>
              </a:rPr>
              <a:t> los primeros microprocesadores usaban el 74181 (ALU de 4 bits) y el 74182 (unidad de acarreo anticipado) para construir sus CPU.</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74181 es una ALU completa de 4 bits que realiza 16 operaciones lógicas y 16 aritméticas; fue pieza clave de las minicomputadoras de los años setenta y del primer computador personal.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Multiplexor: seleccionar una señal entre muchas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'conmutador digital' que permite compartir un canal de datos.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08182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ux4.png"/>
          <p:cNvPicPr>
            <a:picLocks noChangeAspect="1"/>
          </p:cNvPicPr>
          <p:nvPr/>
        </p:nvPicPr>
        <p:blipFill>
          <a:blip r:embed="rId2"/>
          <a:srcRect l="600" r="600"/>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Multiplexor 4:1: las líneas de selección S1 y S0 eligen cuál de las cuatro entradas llega a la salida única.</a:t>
            </a:r>
          </a:p>
        </p:txBody>
      </p:sp>
      <p:sp>
        <p:nvSpPr>
          <p:cNvPr id="19" name="Oval 18"/>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Definición:</a:t>
            </a:r>
            <a:r>
              <a:rPr sz="1025" b="0">
                <a:solidFill>
                  <a:srgbClr val="2C3E56"/>
                </a:solidFill>
                <a:latin typeface="Segoe UI"/>
              </a:rPr>
              <a:t> circuito combinacional que conecta una de 2^n entradas a la salida única, según el código de selección.</a:t>
            </a:r>
          </a:p>
        </p:txBody>
      </p:sp>
      <p:sp>
        <p:nvSpPr>
          <p:cNvPr id="21" name="Oval 20"/>
          <p:cNvSpPr/>
          <p:nvPr/>
        </p:nvSpPr>
        <p:spPr>
          <a:xfrm>
            <a:off x="7793705" y="200346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MUX 4:1:</a:t>
            </a:r>
            <a:r>
              <a:rPr sz="1025" b="0">
                <a:solidFill>
                  <a:srgbClr val="2C3E56"/>
                </a:solidFill>
                <a:latin typeface="Segoe UI"/>
              </a:rPr>
              <a:t> 4 entradas de datos, 2 líneas de selección, 1 salida. Ecuación: Y = D0·S1'S0' + D1·S1'S0 + D2·S1S0' + D3·S1S0.</a:t>
            </a:r>
          </a:p>
        </p:txBody>
      </p:sp>
      <p:sp>
        <p:nvSpPr>
          <p:cNvPr id="23" name="Oval 22"/>
          <p:cNvSpPr/>
          <p:nvPr/>
        </p:nvSpPr>
        <p:spPr>
          <a:xfrm>
            <a:off x="7793705" y="2580458"/>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Integrados comerciales:</a:t>
            </a:r>
            <a:r>
              <a:rPr sz="1025" b="0">
                <a:solidFill>
                  <a:srgbClr val="2C3E56"/>
                </a:solidFill>
                <a:latin typeface="Segoe UI"/>
              </a:rPr>
              <a:t> 74LS151 (8:1), 74LS153 (dos de 4:1), 74LS157 (cuádruple 2:1).</a:t>
            </a:r>
          </a:p>
        </p:txBody>
      </p:sp>
      <p:sp>
        <p:nvSpPr>
          <p:cNvPr id="25" name="Oval 24"/>
          <p:cNvSpPr/>
          <p:nvPr/>
        </p:nvSpPr>
        <p:spPr>
          <a:xfrm>
            <a:off x="7793705" y="2988288"/>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33424"/>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Aplicación 1:</a:t>
            </a:r>
            <a:r>
              <a:rPr sz="1025" b="0">
                <a:solidFill>
                  <a:srgbClr val="2C3E56"/>
                </a:solidFill>
                <a:latin typeface="Segoe UI"/>
              </a:rPr>
              <a:t> compartir un bus. Varias fuentes de datos eligen su turno para transmitir por un solo cable.</a:t>
            </a:r>
          </a:p>
        </p:txBody>
      </p:sp>
      <p:sp>
        <p:nvSpPr>
          <p:cNvPr id="27" name="Oval 26"/>
          <p:cNvSpPr/>
          <p:nvPr/>
        </p:nvSpPr>
        <p:spPr>
          <a:xfrm>
            <a:off x="7793705" y="339611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341253"/>
            <a:ext cx="3712463" cy="676670"/>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Aplicación 2:</a:t>
            </a:r>
            <a:r>
              <a:rPr sz="1025" b="0">
                <a:solidFill>
                  <a:srgbClr val="2C3E56"/>
                </a:solidFill>
                <a:latin typeface="Segoe UI"/>
              </a:rPr>
              <a:t> implementar cualquier función lógica de n variables con un multiplexor de 2^n entradas, conectando las entradas a 0 y 1 según la tabla de verdad.</a:t>
            </a:r>
          </a:p>
        </p:txBody>
      </p:sp>
      <p:sp>
        <p:nvSpPr>
          <p:cNvPr id="29" name="Oval 28"/>
          <p:cNvSpPr/>
          <p:nvPr/>
        </p:nvSpPr>
        <p:spPr>
          <a:xfrm>
            <a:off x="7793705" y="414228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87418"/>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Aplicación 3:</a:t>
            </a:r>
            <a:r>
              <a:rPr sz="1025" b="0">
                <a:solidFill>
                  <a:srgbClr val="2C3E56"/>
                </a:solidFill>
                <a:latin typeface="Segoe UI"/>
              </a:rPr>
              <a:t> multiplexar displays de 7 segmentos para ahorrar pines y corriente.</a:t>
            </a:r>
          </a:p>
        </p:txBody>
      </p:sp>
      <p:sp>
        <p:nvSpPr>
          <p:cNvPr id="31" name="Oval 30"/>
          <p:cNvSpPr/>
          <p:nvPr/>
        </p:nvSpPr>
        <p:spPr>
          <a:xfrm>
            <a:off x="7793705" y="455011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Selección de datos:</a:t>
            </a:r>
            <a:r>
              <a:rPr sz="1025" b="0">
                <a:solidFill>
                  <a:srgbClr val="2C3E56"/>
                </a:solidFill>
                <a:latin typeface="Segoe UI"/>
              </a:rPr>
              <a:t> los procesadores usan multiplexores para escoger resultados de la ALU, entradas de registros y direcciones de memoria.</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Truco de diseño: un multiplexor 74LS151 puede implementar cualquier función booleana de 3 variables sin simplificar. Es la solución más rápida cuando no se quiere aplicar Karnaugh.</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Decodificador 3 a 8 (74LS138)</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Convierte un código binario en la activación de una sola línea de salida.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19423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coder38.png"/>
          <p:cNvPicPr>
            <a:picLocks noChangeAspect="1"/>
          </p:cNvPicPr>
          <p:nvPr/>
        </p:nvPicPr>
        <p:blipFill>
          <a:blip r:embed="rId2"/>
          <a:srcRect t="6187" b="6187"/>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Decodificador 3:8: para cada combinación de A2 A1 A0 se activa exactamente una de las ocho salidas, siempre y cuando las entradas de habilitación lo permitan.</a:t>
            </a:r>
          </a:p>
        </p:txBody>
      </p:sp>
      <p:sp>
        <p:nvSpPr>
          <p:cNvPr id="19" name="Oval 18"/>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Función:</a:t>
            </a:r>
            <a:r>
              <a:rPr sz="1050" b="0">
                <a:solidFill>
                  <a:srgbClr val="2C3E56"/>
                </a:solidFill>
                <a:latin typeface="Segoe UI"/>
              </a:rPr>
              <a:t> recibe 3 bits de dirección y activa una de 8 salidas (activas en bajo en el 74LS138).</a:t>
            </a:r>
          </a:p>
        </p:txBody>
      </p:sp>
      <p:sp>
        <p:nvSpPr>
          <p:cNvPr id="21" name="Oval 20"/>
          <p:cNvSpPr/>
          <p:nvPr/>
        </p:nvSpPr>
        <p:spPr>
          <a:xfrm>
            <a:off x="7793705" y="18481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Entradas de habilitación:</a:t>
            </a:r>
            <a:r>
              <a:rPr sz="1050" b="0">
                <a:solidFill>
                  <a:srgbClr val="2C3E56"/>
                </a:solidFill>
                <a:latin typeface="Segoe UI"/>
              </a:rPr>
              <a:t> G1, G2A y G2B permiten encadenar decodificadores para construir decodificadores de 4, 5 o más bits.</a:t>
            </a:r>
          </a:p>
        </p:txBody>
      </p:sp>
      <p:sp>
        <p:nvSpPr>
          <p:cNvPr id="23" name="Oval 22"/>
          <p:cNvSpPr/>
          <p:nvPr/>
        </p:nvSpPr>
        <p:spPr>
          <a:xfrm>
            <a:off x="7793705" y="244407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1 — decodificador de direcciones:</a:t>
            </a:r>
            <a:r>
              <a:rPr sz="1050" b="0">
                <a:solidFill>
                  <a:srgbClr val="2C3E56"/>
                </a:solidFill>
                <a:latin typeface="Segoe UI"/>
              </a:rPr>
              <a:t> selecciona chips de memoria o periféricos en un bus.</a:t>
            </a:r>
          </a:p>
        </p:txBody>
      </p:sp>
      <p:sp>
        <p:nvSpPr>
          <p:cNvPr id="25" name="Oval 24"/>
          <p:cNvSpPr/>
          <p:nvPr/>
        </p:nvSpPr>
        <p:spPr>
          <a:xfrm>
            <a:off x="7793705" y="286575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2 — expansión de puertos:</a:t>
            </a:r>
            <a:r>
              <a:rPr sz="1050" b="0">
                <a:solidFill>
                  <a:srgbClr val="2C3E56"/>
                </a:solidFill>
                <a:latin typeface="Segoe UI"/>
              </a:rPr>
              <a:t> activa un dispositivo a la vez.</a:t>
            </a:r>
          </a:p>
        </p:txBody>
      </p:sp>
      <p:sp>
        <p:nvSpPr>
          <p:cNvPr id="27" name="Oval 26"/>
          <p:cNvSpPr/>
          <p:nvPr/>
        </p:nvSpPr>
        <p:spPr>
          <a:xfrm>
            <a:off x="7793705" y="3287428"/>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3 — decodificador BCD:</a:t>
            </a:r>
            <a:r>
              <a:rPr sz="1050" b="0">
                <a:solidFill>
                  <a:srgbClr val="2C3E56"/>
                </a:solidFill>
                <a:latin typeface="Segoe UI"/>
              </a:rPr>
              <a:t> los 74LS42 y 74LS47 decodifican directamente de BCD.</a:t>
            </a:r>
          </a:p>
        </p:txBody>
      </p:sp>
      <p:sp>
        <p:nvSpPr>
          <p:cNvPr id="29" name="Oval 28"/>
          <p:cNvSpPr/>
          <p:nvPr/>
        </p:nvSpPr>
        <p:spPr>
          <a:xfrm>
            <a:off x="7793705" y="37091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Encadenamiento:</a:t>
            </a:r>
            <a:r>
              <a:rPr sz="1050" b="0">
                <a:solidFill>
                  <a:srgbClr val="2C3E56"/>
                </a:solidFill>
                <a:latin typeface="Segoe UI"/>
              </a:rPr>
              <a:t> dos 74LS138 más un inversor forman un decodificador de 4 bits con 16 salidas.</a:t>
            </a:r>
          </a:p>
        </p:txBody>
      </p:sp>
      <p:sp>
        <p:nvSpPr>
          <p:cNvPr id="31" name="Oval 30"/>
          <p:cNvSpPr/>
          <p:nvPr/>
        </p:nvSpPr>
        <p:spPr>
          <a:xfrm>
            <a:off x="7793705" y="413077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medir con la punta lógica que solo una salida cambia por cada combinación de entradas.</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placas comerciales el decodificador de direcciones es el que decide qué chip responde; un error de un bit aquí provoca conflictos de bus y fallas difíciles de detectar.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Codificador 8 a 3 (74LS148) y teclados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proceso inverso: convertir la línea activa en su número binario.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30664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ncoder83.png"/>
          <p:cNvPicPr>
            <a:picLocks noChangeAspect="1"/>
          </p:cNvPicPr>
          <p:nvPr/>
        </p:nvPicPr>
        <p:blipFill>
          <a:blip r:embed="rId2"/>
          <a:srcRect l="567" r="567"/>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Codificador prioritario 8:3: cuando hay varias entradas activas, la salida corresponde a la de mayor prioridad, y GS indica que existe al menos una entrada activa.</a:t>
            </a:r>
          </a:p>
        </p:txBody>
      </p:sp>
      <p:sp>
        <p:nvSpPr>
          <p:cNvPr id="19" name="Oval 18"/>
          <p:cNvSpPr/>
          <p:nvPr/>
        </p:nvSpPr>
        <p:spPr>
          <a:xfrm>
            <a:off x="7793705"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Función:</a:t>
            </a:r>
            <a:r>
              <a:rPr sz="1050" b="0">
                <a:solidFill>
                  <a:srgbClr val="2C3E56"/>
                </a:solidFill>
                <a:latin typeface="Segoe UI"/>
              </a:rPr>
              <a:t> convierte 8 líneas de entrada en 3 bits de salida que expresan la posición de la línea activa.</a:t>
            </a:r>
          </a:p>
        </p:txBody>
      </p:sp>
      <p:sp>
        <p:nvSpPr>
          <p:cNvPr id="21" name="Oval 20"/>
          <p:cNvSpPr/>
          <p:nvPr/>
        </p:nvSpPr>
        <p:spPr>
          <a:xfrm>
            <a:off x="7793705" y="184813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Prioridad:</a:t>
            </a:r>
            <a:r>
              <a:rPr sz="1050" b="0">
                <a:solidFill>
                  <a:srgbClr val="2C3E56"/>
                </a:solidFill>
                <a:latin typeface="Segoe UI"/>
              </a:rPr>
              <a:t> si varias entradas están activas, gana la de número mayor (el 74LS148 es prioritario).</a:t>
            </a:r>
          </a:p>
        </p:txBody>
      </p:sp>
      <p:sp>
        <p:nvSpPr>
          <p:cNvPr id="23" name="Oval 22"/>
          <p:cNvSpPr/>
          <p:nvPr/>
        </p:nvSpPr>
        <p:spPr>
          <a:xfrm>
            <a:off x="7793705" y="226981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Entradas/salidas de control:</a:t>
            </a:r>
            <a:r>
              <a:rPr sz="1050" b="0">
                <a:solidFill>
                  <a:srgbClr val="2C3E56"/>
                </a:solidFill>
                <a:latin typeface="Segoe UI"/>
              </a:rPr>
              <a:t> EI (enable input), EGS (group select) y EO (enable output) permiten encadenar varios chips.</a:t>
            </a:r>
          </a:p>
        </p:txBody>
      </p:sp>
      <p:sp>
        <p:nvSpPr>
          <p:cNvPr id="25" name="Oval 24"/>
          <p:cNvSpPr/>
          <p:nvPr/>
        </p:nvSpPr>
        <p:spPr>
          <a:xfrm>
            <a:off x="7793705" y="2865752"/>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clásica — teclados matriciales:</a:t>
            </a:r>
            <a:r>
              <a:rPr sz="1050" b="0">
                <a:solidFill>
                  <a:srgbClr val="2C3E56"/>
                </a:solidFill>
                <a:latin typeface="Segoe UI"/>
              </a:rPr>
              <a:t> 16 teclas con 74LS148 y codificación binaria a un microcontrolador.</a:t>
            </a:r>
          </a:p>
        </p:txBody>
      </p:sp>
      <p:sp>
        <p:nvSpPr>
          <p:cNvPr id="27" name="Oval 26"/>
          <p:cNvSpPr/>
          <p:nvPr/>
        </p:nvSpPr>
        <p:spPr>
          <a:xfrm>
            <a:off x="7793705" y="346168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 interrupciones:</a:t>
            </a:r>
            <a:r>
              <a:rPr sz="1050" b="0">
                <a:solidFill>
                  <a:srgbClr val="2C3E56"/>
                </a:solidFill>
                <a:latin typeface="Segoe UI"/>
              </a:rPr>
              <a:t> identifica cuál periférico pidió atención.</a:t>
            </a:r>
          </a:p>
        </p:txBody>
      </p:sp>
      <p:sp>
        <p:nvSpPr>
          <p:cNvPr id="29" name="Oval 28"/>
          <p:cNvSpPr/>
          <p:nvPr/>
        </p:nvSpPr>
        <p:spPr>
          <a:xfrm>
            <a:off x="7793705" y="388336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Combinación codificador + decodificador:</a:t>
            </a:r>
            <a:r>
              <a:rPr sz="1050" b="0">
                <a:solidFill>
                  <a:srgbClr val="2C3E56"/>
                </a:solidFill>
                <a:latin typeface="Segoe UI"/>
              </a:rPr>
              <a:t> base de la transmisión reducida de señales en sistemas con muchos sensores.</a:t>
            </a:r>
          </a:p>
        </p:txBody>
      </p:sp>
      <p:sp>
        <p:nvSpPr>
          <p:cNvPr id="31" name="Oval 30"/>
          <p:cNvSpPr/>
          <p:nvPr/>
        </p:nvSpPr>
        <p:spPr>
          <a:xfrm>
            <a:off x="7793705" y="4479302"/>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Ejercicio de laboratorio:</a:t>
            </a:r>
            <a:r>
              <a:rPr sz="1050" b="0">
                <a:solidFill>
                  <a:srgbClr val="2C3E56"/>
                </a:solidFill>
                <a:latin typeface="Segoe UI"/>
              </a:rPr>
              <a:t> encender un display de 7 segmentos con la salida del codificador para mostrar la posición activa.</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Al emparejar un codificador 74LS148 con un decodificador 74LS138 se obtiene un 'cable de señales comprimido': 8 líneas se transmiten por 3 cables y se reconstruyen al otro extremo.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Display de 7 segmentos con el 74LS47</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De un número BCD a un dígito visible: la interfaz visual más usada en prácticas.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41905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venseg.png"/>
          <p:cNvPicPr>
            <a:picLocks noChangeAspect="1"/>
          </p:cNvPicPr>
          <p:nvPr/>
        </p:nvPicPr>
        <p:blipFill>
          <a:blip r:embed="rId2"/>
          <a:stretch>
            <a:fillRect/>
          </a:stretch>
        </p:blipFill>
        <p:spPr>
          <a:xfrm>
            <a:off x="1316509" y="1435608"/>
            <a:ext cx="5352711"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Decodificador BCD a 7 segmentos 74LS47: recibe cuatro bits y controla los siete segmentos, con salidas activas en bajo para el display de ánodo común.</a:t>
            </a:r>
          </a:p>
        </p:txBody>
      </p:sp>
      <p:sp>
        <p:nvSpPr>
          <p:cNvPr id="19" name="Oval 18"/>
          <p:cNvSpPr/>
          <p:nvPr/>
        </p:nvSpPr>
        <p:spPr>
          <a:xfrm>
            <a:off x="7793705" y="1426464"/>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Función:</a:t>
            </a:r>
            <a:r>
              <a:rPr sz="1050" b="0">
                <a:solidFill>
                  <a:srgbClr val="2C3E56"/>
                </a:solidFill>
                <a:latin typeface="Segoe UI"/>
              </a:rPr>
              <a:t> convierte un dato BCD (0000 a 1001) en las siete señales de un display de 7 segmentos.</a:t>
            </a:r>
          </a:p>
        </p:txBody>
      </p:sp>
      <p:sp>
        <p:nvSpPr>
          <p:cNvPr id="21" name="Oval 20"/>
          <p:cNvSpPr/>
          <p:nvPr/>
        </p:nvSpPr>
        <p:spPr>
          <a:xfrm>
            <a:off x="7793705" y="1848139"/>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697047"/>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74LS47 vs. 74LS48:</a:t>
            </a:r>
            <a:r>
              <a:rPr sz="1050" b="0">
                <a:solidFill>
                  <a:srgbClr val="2C3E56"/>
                </a:solidFill>
                <a:latin typeface="Segoe UI"/>
              </a:rPr>
              <a:t> el 47 tiene salidas activas en bajo (ánodo común) y requiere resistencias limitadoras; el 48 es activo en alto (cátodo común) e incluye salidas para probar el display.</a:t>
            </a:r>
          </a:p>
        </p:txBody>
      </p:sp>
      <p:sp>
        <p:nvSpPr>
          <p:cNvPr id="23" name="Oval 22"/>
          <p:cNvSpPr/>
          <p:nvPr/>
        </p:nvSpPr>
        <p:spPr>
          <a:xfrm>
            <a:off x="7793705" y="2618338"/>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Pines de control:</a:t>
            </a:r>
            <a:r>
              <a:rPr sz="1050" b="0">
                <a:solidFill>
                  <a:srgbClr val="2C3E56"/>
                </a:solidFill>
                <a:latin typeface="Segoe UI"/>
              </a:rPr>
              <a:t> LT (lamp test) prueba todos los segmentos, BI/RBO apaga el display y RBI permite suprimir ceros a la izquierda.</a:t>
            </a:r>
          </a:p>
        </p:txBody>
      </p:sp>
      <p:sp>
        <p:nvSpPr>
          <p:cNvPr id="25" name="Oval 24"/>
          <p:cNvSpPr/>
          <p:nvPr/>
        </p:nvSpPr>
        <p:spPr>
          <a:xfrm>
            <a:off x="7793705" y="3214276"/>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Resistencias:</a:t>
            </a:r>
            <a:r>
              <a:rPr sz="1050" b="0">
                <a:solidFill>
                  <a:srgbClr val="2C3E56"/>
                </a:solidFill>
                <a:latin typeface="Segoe UI"/>
              </a:rPr>
              <a:t> 330 Ω por segmento con VCC = 5 V y corriente de 8 mA por segmento.</a:t>
            </a:r>
          </a:p>
        </p:txBody>
      </p:sp>
      <p:sp>
        <p:nvSpPr>
          <p:cNvPr id="27" name="Oval 26"/>
          <p:cNvSpPr/>
          <p:nvPr/>
        </p:nvSpPr>
        <p:spPr>
          <a:xfrm>
            <a:off x="7793705" y="3635951"/>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58108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Multiplexado:</a:t>
            </a:r>
            <a:r>
              <a:rPr sz="1050" b="0">
                <a:solidFill>
                  <a:srgbClr val="2C3E56"/>
                </a:solidFill>
                <a:latin typeface="Segoe UI"/>
              </a:rPr>
              <a:t> encender solo un dígito a la vez y repetir rápidamente reduce el número de decodificadores necesarios.</a:t>
            </a:r>
          </a:p>
        </p:txBody>
      </p:sp>
      <p:sp>
        <p:nvSpPr>
          <p:cNvPr id="29" name="Oval 28"/>
          <p:cNvSpPr/>
          <p:nvPr/>
        </p:nvSpPr>
        <p:spPr>
          <a:xfrm>
            <a:off x="7793705" y="4231888"/>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17702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Expansión:</a:t>
            </a:r>
            <a:r>
              <a:rPr sz="1050" b="0">
                <a:solidFill>
                  <a:srgbClr val="2C3E56"/>
                </a:solidFill>
                <a:latin typeface="Segoe UI"/>
              </a:rPr>
              <a:t> varios 74LS47 con contadores 74LS90 forman un contador decimal de varios dígitos.</a:t>
            </a:r>
          </a:p>
        </p:txBody>
      </p:sp>
      <p:sp>
        <p:nvSpPr>
          <p:cNvPr id="31" name="Oval 30"/>
          <p:cNvSpPr/>
          <p:nvPr/>
        </p:nvSpPr>
        <p:spPr>
          <a:xfrm>
            <a:off x="7793705" y="4653564"/>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5987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introducir 0000–1001 y comprobar que aparecen los dígitos 0 al 9 en orden.</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Cuidado con el 74LS47: al ser de colector abierto, los segmentos requieren resistencia limitadora externa; sin ella se quemarían los segmentos del display.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Memoria de un bit: el latch SR con NAND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circuito que da memoria a la lógica: retroalimentación cruzada entre dos compuertas.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53146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tch_sr.png"/>
          <p:cNvPicPr>
            <a:picLocks noChangeAspect="1"/>
          </p:cNvPicPr>
          <p:nvPr/>
        </p:nvPicPr>
        <p:blipFill>
          <a:blip r:embed="rId2"/>
          <a:srcRect t="3634" b="3634"/>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Latch SR construido con dos compuertas NAND (7400) retroalimentadas: la salida se mantiene después de retirar la señal que la provocó.</a:t>
            </a:r>
          </a:p>
        </p:txBody>
      </p:sp>
      <p:sp>
        <p:nvSpPr>
          <p:cNvPr id="19" name="Oval 18"/>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Funcionamiento:</a:t>
            </a:r>
            <a:r>
              <a:rPr sz="1000" b="0">
                <a:solidFill>
                  <a:srgbClr val="2C3E56"/>
                </a:solidFill>
                <a:latin typeface="Segoe UI"/>
              </a:rPr>
              <a:t> S = 0 (set) lleva Q a '1'; R = 0 (reset) lleva Q a '0'; S = R = 1 mantiene el estado anterior.</a:t>
            </a:r>
          </a:p>
        </p:txBody>
      </p:sp>
      <p:sp>
        <p:nvSpPr>
          <p:cNvPr id="21" name="Oval 20"/>
          <p:cNvSpPr/>
          <p:nvPr/>
        </p:nvSpPr>
        <p:spPr>
          <a:xfrm>
            <a:off x="7793705" y="18481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Estado prohibido:</a:t>
            </a:r>
            <a:r>
              <a:rPr sz="1050" b="0">
                <a:solidFill>
                  <a:srgbClr val="2C3E56"/>
                </a:solidFill>
                <a:latin typeface="Segoe UI"/>
              </a:rPr>
              <a:t> S = R = 0 simultáneos producen Q = Q' = 1, estado inconsistente que debe evitarse.</a:t>
            </a:r>
          </a:p>
        </p:txBody>
      </p:sp>
      <p:sp>
        <p:nvSpPr>
          <p:cNvPr id="23" name="Oval 22"/>
          <p:cNvSpPr/>
          <p:nvPr/>
        </p:nvSpPr>
        <p:spPr>
          <a:xfrm>
            <a:off x="7793705" y="226981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Retroalimentación:</a:t>
            </a:r>
            <a:r>
              <a:rPr sz="1050" b="0">
                <a:solidFill>
                  <a:srgbClr val="2C3E56"/>
                </a:solidFill>
                <a:latin typeface="Segoe UI"/>
              </a:rPr>
              <a:t> la clave es que la salida de cada compuerta alimenta la entrada de la otra.</a:t>
            </a:r>
          </a:p>
        </p:txBody>
      </p:sp>
      <p:sp>
        <p:nvSpPr>
          <p:cNvPr id="25" name="Oval 24"/>
          <p:cNvSpPr/>
          <p:nvPr/>
        </p:nvSpPr>
        <p:spPr>
          <a:xfrm>
            <a:off x="7793705" y="2691490"/>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Antirrebote:</a:t>
            </a:r>
            <a:r>
              <a:rPr sz="1050" b="0">
                <a:solidFill>
                  <a:srgbClr val="2C3E56"/>
                </a:solidFill>
                <a:latin typeface="Segoe UI"/>
              </a:rPr>
              <a:t> un interruptor conectado a un latch SR entrega una sola transición limpia por cada pulsación.</a:t>
            </a:r>
          </a:p>
        </p:txBody>
      </p:sp>
      <p:sp>
        <p:nvSpPr>
          <p:cNvPr id="27" name="Oval 26"/>
          <p:cNvSpPr/>
          <p:nvPr/>
        </p:nvSpPr>
        <p:spPr>
          <a:xfrm>
            <a:off x="7793705" y="311316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Versión NOR:</a:t>
            </a:r>
            <a:r>
              <a:rPr sz="1050" b="0">
                <a:solidFill>
                  <a:srgbClr val="2C3E56"/>
                </a:solidFill>
                <a:latin typeface="Segoe UI"/>
              </a:rPr>
              <a:t> con el 7402 el set y el reset son activos en alto, y el estado prohibido es S = R = 1.</a:t>
            </a:r>
          </a:p>
        </p:txBody>
      </p:sp>
      <p:sp>
        <p:nvSpPr>
          <p:cNvPr id="29" name="Oval 28"/>
          <p:cNvSpPr/>
          <p:nvPr/>
        </p:nvSpPr>
        <p:spPr>
          <a:xfrm>
            <a:off x="7793705" y="353484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Latches comerciales:</a:t>
            </a:r>
            <a:r>
              <a:rPr sz="1050" b="0">
                <a:solidFill>
                  <a:srgbClr val="2C3E56"/>
                </a:solidFill>
                <a:latin typeface="Segoe UI"/>
              </a:rPr>
              <a:t> 74LS279 (cuádruple SR) y 74LS373 (latch octal con habilitación).</a:t>
            </a:r>
          </a:p>
        </p:txBody>
      </p:sp>
      <p:sp>
        <p:nvSpPr>
          <p:cNvPr id="31" name="Oval 30"/>
          <p:cNvSpPr/>
          <p:nvPr/>
        </p:nvSpPr>
        <p:spPr>
          <a:xfrm>
            <a:off x="7793705" y="3956517"/>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901653"/>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Diferencia con el flip-flop:</a:t>
            </a:r>
            <a:r>
              <a:rPr sz="1050" b="0">
                <a:solidFill>
                  <a:srgbClr val="2C3E56"/>
                </a:solidFill>
                <a:latin typeface="Segoe UI"/>
              </a:rPr>
              <a:t> el latch es transparente mientras la habilitación está activa; el flip-flop solo cambia en el flanco del reloj.</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La memoria digital nace de la retroalimentación: dos compuertas que se miran entre sí mantienen un bit indefinidamente mientras haya alimentación.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Flip-flop D disparado por flanco (74LS74)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memoria sincronizada con el reloj: la base de registros, contadores y RAM.</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64387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f_d.png"/>
          <p:cNvPicPr>
            <a:picLocks noChangeAspect="1"/>
          </p:cNvPicPr>
          <p:nvPr/>
        </p:nvPicPr>
        <p:blipFill>
          <a:blip r:embed="rId2"/>
          <a:srcRect l="6541" r="6541"/>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Flip-flop D: la entrada D se copia a la salida Q únicamente en el flanco de subida del reloj; el resto del tiempo la salida se mantiene.</a:t>
            </a:r>
          </a:p>
        </p:txBody>
      </p:sp>
      <p:sp>
        <p:nvSpPr>
          <p:cNvPr id="19" name="Oval 18"/>
          <p:cNvSpPr/>
          <p:nvPr/>
        </p:nvSpPr>
        <p:spPr>
          <a:xfrm>
            <a:off x="7793705" y="1426464"/>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Función:</a:t>
            </a:r>
            <a:r>
              <a:rPr sz="1050" b="0">
                <a:solidFill>
                  <a:srgbClr val="2C3E56"/>
                </a:solidFill>
                <a:latin typeface="Segoe UI"/>
              </a:rPr>
              <a:t> Q toma el valor de D en el instante del flanco (típicamente de subida) del reloj.</a:t>
            </a:r>
          </a:p>
        </p:txBody>
      </p:sp>
      <p:sp>
        <p:nvSpPr>
          <p:cNvPr id="21" name="Oval 20"/>
          <p:cNvSpPr/>
          <p:nvPr/>
        </p:nvSpPr>
        <p:spPr>
          <a:xfrm>
            <a:off x="7793705" y="1848139"/>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Entradas de control:</a:t>
            </a:r>
            <a:r>
              <a:rPr sz="1050" b="0">
                <a:solidFill>
                  <a:srgbClr val="2C3E56"/>
                </a:solidFill>
                <a:latin typeface="Segoe UI"/>
              </a:rPr>
              <a:t> preset (PRE) y clear (CLR) activos en bajo permiten fijar el estado sin reloj.</a:t>
            </a:r>
          </a:p>
        </p:txBody>
      </p:sp>
      <p:sp>
        <p:nvSpPr>
          <p:cNvPr id="23" name="Oval 22"/>
          <p:cNvSpPr/>
          <p:nvPr/>
        </p:nvSpPr>
        <p:spPr>
          <a:xfrm>
            <a:off x="7793705" y="2269815"/>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Tabla de verdad:</a:t>
            </a:r>
            <a:r>
              <a:rPr sz="1050" b="0">
                <a:solidFill>
                  <a:srgbClr val="2C3E56"/>
                </a:solidFill>
                <a:latin typeface="Segoe UI"/>
              </a:rPr>
              <a:t> sin flanco, Q no cambia; con flanco ascendente, Q = D.</a:t>
            </a:r>
          </a:p>
        </p:txBody>
      </p:sp>
      <p:sp>
        <p:nvSpPr>
          <p:cNvPr id="25" name="Oval 24"/>
          <p:cNvSpPr/>
          <p:nvPr/>
        </p:nvSpPr>
        <p:spPr>
          <a:xfrm>
            <a:off x="7793705" y="2691490"/>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Divisor de frecuencia:</a:t>
            </a:r>
            <a:r>
              <a:rPr sz="1050" b="0">
                <a:solidFill>
                  <a:srgbClr val="2C3E56"/>
                </a:solidFill>
                <a:latin typeface="Segoe UI"/>
              </a:rPr>
              <a:t> conectando Q' a D, el flip-flop divide la frecuencia del reloj entre dos.</a:t>
            </a:r>
          </a:p>
        </p:txBody>
      </p:sp>
      <p:sp>
        <p:nvSpPr>
          <p:cNvPr id="27" name="Oval 26"/>
          <p:cNvSpPr/>
          <p:nvPr/>
        </p:nvSpPr>
        <p:spPr>
          <a:xfrm>
            <a:off x="7793705" y="3113166"/>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Registro de 4 bits:</a:t>
            </a:r>
            <a:r>
              <a:rPr sz="1050" b="0">
                <a:solidFill>
                  <a:srgbClr val="2C3E56"/>
                </a:solidFill>
                <a:latin typeface="Segoe UI"/>
              </a:rPr>
              <a:t> cuatro flip-flops D comparten el mismo reloj y almacenan una palabra completa.</a:t>
            </a:r>
          </a:p>
        </p:txBody>
      </p:sp>
      <p:sp>
        <p:nvSpPr>
          <p:cNvPr id="29" name="Oval 28"/>
          <p:cNvSpPr/>
          <p:nvPr/>
        </p:nvSpPr>
        <p:spPr>
          <a:xfrm>
            <a:off x="7793705" y="3534841"/>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Integrados:</a:t>
            </a:r>
            <a:r>
              <a:rPr sz="1050" b="0">
                <a:solidFill>
                  <a:srgbClr val="2C3E56"/>
                </a:solidFill>
                <a:latin typeface="Segoe UI"/>
              </a:rPr>
              <a:t> 74LS74 (dos D con preset y clear), 74LS175 (cuádruple D), 74LS374 (octal con salidas de tres estados).</a:t>
            </a:r>
          </a:p>
        </p:txBody>
      </p:sp>
      <p:sp>
        <p:nvSpPr>
          <p:cNvPr id="31" name="Oval 30"/>
          <p:cNvSpPr/>
          <p:nvPr/>
        </p:nvSpPr>
        <p:spPr>
          <a:xfrm>
            <a:off x="7793705" y="4130779"/>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Sincronía:</a:t>
            </a:r>
            <a:r>
              <a:rPr sz="1000" b="0">
                <a:solidFill>
                  <a:srgbClr val="2C3E56"/>
                </a:solidFill>
                <a:latin typeface="Segoe UI"/>
              </a:rPr>
              <a:t> al cambiar los estados solo en el flanco, el sistema elimina los glitches de la lógica combinacional.</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4149C8"/>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 oro de la electrónica secuencial: 'la lógica combinacional decide, el flip-flop memoriza en el flanco'. Con esa idea se diseña cualquier máquina de estados.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Contadores binarios (74LS161 / 74LS163)</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Flip-flops encadenados que cuentan pulsos: el reloj más común de los sistemas digitales.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75628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unter4.png"/>
          <p:cNvPicPr>
            <a:picLocks noChangeAspect="1"/>
          </p:cNvPicPr>
          <p:nvPr/>
        </p:nvPicPr>
        <p:blipFill>
          <a:blip r:embed="rId2"/>
          <a:srcRect l="11178" r="11178"/>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Contador binario de 4 bits: cada etapa divide entre dos la frecuencia de la anterior, recorriendo los 16 estados del 0000 al 1111.</a:t>
            </a:r>
          </a:p>
        </p:txBody>
      </p:sp>
      <p:sp>
        <p:nvSpPr>
          <p:cNvPr id="19" name="Oval 18"/>
          <p:cNvSpPr/>
          <p:nvPr/>
        </p:nvSpPr>
        <p:spPr>
          <a:xfrm>
            <a:off x="7793705" y="1426464"/>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Modo de operación:</a:t>
            </a:r>
            <a:r>
              <a:rPr sz="1050" b="0">
                <a:solidFill>
                  <a:srgbClr val="2C3E56"/>
                </a:solidFill>
                <a:latin typeface="Segoe UI"/>
              </a:rPr>
              <a:t> cada flanco de reloj incrementa el valor binario en una unidad: 0000, 0001, 0010… hasta 1111 y regresa a 0000.</a:t>
            </a:r>
          </a:p>
        </p:txBody>
      </p:sp>
      <p:sp>
        <p:nvSpPr>
          <p:cNvPr id="21" name="Oval 20"/>
          <p:cNvSpPr/>
          <p:nvPr/>
        </p:nvSpPr>
        <p:spPr>
          <a:xfrm>
            <a:off x="7793705" y="2022401"/>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Módulo:</a:t>
            </a:r>
            <a:r>
              <a:rPr sz="1050" b="0">
                <a:solidFill>
                  <a:srgbClr val="2C3E56"/>
                </a:solidFill>
                <a:latin typeface="Segoe UI"/>
              </a:rPr>
              <a:t> un contador de n bits completa 2^n estados. Con 4 bits el módulo es 16 (0 a 15).</a:t>
            </a:r>
          </a:p>
        </p:txBody>
      </p:sp>
      <p:sp>
        <p:nvSpPr>
          <p:cNvPr id="23" name="Oval 22"/>
          <p:cNvSpPr/>
          <p:nvPr/>
        </p:nvSpPr>
        <p:spPr>
          <a:xfrm>
            <a:off x="7793705" y="2444076"/>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Contador de décadas:</a:t>
            </a:r>
            <a:r>
              <a:rPr sz="1050" b="0">
                <a:solidFill>
                  <a:srgbClr val="2C3E56"/>
                </a:solidFill>
                <a:latin typeface="Segoe UI"/>
              </a:rPr>
              <a:t> el 74LS90 y el 74LS390 cuentan de 0 a 9, ideales para displays decimales.</a:t>
            </a:r>
          </a:p>
        </p:txBody>
      </p:sp>
      <p:sp>
        <p:nvSpPr>
          <p:cNvPr id="25" name="Oval 24"/>
          <p:cNvSpPr/>
          <p:nvPr/>
        </p:nvSpPr>
        <p:spPr>
          <a:xfrm>
            <a:off x="7793705" y="2865752"/>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Carga y reinicio:</a:t>
            </a:r>
            <a:r>
              <a:rPr sz="1050" b="0">
                <a:solidFill>
                  <a:srgbClr val="2C3E56"/>
                </a:solidFill>
                <a:latin typeface="Segoe UI"/>
              </a:rPr>
              <a:t> el 74LS163 tiene carga síncrona (LOAD) para programar el valor inicial y construir módulos arbitrarios.</a:t>
            </a:r>
          </a:p>
        </p:txBody>
      </p:sp>
      <p:sp>
        <p:nvSpPr>
          <p:cNvPr id="27" name="Oval 26"/>
          <p:cNvSpPr/>
          <p:nvPr/>
        </p:nvSpPr>
        <p:spPr>
          <a:xfrm>
            <a:off x="7793705" y="3461689"/>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Cascada:</a:t>
            </a:r>
            <a:r>
              <a:rPr sz="1050" b="0">
                <a:solidFill>
                  <a:srgbClr val="2C3E56"/>
                </a:solidFill>
                <a:latin typeface="Segoe UI"/>
              </a:rPr>
              <a:t> encadenando dos contadores de 4 bits se obtiene uno de 8 bits con 256 estados.</a:t>
            </a:r>
          </a:p>
        </p:txBody>
      </p:sp>
      <p:sp>
        <p:nvSpPr>
          <p:cNvPr id="29" name="Oval 28"/>
          <p:cNvSpPr/>
          <p:nvPr/>
        </p:nvSpPr>
        <p:spPr>
          <a:xfrm>
            <a:off x="7793705" y="3883365"/>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Aplicaciones:</a:t>
            </a:r>
            <a:r>
              <a:rPr sz="1050" b="0">
                <a:solidFill>
                  <a:srgbClr val="2C3E56"/>
                </a:solidFill>
                <a:latin typeface="Segoe UI"/>
              </a:rPr>
              <a:t> relojes y temporizadores digitales, divisores de frecuencia, generadores de direcciones de memoria y máquinas de estados.</a:t>
            </a:r>
          </a:p>
        </p:txBody>
      </p:sp>
      <p:sp>
        <p:nvSpPr>
          <p:cNvPr id="31" name="Oval 30"/>
          <p:cNvSpPr/>
          <p:nvPr/>
        </p:nvSpPr>
        <p:spPr>
          <a:xfrm>
            <a:off x="7793705" y="4479302"/>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Práctica clásica:</a:t>
            </a:r>
            <a:r>
              <a:rPr sz="1050" b="0">
                <a:solidFill>
                  <a:srgbClr val="2C3E56"/>
                </a:solidFill>
                <a:latin typeface="Segoe UI"/>
              </a:rPr>
              <a:t> contador de 0 a 99 con dos 74LS90 y dos displays de 7 segmentos.</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División de frecuencia: si el reloj de entrada es de 1 MHz, un contador de 4 bits entrega 62.5 kHz en su bit más significativo; cada flip-flop divide entre 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Registro de desplazamiento (74LS164 / 74LS194)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Bits que se mueven en cadena: conversión serie-paralelo y memoria de datos.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86869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hiftreg.png"/>
          <p:cNvPicPr>
            <a:picLocks noChangeAspect="1"/>
          </p:cNvPicPr>
          <p:nvPr/>
        </p:nvPicPr>
        <p:blipFill>
          <a:blip r:embed="rId2"/>
          <a:stretch>
            <a:fillRect/>
          </a:stretch>
        </p:blipFill>
        <p:spPr>
          <a:xfrm>
            <a:off x="539496" y="1948153"/>
            <a:ext cx="6906737" cy="2467916"/>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Registro de desplazamiento: los datos entran en serie por un extremo y avanzan una posición en cada pulso de reloj.</a:t>
            </a:r>
          </a:p>
        </p:txBody>
      </p:sp>
      <p:sp>
        <p:nvSpPr>
          <p:cNvPr id="19" name="Oval 18"/>
          <p:cNvSpPr/>
          <p:nvPr/>
        </p:nvSpPr>
        <p:spPr>
          <a:xfrm>
            <a:off x="7793705"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Funcionamiento:</a:t>
            </a:r>
            <a:r>
              <a:rPr sz="1050" b="0">
                <a:solidFill>
                  <a:srgbClr val="2C3E56"/>
                </a:solidFill>
                <a:latin typeface="Segoe UI"/>
              </a:rPr>
              <a:t> en cada flanco de reloj cada flip-flop copia el contenido del anterior, y el nuevo bit entra por la izquierda.</a:t>
            </a:r>
          </a:p>
        </p:txBody>
      </p:sp>
      <p:sp>
        <p:nvSpPr>
          <p:cNvPr id="21" name="Oval 20"/>
          <p:cNvSpPr/>
          <p:nvPr/>
        </p:nvSpPr>
        <p:spPr>
          <a:xfrm>
            <a:off x="7793705" y="2022401"/>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Serie → paralelo:</a:t>
            </a:r>
            <a:r>
              <a:rPr sz="1050" b="0">
                <a:solidFill>
                  <a:srgbClr val="2C3E56"/>
                </a:solidFill>
                <a:latin typeface="Segoe UI"/>
              </a:rPr>
              <a:t> recibe bits uno a uno y después los presenta todos juntos en sus salidas (74LS164).</a:t>
            </a:r>
          </a:p>
        </p:txBody>
      </p:sp>
      <p:sp>
        <p:nvSpPr>
          <p:cNvPr id="23" name="Oval 22"/>
          <p:cNvSpPr/>
          <p:nvPr/>
        </p:nvSpPr>
        <p:spPr>
          <a:xfrm>
            <a:off x="7793705" y="244407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Paralelo → serie:</a:t>
            </a:r>
            <a:r>
              <a:rPr sz="1050" b="0">
                <a:solidFill>
                  <a:srgbClr val="2C3E56"/>
                </a:solidFill>
                <a:latin typeface="Segoe UI"/>
              </a:rPr>
              <a:t> el 74LS165 carga 8 bits a la vez y los transmite uno por uno.</a:t>
            </a:r>
          </a:p>
        </p:txBody>
      </p:sp>
      <p:sp>
        <p:nvSpPr>
          <p:cNvPr id="25" name="Oval 24"/>
          <p:cNvSpPr/>
          <p:nvPr/>
        </p:nvSpPr>
        <p:spPr>
          <a:xfrm>
            <a:off x="7793705" y="2865752"/>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Universal (74LS194):</a:t>
            </a:r>
            <a:r>
              <a:rPr sz="1050" b="0">
                <a:solidFill>
                  <a:srgbClr val="2C3E56"/>
                </a:solidFill>
                <a:latin typeface="Segoe UI"/>
              </a:rPr>
              <a:t> permite desplazar a derecha, a izquierda, cargar en paralelo y mantener estado.</a:t>
            </a:r>
          </a:p>
        </p:txBody>
      </p:sp>
      <p:sp>
        <p:nvSpPr>
          <p:cNvPr id="27" name="Oval 26"/>
          <p:cNvSpPr/>
          <p:nvPr/>
        </p:nvSpPr>
        <p:spPr>
          <a:xfrm>
            <a:off x="7793705" y="3287428"/>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1:</a:t>
            </a:r>
            <a:r>
              <a:rPr sz="1050" b="0">
                <a:solidFill>
                  <a:srgbClr val="2C3E56"/>
                </a:solidFill>
                <a:latin typeface="Segoe UI"/>
              </a:rPr>
              <a:t> comunicación serie donde un solo cable transmite varios bits consecutivos.</a:t>
            </a:r>
          </a:p>
        </p:txBody>
      </p:sp>
      <p:sp>
        <p:nvSpPr>
          <p:cNvPr id="29" name="Oval 28"/>
          <p:cNvSpPr/>
          <p:nvPr/>
        </p:nvSpPr>
        <p:spPr>
          <a:xfrm>
            <a:off x="7793705" y="370910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2:</a:t>
            </a:r>
            <a:r>
              <a:rPr sz="1050" b="0">
                <a:solidFill>
                  <a:srgbClr val="2C3E56"/>
                </a:solidFill>
                <a:latin typeface="Segoe UI"/>
              </a:rPr>
              <a:t> barrido de displays y matrices de LED (efecto de barrido visual).</a:t>
            </a:r>
          </a:p>
        </p:txBody>
      </p:sp>
      <p:sp>
        <p:nvSpPr>
          <p:cNvPr id="31" name="Oval 30"/>
          <p:cNvSpPr/>
          <p:nvPr/>
        </p:nvSpPr>
        <p:spPr>
          <a:xfrm>
            <a:off x="7793705" y="413077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3:</a:t>
            </a:r>
            <a:r>
              <a:rPr sz="1050" b="0">
                <a:solidFill>
                  <a:srgbClr val="2C3E56"/>
                </a:solidFill>
                <a:latin typeface="Segoe UI"/>
              </a:rPr>
              <a:t> multiplicación y división binaria por potencias de dos: desplazar a la izquierda multiplica, a la derecha divide.</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Desplazar un byte a la izquierda equivale a multiplicar por 2 (siempre que no se pierda el bit más significativo) y desplazarlo a la derecha equivale a dividir entre 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Memorias y dispositivos de la familia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Antes de los microcontroladores, la familia 74XX ya incluía memoria y periféricos.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98110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1920240"/>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mory.png"/>
          <p:cNvPicPr>
            <a:picLocks noChangeAspect="1"/>
          </p:cNvPicPr>
          <p:nvPr/>
        </p:nvPicPr>
        <p:blipFill>
          <a:blip r:embed="rId2"/>
          <a:stretch>
            <a:fillRect/>
          </a:stretch>
        </p:blipFill>
        <p:spPr>
          <a:xfrm>
            <a:off x="2312654" y="1435608"/>
            <a:ext cx="3360420" cy="1408176"/>
          </a:xfrm>
          <a:prstGeom prst="roundRect">
            <a:avLst>
              <a:gd name="adj" fmla="val 794"/>
            </a:avLst>
          </a:prstGeom>
        </p:spPr>
      </p:pic>
      <p:sp>
        <p:nvSpPr>
          <p:cNvPr id="18" name="TextBox 17"/>
          <p:cNvSpPr txBox="1"/>
          <p:nvPr/>
        </p:nvSpPr>
        <p:spPr>
          <a:xfrm>
            <a:off x="603504" y="2889504"/>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Catálogo de memorias y periféricos: RAM 74LS189, PROM 74LS288, registros de banco, transceptores y comparadores de bus.</a:t>
            </a:r>
          </a:p>
        </p:txBody>
      </p:sp>
      <p:sp>
        <p:nvSpPr>
          <p:cNvPr id="19" name="Rounded Rectangle 18"/>
          <p:cNvSpPr/>
          <p:nvPr/>
        </p:nvSpPr>
        <p:spPr>
          <a:xfrm>
            <a:off x="475488" y="3456432"/>
            <a:ext cx="7034753" cy="1920240"/>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1.png"/>
          <p:cNvPicPr>
            <a:picLocks noChangeAspect="1"/>
          </p:cNvPicPr>
          <p:nvPr/>
        </p:nvPicPr>
        <p:blipFill>
          <a:blip r:embed="rId3"/>
          <a:stretch>
            <a:fillRect/>
          </a:stretch>
        </p:blipFill>
        <p:spPr>
          <a:xfrm>
            <a:off x="2741152" y="3520440"/>
            <a:ext cx="2503424" cy="1408176"/>
          </a:xfrm>
          <a:prstGeom prst="roundRect">
            <a:avLst>
              <a:gd name="adj" fmla="val 794"/>
            </a:avLst>
          </a:prstGeom>
        </p:spPr>
      </p:pic>
      <p:sp>
        <p:nvSpPr>
          <p:cNvPr id="21" name="TextBox 20"/>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Placa de circuito impreso con integrados montados: los circuitos digitales modernos siguen usando la misma lógica de compuertas en su interior. Imagen: electronics-lab.com.</a:t>
            </a:r>
          </a:p>
        </p:txBody>
      </p:sp>
      <p:sp>
        <p:nvSpPr>
          <p:cNvPr id="22" name="Oval 21"/>
          <p:cNvSpPr/>
          <p:nvPr/>
        </p:nvSpPr>
        <p:spPr>
          <a:xfrm>
            <a:off x="7793705" y="142646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74LS189 — RAM estática de 64 bits:</a:t>
            </a:r>
            <a:r>
              <a:rPr sz="1025" b="0">
                <a:solidFill>
                  <a:srgbClr val="2C3E56"/>
                </a:solidFill>
                <a:latin typeface="Segoe UI"/>
              </a:rPr>
              <a:t> organizada como 16 palabras de 4 bits, con entradas de dirección A0–A3 y datos D0–D3.</a:t>
            </a:r>
          </a:p>
        </p:txBody>
      </p:sp>
      <p:sp>
        <p:nvSpPr>
          <p:cNvPr id="24" name="Oval 23"/>
          <p:cNvSpPr/>
          <p:nvPr/>
        </p:nvSpPr>
        <p:spPr>
          <a:xfrm>
            <a:off x="7793705" y="2003461"/>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74LS288 / 74LS289 — PROM:</a:t>
            </a:r>
            <a:r>
              <a:rPr sz="1025" b="0">
                <a:solidFill>
                  <a:srgbClr val="2C3E56"/>
                </a:solidFill>
                <a:latin typeface="Segoe UI"/>
              </a:rPr>
              <a:t> memoria de solo lectura programable por el usuario, usada para tablas de conversión y microcódigo.</a:t>
            </a:r>
          </a:p>
        </p:txBody>
      </p:sp>
      <p:sp>
        <p:nvSpPr>
          <p:cNvPr id="26" name="Oval 25"/>
          <p:cNvSpPr/>
          <p:nvPr/>
        </p:nvSpPr>
        <p:spPr>
          <a:xfrm>
            <a:off x="7793705" y="2580458"/>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25594"/>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74LS670 — registro de banco 4×4:</a:t>
            </a:r>
            <a:r>
              <a:rPr sz="1025" b="0">
                <a:solidFill>
                  <a:srgbClr val="2C3E56"/>
                </a:solidFill>
                <a:latin typeface="Segoe UI"/>
              </a:rPr>
              <a:t> permite escritura y lectura en direcciones independientes (memoria de doble puerto primitiva).</a:t>
            </a:r>
          </a:p>
        </p:txBody>
      </p:sp>
      <p:sp>
        <p:nvSpPr>
          <p:cNvPr id="28" name="Oval 27"/>
          <p:cNvSpPr/>
          <p:nvPr/>
        </p:nvSpPr>
        <p:spPr>
          <a:xfrm>
            <a:off x="7793705" y="3157455"/>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02591"/>
            <a:ext cx="3712463" cy="338335"/>
          </a:xfrm>
          <a:prstGeom prst="rect">
            <a:avLst/>
          </a:prstGeom>
          <a:noFill/>
        </p:spPr>
        <p:txBody>
          <a:bodyPr wrap="square" lIns="0" rIns="0" tIns="0" bIns="0" anchor="t">
            <a:spAutoFit/>
          </a:bodyPr>
          <a:lstStyle/>
          <a:p>
            <a:pPr algn="l">
              <a:lnSpc>
                <a:spcPct val="107400"/>
              </a:lnSpc>
            </a:pPr>
            <a:r>
              <a:rPr sz="975" b="1">
                <a:solidFill>
                  <a:srgbClr val="2C3E56"/>
                </a:solidFill>
                <a:latin typeface="Segoe UI Semibold"/>
              </a:rPr>
              <a:t>74LS373 / 74LS374 — latch y flip-flop octal:</a:t>
            </a:r>
            <a:r>
              <a:rPr sz="975" b="0">
                <a:solidFill>
                  <a:srgbClr val="2C3E56"/>
                </a:solidFill>
                <a:latin typeface="Segoe UI"/>
              </a:rPr>
              <a:t> almacenan un byte completo con salidas de tres estados.</a:t>
            </a:r>
          </a:p>
        </p:txBody>
      </p:sp>
      <p:sp>
        <p:nvSpPr>
          <p:cNvPr id="30" name="Oval 29"/>
          <p:cNvSpPr/>
          <p:nvPr/>
        </p:nvSpPr>
        <p:spPr>
          <a:xfrm>
            <a:off x="7793705" y="3565285"/>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10421"/>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74LS245 — transceptor octal:</a:t>
            </a:r>
            <a:r>
              <a:rPr sz="1025" b="0">
                <a:solidFill>
                  <a:srgbClr val="2C3E56"/>
                </a:solidFill>
                <a:latin typeface="Segoe UI"/>
              </a:rPr>
              <a:t> controla la dirección del flujo de datos en un bus (A→B o B→A).</a:t>
            </a:r>
          </a:p>
        </p:txBody>
      </p:sp>
      <p:sp>
        <p:nvSpPr>
          <p:cNvPr id="32" name="Oval 31"/>
          <p:cNvSpPr/>
          <p:nvPr/>
        </p:nvSpPr>
        <p:spPr>
          <a:xfrm>
            <a:off x="7793705" y="3973115"/>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74LS688 — comparador de 8 bits:</a:t>
            </a:r>
            <a:r>
              <a:rPr sz="1025" b="0">
                <a:solidFill>
                  <a:srgbClr val="2C3E56"/>
                </a:solidFill>
                <a:latin typeface="Segoe UI"/>
              </a:rPr>
              <a:t> genera una señal de coincidencia cuando la dirección del bus es igual a la configurada.</a:t>
            </a:r>
          </a:p>
        </p:txBody>
      </p:sp>
      <p:sp>
        <p:nvSpPr>
          <p:cNvPr id="34" name="Oval 33"/>
          <p:cNvSpPr/>
          <p:nvPr/>
        </p:nvSpPr>
        <p:spPr>
          <a:xfrm>
            <a:off x="7793705" y="4550112"/>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Aplicación histórica:</a:t>
            </a:r>
            <a:r>
              <a:rPr sz="1025" b="0">
                <a:solidFill>
                  <a:srgbClr val="2C3E56"/>
                </a:solidFill>
                <a:latin typeface="Segoe UI"/>
              </a:rPr>
              <a:t> con estos chips se construían computadoras completas de 8 bits y tarjetas de E/S para microprocesadores como el Z80 o el 8085.</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9A7008"/>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Estos chips permiten entender cómo funciona internamente una memoria: selección de chip, dirección, lectura/escritura y salidas de tres estados para compartir el bus de datos.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fltVal val="0.06"/>
                                          </p:val>
                                        </p:tav>
                                        <p:tav tm="100000">
                                          <p:val>
                                            <p:flt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Arquitectura de un sistema digital con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ensamblan todas las piezas para construir un sistema completo.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09351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Unidad de proceso:</a:t>
            </a:r>
            <a:r>
              <a:rPr sz="1250" b="0">
                <a:solidFill>
                  <a:srgbClr val="2C3E56"/>
                </a:solidFill>
                <a:latin typeface="Segoe UI"/>
              </a:rPr>
              <a:t> registros (74LS374), ALU (74LS181) y contador de programa (74LS161).</a:t>
            </a:r>
          </a:p>
        </p:txBody>
      </p:sp>
      <p:sp>
        <p:nvSpPr>
          <p:cNvPr id="18" name="Oval 17"/>
          <p:cNvSpPr/>
          <p:nvPr/>
        </p:nvSpPr>
        <p:spPr>
          <a:xfrm>
            <a:off x="502919" y="197415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19287"/>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Decodificación:</a:t>
            </a:r>
            <a:r>
              <a:rPr sz="1250" b="0">
                <a:solidFill>
                  <a:srgbClr val="2C3E56"/>
                </a:solidFill>
                <a:latin typeface="Segoe UI"/>
              </a:rPr>
              <a:t> el 74LS138 traduce la dirección en la activación de un chip concreto.</a:t>
            </a:r>
          </a:p>
        </p:txBody>
      </p:sp>
      <p:sp>
        <p:nvSpPr>
          <p:cNvPr id="20" name="Oval 19"/>
          <p:cNvSpPr/>
          <p:nvPr/>
        </p:nvSpPr>
        <p:spPr>
          <a:xfrm>
            <a:off x="502919" y="2521838"/>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466974"/>
            <a:ext cx="6723857" cy="21897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Memoria:</a:t>
            </a:r>
            <a:r>
              <a:rPr sz="1250" b="0">
                <a:solidFill>
                  <a:srgbClr val="2C3E56"/>
                </a:solidFill>
                <a:latin typeface="Segoe UI"/>
              </a:rPr>
              <a:t> RAM 74LS189 y PROM 74LS288 para datos y microcódigo.</a:t>
            </a:r>
          </a:p>
        </p:txBody>
      </p:sp>
      <p:sp>
        <p:nvSpPr>
          <p:cNvPr id="22" name="Oval 21"/>
          <p:cNvSpPr/>
          <p:nvPr/>
        </p:nvSpPr>
        <p:spPr>
          <a:xfrm>
            <a:off x="502919" y="285054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795682"/>
            <a:ext cx="6723857" cy="21897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Entrada/salida:</a:t>
            </a:r>
            <a:r>
              <a:rPr sz="1250" b="0">
                <a:solidFill>
                  <a:srgbClr val="2C3E56"/>
                </a:solidFill>
                <a:latin typeface="Segoe UI"/>
              </a:rPr>
              <a:t> buffers (74LS244), latches (74LS373) y transceptores (74LS245).</a:t>
            </a:r>
          </a:p>
        </p:txBody>
      </p:sp>
      <p:sp>
        <p:nvSpPr>
          <p:cNvPr id="24" name="Oval 23"/>
          <p:cNvSpPr/>
          <p:nvPr/>
        </p:nvSpPr>
        <p:spPr>
          <a:xfrm>
            <a:off x="502919" y="317925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124390"/>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Sincronización:</a:t>
            </a:r>
            <a:r>
              <a:rPr sz="1250" b="0">
                <a:solidFill>
                  <a:srgbClr val="2C3E56"/>
                </a:solidFill>
                <a:latin typeface="Segoe UI"/>
              </a:rPr>
              <a:t> un oscilador (cristal de cuarzo con 7404) genera el reloj maestro del sistema.</a:t>
            </a:r>
          </a:p>
        </p:txBody>
      </p:sp>
      <p:sp>
        <p:nvSpPr>
          <p:cNvPr id="26" name="Oval 25"/>
          <p:cNvSpPr/>
          <p:nvPr/>
        </p:nvSpPr>
        <p:spPr>
          <a:xfrm>
            <a:off x="502919" y="372694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3672077"/>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Inicialización:</a:t>
            </a:r>
            <a:r>
              <a:rPr sz="1250" b="0">
                <a:solidFill>
                  <a:srgbClr val="2C3E56"/>
                </a:solidFill>
                <a:latin typeface="Segoe UI"/>
              </a:rPr>
              <a:t> la señal RESET activa en bajo limpia todos los registros y coloca el contador de programa en cero.</a:t>
            </a:r>
          </a:p>
        </p:txBody>
      </p:sp>
      <p:sp>
        <p:nvSpPr>
          <p:cNvPr id="28" name="Oval 27"/>
          <p:cNvSpPr/>
          <p:nvPr/>
        </p:nvSpPr>
        <p:spPr>
          <a:xfrm>
            <a:off x="502919" y="427462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219765"/>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Concepto clave:</a:t>
            </a:r>
            <a:r>
              <a:rPr sz="1250" b="0">
                <a:solidFill>
                  <a:srgbClr val="2C3E56"/>
                </a:solidFill>
                <a:latin typeface="Segoe UI"/>
              </a:rPr>
              <a:t> estos tres buses (datos, direcciones y control) siguen siendo la arquitectura de cualquier computadora actual, solo que integrada en un solo chip.</a:t>
            </a:r>
          </a:p>
        </p:txBody>
      </p:sp>
      <p:sp>
        <p:nvSpPr>
          <p:cNvPr id="30" name="Rounded Rectangle 29"/>
          <p:cNvSpPr/>
          <p:nvPr/>
        </p:nvSpPr>
        <p:spPr>
          <a:xfrm>
            <a:off x="7693121" y="1371600"/>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693121"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Bus de datos</a:t>
            </a:r>
          </a:p>
        </p:txBody>
      </p:sp>
      <p:sp>
        <p:nvSpPr>
          <p:cNvPr id="33" name="TextBox 32"/>
          <p:cNvSpPr txBox="1"/>
          <p:nvPr/>
        </p:nvSpPr>
        <p:spPr>
          <a:xfrm>
            <a:off x="7876001" y="1828800"/>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8 líneas compartidas por todos los chips. Solo el dispositivo seleccionado activa sus salidas de tres estados (74LS245, 74LS374).</a:t>
            </a:r>
          </a:p>
        </p:txBody>
      </p:sp>
      <p:sp>
        <p:nvSpPr>
          <p:cNvPr id="34" name="Rounded Rectangle 33"/>
          <p:cNvSpPr/>
          <p:nvPr/>
        </p:nvSpPr>
        <p:spPr>
          <a:xfrm>
            <a:off x="7693121" y="3041904"/>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693121" y="3151632"/>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876001" y="3188208"/>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Bus de direcciones</a:t>
            </a:r>
          </a:p>
        </p:txBody>
      </p:sp>
      <p:sp>
        <p:nvSpPr>
          <p:cNvPr id="37" name="TextBox 36"/>
          <p:cNvSpPr txBox="1"/>
          <p:nvPr/>
        </p:nvSpPr>
        <p:spPr>
          <a:xfrm>
            <a:off x="7876001" y="3499104"/>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Selecciona la posición de memoria o el periférico. El 74LS138 decodifica la dirección y activa el chip correspondiente.</a:t>
            </a:r>
          </a:p>
        </p:txBody>
      </p:sp>
      <p:sp>
        <p:nvSpPr>
          <p:cNvPr id="38" name="Rounded Rectangle 37"/>
          <p:cNvSpPr/>
          <p:nvPr/>
        </p:nvSpPr>
        <p:spPr>
          <a:xfrm>
            <a:off x="7693121" y="4712208"/>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93121" y="4821936"/>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876001" y="4858512"/>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Bus de control</a:t>
            </a:r>
          </a:p>
        </p:txBody>
      </p:sp>
      <p:sp>
        <p:nvSpPr>
          <p:cNvPr id="41" name="TextBox 40"/>
          <p:cNvSpPr txBox="1"/>
          <p:nvPr/>
        </p:nvSpPr>
        <p:spPr>
          <a:xfrm>
            <a:off x="7876001" y="5169408"/>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Señales de reloj, lectura/escritura (RD/WR) e interrupciones que coordinan el momento exacto de cada operación.</a:t>
            </a:r>
          </a:p>
        </p:txBody>
      </p:sp>
      <p:sp>
        <p:nvSpPr>
          <p:cNvPr id="42" name="Rounded Rectangle 41"/>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75488" y="5449824"/>
            <a:ext cx="32004" cy="65836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NOTA</a:t>
            </a:r>
          </a:p>
        </p:txBody>
      </p:sp>
      <p:sp>
        <p:nvSpPr>
          <p:cNvPr id="45" name="TextBox 44"/>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bus de tres estados es la clave de la arquitectura: sin la capacidad de desconectar salidas (estado Z) sería imposible compartir un mismo conjunto de líneas entre muchos integrados.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fltVal val="0.06"/>
                                          </p:val>
                                        </p:tav>
                                        <p:tav tm="100000">
                                          <p:val>
                                            <p:flt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fltVal val="0.06"/>
                                          </p:val>
                                        </p:tav>
                                        <p:tav tm="100000">
                                          <p:val>
                                            <p:flt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57" fill="hold">
                      <p:stCondLst>
                        <p:cond delay="indefinite"/>
                      </p:stCondLst>
                      <p:childTnLst>
                        <p:par>
                          <p:cTn id="58"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83" fill="hold">
                      <p:stCondLst>
                        <p:cond delay="indefinite"/>
                      </p:stCondLst>
                      <p:childTnLst>
                        <p:par>
                          <p:cTn id="84" fill="hold">
                            <p:stCondLst>
                              <p:cond delay="0"/>
                            </p:stCondLst>
                            <p:childTnLst>
                              <p:par>
                                <p:cTn id="62" fill="hold">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fltVal val="0.06"/>
                                          </p:val>
                                        </p:tav>
                                        <p:tav tm="100000">
                                          <p:val>
                                            <p:fltVal val="0"/>
                                          </p:val>
                                        </p:tav>
                                      </p:tavLst>
                                    </p:anim>
                                  </p:childTnLst>
                                </p:cTn>
                              </p:par>
                              <p:par>
                                <p:cTn id="66" fill="hold">
                                  <p:stCondLst>
                                    <p:cond delay="110"/>
                                  </p:stCondLst>
                                  <p:childTnLst>
                                    <p:set>
                                      <p:cBhvr>
                                        <p:cTn id="64" dur="1" fill="hold">
                                          <p:stCondLst>
                                            <p:cond delay="0"/>
                                          </p:stCondLst>
                                        </p:cTn>
                                        <p:tgtEl>
                                          <p:spTgt spid="31"/>
                                        </p:tgtEl>
                                        <p:attrNameLst>
                                          <p:attrName>style.visibility</p:attrName>
                                        </p:attrNameLst>
                                      </p:cBhvr>
                                      <p:to>
                                        <p:strVal val="visible"/>
                                      </p:to>
                                    </p:set>
                                    <p:animEffect transition="in" filter="fade">
                                      <p:cBhvr>
                                        <p:cTn id="63" dur="420"/>
                                        <p:tgtEl>
                                          <p:spTgt spid="31"/>
                                        </p:tgtEl>
                                      </p:cBhvr>
                                    </p:animEffect>
                                    <p:anim calcmode="lin" valueType="num">
                                      <p:cBhvr additive="base">
                                        <p:cTn id="65" dur="420" fill="hold"/>
                                        <p:tgtEl>
                                          <p:spTgt spid="31"/>
                                        </p:tgtEl>
                                        <p:attrNameLst>
                                          <p:attrName>ppt_y</p:attrName>
                                        </p:attrNameLst>
                                      </p:cBhvr>
                                      <p:tavLst>
                                        <p:tav tm="0">
                                          <p:val>
                                            <p:fltVal val="0.06"/>
                                          </p:val>
                                        </p:tav>
                                        <p:tav tm="100000">
                                          <p:val>
                                            <p:fltVal val="0"/>
                                          </p:val>
                                        </p:tav>
                                      </p:tavLst>
                                    </p:anim>
                                  </p:childTnLst>
                                </p:cTn>
                              </p:par>
                              <p:par>
                                <p:cTn id="70" fill="hold">
                                  <p:stCondLst>
                                    <p:cond delay="220"/>
                                  </p:stCondLst>
                                  <p:childTnLst>
                                    <p:set>
                                      <p:cBhvr>
                                        <p:cTn id="68" dur="1" fill="hold">
                                          <p:stCondLst>
                                            <p:cond delay="0"/>
                                          </p:stCondLst>
                                        </p:cTn>
                                        <p:tgtEl>
                                          <p:spTgt spid="32"/>
                                        </p:tgtEl>
                                        <p:attrNameLst>
                                          <p:attrName>style.visibility</p:attrName>
                                        </p:attrNameLst>
                                      </p:cBhvr>
                                      <p:to>
                                        <p:strVal val="visible"/>
                                      </p:to>
                                    </p:set>
                                    <p:animEffect transition="in" filter="fade">
                                      <p:cBhvr>
                                        <p:cTn id="67" dur="420"/>
                                        <p:tgtEl>
                                          <p:spTgt spid="32"/>
                                        </p:tgtEl>
                                      </p:cBhvr>
                                    </p:animEffect>
                                    <p:anim calcmode="lin" valueType="num">
                                      <p:cBhvr additive="base">
                                        <p:cTn id="69" dur="420" fill="hold"/>
                                        <p:tgtEl>
                                          <p:spTgt spid="32"/>
                                        </p:tgtEl>
                                        <p:attrNameLst>
                                          <p:attrName>ppt_y</p:attrName>
                                        </p:attrNameLst>
                                      </p:cBhvr>
                                      <p:tavLst>
                                        <p:tav tm="0">
                                          <p:val>
                                            <p:fltVal val="0.06"/>
                                          </p:val>
                                        </p:tav>
                                        <p:tav tm="100000">
                                          <p:val>
                                            <p:fltVal val="0"/>
                                          </p:val>
                                        </p:tav>
                                      </p:tavLst>
                                    </p:anim>
                                  </p:childTnLst>
                                </p:cTn>
                              </p:par>
                              <p:par>
                                <p:cTn id="74" fill="hold">
                                  <p:stCondLst>
                                    <p:cond delay="330"/>
                                  </p:stCondLst>
                                  <p:childTnLst>
                                    <p:set>
                                      <p:cBhvr>
                                        <p:cTn id="72" dur="1" fill="hold">
                                          <p:stCondLst>
                                            <p:cond delay="0"/>
                                          </p:stCondLst>
                                        </p:cTn>
                                        <p:tgtEl>
                                          <p:spTgt spid="33"/>
                                        </p:tgtEl>
                                        <p:attrNameLst>
                                          <p:attrName>style.visibility</p:attrName>
                                        </p:attrNameLst>
                                      </p:cBhvr>
                                      <p:to>
                                        <p:strVal val="visible"/>
                                      </p:to>
                                    </p:set>
                                    <p:animEffect transition="in" filter="fade">
                                      <p:cBhvr>
                                        <p:cTn id="71" dur="420"/>
                                        <p:tgtEl>
                                          <p:spTgt spid="33"/>
                                        </p:tgtEl>
                                      </p:cBhvr>
                                    </p:animEffect>
                                    <p:anim calcmode="lin" valueType="num">
                                      <p:cBhvr additive="base">
                                        <p:cTn id="73" dur="420" fill="hold"/>
                                        <p:tgtEl>
                                          <p:spTgt spid="33"/>
                                        </p:tgtEl>
                                        <p:attrNameLst>
                                          <p:attrName>ppt_y</p:attrName>
                                        </p:attrNameLst>
                                      </p:cBhvr>
                                      <p:tavLst>
                                        <p:tav tm="0">
                                          <p:val>
                                            <p:fltVal val="0.06"/>
                                          </p:val>
                                        </p:tav>
                                        <p:tav tm="100000">
                                          <p:val>
                                            <p:fltVal val="0"/>
                                          </p:val>
                                        </p:tav>
                                      </p:tavLst>
                                    </p:anim>
                                  </p:childTnLst>
                                </p:cTn>
                              </p:par>
                              <p:par>
                                <p:cTn id="78" fill="hold">
                                  <p:stCondLst>
                                    <p:cond delay="44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anim calcmode="lin" valueType="num">
                                      <p:cBhvr additive="base">
                                        <p:cTn id="77" dur="420" fill="hold"/>
                                        <p:tgtEl>
                                          <p:spTgt spid="34"/>
                                        </p:tgtEl>
                                        <p:attrNameLst>
                                          <p:attrName>ppt_y</p:attrName>
                                        </p:attrNameLst>
                                      </p:cBhvr>
                                      <p:tavLst>
                                        <p:tav tm="0">
                                          <p:val>
                                            <p:fltVal val="0.06"/>
                                          </p:val>
                                        </p:tav>
                                        <p:tav tm="100000">
                                          <p:val>
                                            <p:fltVal val="0"/>
                                          </p:val>
                                        </p:tav>
                                      </p:tavLst>
                                    </p:anim>
                                  </p:childTnLst>
                                </p:cTn>
                              </p:par>
                              <p:par>
                                <p:cTn id="82" fill="hold">
                                  <p:stCondLst>
                                    <p:cond delay="55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25" fill="hold">
                      <p:stCondLst>
                        <p:cond delay="indefinite"/>
                      </p:stCondLst>
                      <p:childTnLst>
                        <p:par>
                          <p:cTn id="126" fill="hold">
                            <p:stCondLst>
                              <p:cond delay="0"/>
                            </p:stCondLst>
                            <p:childTnLst>
                              <p:par>
                                <p:cTn id="88" fill="hold">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5" dur="420"/>
                                        <p:tgtEl>
                                          <p:spTgt spid="36"/>
                                        </p:tgtEl>
                                      </p:cBhvr>
                                    </p:animEffect>
                                    <p:anim calcmode="lin" valueType="num">
                                      <p:cBhvr additive="base">
                                        <p:cTn id="87" dur="420" fill="hold"/>
                                        <p:tgtEl>
                                          <p:spTgt spid="36"/>
                                        </p:tgtEl>
                                        <p:attrNameLst>
                                          <p:attrName>ppt_y</p:attrName>
                                        </p:attrNameLst>
                                      </p:cBhvr>
                                      <p:tavLst>
                                        <p:tav tm="0">
                                          <p:val>
                                            <p:fltVal val="0.06"/>
                                          </p:val>
                                        </p:tav>
                                        <p:tav tm="100000">
                                          <p:val>
                                            <p:fltVal val="0"/>
                                          </p:val>
                                        </p:tav>
                                      </p:tavLst>
                                    </p:anim>
                                  </p:childTnLst>
                                </p:cTn>
                              </p:par>
                              <p:par>
                                <p:cTn id="92" fill="hold">
                                  <p:stCondLst>
                                    <p:cond delay="110"/>
                                  </p:stCondLst>
                                  <p:childTnLst>
                                    <p:set>
                                      <p:cBhvr>
                                        <p:cTn id="90" dur="1" fill="hold">
                                          <p:stCondLst>
                                            <p:cond delay="0"/>
                                          </p:stCondLst>
                                        </p:cTn>
                                        <p:tgtEl>
                                          <p:spTgt spid="37"/>
                                        </p:tgtEl>
                                        <p:attrNameLst>
                                          <p:attrName>style.visibility</p:attrName>
                                        </p:attrNameLst>
                                      </p:cBhvr>
                                      <p:to>
                                        <p:strVal val="visible"/>
                                      </p:to>
                                    </p:set>
                                    <p:animEffect transition="in" filter="fade">
                                      <p:cBhvr>
                                        <p:cTn id="89" dur="420"/>
                                        <p:tgtEl>
                                          <p:spTgt spid="37"/>
                                        </p:tgtEl>
                                      </p:cBhvr>
                                    </p:animEffect>
                                    <p:anim calcmode="lin" valueType="num">
                                      <p:cBhvr additive="base">
                                        <p:cTn id="91" dur="420" fill="hold"/>
                                        <p:tgtEl>
                                          <p:spTgt spid="37"/>
                                        </p:tgtEl>
                                        <p:attrNameLst>
                                          <p:attrName>ppt_y</p:attrName>
                                        </p:attrNameLst>
                                      </p:cBhvr>
                                      <p:tavLst>
                                        <p:tav tm="0">
                                          <p:val>
                                            <p:fltVal val="0.06"/>
                                          </p:val>
                                        </p:tav>
                                        <p:tav tm="100000">
                                          <p:val>
                                            <p:fltVal val="0"/>
                                          </p:val>
                                        </p:tav>
                                      </p:tavLst>
                                    </p:anim>
                                  </p:childTnLst>
                                </p:cTn>
                              </p:par>
                              <p:par>
                                <p:cTn id="96" fill="hold">
                                  <p:stCondLst>
                                    <p:cond delay="22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anim calcmode="lin" valueType="num">
                                      <p:cBhvr additive="base">
                                        <p:cTn id="95" dur="420" fill="hold"/>
                                        <p:tgtEl>
                                          <p:spTgt spid="38"/>
                                        </p:tgtEl>
                                        <p:attrNameLst>
                                          <p:attrName>ppt_y</p:attrName>
                                        </p:attrNameLst>
                                      </p:cBhvr>
                                      <p:tavLst>
                                        <p:tav tm="0">
                                          <p:val>
                                            <p:fltVal val="0.06"/>
                                          </p:val>
                                        </p:tav>
                                        <p:tav tm="100000">
                                          <p:val>
                                            <p:fltVal val="0"/>
                                          </p:val>
                                        </p:tav>
                                      </p:tavLst>
                                    </p:anim>
                                  </p:childTnLst>
                                </p:cTn>
                              </p:par>
                              <p:par>
                                <p:cTn id="100" fill="hold">
                                  <p:stCondLst>
                                    <p:cond delay="330"/>
                                  </p:stCondLst>
                                  <p:childTnLst>
                                    <p:set>
                                      <p:cBhvr>
                                        <p:cTn id="98" dur="1" fill="hold">
                                          <p:stCondLst>
                                            <p:cond delay="0"/>
                                          </p:stCondLst>
                                        </p:cTn>
                                        <p:tgtEl>
                                          <p:spTgt spid="39"/>
                                        </p:tgtEl>
                                        <p:attrNameLst>
                                          <p:attrName>style.visibility</p:attrName>
                                        </p:attrNameLst>
                                      </p:cBhvr>
                                      <p:to>
                                        <p:strVal val="visible"/>
                                      </p:to>
                                    </p:set>
                                    <p:animEffect transition="in" filter="fade">
                                      <p:cBhvr>
                                        <p:cTn id="97" dur="420"/>
                                        <p:tgtEl>
                                          <p:spTgt spid="39"/>
                                        </p:tgtEl>
                                      </p:cBhvr>
                                    </p:animEffect>
                                    <p:anim calcmode="lin" valueType="num">
                                      <p:cBhvr additive="base">
                                        <p:cTn id="99" dur="420" fill="hold"/>
                                        <p:tgtEl>
                                          <p:spTgt spid="39"/>
                                        </p:tgtEl>
                                        <p:attrNameLst>
                                          <p:attrName>ppt_y</p:attrName>
                                        </p:attrNameLst>
                                      </p:cBhvr>
                                      <p:tavLst>
                                        <p:tav tm="0">
                                          <p:val>
                                            <p:fltVal val="0.06"/>
                                          </p:val>
                                        </p:tav>
                                        <p:tav tm="100000">
                                          <p:val>
                                            <p:fltVal val="0"/>
                                          </p:val>
                                        </p:tav>
                                      </p:tavLst>
                                    </p:anim>
                                  </p:childTnLst>
                                </p:cTn>
                              </p:par>
                              <p:par>
                                <p:cTn id="104" fill="hold">
                                  <p:stCondLst>
                                    <p:cond delay="44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1" dur="420"/>
                                        <p:tgtEl>
                                          <p:spTgt spid="40"/>
                                        </p:tgtEl>
                                      </p:cBhvr>
                                    </p:animEffect>
                                    <p:anim calcmode="lin" valueType="num">
                                      <p:cBhvr additive="base">
                                        <p:cTn id="103" dur="420" fill="hold"/>
                                        <p:tgtEl>
                                          <p:spTgt spid="40"/>
                                        </p:tgtEl>
                                        <p:attrNameLst>
                                          <p:attrName>ppt_y</p:attrName>
                                        </p:attrNameLst>
                                      </p:cBhvr>
                                      <p:tavLst>
                                        <p:tav tm="0">
                                          <p:val>
                                            <p:fltVal val="0.06"/>
                                          </p:val>
                                        </p:tav>
                                        <p:tav tm="100000">
                                          <p:val>
                                            <p:fltVal val="0"/>
                                          </p:val>
                                        </p:tav>
                                      </p:tavLst>
                                    </p:anim>
                                  </p:childTnLst>
                                </p:cTn>
                              </p:par>
                              <p:par>
                                <p:cTn id="108" fill="hold">
                                  <p:stCondLst>
                                    <p:cond delay="55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5" dur="420"/>
                                        <p:tgtEl>
                                          <p:spTgt spid="41"/>
                                        </p:tgtEl>
                                      </p:cBhvr>
                                    </p:animEffect>
                                    <p:anim calcmode="lin" valueType="num">
                                      <p:cBhvr additive="base">
                                        <p:cTn id="107" dur="420" fill="hold"/>
                                        <p:tgtEl>
                                          <p:spTgt spid="41"/>
                                        </p:tgtEl>
                                        <p:attrNameLst>
                                          <p:attrName>ppt_y</p:attrName>
                                        </p:attrNameLst>
                                      </p:cBhvr>
                                      <p:tavLst>
                                        <p:tav tm="0">
                                          <p:val>
                                            <p:fltVal val="0.06"/>
                                          </p:val>
                                        </p:tav>
                                        <p:tav tm="100000">
                                          <p:val>
                                            <p:fltVal val="0"/>
                                          </p:val>
                                        </p:tav>
                                      </p:tavLst>
                                    </p:anim>
                                  </p:childTnLst>
                                </p:cTn>
                              </p:par>
                              <p:par>
                                <p:cTn id="112" fill="hold">
                                  <p:stCondLst>
                                    <p:cond delay="66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anim calcmode="lin" valueType="num">
                                      <p:cBhvr additive="base">
                                        <p:cTn id="111" dur="420" fill="hold"/>
                                        <p:tgtEl>
                                          <p:spTgt spid="42"/>
                                        </p:tgtEl>
                                        <p:attrNameLst>
                                          <p:attrName>ppt_y</p:attrName>
                                        </p:attrNameLst>
                                      </p:cBhvr>
                                      <p:tavLst>
                                        <p:tav tm="0">
                                          <p:val>
                                            <p:fltVal val="0.06"/>
                                          </p:val>
                                        </p:tav>
                                        <p:tav tm="100000">
                                          <p:val>
                                            <p:fltVal val="0"/>
                                          </p:val>
                                        </p:tav>
                                      </p:tavLst>
                                    </p:anim>
                                  </p:childTnLst>
                                </p:cTn>
                              </p:par>
                              <p:par>
                                <p:cTn id="116" fill="hold">
                                  <p:stCondLst>
                                    <p:cond delay="770"/>
                                  </p:stCondLst>
                                  <p:childTnLst>
                                    <p:set>
                                      <p:cBhvr>
                                        <p:cTn id="114" dur="1" fill="hold">
                                          <p:stCondLst>
                                            <p:cond delay="0"/>
                                          </p:stCondLst>
                                        </p:cTn>
                                        <p:tgtEl>
                                          <p:spTgt spid="43"/>
                                        </p:tgtEl>
                                        <p:attrNameLst>
                                          <p:attrName>style.visibility</p:attrName>
                                        </p:attrNameLst>
                                      </p:cBhvr>
                                      <p:to>
                                        <p:strVal val="visible"/>
                                      </p:to>
                                    </p:set>
                                    <p:animEffect transition="in" filter="fade">
                                      <p:cBhvr>
                                        <p:cTn id="113" dur="420"/>
                                        <p:tgtEl>
                                          <p:spTgt spid="43"/>
                                        </p:tgtEl>
                                      </p:cBhvr>
                                    </p:animEffect>
                                    <p:anim calcmode="lin" valueType="num">
                                      <p:cBhvr additive="base">
                                        <p:cTn id="115" dur="420" fill="hold"/>
                                        <p:tgtEl>
                                          <p:spTgt spid="43"/>
                                        </p:tgtEl>
                                        <p:attrNameLst>
                                          <p:attrName>ppt_y</p:attrName>
                                        </p:attrNameLst>
                                      </p:cBhvr>
                                      <p:tavLst>
                                        <p:tav tm="0">
                                          <p:val>
                                            <p:fltVal val="0.06"/>
                                          </p:val>
                                        </p:tav>
                                        <p:tav tm="100000">
                                          <p:val>
                                            <p:fltVal val="0"/>
                                          </p:val>
                                        </p:tav>
                                      </p:tavLst>
                                    </p:anim>
                                  </p:childTnLst>
                                </p:cTn>
                              </p:par>
                              <p:par>
                                <p:cTn id="120" fill="hold">
                                  <p:stCondLst>
                                    <p:cond delay="88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anim calcmode="lin" valueType="num">
                                      <p:cBhvr additive="base">
                                        <p:cTn id="119" dur="420" fill="hold"/>
                                        <p:tgtEl>
                                          <p:spTgt spid="44"/>
                                        </p:tgtEl>
                                        <p:attrNameLst>
                                          <p:attrName>ppt_y</p:attrName>
                                        </p:attrNameLst>
                                      </p:cBhvr>
                                      <p:tavLst>
                                        <p:tav tm="0">
                                          <p:val>
                                            <p:fltVal val="0.06"/>
                                          </p:val>
                                        </p:tav>
                                        <p:tav tm="100000">
                                          <p:val>
                                            <p:fltVal val="0"/>
                                          </p:val>
                                        </p:tav>
                                      </p:tavLst>
                                    </p:anim>
                                  </p:childTnLst>
                                </p:cTn>
                              </p:par>
                              <p:par>
                                <p:cTn id="124" fill="hold">
                                  <p:stCondLst>
                                    <p:cond delay="99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1" dur="420"/>
                                        <p:tgtEl>
                                          <p:spTgt spid="45"/>
                                        </p:tgtEl>
                                      </p:cBhvr>
                                    </p:animEffect>
                                    <p:anim calcmode="lin" valueType="num">
                                      <p:cBhvr additive="base">
                                        <p:cTn id="123" dur="420" fill="hold"/>
                                        <p:tgtEl>
                                          <p:spTgt spid="45"/>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Flujo de diseño: del enunciado al circuito montado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Metodología ordenada que evita el 90 % de los errores en el laboratorio.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20592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sign_flow.png"/>
          <p:cNvPicPr>
            <a:picLocks noChangeAspect="1"/>
          </p:cNvPicPr>
          <p:nvPr/>
        </p:nvPicPr>
        <p:blipFill>
          <a:blip r:embed="rId2"/>
          <a:srcRect l="12932" r="12932"/>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Seis pasos: especificar, tabular, simplificar, seleccionar chips, simular y montar. Saltarse un paso se paga con horas de depuración.</a:t>
            </a:r>
          </a:p>
        </p:txBody>
      </p:sp>
      <p:sp>
        <p:nvSpPr>
          <p:cNvPr id="19" name="Oval 18"/>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1. Especificar:</a:t>
            </a:r>
            <a:r>
              <a:rPr sz="1050" b="0">
                <a:solidFill>
                  <a:srgbClr val="2C3E56"/>
                </a:solidFill>
                <a:latin typeface="Segoe UI"/>
              </a:rPr>
              <a:t> definir con precisión entradas, salidas y comportamiento esperado; anotar niveles activos.</a:t>
            </a:r>
          </a:p>
        </p:txBody>
      </p:sp>
      <p:sp>
        <p:nvSpPr>
          <p:cNvPr id="21" name="Oval 20"/>
          <p:cNvSpPr/>
          <p:nvPr/>
        </p:nvSpPr>
        <p:spPr>
          <a:xfrm>
            <a:off x="7793705" y="18481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2. Tabla de verdad:</a:t>
            </a:r>
            <a:r>
              <a:rPr sz="1050" b="0">
                <a:solidFill>
                  <a:srgbClr val="2C3E56"/>
                </a:solidFill>
                <a:latin typeface="Segoe UI"/>
              </a:rPr>
              <a:t> listar todas las combinaciones (2^n filas) y tabular cada salida.</a:t>
            </a:r>
          </a:p>
        </p:txBody>
      </p:sp>
      <p:sp>
        <p:nvSpPr>
          <p:cNvPr id="23" name="Oval 22"/>
          <p:cNvSpPr/>
          <p:nvPr/>
        </p:nvSpPr>
        <p:spPr>
          <a:xfrm>
            <a:off x="7793705" y="226981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3. Simplificar:</a:t>
            </a:r>
            <a:r>
              <a:rPr sz="1050" b="0">
                <a:solidFill>
                  <a:srgbClr val="2C3E56"/>
                </a:solidFill>
                <a:latin typeface="Segoe UI"/>
              </a:rPr>
              <a:t> aplicar Boole, De Morgan o Karnaugh hasta la expresión mínima.</a:t>
            </a:r>
          </a:p>
        </p:txBody>
      </p:sp>
      <p:sp>
        <p:nvSpPr>
          <p:cNvPr id="25" name="Oval 24"/>
          <p:cNvSpPr/>
          <p:nvPr/>
        </p:nvSpPr>
        <p:spPr>
          <a:xfrm>
            <a:off x="7793705" y="2691490"/>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4. Seleccionar chips:</a:t>
            </a:r>
            <a:r>
              <a:rPr sz="1050" b="0">
                <a:solidFill>
                  <a:srgbClr val="2C3E56"/>
                </a:solidFill>
                <a:latin typeface="Segoe UI"/>
              </a:rPr>
              <a:t> contar compuertas por tipo y elegir integrados con el menor número de paquetes.</a:t>
            </a:r>
          </a:p>
        </p:txBody>
      </p:sp>
      <p:sp>
        <p:nvSpPr>
          <p:cNvPr id="27" name="Oval 26"/>
          <p:cNvSpPr/>
          <p:nvPr/>
        </p:nvSpPr>
        <p:spPr>
          <a:xfrm>
            <a:off x="7793705" y="311316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5. Simular:</a:t>
            </a:r>
            <a:r>
              <a:rPr sz="1050" b="0">
                <a:solidFill>
                  <a:srgbClr val="2C3E56"/>
                </a:solidFill>
                <a:latin typeface="Segoe UI"/>
              </a:rPr>
              <a:t> verificar en Logisim, Multisim, Proteus o Tinkercad antes de tomar el cautín.</a:t>
            </a:r>
          </a:p>
        </p:txBody>
      </p:sp>
      <p:sp>
        <p:nvSpPr>
          <p:cNvPr id="29" name="Oval 28"/>
          <p:cNvSpPr/>
          <p:nvPr/>
        </p:nvSpPr>
        <p:spPr>
          <a:xfrm>
            <a:off x="7793705" y="353484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6. Montar y medir:</a:t>
            </a:r>
            <a:r>
              <a:rPr sz="1050" b="0">
                <a:solidFill>
                  <a:srgbClr val="2C3E56"/>
                </a:solidFill>
                <a:latin typeface="Segoe UI"/>
              </a:rPr>
              <a:t> cablear por etapas, alimentar y comprobar cada bloque con la punta lógica antes de avanzar.</a:t>
            </a:r>
          </a:p>
        </p:txBody>
      </p:sp>
      <p:sp>
        <p:nvSpPr>
          <p:cNvPr id="31" name="Oval 30"/>
          <p:cNvSpPr/>
          <p:nvPr/>
        </p:nvSpPr>
        <p:spPr>
          <a:xfrm>
            <a:off x="7793705" y="413077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Documentar:</a:t>
            </a:r>
            <a:r>
              <a:rPr sz="1000" b="0">
                <a:solidFill>
                  <a:srgbClr val="2C3E56"/>
                </a:solidFill>
                <a:latin typeface="Segoe UI"/>
              </a:rPr>
              <a:t> anotar el diagrama final, el pinout usado y las mediciones obtenidas para reproducir el montaje.</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Errores más frecuentes: empezar a cablear sin simplificar, olvidar la alimentación, confundir el orden de los pines del 7402 y dejar entradas CMOS flotantes.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Multiplicador binario con sumadores y desplazamientos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nace la multiplicación de compuertas AND, sumadores y registros.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31833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ipple_adder.png"/>
          <p:cNvPicPr>
            <a:picLocks noChangeAspect="1"/>
          </p:cNvPicPr>
          <p:nvPr/>
        </p:nvPicPr>
        <p:blipFill>
          <a:blip r:embed="rId2"/>
          <a:stretch>
            <a:fillRect/>
          </a:stretch>
        </p:blipFill>
        <p:spPr>
          <a:xfrm>
            <a:off x="539496" y="2270875"/>
            <a:ext cx="6906737" cy="182247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Multiplicación binaria: cada bit del multiplicador genera una fila de productos parciales (AND) que se suman desplazadas una posición.</a:t>
            </a:r>
          </a:p>
        </p:txBody>
      </p:sp>
      <p:sp>
        <p:nvSpPr>
          <p:cNvPr id="19" name="Oval 18"/>
          <p:cNvSpPr/>
          <p:nvPr/>
        </p:nvSpPr>
        <p:spPr>
          <a:xfrm>
            <a:off x="7793705"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Producto parcial:</a:t>
            </a:r>
            <a:r>
              <a:rPr sz="1050" b="0">
                <a:solidFill>
                  <a:srgbClr val="2C3E56"/>
                </a:solidFill>
                <a:latin typeface="Segoe UI"/>
              </a:rPr>
              <a:t> el AND de cada bit del multiplicador con todos los bits del multiplicando (4 AND por fila en 4 bits).</a:t>
            </a:r>
          </a:p>
        </p:txBody>
      </p:sp>
      <p:sp>
        <p:nvSpPr>
          <p:cNvPr id="21" name="Oval 20"/>
          <p:cNvSpPr/>
          <p:nvPr/>
        </p:nvSpPr>
        <p:spPr>
          <a:xfrm>
            <a:off x="7793705" y="2022401"/>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Desplazamiento:</a:t>
            </a:r>
            <a:r>
              <a:rPr sz="1050" b="0">
                <a:solidFill>
                  <a:srgbClr val="2C3E56"/>
                </a:solidFill>
                <a:latin typeface="Segoe UI"/>
              </a:rPr>
              <a:t> cada fila se corre una posición a la izquierda, igual que en la multiplicación decimal hecha a mano.</a:t>
            </a:r>
          </a:p>
        </p:txBody>
      </p:sp>
      <p:sp>
        <p:nvSpPr>
          <p:cNvPr id="23" name="Oval 22"/>
          <p:cNvSpPr/>
          <p:nvPr/>
        </p:nvSpPr>
        <p:spPr>
          <a:xfrm>
            <a:off x="7793705" y="2618338"/>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Suma:</a:t>
            </a:r>
            <a:r>
              <a:rPr sz="1050" b="0">
                <a:solidFill>
                  <a:srgbClr val="2C3E56"/>
                </a:solidFill>
                <a:latin typeface="Segoe UI"/>
              </a:rPr>
              <a:t> los productos parciales se acumulan con sumadores de 4 bits (74LS83/74LS283) encadenados.</a:t>
            </a:r>
          </a:p>
        </p:txBody>
      </p:sp>
      <p:sp>
        <p:nvSpPr>
          <p:cNvPr id="25" name="Oval 24"/>
          <p:cNvSpPr/>
          <p:nvPr/>
        </p:nvSpPr>
        <p:spPr>
          <a:xfrm>
            <a:off x="7793705" y="304001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Costo:</a:t>
            </a:r>
            <a:r>
              <a:rPr sz="1050" b="0">
                <a:solidFill>
                  <a:srgbClr val="2C3E56"/>
                </a:solidFill>
                <a:latin typeface="Segoe UI"/>
              </a:rPr>
              <a:t> un multiplicador de 4 × 4 bits necesita 16 compuertas AND y 3 sumadores de 4 bits.</a:t>
            </a:r>
          </a:p>
        </p:txBody>
      </p:sp>
      <p:sp>
        <p:nvSpPr>
          <p:cNvPr id="27" name="Oval 26"/>
          <p:cNvSpPr/>
          <p:nvPr/>
        </p:nvSpPr>
        <p:spPr>
          <a:xfrm>
            <a:off x="7793705" y="346168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División:</a:t>
            </a:r>
            <a:r>
              <a:rPr sz="1050" b="0">
                <a:solidFill>
                  <a:srgbClr val="2C3E56"/>
                </a:solidFill>
                <a:latin typeface="Segoe UI"/>
              </a:rPr>
              <a:t> se realiza con restas sucesivas y desplazamientos, empleando el mismo principio con lógica de comparación.</a:t>
            </a:r>
          </a:p>
        </p:txBody>
      </p:sp>
      <p:sp>
        <p:nvSpPr>
          <p:cNvPr id="29" name="Oval 28"/>
          <p:cNvSpPr/>
          <p:nvPr/>
        </p:nvSpPr>
        <p:spPr>
          <a:xfrm>
            <a:off x="7793705" y="405762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a:t>
            </a:r>
            <a:r>
              <a:rPr sz="1050" b="0">
                <a:solidFill>
                  <a:srgbClr val="2C3E56"/>
                </a:solidFill>
                <a:latin typeface="Segoe UI"/>
              </a:rPr>
              <a:t> las ALU modernas implementan multiplicadores por hardware en cascada (árboles de Wallace) con la misma idea básica.</a:t>
            </a:r>
          </a:p>
        </p:txBody>
      </p:sp>
      <p:sp>
        <p:nvSpPr>
          <p:cNvPr id="31" name="Rounded Rectangle 30"/>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5468112"/>
            <a:ext cx="32004" cy="64008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OBSERVACIÓN</a:t>
            </a:r>
          </a:p>
        </p:txBody>
      </p:sp>
      <p:sp>
        <p:nvSpPr>
          <p:cNvPr id="34" name="TextBox 33"/>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Este bloque explica por qué la XOR y la AND conviven en la aritmética: la XOR calcula la suma sin acarreo, la AND calcula cuándo hay acarreo, y la OR los une.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7" fill="hold">
                      <p:stCondLst>
                        <p:cond delay="indefinite"/>
                      </p:stCondLst>
                      <p:childTnLst>
                        <p:par>
                          <p:cTn id="68" fill="hold">
                            <p:stCondLst>
                              <p:cond delay="0"/>
                            </p:stCondLst>
                            <p:childTnLst>
                              <p:par>
                                <p:cTn id="66" fill="hold">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childTnLst>
                                </p:cTn>
                              </p:par>
                            </p:childTnLst>
                          </p:cTn>
                        </p:par>
                      </p:childTnLst>
                    </p:cTn>
                  </p:par>
                  <p:par>
                    <p:cTn id="78" fill="hold">
                      <p:stCondLst>
                        <p:cond delay="indefinite"/>
                      </p:stCondLst>
                      <p:childTnLst>
                        <p:par>
                          <p:cTn id="79" fill="hold">
                            <p:stCondLst>
                              <p:cond delay="0"/>
                            </p:stCondLst>
                            <p:childTnLst>
                              <p:par>
                                <p:cTn id="71" fill="hold">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childTnLst>
                                </p:cTn>
                              </p:par>
                              <p:par>
                                <p:cTn id="74" fill="hold">
                                  <p:stCondLst>
                                    <p:cond delay="110"/>
                                  </p:stCondLst>
                                  <p:childTnLst>
                                    <p:set>
                                      <p:cBhvr>
                                        <p:cTn id="73" dur="1" fill="hold">
                                          <p:stCondLst>
                                            <p:cond delay="0"/>
                                          </p:stCondLst>
                                        </p:cTn>
                                        <p:tgtEl>
                                          <p:spTgt spid="33"/>
                                        </p:tgtEl>
                                        <p:attrNameLst>
                                          <p:attrName>style.visibility</p:attrName>
                                        </p:attrNameLst>
                                      </p:cBhvr>
                                      <p:to>
                                        <p:strVal val="visible"/>
                                      </p:to>
                                    </p:set>
                                    <p:animEffect transition="in" filter="fade">
                                      <p:cBhvr>
                                        <p:cTn id="72" dur="420"/>
                                        <p:tgtEl>
                                          <p:spTgt spid="33"/>
                                        </p:tgtEl>
                                      </p:cBhvr>
                                    </p:animEffect>
                                  </p:childTnLst>
                                </p:cTn>
                              </p:par>
                              <p:par>
                                <p:cTn id="77" fill="hold">
                                  <p:stCondLst>
                                    <p:cond delay="22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Comparadores de magnitud y detectores de igualdad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decide un circuito digital si un número es mayor, igual o menor que otro.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43074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mory.png"/>
          <p:cNvPicPr>
            <a:picLocks noChangeAspect="1"/>
          </p:cNvPicPr>
          <p:nvPr/>
        </p:nvPicPr>
        <p:blipFill>
          <a:blip r:embed="rId2"/>
          <a:srcRect l="8571" r="8571"/>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Comparadores 74LS85 (4 bits) y 74LS688 (8 bits): entregan tres salidas de decisión (mayor, igual, menor) y se pueden encadenar para palabras más largas.</a:t>
            </a:r>
          </a:p>
        </p:txBody>
      </p:sp>
      <p:sp>
        <p:nvSpPr>
          <p:cNvPr id="19" name="Oval 18"/>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Comparador de igualdad:</a:t>
            </a:r>
            <a:r>
              <a:rPr sz="1050" b="0">
                <a:solidFill>
                  <a:srgbClr val="2C3E56"/>
                </a:solidFill>
                <a:latin typeface="Segoe UI"/>
              </a:rPr>
              <a:t> se construye con compuertas XNOR (74266) más una gran AND, o directamente con el 74LS688.</a:t>
            </a:r>
          </a:p>
        </p:txBody>
      </p:sp>
      <p:sp>
        <p:nvSpPr>
          <p:cNvPr id="21" name="Oval 20"/>
          <p:cNvSpPr/>
          <p:nvPr/>
        </p:nvSpPr>
        <p:spPr>
          <a:xfrm>
            <a:off x="7793705" y="202240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Comparador de magnitud:</a:t>
            </a:r>
            <a:r>
              <a:rPr sz="1050" b="0">
                <a:solidFill>
                  <a:srgbClr val="2C3E56"/>
                </a:solidFill>
                <a:latin typeface="Segoe UI"/>
              </a:rPr>
              <a:t> el 74LS85 entrega A &gt; B, A = B y A &lt; B para palabras de 4 bits, con entradas de cascada.</a:t>
            </a:r>
          </a:p>
        </p:txBody>
      </p:sp>
      <p:sp>
        <p:nvSpPr>
          <p:cNvPr id="23" name="Oval 22"/>
          <p:cNvSpPr/>
          <p:nvPr/>
        </p:nvSpPr>
        <p:spPr>
          <a:xfrm>
            <a:off x="7793705" y="2618338"/>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Cascada:</a:t>
            </a:r>
            <a:r>
              <a:rPr sz="1050" b="0">
                <a:solidFill>
                  <a:srgbClr val="2C3E56"/>
                </a:solidFill>
                <a:latin typeface="Segoe UI"/>
              </a:rPr>
              <a:t> uniendo varios 74LS85 se comparan palabras de 8, 12, 16 bits o más.</a:t>
            </a:r>
          </a:p>
        </p:txBody>
      </p:sp>
      <p:sp>
        <p:nvSpPr>
          <p:cNvPr id="25" name="Oval 24"/>
          <p:cNvSpPr/>
          <p:nvPr/>
        </p:nvSpPr>
        <p:spPr>
          <a:xfrm>
            <a:off x="7793705" y="304001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1:</a:t>
            </a:r>
            <a:r>
              <a:rPr sz="1050" b="0">
                <a:solidFill>
                  <a:srgbClr val="2C3E56"/>
                </a:solidFill>
                <a:latin typeface="Segoe UI"/>
              </a:rPr>
              <a:t> control de temperatura o nivel donde se activa una alarma al superar un umbral.</a:t>
            </a:r>
          </a:p>
        </p:txBody>
      </p:sp>
      <p:sp>
        <p:nvSpPr>
          <p:cNvPr id="27" name="Oval 26"/>
          <p:cNvSpPr/>
          <p:nvPr/>
        </p:nvSpPr>
        <p:spPr>
          <a:xfrm>
            <a:off x="7793705" y="346168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2:</a:t>
            </a:r>
            <a:r>
              <a:rPr sz="1050" b="0">
                <a:solidFill>
                  <a:srgbClr val="2C3E56"/>
                </a:solidFill>
                <a:latin typeface="Segoe UI"/>
              </a:rPr>
              <a:t> direccionamiento de memoria: el 74LS688 compara el bus de direcciones con un valor fijo y activa el chip select.</a:t>
            </a:r>
          </a:p>
        </p:txBody>
      </p:sp>
      <p:sp>
        <p:nvSpPr>
          <p:cNvPr id="29" name="Oval 28"/>
          <p:cNvSpPr/>
          <p:nvPr/>
        </p:nvSpPr>
        <p:spPr>
          <a:xfrm>
            <a:off x="7793705" y="405762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Aplicación 3:</a:t>
            </a:r>
            <a:r>
              <a:rPr sz="1000" b="0">
                <a:solidFill>
                  <a:srgbClr val="2C3E56"/>
                </a:solidFill>
                <a:latin typeface="Segoe UI"/>
              </a:rPr>
              <a:t> detección de fin de conteo, comparación de contraseñas y validación de datos recibidos.</a:t>
            </a:r>
          </a:p>
        </p:txBody>
      </p:sp>
      <p:sp>
        <p:nvSpPr>
          <p:cNvPr id="31" name="Oval 30"/>
          <p:cNvSpPr/>
          <p:nvPr/>
        </p:nvSpPr>
        <p:spPr>
          <a:xfrm>
            <a:off x="7793705" y="447930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Igualdad con XNOR:</a:t>
            </a:r>
            <a:r>
              <a:rPr sz="1000" b="0">
                <a:solidFill>
                  <a:srgbClr val="2C3E56"/>
                </a:solidFill>
                <a:latin typeface="Segoe UI"/>
              </a:rPr>
              <a:t> dos números binarios son iguales si todas las XNOR de sus bits correspondientes valen '1'.</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 diseño: para comparar solo igualdad basta con XNOR y AND; si se necesita saber cuál es mayor, hay que usar un comparador de magnitud dedicado como el 74LS85, porque la lógica combinacional equivalente crece muy rápido.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76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8543155"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C42B6B"/>
                </a:solidFill>
                <a:latin typeface="Consolas"/>
              </a:rPr>
              <a:t>05</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Práctica de laboratorio y diagnóstico</a:t>
            </a:r>
          </a:p>
        </p:txBody>
      </p:sp>
      <p:sp>
        <p:nvSpPr>
          <p:cNvPr id="15" name="Rectangle 14"/>
          <p:cNvSpPr/>
          <p:nvPr/>
        </p:nvSpPr>
        <p:spPr>
          <a:xfrm>
            <a:off x="475488" y="4370832"/>
            <a:ext cx="1645920" cy="457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lab.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Materiales y equipo indispensable para armar circuitos con la Serie 74XX</a:t>
            </a:r>
          </a:p>
        </p:txBody>
      </p:sp>
      <p:sp>
        <p:nvSpPr>
          <p:cNvPr id="19" name="Oval 18"/>
          <p:cNvSpPr/>
          <p:nvPr/>
        </p:nvSpPr>
        <p:spPr>
          <a:xfrm>
            <a:off x="502919" y="491300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Montaje paso a paso en protoboard con alimentación y desacople correctos</a:t>
            </a:r>
          </a:p>
        </p:txBody>
      </p:sp>
      <p:sp>
        <p:nvSpPr>
          <p:cNvPr id="21" name="Oval 20"/>
          <p:cNvSpPr/>
          <p:nvPr/>
        </p:nvSpPr>
        <p:spPr>
          <a:xfrm>
            <a:off x="502919" y="515342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Medición con multímetro, punta lógica y osciloscopio</a:t>
            </a:r>
          </a:p>
        </p:txBody>
      </p:sp>
      <p:sp>
        <p:nvSpPr>
          <p:cNvPr id="23" name="Oval 22"/>
          <p:cNvSpPr/>
          <p:nvPr/>
        </p:nvSpPr>
        <p:spPr>
          <a:xfrm>
            <a:off x="502919" y="539384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Procedimiento de verificación por bloques y tabla de verdad real</a:t>
            </a:r>
          </a:p>
        </p:txBody>
      </p:sp>
      <p:sp>
        <p:nvSpPr>
          <p:cNvPr id="25" name="Oval 24"/>
          <p:cNvSpPr/>
          <p:nvPr/>
        </p:nvSpPr>
        <p:spPr>
          <a:xfrm>
            <a:off x="502919" y="5634266"/>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Diagnóstico sistemático de fallas: síntoma, causa probable y solución</a:t>
            </a:r>
          </a:p>
        </p:txBody>
      </p:sp>
      <p:sp>
        <p:nvSpPr>
          <p:cNvPr id="27" name="Oval 26"/>
          <p:cNvSpPr/>
          <p:nvPr/>
        </p:nvSpPr>
        <p:spPr>
          <a:xfrm>
            <a:off x="502919" y="5874686"/>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Buenas prácticas, seguridad y reglas de oro del laboratorio digital</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Materiales y equipo del laboratorio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Lo que se necesita sobre la mesa antes de empezar a cablear.</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655565"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830</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Protoboard</a:t>
            </a:r>
          </a:p>
        </p:txBody>
      </p:sp>
      <p:sp>
        <p:nvSpPr>
          <p:cNvPr id="20" name="TextBox 19"/>
          <p:cNvSpPr txBox="1"/>
          <p:nvPr/>
        </p:nvSpPr>
        <p:spPr>
          <a:xfrm>
            <a:off x="658368" y="1828800"/>
            <a:ext cx="3247125" cy="633984"/>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Tablero de conexiones sin soldadura con dos buses de alimentación y 64 columnas de 5 contactos. Permite modificar el circuito sin desoldar.</a:t>
            </a:r>
          </a:p>
        </p:txBody>
      </p:sp>
      <p:sp>
        <p:nvSpPr>
          <p:cNvPr id="21" name="Rounded Rectangle 20"/>
          <p:cNvSpPr/>
          <p:nvPr/>
        </p:nvSpPr>
        <p:spPr>
          <a:xfrm>
            <a:off x="4289541" y="1371600"/>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1 A</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Fuente de 5 V</a:t>
            </a:r>
          </a:p>
        </p:txBody>
      </p:sp>
      <p:sp>
        <p:nvSpPr>
          <p:cNvPr id="25" name="TextBox 24"/>
          <p:cNvSpPr txBox="1"/>
          <p:nvPr/>
        </p:nvSpPr>
        <p:spPr>
          <a:xfrm>
            <a:off x="4472421" y="1828800"/>
            <a:ext cx="3247125" cy="633984"/>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Fuente regulada de 5 V DC con limitación de corriente. Nunca usar fuentes sin regular ni baterías sin protección contra polaridad inversa.</a:t>
            </a:r>
          </a:p>
        </p:txBody>
      </p:sp>
      <p:sp>
        <p:nvSpPr>
          <p:cNvPr id="26" name="Rounded Rectangle 25"/>
          <p:cNvSpPr/>
          <p:nvPr/>
        </p:nvSpPr>
        <p:spPr>
          <a:xfrm>
            <a:off x="8103595" y="1371600"/>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#22</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Juego de cables</a:t>
            </a:r>
          </a:p>
        </p:txBody>
      </p:sp>
      <p:sp>
        <p:nvSpPr>
          <p:cNvPr id="30" name="TextBox 29"/>
          <p:cNvSpPr txBox="1"/>
          <p:nvPr/>
        </p:nvSpPr>
        <p:spPr>
          <a:xfrm>
            <a:off x="8286475" y="1828800"/>
            <a:ext cx="3247125" cy="633984"/>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Cables rígidos calibre 22 de distintos colores: rojo para VCC, negro para GND y colores para señales. Colores consistentes simplifican el diagnóstico.</a:t>
            </a:r>
          </a:p>
        </p:txBody>
      </p:sp>
      <p:sp>
        <p:nvSpPr>
          <p:cNvPr id="31" name="Rounded Rectangle 30"/>
          <p:cNvSpPr/>
          <p:nvPr/>
        </p:nvSpPr>
        <p:spPr>
          <a:xfrm>
            <a:off x="475488" y="2709672"/>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819400"/>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V/A/Ω</a:t>
            </a:r>
          </a:p>
        </p:txBody>
      </p:sp>
      <p:sp>
        <p:nvSpPr>
          <p:cNvPr id="34" name="TextBox 33"/>
          <p:cNvSpPr txBox="1"/>
          <p:nvPr/>
        </p:nvSpPr>
        <p:spPr>
          <a:xfrm>
            <a:off x="658368" y="2855976"/>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Multímetro digital</a:t>
            </a:r>
          </a:p>
        </p:txBody>
      </p:sp>
      <p:sp>
        <p:nvSpPr>
          <p:cNvPr id="35" name="TextBox 34"/>
          <p:cNvSpPr txBox="1"/>
          <p:nvPr/>
        </p:nvSpPr>
        <p:spPr>
          <a:xfrm>
            <a:off x="658368" y="3166872"/>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Para medir VCC, los niveles de salida y detectar continuidad. Imprescindible antes de energizar el circuito.</a:t>
            </a:r>
          </a:p>
        </p:txBody>
      </p:sp>
      <p:sp>
        <p:nvSpPr>
          <p:cNvPr id="36" name="Rounded Rectangle 35"/>
          <p:cNvSpPr/>
          <p:nvPr/>
        </p:nvSpPr>
        <p:spPr>
          <a:xfrm>
            <a:off x="4289541" y="2709672"/>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2819400"/>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828544"/>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LED</a:t>
            </a:r>
          </a:p>
        </p:txBody>
      </p:sp>
      <p:sp>
        <p:nvSpPr>
          <p:cNvPr id="39" name="TextBox 38"/>
          <p:cNvSpPr txBox="1"/>
          <p:nvPr/>
        </p:nvSpPr>
        <p:spPr>
          <a:xfrm>
            <a:off x="4472421" y="2855976"/>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Punta lógica</a:t>
            </a:r>
          </a:p>
        </p:txBody>
      </p:sp>
      <p:sp>
        <p:nvSpPr>
          <p:cNvPr id="40" name="TextBox 39"/>
          <p:cNvSpPr txBox="1"/>
          <p:nvPr/>
        </p:nvSpPr>
        <p:spPr>
          <a:xfrm>
            <a:off x="4472421" y="3166872"/>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Instrumento de dos LEDs (rojo/verde) que permite observar el nivel lógico de cualquier pin sin detener el circuito.</a:t>
            </a:r>
          </a:p>
        </p:txBody>
      </p:sp>
      <p:sp>
        <p:nvSpPr>
          <p:cNvPr id="41" name="Rounded Rectangle 40"/>
          <p:cNvSpPr/>
          <p:nvPr/>
        </p:nvSpPr>
        <p:spPr>
          <a:xfrm>
            <a:off x="8103595" y="2709672"/>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2819400"/>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2828544"/>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330 Ω</a:t>
            </a:r>
          </a:p>
        </p:txBody>
      </p:sp>
      <p:sp>
        <p:nvSpPr>
          <p:cNvPr id="44" name="TextBox 43"/>
          <p:cNvSpPr txBox="1"/>
          <p:nvPr/>
        </p:nvSpPr>
        <p:spPr>
          <a:xfrm>
            <a:off x="8286475" y="2855976"/>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LEDs y resistencias</a:t>
            </a:r>
          </a:p>
        </p:txBody>
      </p:sp>
      <p:sp>
        <p:nvSpPr>
          <p:cNvPr id="45" name="TextBox 44"/>
          <p:cNvSpPr txBox="1"/>
          <p:nvPr/>
        </p:nvSpPr>
        <p:spPr>
          <a:xfrm>
            <a:off x="8286475" y="3166872"/>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LEDs como indicadores visuales de estado. Resistencia de 330 Ω para limitar la corriente a unos 10 mA por LED.</a:t>
            </a:r>
          </a:p>
        </p:txBody>
      </p:sp>
      <p:sp>
        <p:nvSpPr>
          <p:cNvPr id="46" name="Rounded Rectangle 45"/>
          <p:cNvSpPr/>
          <p:nvPr/>
        </p:nvSpPr>
        <p:spPr>
          <a:xfrm>
            <a:off x="475488" y="4047744"/>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4157472"/>
            <a:ext cx="32004" cy="384048"/>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0C7C74"/>
                </a:solidFill>
                <a:latin typeface="Consolas"/>
              </a:rPr>
              <a:t>DIP-14</a:t>
            </a:r>
          </a:p>
        </p:txBody>
      </p:sp>
      <p:sp>
        <p:nvSpPr>
          <p:cNvPr id="49" name="TextBox 48"/>
          <p:cNvSpPr txBox="1"/>
          <p:nvPr/>
        </p:nvSpPr>
        <p:spPr>
          <a:xfrm>
            <a:off x="658368" y="4194048"/>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Chips de la Serie 74XX</a:t>
            </a:r>
          </a:p>
        </p:txBody>
      </p:sp>
      <p:sp>
        <p:nvSpPr>
          <p:cNvPr id="50" name="TextBox 49"/>
          <p:cNvSpPr txBox="1"/>
          <p:nvPr/>
        </p:nvSpPr>
        <p:spPr>
          <a:xfrm>
            <a:off x="658368" y="4504944"/>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7400, 7408, 7432, 7404, 7402, 7486. Conviene tener dos de cada uno: uno puede dañarse durante la práctica.</a:t>
            </a:r>
          </a:p>
        </p:txBody>
      </p:sp>
      <p:sp>
        <p:nvSpPr>
          <p:cNvPr id="51" name="Rounded Rectangle 50"/>
          <p:cNvSpPr/>
          <p:nvPr/>
        </p:nvSpPr>
        <p:spPr>
          <a:xfrm>
            <a:off x="4289541" y="4047744"/>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89541" y="4157472"/>
            <a:ext cx="32004" cy="384048"/>
          </a:xfrm>
          <a:prstGeom prst="rect">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4166616"/>
            <a:ext cx="457200" cy="201168"/>
          </a:xfrm>
          <a:prstGeom prst="rect">
            <a:avLst/>
          </a:prstGeom>
          <a:noFill/>
        </p:spPr>
        <p:txBody>
          <a:bodyPr wrap="square" lIns="0" rIns="0" tIns="0" bIns="0" anchor="t">
            <a:spAutoFit/>
          </a:bodyPr>
          <a:lstStyle/>
          <a:p>
            <a:pPr algn="l">
              <a:lnSpc>
                <a:spcPct val="100000"/>
              </a:lnSpc>
            </a:pPr>
            <a:r>
              <a:rPr sz="900" b="1">
                <a:solidFill>
                  <a:srgbClr val="4149C8"/>
                </a:solidFill>
                <a:latin typeface="Consolas"/>
              </a:rPr>
              <a:t>DIP</a:t>
            </a:r>
          </a:p>
        </p:txBody>
      </p:sp>
      <p:sp>
        <p:nvSpPr>
          <p:cNvPr id="54" name="TextBox 53"/>
          <p:cNvSpPr txBox="1"/>
          <p:nvPr/>
        </p:nvSpPr>
        <p:spPr>
          <a:xfrm>
            <a:off x="4472421" y="4194048"/>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Extractor de chips</a:t>
            </a:r>
          </a:p>
        </p:txBody>
      </p:sp>
      <p:sp>
        <p:nvSpPr>
          <p:cNvPr id="55" name="TextBox 54"/>
          <p:cNvSpPr txBox="1"/>
          <p:nvPr/>
        </p:nvSpPr>
        <p:spPr>
          <a:xfrm>
            <a:off x="4472421" y="4504944"/>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Herramienta para retirar integrados sin doblar los pines. Retirar un chip a mano es la forma más común de romper una patita.</a:t>
            </a:r>
          </a:p>
        </p:txBody>
      </p:sp>
      <p:sp>
        <p:nvSpPr>
          <p:cNvPr id="56" name="Rounded Rectangle 55"/>
          <p:cNvSpPr/>
          <p:nvPr/>
        </p:nvSpPr>
        <p:spPr>
          <a:xfrm>
            <a:off x="8103595" y="4047744"/>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103595" y="4157472"/>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49899" y="4166616"/>
            <a:ext cx="457200" cy="201168"/>
          </a:xfrm>
          <a:prstGeom prst="rect">
            <a:avLst/>
          </a:prstGeom>
          <a:noFill/>
        </p:spPr>
        <p:txBody>
          <a:bodyPr wrap="square" lIns="0" rIns="0" tIns="0" bIns="0" anchor="t">
            <a:spAutoFit/>
          </a:bodyPr>
          <a:lstStyle/>
          <a:p>
            <a:pPr algn="l">
              <a:lnSpc>
                <a:spcPct val="100000"/>
              </a:lnSpc>
            </a:pPr>
            <a:r>
              <a:rPr sz="900" b="1">
                <a:solidFill>
                  <a:srgbClr val="9A7008"/>
                </a:solidFill>
                <a:latin typeface="Consolas"/>
              </a:rPr>
              <a:t>PDF</a:t>
            </a:r>
          </a:p>
        </p:txBody>
      </p:sp>
      <p:sp>
        <p:nvSpPr>
          <p:cNvPr id="59" name="TextBox 58"/>
          <p:cNvSpPr txBox="1"/>
          <p:nvPr/>
        </p:nvSpPr>
        <p:spPr>
          <a:xfrm>
            <a:off x="8286475" y="4194048"/>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Hojas de datos impresas</a:t>
            </a:r>
          </a:p>
        </p:txBody>
      </p:sp>
      <p:sp>
        <p:nvSpPr>
          <p:cNvPr id="60" name="TextBox 59"/>
          <p:cNvSpPr txBox="1"/>
          <p:nvPr/>
        </p:nvSpPr>
        <p:spPr>
          <a:xfrm>
            <a:off x="8286475" y="4504944"/>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Pinout impreso de cada chip que se va a usar. Consultarlo en pantalla mientras se cablea provoca errores de orientación.</a:t>
            </a:r>
          </a:p>
        </p:txBody>
      </p:sp>
      <p:sp>
        <p:nvSpPr>
          <p:cNvPr id="61" name="Rounded Rectangle 60"/>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5422392"/>
            <a:ext cx="32004" cy="68580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NOTA TÉCNICA</a:t>
            </a:r>
          </a:p>
        </p:txBody>
      </p:sp>
      <p:sp>
        <p:nvSpPr>
          <p:cNvPr id="64" name="TextBox 63"/>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Recuerda: el 80 % de las fallas en prácticas escolares provienen de alimentación mal conectada, cables flojos o entradas flotantes, no de chips dañados.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229" fill="hold">
                      <p:stCondLst>
                        <p:cond delay="indefinite"/>
                      </p:stCondLst>
                      <p:childTnLst>
                        <p:par>
                          <p:cTn id="23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par>
                                <p:cTn id="172" fill="hold">
                                  <p:stCondLst>
                                    <p:cond delay="990"/>
                                  </p:stCondLst>
                                  <p:childTnLst>
                                    <p:set>
                                      <p:cBhvr>
                                        <p:cTn id="170" dur="1" fill="hold">
                                          <p:stCondLst>
                                            <p:cond delay="0"/>
                                          </p:stCondLst>
                                        </p:cTn>
                                        <p:tgtEl>
                                          <p:spTgt spid="50"/>
                                        </p:tgtEl>
                                        <p:attrNameLst>
                                          <p:attrName>style.visibility</p:attrName>
                                        </p:attrNameLst>
                                      </p:cBhvr>
                                      <p:to>
                                        <p:strVal val="visible"/>
                                      </p:to>
                                    </p:set>
                                    <p:animEffect transition="in" filter="fade">
                                      <p:cBhvr>
                                        <p:cTn id="169" dur="420"/>
                                        <p:tgtEl>
                                          <p:spTgt spid="50"/>
                                        </p:tgtEl>
                                      </p:cBhvr>
                                    </p:animEffect>
                                    <p:anim calcmode="lin" valueType="num">
                                      <p:cBhvr additive="base">
                                        <p:cTn id="171" dur="420" fill="hold"/>
                                        <p:tgtEl>
                                          <p:spTgt spid="50"/>
                                        </p:tgtEl>
                                        <p:attrNameLst>
                                          <p:attrName>ppt_y</p:attrName>
                                        </p:attrNameLst>
                                      </p:cBhvr>
                                      <p:tavLst>
                                        <p:tav tm="0">
                                          <p:val>
                                            <p:fltVal val="0.06"/>
                                          </p:val>
                                        </p:tav>
                                        <p:tav tm="100000">
                                          <p:val>
                                            <p:fltVal val="0"/>
                                          </p:val>
                                        </p:tav>
                                      </p:tavLst>
                                    </p:anim>
                                  </p:childTnLst>
                                </p:cTn>
                              </p:par>
                              <p:par>
                                <p:cTn id="176" fill="hold">
                                  <p:stCondLst>
                                    <p:cond delay="110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par>
                                <p:cTn id="180" fill="hold">
                                  <p:stCondLst>
                                    <p:cond delay="12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fltVal val="0.06"/>
                                          </p:val>
                                        </p:tav>
                                        <p:tav tm="100000">
                                          <p:val>
                                            <p:fltVal val="0"/>
                                          </p:val>
                                        </p:tav>
                                      </p:tavLst>
                                    </p:anim>
                                  </p:childTnLst>
                                </p:cTn>
                              </p:par>
                              <p:par>
                                <p:cTn id="184" fill="hold">
                                  <p:stCondLst>
                                    <p:cond delay="13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fltVal val="0.06"/>
                                          </p:val>
                                        </p:tav>
                                        <p:tav tm="100000">
                                          <p:val>
                                            <p:fltVal val="0"/>
                                          </p:val>
                                        </p:tav>
                                      </p:tavLst>
                                    </p:anim>
                                  </p:childTnLst>
                                </p:cTn>
                              </p:par>
                              <p:par>
                                <p:cTn id="188" fill="hold">
                                  <p:stCondLst>
                                    <p:cond delay="14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fltVal val="0.06"/>
                                          </p:val>
                                        </p:tav>
                                        <p:tav tm="100000">
                                          <p:val>
                                            <p:fltVal val="0"/>
                                          </p:val>
                                        </p:tav>
                                      </p:tavLst>
                                    </p:anim>
                                  </p:childTnLst>
                                </p:cTn>
                              </p:par>
                              <p:par>
                                <p:cTn id="192" fill="hold">
                                  <p:stCondLst>
                                    <p:cond delay="15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fltVal val="0.06"/>
                                          </p:val>
                                        </p:tav>
                                        <p:tav tm="100000">
                                          <p:val>
                                            <p:fltVal val="0"/>
                                          </p:val>
                                        </p:tav>
                                      </p:tavLst>
                                    </p:anim>
                                  </p:childTnLst>
                                </p:cTn>
                              </p:par>
                              <p:par>
                                <p:cTn id="196" fill="hold">
                                  <p:stCondLst>
                                    <p:cond delay="16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fltVal val="0.06"/>
                                          </p:val>
                                        </p:tav>
                                        <p:tav tm="100000">
                                          <p:val>
                                            <p:fltVal val="0"/>
                                          </p:val>
                                        </p:tav>
                                      </p:tavLst>
                                    </p:anim>
                                  </p:childTnLst>
                                </p:cTn>
                              </p:par>
                              <p:par>
                                <p:cTn id="200" fill="hold">
                                  <p:stCondLst>
                                    <p:cond delay="17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fltVal val="0.06"/>
                                          </p:val>
                                        </p:tav>
                                        <p:tav tm="100000">
                                          <p:val>
                                            <p:fltVal val="0"/>
                                          </p:val>
                                        </p:tav>
                                      </p:tavLst>
                                    </p:anim>
                                  </p:childTnLst>
                                </p:cTn>
                              </p:par>
                              <p:par>
                                <p:cTn id="204" fill="hold">
                                  <p:stCondLst>
                                    <p:cond delay="18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fltVal val="0.06"/>
                                          </p:val>
                                        </p:tav>
                                        <p:tav tm="100000">
                                          <p:val>
                                            <p:fltVal val="0"/>
                                          </p:val>
                                        </p:tav>
                                      </p:tavLst>
                                    </p:anim>
                                  </p:childTnLst>
                                </p:cTn>
                              </p:par>
                              <p:par>
                                <p:cTn id="208" fill="hold">
                                  <p:stCondLst>
                                    <p:cond delay="19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fltVal val="0.06"/>
                                          </p:val>
                                        </p:tav>
                                        <p:tav tm="100000">
                                          <p:val>
                                            <p:fltVal val="0"/>
                                          </p:val>
                                        </p:tav>
                                      </p:tavLst>
                                    </p:anim>
                                  </p:childTnLst>
                                </p:cTn>
                              </p:par>
                              <p:par>
                                <p:cTn id="212" fill="hold">
                                  <p:stCondLst>
                                    <p:cond delay="20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fltVal val="0.06"/>
                                          </p:val>
                                        </p:tav>
                                        <p:tav tm="100000">
                                          <p:val>
                                            <p:fltVal val="0"/>
                                          </p:val>
                                        </p:tav>
                                      </p:tavLst>
                                    </p:anim>
                                  </p:childTnLst>
                                </p:cTn>
                              </p:par>
                              <p:par>
                                <p:cTn id="216" fill="hold">
                                  <p:stCondLst>
                                    <p:cond delay="22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fltVal val="0.06"/>
                                          </p:val>
                                        </p:tav>
                                        <p:tav tm="100000">
                                          <p:val>
                                            <p:fltVal val="0"/>
                                          </p:val>
                                        </p:tav>
                                      </p:tavLst>
                                    </p:anim>
                                  </p:childTnLst>
                                </p:cTn>
                              </p:par>
                              <p:par>
                                <p:cTn id="220" fill="hold">
                                  <p:stCondLst>
                                    <p:cond delay="23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fltVal val="0.06"/>
                                          </p:val>
                                        </p:tav>
                                        <p:tav tm="100000">
                                          <p:val>
                                            <p:fltVal val="0"/>
                                          </p:val>
                                        </p:tav>
                                      </p:tavLst>
                                    </p:anim>
                                  </p:childTnLst>
                                </p:cTn>
                              </p:par>
                              <p:par>
                                <p:cTn id="224" fill="hold">
                                  <p:stCondLst>
                                    <p:cond delay="24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fltVal val="0.06"/>
                                          </p:val>
                                        </p:tav>
                                        <p:tav tm="100000">
                                          <p:val>
                                            <p:fltVal val="0"/>
                                          </p:val>
                                        </p:tav>
                                      </p:tavLst>
                                    </p:anim>
                                  </p:childTnLst>
                                </p:cTn>
                              </p:par>
                              <p:par>
                                <p:cTn id="228" fill="hold">
                                  <p:stCondLst>
                                    <p:cond delay="25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Montaje paso a paso en protoboard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Procedimiento probado para armar un circuito digital sin sorpresas.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76797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495044"/>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2247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1</a:t>
            </a:r>
          </a:p>
        </p:txBody>
      </p:sp>
      <p:sp>
        <p:nvSpPr>
          <p:cNvPr id="19" name="TextBox 18"/>
          <p:cNvSpPr txBox="1"/>
          <p:nvPr/>
        </p:nvSpPr>
        <p:spPr>
          <a:xfrm>
            <a:off x="987552" y="1426464"/>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Colocar el integrado a caballo sobre el canal central de la protoboard, con la muesca hacia la izquierda y contando pines desde esa referencia.</a:t>
            </a:r>
          </a:p>
        </p:txBody>
      </p:sp>
      <p:sp>
        <p:nvSpPr>
          <p:cNvPr id="20" name="Rounded Rectangle 19"/>
          <p:cNvSpPr/>
          <p:nvPr/>
        </p:nvSpPr>
        <p:spPr>
          <a:xfrm>
            <a:off x="475488" y="1975104"/>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098548"/>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125980"/>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2</a:t>
            </a:r>
          </a:p>
        </p:txBody>
      </p:sp>
      <p:sp>
        <p:nvSpPr>
          <p:cNvPr id="23" name="TextBox 22"/>
          <p:cNvSpPr txBox="1"/>
          <p:nvPr/>
        </p:nvSpPr>
        <p:spPr>
          <a:xfrm>
            <a:off x="987552" y="2029968"/>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primero la alimentación: VCC (pin 14) al bus rojo y GND (pin 7) al bus azul. Verificar continuidad con el multímetro antes de encender.</a:t>
            </a:r>
          </a:p>
        </p:txBody>
      </p:sp>
      <p:sp>
        <p:nvSpPr>
          <p:cNvPr id="24" name="Rounded Rectangle 23"/>
          <p:cNvSpPr/>
          <p:nvPr/>
        </p:nvSpPr>
        <p:spPr>
          <a:xfrm>
            <a:off x="475488" y="2578608"/>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702052"/>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729484"/>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3</a:t>
            </a:r>
          </a:p>
        </p:txBody>
      </p:sp>
      <p:sp>
        <p:nvSpPr>
          <p:cNvPr id="27" name="TextBox 26"/>
          <p:cNvSpPr txBox="1"/>
          <p:nvPr/>
        </p:nvSpPr>
        <p:spPr>
          <a:xfrm>
            <a:off x="987552" y="2633472"/>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Instalar el capacitor de desacople de 100 nF cerámico entre VCC y GND lo más cerca posible del chip.</a:t>
            </a:r>
          </a:p>
        </p:txBody>
      </p:sp>
      <p:sp>
        <p:nvSpPr>
          <p:cNvPr id="28" name="Rounded Rectangle 27"/>
          <p:cNvSpPr/>
          <p:nvPr/>
        </p:nvSpPr>
        <p:spPr>
          <a:xfrm>
            <a:off x="475488" y="3182112"/>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305556"/>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332988"/>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4</a:t>
            </a:r>
          </a:p>
        </p:txBody>
      </p:sp>
      <p:sp>
        <p:nvSpPr>
          <p:cNvPr id="31" name="TextBox 30"/>
          <p:cNvSpPr txBox="1"/>
          <p:nvPr/>
        </p:nvSpPr>
        <p:spPr>
          <a:xfrm>
            <a:off x="987552" y="3236976"/>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Cablear las entradas de las compuertas a interruptores o a VCC/GND mediante resistencias, nunca dejarlas al aire.</a:t>
            </a:r>
          </a:p>
        </p:txBody>
      </p:sp>
      <p:sp>
        <p:nvSpPr>
          <p:cNvPr id="32" name="Rounded Rectangle 31"/>
          <p:cNvSpPr/>
          <p:nvPr/>
        </p:nvSpPr>
        <p:spPr>
          <a:xfrm>
            <a:off x="475488" y="3785616"/>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3909060"/>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3936492"/>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5</a:t>
            </a:r>
          </a:p>
        </p:txBody>
      </p:sp>
      <p:sp>
        <p:nvSpPr>
          <p:cNvPr id="35" name="TextBox 34"/>
          <p:cNvSpPr txBox="1"/>
          <p:nvPr/>
        </p:nvSpPr>
        <p:spPr>
          <a:xfrm>
            <a:off x="987552" y="3840480"/>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las salidas a LEDs con resistencia limitadora de 330 Ω en serie, respetando la polaridad del LED (ánodo al positivo).</a:t>
            </a:r>
          </a:p>
        </p:txBody>
      </p:sp>
      <p:sp>
        <p:nvSpPr>
          <p:cNvPr id="36" name="Rounded Rectangle 35"/>
          <p:cNvSpPr/>
          <p:nvPr/>
        </p:nvSpPr>
        <p:spPr>
          <a:xfrm>
            <a:off x="475488" y="4389120"/>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512564"/>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453999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6</a:t>
            </a:r>
          </a:p>
        </p:txBody>
      </p:sp>
      <p:sp>
        <p:nvSpPr>
          <p:cNvPr id="39" name="TextBox 38"/>
          <p:cNvSpPr txBox="1"/>
          <p:nvPr/>
        </p:nvSpPr>
        <p:spPr>
          <a:xfrm>
            <a:off x="987552" y="4443984"/>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Encender la fuente y verificar con el multímetro que VCC mida entre 4.75 y 5.25 V en el pin 14 del chip.</a:t>
            </a:r>
          </a:p>
        </p:txBody>
      </p:sp>
      <p:sp>
        <p:nvSpPr>
          <p:cNvPr id="40" name="Rounded Rectangle 39"/>
          <p:cNvSpPr/>
          <p:nvPr/>
        </p:nvSpPr>
        <p:spPr>
          <a:xfrm>
            <a:off x="475488" y="4992624"/>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116068"/>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143500"/>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7</a:t>
            </a:r>
          </a:p>
        </p:txBody>
      </p:sp>
      <p:sp>
        <p:nvSpPr>
          <p:cNvPr id="43" name="TextBox 42"/>
          <p:cNvSpPr txBox="1"/>
          <p:nvPr/>
        </p:nvSpPr>
        <p:spPr>
          <a:xfrm>
            <a:off x="987552" y="5047488"/>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Probar la tabla de verdad completa: aplicar cada combinación de entradas y anotar el estado del LED de salida comparándolo con la tabla esperada.</a:t>
            </a:r>
          </a:p>
        </p:txBody>
      </p:sp>
      <p:sp>
        <p:nvSpPr>
          <p:cNvPr id="44" name="Rounded Rectangle 43"/>
          <p:cNvSpPr/>
          <p:nvPr/>
        </p:nvSpPr>
        <p:spPr>
          <a:xfrm>
            <a:off x="475488" y="5596128"/>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608076" y="5719572"/>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08076" y="5747004"/>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8</a:t>
            </a:r>
          </a:p>
        </p:txBody>
      </p:sp>
      <p:sp>
        <p:nvSpPr>
          <p:cNvPr id="47" name="TextBox 46"/>
          <p:cNvSpPr txBox="1"/>
          <p:nvPr/>
        </p:nvSpPr>
        <p:spPr>
          <a:xfrm>
            <a:off x="987552" y="5650992"/>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Documentar: fotografiar el montaje, anotar el pinout usado y registrar las mediciones para el reporte de práctica.</a:t>
            </a:r>
          </a:p>
        </p:txBody>
      </p:sp>
      <p:sp>
        <p:nvSpPr>
          <p:cNvPr id="48" name="Rounded Rectangle 47"/>
          <p:cNvSpPr/>
          <p:nvPr/>
        </p:nvSpPr>
        <p:spPr>
          <a:xfrm>
            <a:off x="7144481" y="2235923"/>
            <a:ext cx="4297680" cy="2166696"/>
          </a:xfrm>
          <a:prstGeom prst="roundRect">
            <a:avLst>
              <a:gd name="adj" fmla="val 2127"/>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breadboard.png"/>
          <p:cNvPicPr>
            <a:picLocks noChangeAspect="1"/>
          </p:cNvPicPr>
          <p:nvPr/>
        </p:nvPicPr>
        <p:blipFill>
          <a:blip r:embed="rId2"/>
          <a:stretch>
            <a:fillRect/>
          </a:stretch>
        </p:blipFill>
        <p:spPr>
          <a:xfrm>
            <a:off x="7254209" y="2373083"/>
            <a:ext cx="4078224" cy="1892376"/>
          </a:xfrm>
          <a:prstGeom prst="rect">
            <a:avLst/>
          </a:prstGeom>
        </p:spPr>
      </p:pic>
      <p:sp>
        <p:nvSpPr>
          <p:cNvPr id="50" name="Rounded Rectangle 49"/>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75488" y="5504688"/>
            <a:ext cx="32004" cy="603503"/>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53" name="TextBox 5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Nunca insertar o retirar un integrado con la alimentación encendida, y nunca conectar el chip invertido: la polaridad inversa es la causa número uno de chip dañado en el laboratorio.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85" fill="hold">
                      <p:stCondLst>
                        <p:cond delay="indefinite"/>
                      </p:stCondLst>
                      <p:childTnLst>
                        <p:par>
                          <p:cTn id="186"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fltVal val="0.06"/>
                                          </p:val>
                                        </p:tav>
                                        <p:tav tm="100000">
                                          <p:val>
                                            <p:flt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fltVal val="0.06"/>
                                          </p:val>
                                        </p:tav>
                                        <p:tav tm="100000">
                                          <p:val>
                                            <p:flt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fltVal val="0.06"/>
                                          </p:val>
                                        </p:tav>
                                        <p:tav tm="100000">
                                          <p:val>
                                            <p:flt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fltVal val="0.06"/>
                                          </p:val>
                                        </p:tav>
                                        <p:tav tm="100000">
                                          <p:val>
                                            <p:flt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par>
                                <p:cTn id="172" fill="hold">
                                  <p:stCondLst>
                                    <p:cond delay="2090"/>
                                  </p:stCondLst>
                                  <p:childTnLst>
                                    <p:set>
                                      <p:cBhvr>
                                        <p:cTn id="170" dur="1" fill="hold">
                                          <p:stCondLst>
                                            <p:cond delay="0"/>
                                          </p:stCondLst>
                                        </p:cTn>
                                        <p:tgtEl>
                                          <p:spTgt spid="50"/>
                                        </p:tgtEl>
                                        <p:attrNameLst>
                                          <p:attrName>style.visibility</p:attrName>
                                        </p:attrNameLst>
                                      </p:cBhvr>
                                      <p:to>
                                        <p:strVal val="visible"/>
                                      </p:to>
                                    </p:set>
                                    <p:animEffect transition="in" filter="fade">
                                      <p:cBhvr>
                                        <p:cTn id="169" dur="420"/>
                                        <p:tgtEl>
                                          <p:spTgt spid="50"/>
                                        </p:tgtEl>
                                      </p:cBhvr>
                                    </p:animEffect>
                                    <p:anim calcmode="lin" valueType="num">
                                      <p:cBhvr additive="base">
                                        <p:cTn id="171" dur="420" fill="hold"/>
                                        <p:tgtEl>
                                          <p:spTgt spid="50"/>
                                        </p:tgtEl>
                                        <p:attrNameLst>
                                          <p:attrName>ppt_y</p:attrName>
                                        </p:attrNameLst>
                                      </p:cBhvr>
                                      <p:tavLst>
                                        <p:tav tm="0">
                                          <p:val>
                                            <p:fltVal val="0.06"/>
                                          </p:val>
                                        </p:tav>
                                        <p:tav tm="100000">
                                          <p:val>
                                            <p:fltVal val="0"/>
                                          </p:val>
                                        </p:tav>
                                      </p:tavLst>
                                    </p:anim>
                                  </p:childTnLst>
                                </p:cTn>
                              </p:par>
                              <p:par>
                                <p:cTn id="176" fill="hold">
                                  <p:stCondLst>
                                    <p:cond delay="220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par>
                                <p:cTn id="180" fill="hold">
                                  <p:stCondLst>
                                    <p:cond delay="23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fltVal val="0.06"/>
                                          </p:val>
                                        </p:tav>
                                        <p:tav tm="100000">
                                          <p:val>
                                            <p:fltVal val="0"/>
                                          </p:val>
                                        </p:tav>
                                      </p:tavLst>
                                    </p:anim>
                                  </p:childTnLst>
                                </p:cTn>
                              </p:par>
                              <p:par>
                                <p:cTn id="184" fill="hold">
                                  <p:stCondLst>
                                    <p:cond delay="24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Alimentación, desacople y manejo de cargas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montaje eléctrico básico que garantiza que la lógica funcione.</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88038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ower_setup.png"/>
          <p:cNvPicPr>
            <a:picLocks noChangeAspect="1"/>
          </p:cNvPicPr>
          <p:nvPr/>
        </p:nvPicPr>
        <p:blipFill>
          <a:blip r:embed="rId2"/>
          <a:srcRect l="2443" r="2443"/>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Esquema básico: alimentación de 5 V, capacitor de desacople de 100 nF junto al chip, resistencia limitadora y LED de salida.</a:t>
            </a:r>
          </a:p>
        </p:txBody>
      </p:sp>
      <p:sp>
        <p:nvSpPr>
          <p:cNvPr id="19" name="Oval 18"/>
          <p:cNvSpPr/>
          <p:nvPr/>
        </p:nvSpPr>
        <p:spPr>
          <a:xfrm>
            <a:off x="7793705" y="142646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VCC = 5 V ± 5 %:</a:t>
            </a:r>
            <a:r>
              <a:rPr sz="1025" b="0">
                <a:solidFill>
                  <a:srgbClr val="2C3E56"/>
                </a:solidFill>
                <a:latin typeface="Segoe UI"/>
              </a:rPr>
              <a:t> por debajo de 4.75 V los niveles lógicos dejan de estar garantizados y aparecen fallas intermitentes.</a:t>
            </a:r>
          </a:p>
        </p:txBody>
      </p:sp>
      <p:sp>
        <p:nvSpPr>
          <p:cNvPr id="21" name="Oval 20"/>
          <p:cNvSpPr/>
          <p:nvPr/>
        </p:nvSpPr>
        <p:spPr>
          <a:xfrm>
            <a:off x="7793705" y="2003461"/>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Capacitor de desacople:</a:t>
            </a:r>
            <a:r>
              <a:rPr sz="1025" b="0">
                <a:solidFill>
                  <a:srgbClr val="2C3E56"/>
                </a:solidFill>
                <a:latin typeface="Segoe UI"/>
              </a:rPr>
              <a:t> 100 nF cerámico entre VCC y GND por cada chip, con pines cortos, para absorber los picos de corriente de la conmutación.</a:t>
            </a:r>
          </a:p>
        </p:txBody>
      </p:sp>
      <p:sp>
        <p:nvSpPr>
          <p:cNvPr id="23" name="Oval 22"/>
          <p:cNvSpPr/>
          <p:nvPr/>
        </p:nvSpPr>
        <p:spPr>
          <a:xfrm>
            <a:off x="7793705" y="2580458"/>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Cálculo del LED:</a:t>
            </a:r>
            <a:r>
              <a:rPr sz="1025" b="0">
                <a:solidFill>
                  <a:srgbClr val="2C3E56"/>
                </a:solidFill>
                <a:latin typeface="Segoe UI"/>
              </a:rPr>
              <a:t> R = (VCC − VF) / IF = (5 V − 2 V) / 10 mA = 300 Ω → valor comercial 330 Ω.</a:t>
            </a:r>
          </a:p>
        </p:txBody>
      </p:sp>
      <p:sp>
        <p:nvSpPr>
          <p:cNvPr id="25" name="Oval 24"/>
          <p:cNvSpPr/>
          <p:nvPr/>
        </p:nvSpPr>
        <p:spPr>
          <a:xfrm>
            <a:off x="7793705" y="2988288"/>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33424"/>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Lógica de sumidero en TTL:</a:t>
            </a:r>
            <a:r>
              <a:rPr sz="1025" b="0">
                <a:solidFill>
                  <a:srgbClr val="2C3E56"/>
                </a:solidFill>
                <a:latin typeface="Segoe UI"/>
              </a:rPr>
              <a:t> conectar el LED entre VCC y la salida (no entre salida y GND), porque el TTL absorbe mucha más corriente de la que entrega.</a:t>
            </a:r>
          </a:p>
        </p:txBody>
      </p:sp>
      <p:sp>
        <p:nvSpPr>
          <p:cNvPr id="27" name="Oval 26"/>
          <p:cNvSpPr/>
          <p:nvPr/>
        </p:nvSpPr>
        <p:spPr>
          <a:xfrm>
            <a:off x="7793705" y="3565285"/>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510421"/>
            <a:ext cx="3712463" cy="507502"/>
          </a:xfrm>
          <a:prstGeom prst="rect">
            <a:avLst/>
          </a:prstGeom>
          <a:noFill/>
        </p:spPr>
        <p:txBody>
          <a:bodyPr wrap="square" lIns="0" rIns="0" tIns="0" bIns="0" anchor="t">
            <a:spAutoFit/>
          </a:bodyPr>
          <a:lstStyle/>
          <a:p>
            <a:pPr algn="l">
              <a:lnSpc>
                <a:spcPct val="107400"/>
              </a:lnSpc>
            </a:pPr>
            <a:r>
              <a:rPr sz="975" b="1">
                <a:solidFill>
                  <a:srgbClr val="2C3E56"/>
                </a:solidFill>
                <a:latin typeface="Segoe UI Semibold"/>
              </a:rPr>
              <a:t>Entradas flotantes:</a:t>
            </a:r>
            <a:r>
              <a:rPr sz="975" b="0">
                <a:solidFill>
                  <a:srgbClr val="2C3E56"/>
                </a:solidFill>
                <a:latin typeface="Segoe UI"/>
              </a:rPr>
              <a:t> en TTL una entrada al aire se lee como '1'; en CMOS oscila y provoca consumo excesivo. Siempre fijar la entrada con resistencia o puente.</a:t>
            </a:r>
          </a:p>
        </p:txBody>
      </p:sp>
      <p:sp>
        <p:nvSpPr>
          <p:cNvPr id="29" name="Oval 28"/>
          <p:cNvSpPr/>
          <p:nvPr/>
        </p:nvSpPr>
        <p:spPr>
          <a:xfrm>
            <a:off x="7793705" y="4142282"/>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87418"/>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Pull-up en colector abierto:</a:t>
            </a:r>
            <a:r>
              <a:rPr sz="1025" b="0">
                <a:solidFill>
                  <a:srgbClr val="2C3E56"/>
                </a:solidFill>
                <a:latin typeface="Segoe UI"/>
              </a:rPr>
              <a:t> 4.7 kΩ entre la salida y VCC para los chips 7403, 7405 y 74266.</a:t>
            </a:r>
          </a:p>
        </p:txBody>
      </p:sp>
      <p:sp>
        <p:nvSpPr>
          <p:cNvPr id="31" name="Oval 30"/>
          <p:cNvSpPr/>
          <p:nvPr/>
        </p:nvSpPr>
        <p:spPr>
          <a:xfrm>
            <a:off x="7793705" y="4550112"/>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Resistencia en serie en entradas:</a:t>
            </a:r>
            <a:r>
              <a:rPr sz="1025" b="0">
                <a:solidFill>
                  <a:srgbClr val="2C3E56"/>
                </a:solidFill>
                <a:latin typeface="Segoe UI"/>
              </a:rPr>
              <a:t> añadir 1 kΩ cuando la señal viene de un cable largo para limitar la corriente de los diodos de protección.</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9A7008"/>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Comprobación rápida con el multímetro: con el circuito encendido y sin señales, medir VCC en el pin 14 de cada chip. Si hay 5 V en el bus pero no en el chip, hay un cable roto o un contacto flojo.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Medición y verificación con instrumentos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comprobar el funcionamiento real de una compuerta paso a paso.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99279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Antes de energizar: medir continuidad entre VCC y GND para descartar un cortocircuito (una lectura baja indica error de cableado).</a:t>
            </a:r>
          </a:p>
        </p:txBody>
      </p:sp>
      <p:sp>
        <p:nvSpPr>
          <p:cNvPr id="20" name="Rounded Rectangle 19"/>
          <p:cNvSpPr/>
          <p:nvPr/>
        </p:nvSpPr>
        <p:spPr>
          <a:xfrm>
            <a:off x="475488" y="2061318"/>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Encender la fuente y verificar 5 V entre el pin 14 y el pin 7 del integrado, usando el pin 7 como referencia de tierra.</a:t>
            </a:r>
          </a:p>
        </p:txBody>
      </p:sp>
      <p:sp>
        <p:nvSpPr>
          <p:cNvPr id="24" name="Rounded Rectangle 23"/>
          <p:cNvSpPr/>
          <p:nvPr/>
        </p:nvSpPr>
        <p:spPr>
          <a:xfrm>
            <a:off x="475488" y="2751037"/>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 el multímetro en modo tensión DC, medir cada entrada: un '0' real debe estar por debajo de 0.8 V y un '1' por encima de 2.0 V.</a:t>
            </a:r>
          </a:p>
        </p:txBody>
      </p:sp>
      <p:sp>
        <p:nvSpPr>
          <p:cNvPr id="28" name="Rounded Rectangle 27"/>
          <p:cNvSpPr/>
          <p:nvPr/>
        </p:nvSpPr>
        <p:spPr>
          <a:xfrm>
            <a:off x="475488" y="3440756"/>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Medir la salida en cada combinación de entrada: menos de 0.4 V indica '0' y más de 2.7 V indica '1'.</a:t>
            </a:r>
          </a:p>
        </p:txBody>
      </p:sp>
      <p:sp>
        <p:nvSpPr>
          <p:cNvPr id="32" name="Rounded Rectangle 31"/>
          <p:cNvSpPr/>
          <p:nvPr/>
        </p:nvSpPr>
        <p:spPr>
          <a:xfrm>
            <a:off x="475488" y="4130475"/>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Usar la punta lógica para verificar varias señales a la vez: LED rojo = nivel bajo, verde = nivel alto, ámbar = pulso.</a:t>
            </a:r>
          </a:p>
        </p:txBody>
      </p:sp>
      <p:sp>
        <p:nvSpPr>
          <p:cNvPr id="36" name="Rounded Rectangle 35"/>
          <p:cNvSpPr/>
          <p:nvPr/>
        </p:nvSpPr>
        <p:spPr>
          <a:xfrm>
            <a:off x="475488" y="4820194"/>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 el osciloscopio medir los tiempos de propagación y observar los flancos reales, especialmente si el circuito trabaja con reloj.</a:t>
            </a:r>
          </a:p>
        </p:txBody>
      </p:sp>
      <p:sp>
        <p:nvSpPr>
          <p:cNvPr id="40" name="Rounded Rectangle 39"/>
          <p:cNvSpPr/>
          <p:nvPr/>
        </p:nvSpPr>
        <p:spPr>
          <a:xfrm>
            <a:off x="475488" y="5509913"/>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Anotar todas las mediciones en una tabla y compararlas con la hoja de datos: cualquier discrepancia mayor revela un problema físico.</a:t>
            </a:r>
          </a:p>
        </p:txBody>
      </p:sp>
      <p:sp>
        <p:nvSpPr>
          <p:cNvPr id="44" name="Rounded Rectangle 43"/>
          <p:cNvSpPr/>
          <p:nvPr/>
        </p:nvSpPr>
        <p:spPr>
          <a:xfrm>
            <a:off x="7144481" y="2314014"/>
            <a:ext cx="4297680" cy="2010515"/>
          </a:xfrm>
          <a:prstGeom prst="roundRect">
            <a:avLst>
              <a:gd name="adj" fmla="val 2127"/>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probe.png"/>
          <p:cNvPicPr>
            <a:picLocks noChangeAspect="1"/>
          </p:cNvPicPr>
          <p:nvPr/>
        </p:nvPicPr>
        <p:blipFill>
          <a:blip r:embed="rId2"/>
          <a:stretch>
            <a:fillRect/>
          </a:stretch>
        </p:blipFill>
        <p:spPr>
          <a:xfrm>
            <a:off x="7254209" y="2451174"/>
            <a:ext cx="4078224" cy="1736195"/>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Si la salida permanece en un valor intermedio (entre 0.8 V y 2.0 V), el circuito está mal: puede haber un cortocircuito entre salidas, una carga excesiva o el chip dañado. Apagar y revisar antes de continuar.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fltVal val="0.06"/>
                                          </p:val>
                                        </p:tav>
                                        <p:tav tm="100000">
                                          <p:val>
                                            <p:flt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fltVal val="0.06"/>
                                          </p:val>
                                        </p:tav>
                                        <p:tav tm="100000">
                                          <p:val>
                                            <p:flt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fltVal val="0.06"/>
                                          </p:val>
                                        </p:tav>
                                        <p:tav tm="100000">
                                          <p:val>
                                            <p:flt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fltVal val="0.06"/>
                                          </p:val>
                                        </p:tav>
                                        <p:tav tm="100000">
                                          <p:val>
                                            <p:flt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Uso de la punta lógica y el osciloscopio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Instrumentos que muestran el comportamiento dinámico del circuito.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10520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robe.png"/>
          <p:cNvPicPr>
            <a:picLocks noChangeAspect="1"/>
          </p:cNvPicPr>
          <p:nvPr/>
        </p:nvPicPr>
        <p:blipFill>
          <a:blip r:embed="rId2"/>
          <a:srcRect l="7911" r="7911"/>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Punta lógica: tres LEDs indican nivel alto, bajo o tren de pulsos. Es el instrumento más rápido para recorrer un circuito cableado.</a:t>
            </a:r>
          </a:p>
        </p:txBody>
      </p:sp>
      <p:sp>
        <p:nvSpPr>
          <p:cNvPr id="19" name="Oval 18"/>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Punta lógica:</a:t>
            </a:r>
            <a:r>
              <a:rPr sz="1050" b="0">
                <a:solidFill>
                  <a:srgbClr val="2C3E56"/>
                </a:solidFill>
                <a:latin typeface="Segoe UI"/>
              </a:rPr>
              <a:t> sonda con LED rojo (nivel bajo), verde (nivel alto) y ámbar (pulsos). Detecta también circuitos abiertos.</a:t>
            </a:r>
          </a:p>
        </p:txBody>
      </p:sp>
      <p:sp>
        <p:nvSpPr>
          <p:cNvPr id="21" name="Oval 20"/>
          <p:cNvSpPr/>
          <p:nvPr/>
        </p:nvSpPr>
        <p:spPr>
          <a:xfrm>
            <a:off x="7793705" y="2022401"/>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Multímetro:</a:t>
            </a:r>
            <a:r>
              <a:rPr sz="1050" b="0">
                <a:solidFill>
                  <a:srgbClr val="2C3E56"/>
                </a:solidFill>
                <a:latin typeface="Segoe UI"/>
              </a:rPr>
              <a:t> mide tensiones DC exactas; imprescindible para verificar niveles en lugar de confiar en el brillo de un LED.</a:t>
            </a:r>
          </a:p>
        </p:txBody>
      </p:sp>
      <p:sp>
        <p:nvSpPr>
          <p:cNvPr id="23" name="Oval 22"/>
          <p:cNvSpPr/>
          <p:nvPr/>
        </p:nvSpPr>
        <p:spPr>
          <a:xfrm>
            <a:off x="7793705" y="2618338"/>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Osciloscopio:</a:t>
            </a:r>
            <a:r>
              <a:rPr sz="1000" b="0">
                <a:solidFill>
                  <a:srgbClr val="2C3E56"/>
                </a:solidFill>
                <a:latin typeface="Segoe UI"/>
              </a:rPr>
              <a:t> muestra la forma de onda, mide retardos y revela glitches que ningún LED puede mostrar.</a:t>
            </a:r>
          </a:p>
        </p:txBody>
      </p:sp>
      <p:sp>
        <p:nvSpPr>
          <p:cNvPr id="25" name="Oval 24"/>
          <p:cNvSpPr/>
          <p:nvPr/>
        </p:nvSpPr>
        <p:spPr>
          <a:xfrm>
            <a:off x="7793705" y="304001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Frecuencímetro:</a:t>
            </a:r>
            <a:r>
              <a:rPr sz="1050" b="0">
                <a:solidFill>
                  <a:srgbClr val="2C3E56"/>
                </a:solidFill>
                <a:latin typeface="Segoe UI"/>
              </a:rPr>
              <a:t> comprueba la frecuencia real de salida de osciladores y contadores.</a:t>
            </a:r>
          </a:p>
        </p:txBody>
      </p:sp>
      <p:sp>
        <p:nvSpPr>
          <p:cNvPr id="27" name="Oval 26"/>
          <p:cNvSpPr/>
          <p:nvPr/>
        </p:nvSpPr>
        <p:spPr>
          <a:xfrm>
            <a:off x="7793705" y="346168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Analizador lógico:</a:t>
            </a:r>
            <a:r>
              <a:rPr sz="1050" b="0">
                <a:solidFill>
                  <a:srgbClr val="2C3E56"/>
                </a:solidFill>
                <a:latin typeface="Segoe UI"/>
              </a:rPr>
              <a:t> registra varias líneas a la vez y permite ver la secuencia completa de un bus.</a:t>
            </a:r>
          </a:p>
        </p:txBody>
      </p:sp>
      <p:sp>
        <p:nvSpPr>
          <p:cNvPr id="29" name="Oval 28"/>
          <p:cNvSpPr/>
          <p:nvPr/>
        </p:nvSpPr>
        <p:spPr>
          <a:xfrm>
            <a:off x="7793705" y="388336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Consejo de medición:</a:t>
            </a:r>
            <a:r>
              <a:rPr sz="1050" b="0">
                <a:solidFill>
                  <a:srgbClr val="2C3E56"/>
                </a:solidFill>
                <a:latin typeface="Segoe UI"/>
              </a:rPr>
              <a:t> usar siempre la punta de tierra corta; cables largos de tierra introducen ruido y falsas lecturas.</a:t>
            </a:r>
          </a:p>
        </p:txBody>
      </p:sp>
      <p:sp>
        <p:nvSpPr>
          <p:cNvPr id="31" name="Oval 30"/>
          <p:cNvSpPr/>
          <p:nvPr/>
        </p:nvSpPr>
        <p:spPr>
          <a:xfrm>
            <a:off x="7793705" y="447930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Seguridad de la sonda:</a:t>
            </a:r>
            <a:r>
              <a:rPr sz="1000" b="0">
                <a:solidFill>
                  <a:srgbClr val="2C3E56"/>
                </a:solidFill>
                <a:latin typeface="Segoe UI"/>
              </a:rPr>
              <a:t> no tocar con la punta dos pines simultáneamente (puede provocar cortocircuito).</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Secuencia de diagnóstico recomendada: primero la punta lógica para ubicar el bloque muerto, después el multímetro para medir tensiones y por último el osciloscopio si el problema es de tiempos.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fltVal val="0.06"/>
                                          </p:val>
                                        </p:tav>
                                        <p:tav tm="100000">
                                          <p:val>
                                            <p:flt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fltVal val="0.06"/>
                                          </p:val>
                                        </p:tav>
                                        <p:tav tm="100000">
                                          <p:val>
                                            <p:flt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fltVal val="0.06"/>
                                          </p:val>
                                        </p:tav>
                                        <p:tav tm="100000">
                                          <p:val>
                                            <p:flt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Diagnóstico de fallas: síntoma, causa y solución</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Tabla de consulta rápida para resolver los problemas más comunes del laboratorio.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21761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C8322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55153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Síntoma observado</a:t>
            </a:r>
          </a:p>
        </p:txBody>
      </p:sp>
      <p:sp>
        <p:nvSpPr>
          <p:cNvPr id="18" name="TextBox 17"/>
          <p:cNvSpPr txBox="1"/>
          <p:nvPr/>
        </p:nvSpPr>
        <p:spPr>
          <a:xfrm>
            <a:off x="3246478" y="1371600"/>
            <a:ext cx="277635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Causa probable</a:t>
            </a:r>
          </a:p>
        </p:txBody>
      </p:sp>
      <p:sp>
        <p:nvSpPr>
          <p:cNvPr id="19" name="TextBox 18"/>
          <p:cNvSpPr txBox="1"/>
          <p:nvPr/>
        </p:nvSpPr>
        <p:spPr>
          <a:xfrm>
            <a:off x="6169136" y="1371600"/>
            <a:ext cx="255153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Verificación</a:t>
            </a:r>
          </a:p>
        </p:txBody>
      </p:sp>
      <p:sp>
        <p:nvSpPr>
          <p:cNvPr id="20" name="TextBox 19"/>
          <p:cNvSpPr txBox="1"/>
          <p:nvPr/>
        </p:nvSpPr>
        <p:spPr>
          <a:xfrm>
            <a:off x="8866975" y="1371600"/>
            <a:ext cx="277635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Solución</a:t>
            </a:r>
          </a:p>
        </p:txBody>
      </p:sp>
      <p:sp>
        <p:nvSpPr>
          <p:cNvPr id="21" name="Rectangle 20"/>
          <p:cNvSpPr/>
          <p:nvPr/>
        </p:nvSpPr>
        <p:spPr>
          <a:xfrm>
            <a:off x="475488" y="1700784"/>
            <a:ext cx="11240993" cy="43434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La salida nunca cambia de estado</a:t>
            </a:r>
          </a:p>
        </p:txBody>
      </p:sp>
      <p:sp>
        <p:nvSpPr>
          <p:cNvPr id="23" name="TextBox 22"/>
          <p:cNvSpPr txBox="1"/>
          <p:nvPr/>
        </p:nvSpPr>
        <p:spPr>
          <a:xfrm>
            <a:off x="3246478" y="170078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Falta alimentación, GND desconectado o pin invertido</a:t>
            </a:r>
          </a:p>
        </p:txBody>
      </p:sp>
      <p:sp>
        <p:nvSpPr>
          <p:cNvPr id="24" name="TextBox 23"/>
          <p:cNvSpPr txBox="1"/>
          <p:nvPr/>
        </p:nvSpPr>
        <p:spPr>
          <a:xfrm>
            <a:off x="6169136" y="170078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VCC entre el pin 14 y el pin 7</a:t>
            </a:r>
          </a:p>
        </p:txBody>
      </p:sp>
      <p:sp>
        <p:nvSpPr>
          <p:cNvPr id="25" name="TextBox 24"/>
          <p:cNvSpPr txBox="1"/>
          <p:nvPr/>
        </p:nvSpPr>
        <p:spPr>
          <a:xfrm>
            <a:off x="8866975" y="170078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Reconectar alimentación y verificar orientación del chip</a:t>
            </a:r>
          </a:p>
        </p:txBody>
      </p:sp>
      <p:sp>
        <p:nvSpPr>
          <p:cNvPr id="26" name="TextBox 25"/>
          <p:cNvSpPr txBox="1"/>
          <p:nvPr/>
        </p:nvSpPr>
        <p:spPr>
          <a:xfrm>
            <a:off x="548640" y="213512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Siempre hay '0' en la salida esperada</a:t>
            </a:r>
          </a:p>
        </p:txBody>
      </p:sp>
      <p:sp>
        <p:nvSpPr>
          <p:cNvPr id="27" name="TextBox 26"/>
          <p:cNvSpPr txBox="1"/>
          <p:nvPr/>
        </p:nvSpPr>
        <p:spPr>
          <a:xfrm>
            <a:off x="3246478" y="213512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Cortocircuito de la salida a GND o carga excesiva (fan-out excedido)</a:t>
            </a:r>
          </a:p>
        </p:txBody>
      </p:sp>
      <p:sp>
        <p:nvSpPr>
          <p:cNvPr id="28" name="TextBox 27"/>
          <p:cNvSpPr txBox="1"/>
          <p:nvPr/>
        </p:nvSpPr>
        <p:spPr>
          <a:xfrm>
            <a:off x="6169136" y="213512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la salida con el circuito sin carga</a:t>
            </a:r>
          </a:p>
        </p:txBody>
      </p:sp>
      <p:sp>
        <p:nvSpPr>
          <p:cNvPr id="29" name="TextBox 28"/>
          <p:cNvSpPr txBox="1"/>
          <p:nvPr/>
        </p:nvSpPr>
        <p:spPr>
          <a:xfrm>
            <a:off x="8866975" y="213512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Retirar la carga, repartir en dos salidas o añadir un buffer</a:t>
            </a:r>
          </a:p>
        </p:txBody>
      </p:sp>
      <p:sp>
        <p:nvSpPr>
          <p:cNvPr id="30" name="Rectangle 29"/>
          <p:cNvSpPr/>
          <p:nvPr/>
        </p:nvSpPr>
        <p:spPr>
          <a:xfrm>
            <a:off x="475488" y="2569464"/>
            <a:ext cx="11240993" cy="43434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56946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Siempre hay '1' en la salida esperada</a:t>
            </a:r>
          </a:p>
        </p:txBody>
      </p:sp>
      <p:sp>
        <p:nvSpPr>
          <p:cNvPr id="32" name="TextBox 31"/>
          <p:cNvSpPr txBox="1"/>
          <p:nvPr/>
        </p:nvSpPr>
        <p:spPr>
          <a:xfrm>
            <a:off x="3246478" y="256946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 flotante o salida al aire</a:t>
            </a:r>
          </a:p>
        </p:txBody>
      </p:sp>
      <p:sp>
        <p:nvSpPr>
          <p:cNvPr id="33" name="TextBox 32"/>
          <p:cNvSpPr txBox="1"/>
          <p:nvPr/>
        </p:nvSpPr>
        <p:spPr>
          <a:xfrm>
            <a:off x="6169136" y="256946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cada entrada con el multímetro</a:t>
            </a:r>
          </a:p>
        </p:txBody>
      </p:sp>
      <p:sp>
        <p:nvSpPr>
          <p:cNvPr id="34" name="TextBox 33"/>
          <p:cNvSpPr txBox="1"/>
          <p:nvPr/>
        </p:nvSpPr>
        <p:spPr>
          <a:xfrm>
            <a:off x="8866975" y="256946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Fijar las entradas con puente a VCC/GND o resistencia de 1 kΩ</a:t>
            </a:r>
          </a:p>
        </p:txBody>
      </p:sp>
      <p:sp>
        <p:nvSpPr>
          <p:cNvPr id="35" name="TextBox 34"/>
          <p:cNvSpPr txBox="1"/>
          <p:nvPr/>
        </p:nvSpPr>
        <p:spPr>
          <a:xfrm>
            <a:off x="548640" y="300380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Funciona a veces y a veces no</a:t>
            </a:r>
          </a:p>
        </p:txBody>
      </p:sp>
      <p:sp>
        <p:nvSpPr>
          <p:cNvPr id="36" name="TextBox 35"/>
          <p:cNvSpPr txBox="1"/>
          <p:nvPr/>
        </p:nvSpPr>
        <p:spPr>
          <a:xfrm>
            <a:off x="3246478" y="300380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Cable flojo, falso contacto en el protoboard o rebote del interruptor</a:t>
            </a:r>
          </a:p>
        </p:txBody>
      </p:sp>
      <p:sp>
        <p:nvSpPr>
          <p:cNvPr id="37" name="TextBox 36"/>
          <p:cNvSpPr txBox="1"/>
          <p:nvPr/>
        </p:nvSpPr>
        <p:spPr>
          <a:xfrm>
            <a:off x="6169136" y="300380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Mover ligeramente cada cable y observar el LED</a:t>
            </a:r>
          </a:p>
        </p:txBody>
      </p:sp>
      <p:sp>
        <p:nvSpPr>
          <p:cNvPr id="38" name="TextBox 37"/>
          <p:cNvSpPr txBox="1"/>
          <p:nvPr/>
        </p:nvSpPr>
        <p:spPr>
          <a:xfrm>
            <a:off x="8866975" y="300380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Reasentar cables, usar otro tramo del protoboard, implementar antirrebote</a:t>
            </a:r>
          </a:p>
        </p:txBody>
      </p:sp>
      <p:sp>
        <p:nvSpPr>
          <p:cNvPr id="39" name="Rectangle 38"/>
          <p:cNvSpPr/>
          <p:nvPr/>
        </p:nvSpPr>
        <p:spPr>
          <a:xfrm>
            <a:off x="475488" y="3438144"/>
            <a:ext cx="11240993" cy="43434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43814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El chip se calienta</a:t>
            </a:r>
          </a:p>
        </p:txBody>
      </p:sp>
      <p:sp>
        <p:nvSpPr>
          <p:cNvPr id="41" name="TextBox 40"/>
          <p:cNvSpPr txBox="1"/>
          <p:nvPr/>
        </p:nvSpPr>
        <p:spPr>
          <a:xfrm>
            <a:off x="3246478" y="343814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Alimentación invertida, cortocircuito interno o sobrecarga</a:t>
            </a:r>
          </a:p>
        </p:txBody>
      </p:sp>
      <p:sp>
        <p:nvSpPr>
          <p:cNvPr id="42" name="TextBox 41"/>
          <p:cNvSpPr txBox="1"/>
          <p:nvPr/>
        </p:nvSpPr>
        <p:spPr>
          <a:xfrm>
            <a:off x="6169136" y="343814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Apagar de inmediato y medir continuidad entre pines</a:t>
            </a:r>
          </a:p>
        </p:txBody>
      </p:sp>
      <p:sp>
        <p:nvSpPr>
          <p:cNvPr id="43" name="TextBox 42"/>
          <p:cNvSpPr txBox="1"/>
          <p:nvPr/>
        </p:nvSpPr>
        <p:spPr>
          <a:xfrm>
            <a:off x="8866975" y="343814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Sustituir el chip y revisar el cableado antes de volver a energizar</a:t>
            </a:r>
          </a:p>
        </p:txBody>
      </p:sp>
      <p:sp>
        <p:nvSpPr>
          <p:cNvPr id="44" name="TextBox 43"/>
          <p:cNvSpPr txBox="1"/>
          <p:nvPr/>
        </p:nvSpPr>
        <p:spPr>
          <a:xfrm>
            <a:off x="548640" y="387248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El LED brilla muy poco o ilegible</a:t>
            </a:r>
          </a:p>
        </p:txBody>
      </p:sp>
      <p:sp>
        <p:nvSpPr>
          <p:cNvPr id="45" name="TextBox 44"/>
          <p:cNvSpPr txBox="1"/>
          <p:nvPr/>
        </p:nvSpPr>
        <p:spPr>
          <a:xfrm>
            <a:off x="3246478" y="387248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Resistencia demasiado alta o corriente insuficiente (IOH bajo)</a:t>
            </a:r>
          </a:p>
        </p:txBody>
      </p:sp>
      <p:sp>
        <p:nvSpPr>
          <p:cNvPr id="46" name="TextBox 45"/>
          <p:cNvSpPr txBox="1"/>
          <p:nvPr/>
        </p:nvSpPr>
        <p:spPr>
          <a:xfrm>
            <a:off x="6169136" y="387248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la corriente y calcular R = (VCC − VF)/IF</a:t>
            </a:r>
          </a:p>
        </p:txBody>
      </p:sp>
      <p:sp>
        <p:nvSpPr>
          <p:cNvPr id="47" name="TextBox 46"/>
          <p:cNvSpPr txBox="1"/>
          <p:nvPr/>
        </p:nvSpPr>
        <p:spPr>
          <a:xfrm>
            <a:off x="8866975" y="387248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Usar 330 Ω o un driver con transistor para cargas mayores</a:t>
            </a:r>
          </a:p>
        </p:txBody>
      </p:sp>
      <p:sp>
        <p:nvSpPr>
          <p:cNvPr id="48" name="Rectangle 47"/>
          <p:cNvSpPr/>
          <p:nvPr/>
        </p:nvSpPr>
        <p:spPr>
          <a:xfrm>
            <a:off x="475488" y="4306824"/>
            <a:ext cx="11240993" cy="43434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30682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El contador salta números</a:t>
            </a:r>
          </a:p>
        </p:txBody>
      </p:sp>
      <p:sp>
        <p:nvSpPr>
          <p:cNvPr id="50" name="TextBox 49"/>
          <p:cNvSpPr txBox="1"/>
          <p:nvPr/>
        </p:nvSpPr>
        <p:spPr>
          <a:xfrm>
            <a:off x="3246478" y="430682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Rebote en la señal de reloj o ruido en la entrada</a:t>
            </a:r>
          </a:p>
        </p:txBody>
      </p:sp>
      <p:sp>
        <p:nvSpPr>
          <p:cNvPr id="51" name="TextBox 50"/>
          <p:cNvSpPr txBox="1"/>
          <p:nvPr/>
        </p:nvSpPr>
        <p:spPr>
          <a:xfrm>
            <a:off x="6169136" y="430682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Observar la señal de reloj en el osciloscopio</a:t>
            </a:r>
          </a:p>
        </p:txBody>
      </p:sp>
      <p:sp>
        <p:nvSpPr>
          <p:cNvPr id="52" name="TextBox 51"/>
          <p:cNvSpPr txBox="1"/>
          <p:nvPr/>
        </p:nvSpPr>
        <p:spPr>
          <a:xfrm>
            <a:off x="8866975" y="430682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Añadir 74LS14 (Schmitt), filtro RC o desacople de 100 nF</a:t>
            </a:r>
          </a:p>
        </p:txBody>
      </p:sp>
      <p:sp>
        <p:nvSpPr>
          <p:cNvPr id="53" name="TextBox 52"/>
          <p:cNvSpPr txBox="1"/>
          <p:nvPr/>
        </p:nvSpPr>
        <p:spPr>
          <a:xfrm>
            <a:off x="548640" y="474116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El circuito funciona pero se detiene solo</a:t>
            </a:r>
          </a:p>
        </p:txBody>
      </p:sp>
      <p:sp>
        <p:nvSpPr>
          <p:cNvPr id="54" name="TextBox 53"/>
          <p:cNvSpPr txBox="1"/>
          <p:nvPr/>
        </p:nvSpPr>
        <p:spPr>
          <a:xfrm>
            <a:off x="3246478" y="474116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Fuente insuficiente, rizado o sobrecalentamiento</a:t>
            </a:r>
          </a:p>
        </p:txBody>
      </p:sp>
      <p:sp>
        <p:nvSpPr>
          <p:cNvPr id="55" name="TextBox 54"/>
          <p:cNvSpPr txBox="1"/>
          <p:nvPr/>
        </p:nvSpPr>
        <p:spPr>
          <a:xfrm>
            <a:off x="6169136" y="474116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VCC con el osciloscopio en modo AC</a:t>
            </a:r>
          </a:p>
        </p:txBody>
      </p:sp>
      <p:sp>
        <p:nvSpPr>
          <p:cNvPr id="56" name="TextBox 55"/>
          <p:cNvSpPr txBox="1"/>
          <p:nvPr/>
        </p:nvSpPr>
        <p:spPr>
          <a:xfrm>
            <a:off x="8866975" y="474116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Cambiar de fuente, añadir capacitores de mayor valor</a:t>
            </a:r>
          </a:p>
        </p:txBody>
      </p:sp>
      <p:sp>
        <p:nvSpPr>
          <p:cNvPr id="57" name="Rounded Rectangle 56"/>
          <p:cNvSpPr/>
          <p:nvPr/>
        </p:nvSpPr>
        <p:spPr>
          <a:xfrm>
            <a:off x="475488" y="1371600"/>
            <a:ext cx="11240993" cy="3803904"/>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75488" y="5468112"/>
            <a:ext cx="32004" cy="640080"/>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MÉTODO DE TRABAJO</a:t>
            </a:r>
          </a:p>
        </p:txBody>
      </p:sp>
      <p:sp>
        <p:nvSpPr>
          <p:cNvPr id="61" name="TextBox 6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Método sistemático: dividir el circuito en bloques, verificar cada bloque aislado con la tabla de verdad, y solo después buscar fallas de integración entre bloques.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170"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171"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172"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173"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174" dur="420"/>
                                        <p:tgtEl>
                                          <p:spTgt spid="20"/>
                                        </p:tgtEl>
                                      </p:cBhvr>
                                    </p:animEffect>
                                  </p:childTnLst>
                                </p:cTn>
                              </p:par>
                            </p:childTnLst>
                          </p:cTn>
                        </p:par>
                      </p:childTnLst>
                    </p:cTn>
                  </p:par>
                  <p:par>
                    <p:cTn id="168" fill="hold">
                      <p:stCondLst>
                        <p:cond delay="indefinite"/>
                      </p:stCondLst>
                      <p:childTnLst>
                        <p:par>
                          <p:cTn id="16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8"/>
                                        </p:tgtEl>
                                        <p:attrNameLst>
                                          <p:attrName>style.visibility</p:attrName>
                                        </p:attrNameLst>
                                      </p:cBhvr>
                                      <p:to>
                                        <p:strVal val="visible"/>
                                      </p:to>
                                    </p:set>
                                    <p:animEffect transition="in" filter="fade">
                                      <p:cBhvr>
                                        <p:cTn id="156" dur="420"/>
                                        <p:tgtEl>
                                          <p:spTgt spid="58"/>
                                        </p:tgtEl>
                                      </p:cBhvr>
                                    </p:animEffect>
                                  </p:childTnLst>
                                </p:cTn>
                              </p:par>
                              <p:par>
                                <p:cTn id="161" fill="hold">
                                  <p:stCondLst>
                                    <p:cond delay="4070"/>
                                  </p:stCondLst>
                                  <p:childTnLst>
                                    <p:set>
                                      <p:cBhvr>
                                        <p:cTn id="160" dur="1" fill="hold">
                                          <p:stCondLst>
                                            <p:cond delay="0"/>
                                          </p:stCondLst>
                                        </p:cTn>
                                        <p:tgtEl>
                                          <p:spTgt spid="59"/>
                                        </p:tgtEl>
                                        <p:attrNameLst>
                                          <p:attrName>style.visibility</p:attrName>
                                        </p:attrNameLst>
                                      </p:cBhvr>
                                      <p:to>
                                        <p:strVal val="visible"/>
                                      </p:to>
                                    </p:set>
                                    <p:animEffect transition="in" filter="fade">
                                      <p:cBhvr>
                                        <p:cTn id="159" dur="420"/>
                                        <p:tgtEl>
                                          <p:spTgt spid="59"/>
                                        </p:tgtEl>
                                      </p:cBhvr>
                                    </p:animEffect>
                                  </p:childTnLst>
                                </p:cTn>
                              </p:par>
                              <p:par>
                                <p:cTn id="164" fill="hold">
                                  <p:stCondLst>
                                    <p:cond delay="4180"/>
                                  </p:stCondLst>
                                  <p:childTnLst>
                                    <p:set>
                                      <p:cBhvr>
                                        <p:cTn id="163" dur="1" fill="hold">
                                          <p:stCondLst>
                                            <p:cond delay="0"/>
                                          </p:stCondLst>
                                        </p:cTn>
                                        <p:tgtEl>
                                          <p:spTgt spid="60"/>
                                        </p:tgtEl>
                                        <p:attrNameLst>
                                          <p:attrName>style.visibility</p:attrName>
                                        </p:attrNameLst>
                                      </p:cBhvr>
                                      <p:to>
                                        <p:strVal val="visible"/>
                                      </p:to>
                                    </p:set>
                                    <p:animEffect transition="in" filter="fade">
                                      <p:cBhvr>
                                        <p:cTn id="162" dur="420"/>
                                        <p:tgtEl>
                                          <p:spTgt spid="60"/>
                                        </p:tgtEl>
                                      </p:cBhvr>
                                    </p:animEffect>
                                  </p:childTnLst>
                                </p:cTn>
                              </p:par>
                              <p:par>
                                <p:cTn id="167" fill="hold">
                                  <p:stCondLst>
                                    <p:cond delay="4290"/>
                                  </p:stCondLst>
                                  <p:childTnLst>
                                    <p:set>
                                      <p:cBhvr>
                                        <p:cTn id="166" dur="1" fill="hold">
                                          <p:stCondLst>
                                            <p:cond delay="0"/>
                                          </p:stCondLst>
                                        </p:cTn>
                                        <p:tgtEl>
                                          <p:spTgt spid="61"/>
                                        </p:tgtEl>
                                        <p:attrNameLst>
                                          <p:attrName>style.visibility</p:attrName>
                                        </p:attrNameLst>
                                      </p:cBhvr>
                                      <p:to>
                                        <p:strVal val="visible"/>
                                      </p:to>
                                    </p:set>
                                    <p:animEffect transition="in" filter="fade">
                                      <p:cBhvr>
                                        <p:cTn id="165" dur="42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Reto rápido: identifica la falla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Aplica lo aprendido antes de leer la respuesta.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33002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FFFFFF"/>
          </a:solidFill>
          <a:ln w="12700">
            <a:solidFill>
              <a:srgbClr val="C42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0D1A2B"/>
                </a:solidFill>
                <a:latin typeface="Segoe UI Semibold"/>
              </a:rPr>
              <a:t>Un alumno monta un 74LS00 y observa que la salida del pin 3 permanece en 0.2 V sin importar el estado de las entradas 1 y 2. El chip está bien alimentado y no se calienta. ¿Cuál es la causa más probable?</a:t>
            </a:r>
          </a:p>
        </p:txBody>
      </p:sp>
      <p:sp>
        <p:nvSpPr>
          <p:cNvPr id="18" name="Rounded Rectangle 17"/>
          <p:cNvSpPr/>
          <p:nvPr/>
        </p:nvSpPr>
        <p:spPr>
          <a:xfrm>
            <a:off x="47548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C42B6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El chip está invertido y el pin 3 no es una salida</a:t>
            </a:r>
          </a:p>
        </p:txBody>
      </p:sp>
      <p:sp>
        <p:nvSpPr>
          <p:cNvPr id="22" name="Rounded Rectangle 21"/>
          <p:cNvSpPr/>
          <p:nvPr/>
        </p:nvSpPr>
        <p:spPr>
          <a:xfrm>
            <a:off x="619656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C42B6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El LED de la salida no tiene resistencia limitadora</a:t>
            </a:r>
          </a:p>
        </p:txBody>
      </p:sp>
      <p:sp>
        <p:nvSpPr>
          <p:cNvPr id="26" name="Rounded Rectangle 25"/>
          <p:cNvSpPr/>
          <p:nvPr/>
        </p:nvSpPr>
        <p:spPr>
          <a:xfrm>
            <a:off x="47548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C42B6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El LED está conectado con lógica de sumidero a VCC</a:t>
            </a:r>
          </a:p>
        </p:txBody>
      </p:sp>
      <p:sp>
        <p:nvSpPr>
          <p:cNvPr id="30" name="Rounded Rectangle 29"/>
          <p:cNvSpPr/>
          <p:nvPr/>
        </p:nvSpPr>
        <p:spPr>
          <a:xfrm>
            <a:off x="619656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C42B6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La fuente entrega 5.5 V en lugar de 5 V</a:t>
            </a:r>
          </a:p>
        </p:txBody>
      </p:sp>
      <p:sp>
        <p:nvSpPr>
          <p:cNvPr id="34" name="Rounded Rectangle 33"/>
          <p:cNvSpPr/>
          <p:nvPr/>
        </p:nvSpPr>
        <p:spPr>
          <a:xfrm>
            <a:off x="475488" y="4498848"/>
            <a:ext cx="11240993" cy="17007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Respuesta correcta: C. En TTL el LED debe conectarse entre VCC y la salida (lógica de sumidero). Si se conecta entre la salida y GND, el pin debe ENTREGAR corriente, algo que un TTL hace muy mal: la salida se queda cerca de 0.4 V y nunca alcanza el nivel alto. Explicación complementaria: la opción A es incorrecta porque el 7400 tiene salidas en los pines 3, 6, 8 y 11; la B y la D afectan al LED y a los márgenes, pero no explican un nivel permanentemente bajo.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Reto rápido: tabla de verdad y equivalencias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Segunda pregunta de verificación.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44243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FFFFFF"/>
          </a:solidFill>
          <a:ln w="12700">
            <a:solidFill>
              <a:srgbClr val="0E8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0D1A2B"/>
                </a:solidFill>
                <a:latin typeface="Segoe UI Semibold"/>
              </a:rPr>
              <a:t>¿Cuál es la salida del circuito formado por una compuerta AND (7408) cuyas entradas A y B están conectadas a las salidas de dos inversores que reciben, a su vez, las señales A y B originales?</a:t>
            </a:r>
          </a:p>
        </p:txBody>
      </p:sp>
      <p:sp>
        <p:nvSpPr>
          <p:cNvPr id="18" name="Rounded Rectangle 17"/>
          <p:cNvSpPr/>
          <p:nvPr/>
        </p:nvSpPr>
        <p:spPr>
          <a:xfrm>
            <a:off x="47548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0E8A5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Y = A · B (coincide con el AND original)</a:t>
            </a:r>
          </a:p>
        </p:txBody>
      </p:sp>
      <p:sp>
        <p:nvSpPr>
          <p:cNvPr id="22" name="Rounded Rectangle 21"/>
          <p:cNvSpPr/>
          <p:nvPr/>
        </p:nvSpPr>
        <p:spPr>
          <a:xfrm>
            <a:off x="619656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0E8A5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Y = (A · B)' (se comporta como un NAND)</a:t>
            </a:r>
          </a:p>
        </p:txBody>
      </p:sp>
      <p:sp>
        <p:nvSpPr>
          <p:cNvPr id="26" name="Rounded Rectangle 25"/>
          <p:cNvSpPr/>
          <p:nvPr/>
        </p:nvSpPr>
        <p:spPr>
          <a:xfrm>
            <a:off x="47548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0E8A5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Y = A' · B' (un NOR lógico con entradas invertidas)</a:t>
            </a:r>
          </a:p>
        </p:txBody>
      </p:sp>
      <p:sp>
        <p:nvSpPr>
          <p:cNvPr id="30" name="Rounded Rectangle 29"/>
          <p:cNvSpPr/>
          <p:nvPr/>
        </p:nvSpPr>
        <p:spPr>
          <a:xfrm>
            <a:off x="619656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0E8A5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Y = A ⊕ B (una XOR)</a:t>
            </a:r>
          </a:p>
        </p:txBody>
      </p:sp>
      <p:sp>
        <p:nvSpPr>
          <p:cNvPr id="34" name="Rounded Rectangle 33"/>
          <p:cNvSpPr/>
          <p:nvPr/>
        </p:nvSpPr>
        <p:spPr>
          <a:xfrm>
            <a:off x="475488" y="4498848"/>
            <a:ext cx="11240993" cy="17007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Respuesta correcta: C. Al invertir ambas entradas antes del AND se obtiene Y = A'·B', que por el teorema de De Morgan es igual a (A + B)'. Es decir, el conjunto se comporta como una compuerta NOR. Consecuencia práctica: cualquier función se puede construir con chips de AND y NOT, y este ejercicio muestra cómo cambiar la función sin cambiar de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Reto rápido: hoja de datos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Tercera pregunta de verificación.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55484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FFFFFF"/>
          </a:solidFill>
          <a:ln w="12700">
            <a:solidFill>
              <a:srgbClr val="6D46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0D1A2B"/>
                </a:solidFill>
                <a:latin typeface="Segoe UI Semibold"/>
              </a:rPr>
              <a:t>En la hoja de datos del 74LS00 se lee IOL(máx) = 8 mA e IIL(máx) = 0.4 mA por entrada. ¿Cuántas entradas de la misma familia puede gobernar una salida sin exceder las especificaciones?</a:t>
            </a:r>
          </a:p>
        </p:txBody>
      </p:sp>
      <p:sp>
        <p:nvSpPr>
          <p:cNvPr id="18" name="Rounded Rectangle 17"/>
          <p:cNvSpPr/>
          <p:nvPr/>
        </p:nvSpPr>
        <p:spPr>
          <a:xfrm>
            <a:off x="47548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8 entradas, porque IOL es de 8 mA</a:t>
            </a:r>
          </a:p>
        </p:txBody>
      </p:sp>
      <p:sp>
        <p:nvSpPr>
          <p:cNvPr id="22" name="Rounded Rectangle 21"/>
          <p:cNvSpPr/>
          <p:nvPr/>
        </p:nvSpPr>
        <p:spPr>
          <a:xfrm>
            <a:off x="619656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20 entradas, porque cada entrada consume 0.4 mA</a:t>
            </a:r>
          </a:p>
        </p:txBody>
      </p:sp>
      <p:sp>
        <p:nvSpPr>
          <p:cNvPr id="26" name="Rounded Rectangle 25"/>
          <p:cNvSpPr/>
          <p:nvPr/>
        </p:nvSpPr>
        <p:spPr>
          <a:xfrm>
            <a:off x="47548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10 entradas, por el fan-out estándar TTL</a:t>
            </a:r>
          </a:p>
        </p:txBody>
      </p:sp>
      <p:sp>
        <p:nvSpPr>
          <p:cNvPr id="30" name="Rounded Rectangle 29"/>
          <p:cNvSpPr/>
          <p:nvPr/>
        </p:nvSpPr>
        <p:spPr>
          <a:xfrm>
            <a:off x="619656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4 entradas, porque IOL se reparte entre dos compuertas</a:t>
            </a:r>
          </a:p>
        </p:txBody>
      </p:sp>
      <p:sp>
        <p:nvSpPr>
          <p:cNvPr id="34" name="Rounded Rectangle 33"/>
          <p:cNvSpPr/>
          <p:nvPr/>
        </p:nvSpPr>
        <p:spPr>
          <a:xfrm>
            <a:off x="475488" y="4498848"/>
            <a:ext cx="11240993" cy="17007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Respuesta correcta: B por cálculo directo (8 mA ÷ 0.4 mA = 20) y C por la definición clásica del fan-out TTL (10 cargas). El fan-out garantizado de 10 incluye un margen de seguridad del 100 %: la hoja de datos fija 10 porque además hay que respetar el límite en nivel alto (IOH = 0.4 mA ÷ 20 µA = 20 entradas) y los retardos por capacidad de carga. Moraleja: el cálculo eléctrico da 20, pero el límite de diseño recomendado es 10.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fltVal val="0.06"/>
                                          </p:val>
                                        </p:tav>
                                        <p:tav tm="100000">
                                          <p:val>
                                            <p:flt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Buenas prácticas y reglas de oro del laboratorio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Hábitos que evitan perder componentes, tiempo y calificaciones.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66725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Antes de energizar:</a:t>
            </a:r>
            <a:r>
              <a:rPr sz="1180" b="0">
                <a:solidFill>
                  <a:srgbClr val="2C3E56"/>
                </a:solidFill>
                <a:latin typeface="Segoe UI"/>
              </a:rPr>
              <a:t> verificar con el multímetro que VCC y GND no están en corto y que cada chip está bien orientado.</a:t>
            </a:r>
          </a:p>
        </p:txBody>
      </p:sp>
      <p:sp>
        <p:nvSpPr>
          <p:cNvPr id="18" name="Oval 17"/>
          <p:cNvSpPr/>
          <p:nvPr/>
        </p:nvSpPr>
        <p:spPr>
          <a:xfrm>
            <a:off x="502919" y="191494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860076"/>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Un color por función:</a:t>
            </a:r>
            <a:r>
              <a:rPr sz="1180" b="0">
                <a:solidFill>
                  <a:srgbClr val="2C3E56"/>
                </a:solidFill>
                <a:latin typeface="Segoe UI"/>
              </a:rPr>
              <a:t> rojo para VCC, negro para GND, amarillo para reloj y colores libres para señales; documentar la convención.</a:t>
            </a:r>
          </a:p>
        </p:txBody>
      </p:sp>
      <p:sp>
        <p:nvSpPr>
          <p:cNvPr id="20" name="Oval 19"/>
          <p:cNvSpPr/>
          <p:nvPr/>
        </p:nvSpPr>
        <p:spPr>
          <a:xfrm>
            <a:off x="502919" y="240341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348553"/>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Cables cortos:</a:t>
            </a:r>
            <a:r>
              <a:rPr sz="1180" b="0">
                <a:solidFill>
                  <a:srgbClr val="2C3E56"/>
                </a:solidFill>
                <a:latin typeface="Segoe UI"/>
              </a:rPr>
              <a:t> recorridos largos captan ruido y se desconectan con facilidad.</a:t>
            </a:r>
          </a:p>
        </p:txBody>
      </p:sp>
      <p:sp>
        <p:nvSpPr>
          <p:cNvPr id="22" name="Oval 21"/>
          <p:cNvSpPr/>
          <p:nvPr/>
        </p:nvSpPr>
        <p:spPr>
          <a:xfrm>
            <a:off x="502919" y="2891893"/>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837029"/>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Nunca dejar entradas al aire:</a:t>
            </a:r>
            <a:r>
              <a:rPr sz="1180" b="0">
                <a:solidFill>
                  <a:srgbClr val="2C3E56"/>
                </a:solidFill>
                <a:latin typeface="Segoe UI"/>
              </a:rPr>
              <a:t> en CMOS provocan oscilación y consumo, en TTL el estado es indefinido en la práctica si hay ruido.</a:t>
            </a:r>
          </a:p>
        </p:txBody>
      </p:sp>
      <p:sp>
        <p:nvSpPr>
          <p:cNvPr id="24" name="Oval 23"/>
          <p:cNvSpPr/>
          <p:nvPr/>
        </p:nvSpPr>
        <p:spPr>
          <a:xfrm>
            <a:off x="502919" y="338037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325506"/>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Un bloque a la vez:</a:t>
            </a:r>
            <a:r>
              <a:rPr sz="1180" b="0">
                <a:solidFill>
                  <a:srgbClr val="2C3E56"/>
                </a:solidFill>
                <a:latin typeface="Segoe UI"/>
              </a:rPr>
              <a:t> cablear, probar y solo entonces continuar con el siguiente bloque del diseño.</a:t>
            </a:r>
          </a:p>
        </p:txBody>
      </p:sp>
      <p:sp>
        <p:nvSpPr>
          <p:cNvPr id="26" name="Oval 25"/>
          <p:cNvSpPr/>
          <p:nvPr/>
        </p:nvSpPr>
        <p:spPr>
          <a:xfrm>
            <a:off x="6278864"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1371600"/>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Cuidar los chips:</a:t>
            </a:r>
            <a:r>
              <a:rPr sz="1180" b="0">
                <a:solidFill>
                  <a:srgbClr val="2C3E56"/>
                </a:solidFill>
                <a:latin typeface="Segoe UI"/>
              </a:rPr>
              <a:t> no insertarlos invertidos, usar extractor y aplicar la pulsera antiestática.</a:t>
            </a:r>
          </a:p>
        </p:txBody>
      </p:sp>
      <p:sp>
        <p:nvSpPr>
          <p:cNvPr id="28" name="Oval 27"/>
          <p:cNvSpPr/>
          <p:nvPr/>
        </p:nvSpPr>
        <p:spPr>
          <a:xfrm>
            <a:off x="6278864" y="191494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860076"/>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Etiquetar los cables:</a:t>
            </a:r>
            <a:r>
              <a:rPr sz="1180" b="0">
                <a:solidFill>
                  <a:srgbClr val="2C3E56"/>
                </a:solidFill>
                <a:latin typeface="Segoe UI"/>
              </a:rPr>
              <a:t> una cinta o una etiqueta en la señal de reloj y en las salidas ahorra horas de diagnóstico.</a:t>
            </a:r>
          </a:p>
        </p:txBody>
      </p:sp>
      <p:sp>
        <p:nvSpPr>
          <p:cNvPr id="30" name="Oval 29"/>
          <p:cNvSpPr/>
          <p:nvPr/>
        </p:nvSpPr>
        <p:spPr>
          <a:xfrm>
            <a:off x="6278864" y="240341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2348553"/>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No exceder el fan-out:</a:t>
            </a:r>
            <a:r>
              <a:rPr sz="1180" b="0">
                <a:solidFill>
                  <a:srgbClr val="2C3E56"/>
                </a:solidFill>
                <a:latin typeface="Segoe UI"/>
              </a:rPr>
              <a:t> repartir la carga y usar buffers cuando se manejan LEDs, displays o relés.</a:t>
            </a:r>
          </a:p>
        </p:txBody>
      </p:sp>
      <p:sp>
        <p:nvSpPr>
          <p:cNvPr id="32" name="Oval 31"/>
          <p:cNvSpPr/>
          <p:nvPr/>
        </p:nvSpPr>
        <p:spPr>
          <a:xfrm>
            <a:off x="6278864" y="2891893"/>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2837029"/>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Documentar de inmediato:</a:t>
            </a:r>
            <a:r>
              <a:rPr sz="1180" b="0">
                <a:solidFill>
                  <a:srgbClr val="2C3E56"/>
                </a:solidFill>
                <a:latin typeface="Segoe UI"/>
              </a:rPr>
              <a:t> anotar los valores medidos en el momento, no al final de la sesión.</a:t>
            </a:r>
          </a:p>
        </p:txBody>
      </p:sp>
      <p:sp>
        <p:nvSpPr>
          <p:cNvPr id="34" name="Oval 33"/>
          <p:cNvSpPr/>
          <p:nvPr/>
        </p:nvSpPr>
        <p:spPr>
          <a:xfrm>
            <a:off x="6278864" y="338037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3325506"/>
            <a:ext cx="5245592" cy="406180"/>
          </a:xfrm>
          <a:prstGeom prst="rect">
            <a:avLst/>
          </a:prstGeom>
          <a:noFill/>
        </p:spPr>
        <p:txBody>
          <a:bodyPr wrap="square" lIns="0" rIns="0" tIns="0" bIns="0" anchor="t">
            <a:spAutoFit/>
          </a:bodyPr>
          <a:lstStyle/>
          <a:p>
            <a:pPr algn="l">
              <a:lnSpc>
                <a:spcPct val="112000"/>
              </a:lnSpc>
            </a:pPr>
            <a:r>
              <a:rPr sz="1130" b="1">
                <a:solidFill>
                  <a:srgbClr val="2C3E56"/>
                </a:solidFill>
                <a:latin typeface="Segoe UI Semibold"/>
              </a:rPr>
              <a:t>Mantener el orden:</a:t>
            </a:r>
            <a:r>
              <a:rPr sz="1130" b="0">
                <a:solidFill>
                  <a:srgbClr val="2C3E56"/>
                </a:solidFill>
                <a:latin typeface="Segoe UI"/>
              </a:rPr>
              <a:t> mesa limpia, componentes en su caja y herramientas en su lugar; el desorden se traduce en errores humanos.</a:t>
            </a:r>
          </a:p>
        </p:txBody>
      </p:sp>
      <p:sp>
        <p:nvSpPr>
          <p:cNvPr id="36" name="Rounded Rectangle 35"/>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49824"/>
            <a:ext cx="32004" cy="65836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REGLA PRÁCTICA</a:t>
            </a:r>
          </a:p>
        </p:txBody>
      </p:sp>
      <p:sp>
        <p:nvSpPr>
          <p:cNvPr id="39" name="TextBox 38"/>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del laboratorio: si el circuito no funciona, primero se verifica la alimentación, después el reloj y por último la lógica. En ese orden se localiza más del 90 % de las fallas.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5" dur="420"/>
                                        <p:tgtEl>
                                          <p:spTgt spid="35"/>
                                        </p:tgtEl>
                                      </p:cBhvr>
                                    </p:animEffect>
                                    <p:anim calcmode="lin" valueType="num">
                                      <p:cBhvr additive="base">
                                        <p:cTn id="6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74" fill="hold">
                      <p:stCondLst>
                        <p:cond delay="indefinite"/>
                      </p:stCondLst>
                      <p:childTnLst>
                        <p:par>
                          <p:cTn id="75" fill="hold">
                            <p:stCondLst>
                              <p:cond delay="0"/>
                            </p:stCondLst>
                            <p:childTnLst>
                              <p:par>
                                <p:cTn id="73" fill="hold">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1" dur="420"/>
                                        <p:tgtEl>
                                          <p:spTgt spid="36"/>
                                        </p:tgtEl>
                                      </p:cBhvr>
                                    </p:animEffect>
                                  </p:childTnLst>
                                </p:cTn>
                              </p:par>
                            </p:childTnLst>
                          </p:cTn>
                        </p:par>
                      </p:childTnLst>
                    </p:cTn>
                  </p:par>
                  <p:par>
                    <p:cTn id="85" fill="hold">
                      <p:stCondLst>
                        <p:cond delay="indefinite"/>
                      </p:stCondLst>
                      <p:childTnLst>
                        <p:par>
                          <p:cTn id="86" fill="hold">
                            <p:stCondLst>
                              <p:cond delay="0"/>
                            </p:stCondLst>
                            <p:childTnLst>
                              <p:par>
                                <p:cTn id="78" fill="hold">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6" dur="420"/>
                                        <p:tgtEl>
                                          <p:spTgt spid="37"/>
                                        </p:tgtEl>
                                      </p:cBhvr>
                                    </p:animEffect>
                                  </p:childTnLst>
                                </p:cTn>
                              </p:par>
                              <p:par>
                                <p:cTn id="81" fill="hold">
                                  <p:stCondLst>
                                    <p:cond delay="110"/>
                                  </p:stCondLst>
                                  <p:childTnLst>
                                    <p:set>
                                      <p:cBhvr>
                                        <p:cTn id="80" dur="1" fill="hold">
                                          <p:stCondLst>
                                            <p:cond delay="0"/>
                                          </p:stCondLst>
                                        </p:cTn>
                                        <p:tgtEl>
                                          <p:spTgt spid="38"/>
                                        </p:tgtEl>
                                        <p:attrNameLst>
                                          <p:attrName>style.visibility</p:attrName>
                                        </p:attrNameLst>
                                      </p:cBhvr>
                                      <p:to>
                                        <p:strVal val="visible"/>
                                      </p:to>
                                    </p:set>
                                    <p:animEffect transition="in" filter="fade">
                                      <p:cBhvr>
                                        <p:cTn id="79" dur="420"/>
                                        <p:tgtEl>
                                          <p:spTgt spid="38"/>
                                        </p:tgtEl>
                                      </p:cBhvr>
                                    </p:animEffect>
                                  </p:childTnLst>
                                </p:cTn>
                              </p:par>
                              <p:par>
                                <p:cTn id="84" fill="hold">
                                  <p:stCondLst>
                                    <p:cond delay="220"/>
                                  </p:stCondLst>
                                  <p:childTnLst>
                                    <p:set>
                                      <p:cBhvr>
                                        <p:cTn id="83" dur="1" fill="hold">
                                          <p:stCondLst>
                                            <p:cond delay="0"/>
                                          </p:stCondLst>
                                        </p:cTn>
                                        <p:tgtEl>
                                          <p:spTgt spid="39"/>
                                        </p:tgtEl>
                                        <p:attrNameLst>
                                          <p:attrName>style.visibility</p:attrName>
                                        </p:attrNameLst>
                                      </p:cBhvr>
                                      <p:to>
                                        <p:strVal val="visible"/>
                                      </p:to>
                                    </p:set>
                                    <p:animEffect transition="in" filter="fade">
                                      <p:cBhvr>
                                        <p:cTn id="8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Simulación antes del montaje físico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Verificar en software cuesta minutos; depurar en hardware cuesta horas.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77966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0E7C94"/>
                </a:solidFill>
                <a:latin typeface="Segoe UI Semibold"/>
              </a:rPr>
              <a:t>Herramientas recomendadas</a:t>
            </a:r>
          </a:p>
        </p:txBody>
      </p:sp>
      <p:sp>
        <p:nvSpPr>
          <p:cNvPr id="19" name="Oval 18"/>
          <p:cNvSpPr/>
          <p:nvPr/>
        </p:nvSpPr>
        <p:spPr>
          <a:xfrm>
            <a:off x="685799" y="19751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593780"/>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Logisim / Logisim Evolution (gratuito):</a:t>
            </a:r>
            <a:r>
              <a:rPr sz="1150" b="0">
                <a:solidFill>
                  <a:srgbClr val="2C3E56"/>
                </a:solidFill>
                <a:latin typeface="Segoe UI"/>
              </a:rPr>
              <a:t> ideal para compuertas, sumadores, multiplexores y máquinas de estado; incluye diagramas de tiempo.</a:t>
            </a:r>
          </a:p>
        </p:txBody>
      </p:sp>
      <p:sp>
        <p:nvSpPr>
          <p:cNvPr id="21" name="Oval 20"/>
          <p:cNvSpPr/>
          <p:nvPr/>
        </p:nvSpPr>
        <p:spPr>
          <a:xfrm>
            <a:off x="685799" y="265118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596316"/>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Tinkercad Circuits (navegador):</a:t>
            </a:r>
            <a:r>
              <a:rPr sz="1150" b="0">
                <a:solidFill>
                  <a:srgbClr val="2C3E56"/>
                </a:solidFill>
                <a:latin typeface="Segoe UI"/>
              </a:rPr>
              <a:t> permite simular Arduino y circuitos básicos con aspecto realista del protoboard.</a:t>
            </a:r>
          </a:p>
        </p:txBody>
      </p:sp>
      <p:sp>
        <p:nvSpPr>
          <p:cNvPr id="23" name="Oval 22"/>
          <p:cNvSpPr/>
          <p:nvPr/>
        </p:nvSpPr>
        <p:spPr>
          <a:xfrm>
            <a:off x="685799" y="312933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3074466"/>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Proteus / Multisim:</a:t>
            </a:r>
            <a:r>
              <a:rPr sz="1150" b="0">
                <a:solidFill>
                  <a:srgbClr val="2C3E56"/>
                </a:solidFill>
                <a:latin typeface="Segoe UI"/>
              </a:rPr>
              <a:t> simuladores profesionales con bibliotecas completas de la Serie 74XX y análisis de tiempos.</a:t>
            </a:r>
          </a:p>
        </p:txBody>
      </p:sp>
      <p:sp>
        <p:nvSpPr>
          <p:cNvPr id="25" name="Oval 24"/>
          <p:cNvSpPr/>
          <p:nvPr/>
        </p:nvSpPr>
        <p:spPr>
          <a:xfrm>
            <a:off x="685799" y="360748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3552616"/>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LTspice / Falstad (en línea):</a:t>
            </a:r>
            <a:r>
              <a:rPr sz="1150" b="0">
                <a:solidFill>
                  <a:srgbClr val="2C3E56"/>
                </a:solidFill>
                <a:latin typeface="Segoe UI"/>
              </a:rPr>
              <a:t> análisis de señales y simulación rápida de compuertas.</a:t>
            </a:r>
          </a:p>
        </p:txBody>
      </p:sp>
      <p:sp>
        <p:nvSpPr>
          <p:cNvPr id="27" name="Oval 26"/>
          <p:cNvSpPr/>
          <p:nvPr/>
        </p:nvSpPr>
        <p:spPr>
          <a:xfrm>
            <a:off x="685799" y="408563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4030766"/>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KiCad:</a:t>
            </a:r>
            <a:r>
              <a:rPr sz="1150" b="0">
                <a:solidFill>
                  <a:srgbClr val="2C3E56"/>
                </a:solidFill>
                <a:latin typeface="Segoe UI"/>
              </a:rPr>
              <a:t> diseño de esquemático y PCB para llevar el circuito a placa definitiva.</a:t>
            </a:r>
          </a:p>
        </p:txBody>
      </p:sp>
      <p:sp>
        <p:nvSpPr>
          <p:cNvPr id="29" name="Rounded Rectangle 28"/>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0E8A5F"/>
                </a:solidFill>
                <a:latin typeface="Segoe UI Semibold"/>
              </a:rPr>
              <a:t>Qué conviene simular</a:t>
            </a:r>
          </a:p>
        </p:txBody>
      </p:sp>
      <p:sp>
        <p:nvSpPr>
          <p:cNvPr id="32" name="Oval 31"/>
          <p:cNvSpPr/>
          <p:nvPr/>
        </p:nvSpPr>
        <p:spPr>
          <a:xfrm>
            <a:off x="6416024" y="197510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62328" y="1920240"/>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Tabla de verdad completa:</a:t>
            </a:r>
            <a:r>
              <a:rPr sz="1150" b="0">
                <a:solidFill>
                  <a:srgbClr val="2C3E56"/>
                </a:solidFill>
                <a:latin typeface="Segoe UI"/>
              </a:rPr>
              <a:t> aplicar todas las combinaciones y comparar con lo esperado antes de cablear.</a:t>
            </a:r>
          </a:p>
        </p:txBody>
      </p:sp>
      <p:sp>
        <p:nvSpPr>
          <p:cNvPr id="34" name="Oval 33"/>
          <p:cNvSpPr/>
          <p:nvPr/>
        </p:nvSpPr>
        <p:spPr>
          <a:xfrm>
            <a:off x="6416024" y="245325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2398389"/>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Retardos y glitches:</a:t>
            </a:r>
            <a:r>
              <a:rPr sz="1150" b="0">
                <a:solidFill>
                  <a:srgbClr val="2C3E56"/>
                </a:solidFill>
                <a:latin typeface="Segoe UI"/>
              </a:rPr>
              <a:t> verificar que los pulsos no se pierdan por tiempos de propagación.</a:t>
            </a:r>
          </a:p>
        </p:txBody>
      </p:sp>
      <p:sp>
        <p:nvSpPr>
          <p:cNvPr id="36" name="Oval 35"/>
          <p:cNvSpPr/>
          <p:nvPr/>
        </p:nvSpPr>
        <p:spPr>
          <a:xfrm>
            <a:off x="6416024" y="293140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876539"/>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Contadores y máquinas de estados:</a:t>
            </a:r>
            <a:r>
              <a:rPr sz="1150" b="0">
                <a:solidFill>
                  <a:srgbClr val="2C3E56"/>
                </a:solidFill>
                <a:latin typeface="Segoe UI"/>
              </a:rPr>
              <a:t> comprobar la secuencia completa y el retorno al estado inicial.</a:t>
            </a:r>
          </a:p>
        </p:txBody>
      </p:sp>
      <p:sp>
        <p:nvSpPr>
          <p:cNvPr id="38" name="Oval 37"/>
          <p:cNvSpPr/>
          <p:nvPr/>
        </p:nvSpPr>
        <p:spPr>
          <a:xfrm>
            <a:off x="6416024" y="340955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3354689"/>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Carga y fan-out teórico:</a:t>
            </a:r>
            <a:r>
              <a:rPr sz="1150" b="0">
                <a:solidFill>
                  <a:srgbClr val="2C3E56"/>
                </a:solidFill>
                <a:latin typeface="Segoe UI"/>
              </a:rPr>
              <a:t> estimar cuántas entradas cuelgan de cada salida.</a:t>
            </a:r>
          </a:p>
        </p:txBody>
      </p:sp>
      <p:sp>
        <p:nvSpPr>
          <p:cNvPr id="40" name="Oval 39"/>
          <p:cNvSpPr/>
          <p:nvPr/>
        </p:nvSpPr>
        <p:spPr>
          <a:xfrm>
            <a:off x="6416024" y="388770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832839"/>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Consumo estimado:</a:t>
            </a:r>
            <a:r>
              <a:rPr sz="1150" b="0">
                <a:solidFill>
                  <a:srgbClr val="2C3E56"/>
                </a:solidFill>
                <a:latin typeface="Segoe UI"/>
              </a:rPr>
              <a:t> sumar corrientes para dimensionar la fuente del montaje.</a:t>
            </a:r>
          </a:p>
        </p:txBody>
      </p:sp>
      <p:sp>
        <p:nvSpPr>
          <p:cNvPr id="42" name="Rounded Rectangle 41"/>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CONCLUSIÓN</a:t>
            </a:r>
          </a:p>
        </p:txBody>
      </p:sp>
      <p:sp>
        <p:nvSpPr>
          <p:cNvPr id="45" name="TextBox 4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La simulación no reemplaza la medición real: no modela bien el ruido, las capacidades parásitas del protoboard, los rebotes mecánicos ni las tolerancias de los componentes. Pero evita los errores de diseño, que son los más costosos.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59" fill="hold">
                      <p:stCondLst>
                        <p:cond delay="indefinite"/>
                      </p:stCondLst>
                      <p:childTnLst>
                        <p:par>
                          <p:cTn id="60"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4" fill="hold">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1" dur="420"/>
                                        <p:tgtEl>
                                          <p:spTgt spid="29"/>
                                        </p:tgtEl>
                                      </p:cBhvr>
                                    </p:animEffect>
                                    <p:anim calcmode="lin" valueType="num">
                                      <p:cBhvr additive="base">
                                        <p:cTn id="63" dur="420" fill="hold"/>
                                        <p:tgtEl>
                                          <p:spTgt spid="29"/>
                                        </p:tgtEl>
                                        <p:attrNameLst>
                                          <p:attrName>ppt_y</p:attrName>
                                        </p:attrNameLst>
                                      </p:cBhvr>
                                      <p:tavLst>
                                        <p:tav tm="0">
                                          <p:val>
                                            <p:fltVal val="0.06"/>
                                          </p:val>
                                        </p:tav>
                                        <p:tav tm="100000">
                                          <p:val>
                                            <p:fltVal val="0"/>
                                          </p:val>
                                        </p:tav>
                                      </p:tavLst>
                                    </p:anim>
                                  </p:childTnLst>
                                </p:cTn>
                              </p:par>
                              <p:par>
                                <p:cTn id="68" fill="hold">
                                  <p:stCondLst>
                                    <p:cond delay="110"/>
                                  </p:stCondLst>
                                  <p:childTnLst>
                                    <p:set>
                                      <p:cBhvr>
                                        <p:cTn id="66" dur="1" fill="hold">
                                          <p:stCondLst>
                                            <p:cond delay="0"/>
                                          </p:stCondLst>
                                        </p:cTn>
                                        <p:tgtEl>
                                          <p:spTgt spid="30"/>
                                        </p:tgtEl>
                                        <p:attrNameLst>
                                          <p:attrName>style.visibility</p:attrName>
                                        </p:attrNameLst>
                                      </p:cBhvr>
                                      <p:to>
                                        <p:strVal val="visible"/>
                                      </p:to>
                                    </p:set>
                                    <p:animEffect transition="in" filter="fade">
                                      <p:cBhvr>
                                        <p:cTn id="65" dur="420"/>
                                        <p:tgtEl>
                                          <p:spTgt spid="30"/>
                                        </p:tgtEl>
                                      </p:cBhvr>
                                    </p:animEffect>
                                    <p:anim calcmode="lin" valueType="num">
                                      <p:cBhvr additive="base">
                                        <p:cTn id="67" dur="420" fill="hold"/>
                                        <p:tgtEl>
                                          <p:spTgt spid="30"/>
                                        </p:tgtEl>
                                        <p:attrNameLst>
                                          <p:attrName>ppt_y</p:attrName>
                                        </p:attrNameLst>
                                      </p:cBhvr>
                                      <p:tavLst>
                                        <p:tav tm="0">
                                          <p:val>
                                            <p:fltVal val="0.06"/>
                                          </p:val>
                                        </p:tav>
                                        <p:tav tm="100000">
                                          <p:val>
                                            <p:fltVal val="0"/>
                                          </p:val>
                                        </p:tav>
                                      </p:tavLst>
                                    </p:anim>
                                  </p:childTnLst>
                                </p:cTn>
                              </p:par>
                              <p:par>
                                <p:cTn id="72" fill="hold">
                                  <p:stCondLst>
                                    <p:cond delay="220"/>
                                  </p:stCondLst>
                                  <p:childTnLst>
                                    <p:set>
                                      <p:cBhvr>
                                        <p:cTn id="70" dur="1" fill="hold">
                                          <p:stCondLst>
                                            <p:cond delay="0"/>
                                          </p:stCondLst>
                                        </p:cTn>
                                        <p:tgtEl>
                                          <p:spTgt spid="31"/>
                                        </p:tgtEl>
                                        <p:attrNameLst>
                                          <p:attrName>style.visibility</p:attrName>
                                        </p:attrNameLst>
                                      </p:cBhvr>
                                      <p:to>
                                        <p:strVal val="visible"/>
                                      </p:to>
                                    </p:set>
                                    <p:animEffect transition="in" filter="fade">
                                      <p:cBhvr>
                                        <p:cTn id="69" dur="420"/>
                                        <p:tgtEl>
                                          <p:spTgt spid="31"/>
                                        </p:tgtEl>
                                      </p:cBhvr>
                                    </p:animEffect>
                                    <p:anim calcmode="lin" valueType="num">
                                      <p:cBhvr additive="base">
                                        <p:cTn id="71"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8" fill="hold">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5" dur="420"/>
                                        <p:tgtEl>
                                          <p:spTgt spid="33"/>
                                        </p:tgtEl>
                                      </p:cBhvr>
                                    </p:animEffect>
                                    <p:anim calcmode="lin" valueType="num">
                                      <p:cBhvr additive="base">
                                        <p:cTn id="77" dur="420" fill="hold"/>
                                        <p:tgtEl>
                                          <p:spTgt spid="33"/>
                                        </p:tgtEl>
                                        <p:attrNameLst>
                                          <p:attrName>ppt_y</p:attrName>
                                        </p:attrNameLst>
                                      </p:cBhvr>
                                      <p:tavLst>
                                        <p:tav tm="0">
                                          <p:val>
                                            <p:fltVal val="0.06"/>
                                          </p:val>
                                        </p:tav>
                                        <p:tav tm="100000">
                                          <p:val>
                                            <p:fltVal val="0"/>
                                          </p:val>
                                        </p:tav>
                                      </p:tavLst>
                                    </p:anim>
                                  </p:childTnLst>
                                </p:cTn>
                              </p:par>
                              <p:par>
                                <p:cTn id="82" fill="hold">
                                  <p:stCondLst>
                                    <p:cond delay="11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fltVal val="0.06"/>
                                          </p:val>
                                        </p:tav>
                                        <p:tav tm="100000">
                                          <p:val>
                                            <p:flt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fltVal val="0.06"/>
                                          </p:val>
                                        </p:tav>
                                        <p:tav tm="100000">
                                          <p:val>
                                            <p:fltVal val="0"/>
                                          </p:val>
                                        </p:tav>
                                      </p:tavLst>
                                    </p:anim>
                                  </p:childTnLst>
                                </p:cTn>
                              </p:par>
                            </p:childTnLst>
                          </p:cTn>
                        </p:par>
                      </p:childTnLst>
                    </p:cTn>
                  </p:par>
                  <p:par>
                    <p:cTn id="113" fill="hold">
                      <p:stCondLst>
                        <p:cond delay="indefinite"/>
                      </p:stCondLst>
                      <p:childTnLst>
                        <p:par>
                          <p:cTn id="114" fill="hold">
                            <p:stCondLst>
                              <p:cond delay="0"/>
                            </p:stCondLst>
                            <p:childTnLst>
                              <p:par>
                                <p:cTn id="92" fill="hold">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89" dur="420"/>
                                        <p:tgtEl>
                                          <p:spTgt spid="39"/>
                                        </p:tgtEl>
                                      </p:cBhvr>
                                    </p:animEffect>
                                    <p:anim calcmode="lin" valueType="num">
                                      <p:cBhvr additive="base">
                                        <p:cTn id="91" dur="420" fill="hold"/>
                                        <p:tgtEl>
                                          <p:spTgt spid="39"/>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42"/>
                                        </p:tgtEl>
                                        <p:attrNameLst>
                                          <p:attrName>style.visibility</p:attrName>
                                        </p:attrNameLst>
                                      </p:cBhvr>
                                      <p:to>
                                        <p:strVal val="visible"/>
                                      </p:to>
                                    </p:set>
                                    <p:animEffect transition="in" filter="fade">
                                      <p:cBhvr>
                                        <p:cTn id="97" dur="420"/>
                                        <p:tgtEl>
                                          <p:spTgt spid="42"/>
                                        </p:tgtEl>
                                      </p:cBhvr>
                                    </p:animEffect>
                                    <p:anim calcmode="lin" valueType="num">
                                      <p:cBhvr additive="base">
                                        <p:cTn id="99" dur="420" fill="hold"/>
                                        <p:tgtEl>
                                          <p:spTgt spid="42"/>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1" dur="420"/>
                                        <p:tgtEl>
                                          <p:spTgt spid="43"/>
                                        </p:tgtEl>
                                      </p:cBhvr>
                                    </p:animEffect>
                                    <p:anim calcmode="lin" valueType="num">
                                      <p:cBhvr additive="base">
                                        <p:cTn id="103" dur="420" fill="hold"/>
                                        <p:tgtEl>
                                          <p:spTgt spid="43"/>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44"/>
                                        </p:tgtEl>
                                        <p:attrNameLst>
                                          <p:attrName>style.visibility</p:attrName>
                                        </p:attrNameLst>
                                      </p:cBhvr>
                                      <p:to>
                                        <p:strVal val="visible"/>
                                      </p:to>
                                    </p:set>
                                    <p:animEffect transition="in" filter="fade">
                                      <p:cBhvr>
                                        <p:cTn id="105" dur="420"/>
                                        <p:tgtEl>
                                          <p:spTgt spid="44"/>
                                        </p:tgtEl>
                                      </p:cBhvr>
                                    </p:animEffect>
                                    <p:anim calcmode="lin" valueType="num">
                                      <p:cBhvr additive="base">
                                        <p:cTn id="107" dur="420" fill="hold"/>
                                        <p:tgtEl>
                                          <p:spTgt spid="44"/>
                                        </p:tgtEl>
                                        <p:attrNameLst>
                                          <p:attrName>ppt_y</p:attrName>
                                        </p:attrNameLst>
                                      </p:cBhvr>
                                      <p:tavLst>
                                        <p:tav tm="0">
                                          <p:val>
                                            <p:fltVal val="0.06"/>
                                          </p:val>
                                        </p:tav>
                                        <p:tav tm="100000">
                                          <p:val>
                                            <p:fltVal val="0"/>
                                          </p:val>
                                        </p:tav>
                                      </p:tavLst>
                                    </p:anim>
                                  </p:childTnLst>
                                </p:cTn>
                              </p:par>
                              <p:par>
                                <p:cTn id="112" fill="hold">
                                  <p:stCondLst>
                                    <p:cond delay="55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09" dur="420"/>
                                        <p:tgtEl>
                                          <p:spTgt spid="45"/>
                                        </p:tgtEl>
                                      </p:cBhvr>
                                    </p:animEffect>
                                    <p:anim calcmode="lin" valueType="num">
                                      <p:cBhvr additive="base">
                                        <p:cTn id="111" dur="420" fill="hold"/>
                                        <p:tgtEl>
                                          <p:spTgt spid="45"/>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Práctica guiada 1: medio sumador en protoboard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Procedimiento completo de la primera práctica de aritmética digital.</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89207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Identificar y colocar el 7486 (XOR) y el 7408 (AND) respetando la muesca; conectar VCC (pin 14) y GND (pin 7) en ambos chips.</a:t>
            </a:r>
          </a:p>
        </p:txBody>
      </p:sp>
      <p:sp>
        <p:nvSpPr>
          <p:cNvPr id="20" name="Rounded Rectangle 19"/>
          <p:cNvSpPr/>
          <p:nvPr/>
        </p:nvSpPr>
        <p:spPr>
          <a:xfrm>
            <a:off x="475488" y="2061318"/>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Instalar un capacitor de desacople de 100 nF entre VCC y GND junto a cada integrado.</a:t>
            </a:r>
          </a:p>
        </p:txBody>
      </p:sp>
      <p:sp>
        <p:nvSpPr>
          <p:cNvPr id="24" name="Rounded Rectangle 23"/>
          <p:cNvSpPr/>
          <p:nvPr/>
        </p:nvSpPr>
        <p:spPr>
          <a:xfrm>
            <a:off x="475488" y="2751037"/>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Cablear dos interruptores (o puentes) como entradas A y B hacia las entradas 1 y 2 de la XOR y también de la AND.</a:t>
            </a:r>
          </a:p>
        </p:txBody>
      </p:sp>
      <p:sp>
        <p:nvSpPr>
          <p:cNvPr id="28" name="Rounded Rectangle 27"/>
          <p:cNvSpPr/>
          <p:nvPr/>
        </p:nvSpPr>
        <p:spPr>
          <a:xfrm>
            <a:off x="475488" y="3440756"/>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la salida de la XOR (pin 3) a un LED verde: representa la suma S.</a:t>
            </a:r>
          </a:p>
        </p:txBody>
      </p:sp>
      <p:sp>
        <p:nvSpPr>
          <p:cNvPr id="32" name="Rounded Rectangle 31"/>
          <p:cNvSpPr/>
          <p:nvPr/>
        </p:nvSpPr>
        <p:spPr>
          <a:xfrm>
            <a:off x="475488" y="4130475"/>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la salida de la AND (pin 3) a un LED rojo: representa el acarreo C.</a:t>
            </a:r>
          </a:p>
        </p:txBody>
      </p:sp>
      <p:sp>
        <p:nvSpPr>
          <p:cNvPr id="36" name="Rounded Rectangle 35"/>
          <p:cNvSpPr/>
          <p:nvPr/>
        </p:nvSpPr>
        <p:spPr>
          <a:xfrm>
            <a:off x="475488" y="4820194"/>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Verificar la tabla de verdad completa: 00 → S=0, C=0; 01 → S=1, C=0; 10 → S=1, C=0; 11 → S=0, C=1.</a:t>
            </a:r>
          </a:p>
        </p:txBody>
      </p:sp>
      <p:sp>
        <p:nvSpPr>
          <p:cNvPr id="40" name="Rounded Rectangle 39"/>
          <p:cNvSpPr/>
          <p:nvPr/>
        </p:nvSpPr>
        <p:spPr>
          <a:xfrm>
            <a:off x="475488" y="5509913"/>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Anotar los valores medidos con el multímetro para cada combinación y registrarlos en la tabla del reporte.</a:t>
            </a:r>
          </a:p>
        </p:txBody>
      </p:sp>
      <p:sp>
        <p:nvSpPr>
          <p:cNvPr id="44" name="Rounded Rectangle 43"/>
          <p:cNvSpPr/>
          <p:nvPr/>
        </p:nvSpPr>
        <p:spPr>
          <a:xfrm>
            <a:off x="7144481" y="2049272"/>
            <a:ext cx="4297680" cy="2540000"/>
          </a:xfrm>
          <a:prstGeom prst="roundRect">
            <a:avLst>
              <a:gd name="adj" fmla="val 2127"/>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half_adder.png"/>
          <p:cNvPicPr>
            <a:picLocks noChangeAspect="1"/>
          </p:cNvPicPr>
          <p:nvPr/>
        </p:nvPicPr>
        <p:blipFill>
          <a:blip r:embed="rId2"/>
          <a:stretch>
            <a:fillRect/>
          </a:stretch>
        </p:blipFill>
        <p:spPr>
          <a:xfrm>
            <a:off x="7254209" y="2186432"/>
            <a:ext cx="4078224" cy="2265680"/>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Recordar la lógica de sumidero del TTL: conectar el LED entre VCC y la salida, nunca entre la salida y GND, porque el chip absorbe corriente mucho mejor de lo que la entrega.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fltVal val="0.06"/>
                                          </p:val>
                                        </p:tav>
                                        <p:tav tm="100000">
                                          <p:val>
                                            <p:flt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fltVal val="0.06"/>
                                          </p:val>
                                        </p:tav>
                                        <p:tav tm="100000">
                                          <p:val>
                                            <p:flt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fltVal val="0.06"/>
                                          </p:val>
                                        </p:tav>
                                        <p:tav tm="100000">
                                          <p:val>
                                            <p:flt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fltVal val="0.06"/>
                                          </p:val>
                                        </p:tav>
                                        <p:tav tm="100000">
                                          <p:val>
                                            <p:flt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Práctica guiada 2: contador decimal con display</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Contador de 0 a 9 con salida visual en display de 7 segmentos.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00448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Colocar un 74LS90 (contador de décadas) y un 74LS47 (decodificador BCD a 7 segmentos) con su alimentación y desacople.</a:t>
            </a:r>
          </a:p>
        </p:txBody>
      </p:sp>
      <p:sp>
        <p:nvSpPr>
          <p:cNvPr id="20" name="Rounded Rectangle 19"/>
          <p:cNvSpPr/>
          <p:nvPr/>
        </p:nvSpPr>
        <p:spPr>
          <a:xfrm>
            <a:off x="475488" y="2061318"/>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la salida del contador (QA, QB, QC, QD) a las entradas A, B, C, D del decodificador.</a:t>
            </a:r>
          </a:p>
        </p:txBody>
      </p:sp>
      <p:sp>
        <p:nvSpPr>
          <p:cNvPr id="24" name="Rounded Rectangle 23"/>
          <p:cNvSpPr/>
          <p:nvPr/>
        </p:nvSpPr>
        <p:spPr>
          <a:xfrm>
            <a:off x="475488" y="2751037"/>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Unir cada salida del decodificador (a–g) a su segmento con una resistencia de 330 Ω en serie.</a:t>
            </a:r>
          </a:p>
        </p:txBody>
      </p:sp>
      <p:sp>
        <p:nvSpPr>
          <p:cNvPr id="28" name="Rounded Rectangle 27"/>
          <p:cNvSpPr/>
          <p:nvPr/>
        </p:nvSpPr>
        <p:spPr>
          <a:xfrm>
            <a:off x="475488" y="3440756"/>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Aplicar pulsos manuales al pin de reloj del contador con un pulsador antirrebote o con una señal de baja frecuencia.</a:t>
            </a:r>
          </a:p>
        </p:txBody>
      </p:sp>
      <p:sp>
        <p:nvSpPr>
          <p:cNvPr id="32" name="Rounded Rectangle 31"/>
          <p:cNvSpPr/>
          <p:nvPr/>
        </p:nvSpPr>
        <p:spPr>
          <a:xfrm>
            <a:off x="475488" y="4130475"/>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Verificar que el display cuenta 0, 1, 2… 9 y regresa a 0 al siguiente pulso.</a:t>
            </a:r>
          </a:p>
        </p:txBody>
      </p:sp>
      <p:sp>
        <p:nvSpPr>
          <p:cNvPr id="36" name="Rounded Rectangle 35"/>
          <p:cNvSpPr/>
          <p:nvPr/>
        </p:nvSpPr>
        <p:spPr>
          <a:xfrm>
            <a:off x="475488" y="4820194"/>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Añadir un segundo contador en cascada y obtener un contador de 0 a 99 con dos displays.</a:t>
            </a:r>
          </a:p>
        </p:txBody>
      </p:sp>
      <p:sp>
        <p:nvSpPr>
          <p:cNvPr id="40" name="Rounded Rectangle 39"/>
          <p:cNvSpPr/>
          <p:nvPr/>
        </p:nvSpPr>
        <p:spPr>
          <a:xfrm>
            <a:off x="475488" y="5509913"/>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Documentar el consumo total del montaje midiendo la corriente de la fuente para dimensionarla correctamente.</a:t>
            </a:r>
          </a:p>
        </p:txBody>
      </p:sp>
      <p:sp>
        <p:nvSpPr>
          <p:cNvPr id="44" name="Rounded Rectangle 43"/>
          <p:cNvSpPr/>
          <p:nvPr/>
        </p:nvSpPr>
        <p:spPr>
          <a:xfrm>
            <a:off x="7144481" y="1851452"/>
            <a:ext cx="4297680" cy="2935638"/>
          </a:xfrm>
          <a:prstGeom prst="roundRect">
            <a:avLst>
              <a:gd name="adj" fmla="val 2127"/>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sevenseg.png"/>
          <p:cNvPicPr>
            <a:picLocks noChangeAspect="1"/>
          </p:cNvPicPr>
          <p:nvPr/>
        </p:nvPicPr>
        <p:blipFill>
          <a:blip r:embed="rId2"/>
          <a:stretch>
            <a:fillRect/>
          </a:stretch>
        </p:blipFill>
        <p:spPr>
          <a:xfrm>
            <a:off x="7254209" y="1988612"/>
            <a:ext cx="4078224" cy="2661318"/>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74LS47 tiene salidas de colector abierto: sin las resistencias limitadoras de 330 Ω los segmentos del display recibirán corriente excesiva y se quemarán.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fltVal val="0.06"/>
                                          </p:val>
                                        </p:tav>
                                        <p:tav tm="100000">
                                          <p:val>
                                            <p:flt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fltVal val="0.06"/>
                                          </p:val>
                                        </p:tav>
                                        <p:tav tm="100000">
                                          <p:val>
                                            <p:flt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fltVal val="0.06"/>
                                          </p:val>
                                        </p:tav>
                                        <p:tav tm="100000">
                                          <p:val>
                                            <p:flt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fltVal val="0.06"/>
                                          </p:val>
                                        </p:tav>
                                        <p:tav tm="100000">
                                          <p:val>
                                            <p:flt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fltVal val="0.06"/>
                                          </p:val>
                                        </p:tav>
                                        <p:tav tm="100000">
                                          <p:val>
                                            <p:flt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fltVal val="0.06"/>
                                          </p:val>
                                        </p:tav>
                                        <p:tav tm="100000">
                                          <p:val>
                                            <p:flt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fltVal val="0.06"/>
                                          </p:val>
                                        </p:tav>
                                        <p:tav tm="100000">
                                          <p:val>
                                            <p:flt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fltVal val="0.06"/>
                                          </p:val>
                                        </p:tav>
                                        <p:tav tm="100000">
                                          <p:val>
                                            <p:flt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fltVal val="0.06"/>
                                          </p:val>
                                        </p:tav>
                                        <p:tav tm="100000">
                                          <p:val>
                                            <p:flt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fltVal val="0.06"/>
                                          </p:val>
                                        </p:tav>
                                        <p:tav tm="100000">
                                          <p:val>
                                            <p:flt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fltVal val="0.06"/>
                                          </p:val>
                                        </p:tav>
                                        <p:tav tm="100000">
                                          <p:val>
                                            <p:flt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fltVal val="0.06"/>
                                          </p:val>
                                        </p:tav>
                                        <p:tav tm="100000">
                                          <p:val>
                                            <p:flt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fltVal val="0.06"/>
                                          </p:val>
                                        </p:tav>
                                        <p:tav tm="100000">
                                          <p:val>
                                            <p:flt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fltVal val="0.06"/>
                                          </p:val>
                                        </p:tav>
                                        <p:tav tm="100000">
                                          <p:val>
                                            <p:flt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mc:Ignorable="p14">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90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10116894"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2000"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1E5FD0"/>
                </a:solidFill>
                <a:latin typeface="Consolas"/>
              </a:rPr>
              <a:t>06</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Repaso, glosario y recursos</a:t>
            </a:r>
          </a:p>
        </p:txBody>
      </p:sp>
      <p:sp>
        <p:nvSpPr>
          <p:cNvPr id="15" name="Rectangle 14"/>
          <p:cNvSpPr/>
          <p:nvPr/>
        </p:nvSpPr>
        <p:spPr>
          <a:xfrm>
            <a:off x="475488" y="4370832"/>
            <a:ext cx="1645920" cy="457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rep.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Resumen comparativo de las siete compuertas y sus tablas de verdad</a:t>
            </a:r>
          </a:p>
        </p:txBody>
      </p:sp>
      <p:sp>
        <p:nvSpPr>
          <p:cNvPr id="19" name="Oval 18"/>
          <p:cNvSpPr/>
          <p:nvPr/>
        </p:nvSpPr>
        <p:spPr>
          <a:xfrm>
            <a:off x="502919" y="491300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Tabla maestra de chips, funciones y equivalencias entre subfamilias</a:t>
            </a:r>
          </a:p>
        </p:txBody>
      </p:sp>
      <p:sp>
        <p:nvSpPr>
          <p:cNvPr id="21" name="Oval 20"/>
          <p:cNvSpPr/>
          <p:nvPr/>
        </p:nvSpPr>
        <p:spPr>
          <a:xfrm>
            <a:off x="502919" y="5153425"/>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Catálogo ampliado de la Serie 74XX: contadores, registros, memorias y periféricos</a:t>
            </a:r>
          </a:p>
        </p:txBody>
      </p:sp>
      <p:sp>
        <p:nvSpPr>
          <p:cNvPr id="23" name="Oval 22"/>
          <p:cNvSpPr/>
          <p:nvPr/>
        </p:nvSpPr>
        <p:spPr>
          <a:xfrm>
            <a:off x="502919" y="5393845"/>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Glosario técnico completo con más de 30 términos esenciales</a:t>
            </a:r>
          </a:p>
        </p:txBody>
      </p:sp>
      <p:sp>
        <p:nvSpPr>
          <p:cNvPr id="25" name="Oval 24"/>
          <p:cNvSpPr/>
          <p:nvPr/>
        </p:nvSpPr>
        <p:spPr>
          <a:xfrm>
            <a:off x="502919" y="563426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Fuentes de consulta y verificación de datos</a:t>
            </a:r>
          </a:p>
        </p:txBody>
      </p:sp>
      <p:sp>
        <p:nvSpPr>
          <p:cNvPr id="27" name="Oval 26"/>
          <p:cNvSpPr/>
          <p:nvPr/>
        </p:nvSpPr>
        <p:spPr>
          <a:xfrm>
            <a:off x="502919" y="587468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Retos de repaso y cierre de la presentación</a:t>
            </a:r>
          </a:p>
        </p:txBody>
      </p:sp>
    </p:spTree>
  </p:cSld>
  <p:clrMapOvr>
    <a:masterClrMapping/>
  </p:clrMapOvr>
  <p:transition spd="med" advClick="1">
    <mc:AlternateContent>
      <mc:Choice Requires="p14">
        <p14:switch/>
      </mc:Choice>
      <mc:Fallback>
        <p:fade/>
      </mc:Fallback>
    </mc:AlternateContent>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fltVal val="0.06"/>
                                          </p:val>
                                        </p:tav>
                                        <p:tav tm="100000">
                                          <p:val>
                                            <p:flt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fltVal val="0.06"/>
                                          </p:val>
                                        </p:tav>
                                        <p:tav tm="100000">
                                          <p:val>
                                            <p:flt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62"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fltVal val="0.06"/>
                                          </p:val>
                                        </p:tav>
                                        <p:tav tm="100000">
                                          <p:val>
                                            <p:flt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fltVal val="0.06"/>
                                          </p:val>
                                        </p:tav>
                                        <p:tav tm="100000">
                                          <p:val>
                                            <p:flt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fltVal val="0.06"/>
                                          </p:val>
                                        </p:tav>
                                        <p:tav tm="100000">
                                          <p:val>
                                            <p:flt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fltVal val="0.06"/>
                                          </p:val>
                                        </p:tav>
                                        <p:tav tm="100000">
                                          <p:val>
                                            <p:flt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Resumen ejecutivo: las siete compuertas en una mirada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Todo el bloque de compuertas condensado para repasar antes del examen.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229304"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AND (7408):</a:t>
            </a:r>
            <a:r>
              <a:rPr sz="1160" b="0">
                <a:solidFill>
                  <a:srgbClr val="2C3E56"/>
                </a:solidFill>
                <a:latin typeface="Segoe UI"/>
              </a:rPr>
              <a:t> Y = A·B. Salida '1' solo si TODAS las entradas están en '1'. Se usa como habilitador y para confirmar condiciones múltiples.</a:t>
            </a:r>
          </a:p>
        </p:txBody>
      </p:sp>
      <p:sp>
        <p:nvSpPr>
          <p:cNvPr id="18" name="Oval 17"/>
          <p:cNvSpPr/>
          <p:nvPr/>
        </p:nvSpPr>
        <p:spPr>
          <a:xfrm>
            <a:off x="502919" y="1898912"/>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844048"/>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OR (7432):</a:t>
            </a:r>
            <a:r>
              <a:rPr sz="1160" b="0">
                <a:solidFill>
                  <a:srgbClr val="2C3E56"/>
                </a:solidFill>
                <a:latin typeface="Segoe UI"/>
              </a:rPr>
              <a:t> Y = A + B. Salida '1' si AL MENOS UNA entrada está en '1'. Se usa en alarmas y unión de condiciones.</a:t>
            </a:r>
          </a:p>
        </p:txBody>
      </p:sp>
      <p:sp>
        <p:nvSpPr>
          <p:cNvPr id="20" name="Oval 19"/>
          <p:cNvSpPr/>
          <p:nvPr/>
        </p:nvSpPr>
        <p:spPr>
          <a:xfrm>
            <a:off x="502919" y="2371360"/>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316496"/>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NOT (7404):</a:t>
            </a:r>
            <a:r>
              <a:rPr sz="1160" b="0">
                <a:solidFill>
                  <a:srgbClr val="2C3E56"/>
                </a:solidFill>
                <a:latin typeface="Segoe UI"/>
              </a:rPr>
              <a:t> Y = A'. Invierte el nivel. Genera variables negadas y forma osciladores y antirrebotes.</a:t>
            </a:r>
          </a:p>
        </p:txBody>
      </p:sp>
      <p:sp>
        <p:nvSpPr>
          <p:cNvPr id="22" name="Oval 21"/>
          <p:cNvSpPr/>
          <p:nvPr/>
        </p:nvSpPr>
        <p:spPr>
          <a:xfrm>
            <a:off x="502919" y="2843808"/>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788944"/>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NAND (7400):</a:t>
            </a:r>
            <a:r>
              <a:rPr sz="1160" b="0">
                <a:solidFill>
                  <a:srgbClr val="2C3E56"/>
                </a:solidFill>
                <a:latin typeface="Segoe UI"/>
              </a:rPr>
              <a:t> Y = (A·B)'. Salida '0' solo si TODAS las entradas están en '1'. Compuerta universal preferida en TTL.</a:t>
            </a:r>
          </a:p>
        </p:txBody>
      </p:sp>
      <p:sp>
        <p:nvSpPr>
          <p:cNvPr id="24" name="Oval 23"/>
          <p:cNvSpPr/>
          <p:nvPr/>
        </p:nvSpPr>
        <p:spPr>
          <a:xfrm>
            <a:off x="502919" y="331625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261392"/>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NOR (7402):</a:t>
            </a:r>
            <a:r>
              <a:rPr sz="1160" b="0">
                <a:solidFill>
                  <a:srgbClr val="2C3E56"/>
                </a:solidFill>
                <a:latin typeface="Segoe UI"/>
              </a:rPr>
              <a:t> Y = (A+B)'. Salida '1' solo si TODAS las entradas están en '0'. Compuerta universal natural en CMOS.</a:t>
            </a:r>
          </a:p>
        </p:txBody>
      </p:sp>
      <p:sp>
        <p:nvSpPr>
          <p:cNvPr id="26" name="Oval 25"/>
          <p:cNvSpPr/>
          <p:nvPr/>
        </p:nvSpPr>
        <p:spPr>
          <a:xfrm>
            <a:off x="6278864"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1371600"/>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XOR (7486):</a:t>
            </a:r>
            <a:r>
              <a:rPr sz="1160" b="0">
                <a:solidFill>
                  <a:srgbClr val="2C3E56"/>
                </a:solidFill>
                <a:latin typeface="Segoe UI"/>
              </a:rPr>
              <a:t> Y = A ⊕ B. Salida '1' si las entradas DIFIEREN. Base de sumadores, paridad y comparadores.</a:t>
            </a:r>
          </a:p>
        </p:txBody>
      </p:sp>
      <p:sp>
        <p:nvSpPr>
          <p:cNvPr id="28" name="Oval 27"/>
          <p:cNvSpPr/>
          <p:nvPr/>
        </p:nvSpPr>
        <p:spPr>
          <a:xfrm>
            <a:off x="6278864" y="1898912"/>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844048"/>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XNOR (74266):</a:t>
            </a:r>
            <a:r>
              <a:rPr sz="1160" b="0">
                <a:solidFill>
                  <a:srgbClr val="2C3E56"/>
                </a:solidFill>
                <a:latin typeface="Segoe UI"/>
              </a:rPr>
              <a:t> Y = (A ⊕ B)'. Salida '1' si las entradas COINCIDEN. Comparador de igualdad; requiere pull-up por ser colector abierto.</a:t>
            </a:r>
          </a:p>
        </p:txBody>
      </p:sp>
      <p:sp>
        <p:nvSpPr>
          <p:cNvPr id="30" name="Oval 29"/>
          <p:cNvSpPr/>
          <p:nvPr/>
        </p:nvSpPr>
        <p:spPr>
          <a:xfrm>
            <a:off x="6278864" y="2371360"/>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2316496"/>
            <a:ext cx="5245592" cy="598944"/>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Regla de oro:</a:t>
            </a:r>
            <a:r>
              <a:rPr sz="1160" b="0">
                <a:solidFill>
                  <a:srgbClr val="2C3E56"/>
                </a:solidFill>
                <a:latin typeface="Segoe UI"/>
              </a:rPr>
              <a:t> cualquier función lógica se implementa SOLO con NAND o SOLO con NOR. Ese es el teorema práctico más útil de toda la electrónica digital.</a:t>
            </a:r>
          </a:p>
        </p:txBody>
      </p:sp>
      <p:sp>
        <p:nvSpPr>
          <p:cNvPr id="32" name="Oval 31"/>
          <p:cNvSpPr/>
          <p:nvPr/>
        </p:nvSpPr>
        <p:spPr>
          <a:xfrm>
            <a:off x="6278864" y="304345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2988592"/>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Jerarquía de estudio:</a:t>
            </a:r>
            <a:r>
              <a:rPr sz="1160" b="0">
                <a:solidFill>
                  <a:srgbClr val="2C3E56"/>
                </a:solidFill>
                <a:latin typeface="Segoe UI"/>
              </a:rPr>
              <a:t> entender la tabla de verdad, después la expresión booleana y por último el chip y su pinout.</a:t>
            </a:r>
          </a:p>
        </p:txBody>
      </p:sp>
      <p:sp>
        <p:nvSpPr>
          <p:cNvPr id="34" name="Oval 33"/>
          <p:cNvSpPr/>
          <p:nvPr/>
        </p:nvSpPr>
        <p:spPr>
          <a:xfrm>
            <a:off x="6278864" y="351590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3461040"/>
            <a:ext cx="5245592" cy="598944"/>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Verificación obligatoria:</a:t>
            </a:r>
            <a:r>
              <a:rPr sz="1160" b="0">
                <a:solidFill>
                  <a:srgbClr val="2C3E56"/>
                </a:solidFill>
                <a:latin typeface="Segoe UI"/>
              </a:rPr>
              <a:t> toda compuerta debe probarse con las cuatro combinaciones (o dos, en el caso del inversor) antes de integrarla al diseño.</a:t>
            </a:r>
          </a:p>
        </p:txBody>
      </p:sp>
      <p:sp>
        <p:nvSpPr>
          <p:cNvPr id="36" name="Rounded Rectangle 35"/>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49824"/>
            <a:ext cx="32004" cy="65836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NOTA</a:t>
            </a:r>
          </a:p>
        </p:txBody>
      </p:sp>
      <p:sp>
        <p:nvSpPr>
          <p:cNvPr id="39" name="TextBox 38"/>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Autoevaluación: sin mirar la tabla, escribir las cuatro combinaciones de la XOR y de la XNOR. Si se confunden, revisar el detalle de por qué una es la negación de la otra.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fltVal val="0.06"/>
                                          </p:val>
                                        </p:tav>
                                        <p:tav tm="100000">
                                          <p:val>
                                            <p:flt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fltVal val="0.06"/>
                                          </p:val>
                                        </p:tav>
                                        <p:tav tm="100000">
                                          <p:val>
                                            <p:flt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fltVal val="0.06"/>
                                          </p:val>
                                        </p:tav>
                                        <p:tav tm="100000">
                                          <p:val>
                                            <p:flt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fltVal val="0.06"/>
                                          </p:val>
                                        </p:tav>
                                        <p:tav tm="100000">
                                          <p:val>
                                            <p:flt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fltVal val="0.06"/>
                                          </p:val>
                                        </p:tav>
                                        <p:tav tm="100000">
                                          <p:val>
                                            <p:fltVal val="0"/>
                                          </p:val>
                                        </p:tav>
                                      </p:tavLst>
                                    </p:anim>
                                  </p:childTnLst>
                                </p:cTn>
                              </p:par>
                              <p:par>
                                <p:cTn id="62" fill="hold">
                                  <p:stCondLst>
                                    <p:cond delay="22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5" dur="420"/>
                                        <p:tgtEl>
                                          <p:spTgt spid="35"/>
                                        </p:tgtEl>
                                      </p:cBhvr>
                                    </p:animEffect>
                                    <p:anim calcmode="lin" valueType="num">
                                      <p:cBhvr additive="base">
                                        <p:cTn id="6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74" fill="hold">
                      <p:stCondLst>
                        <p:cond delay="indefinite"/>
                      </p:stCondLst>
                      <p:childTnLst>
                        <p:par>
                          <p:cTn id="75" fill="hold">
                            <p:stCondLst>
                              <p:cond delay="0"/>
                            </p:stCondLst>
                            <p:childTnLst>
                              <p:par>
                                <p:cTn id="73" fill="hold">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1" dur="420"/>
                                        <p:tgtEl>
                                          <p:spTgt spid="36"/>
                                        </p:tgtEl>
                                      </p:cBhvr>
                                    </p:animEffect>
                                  </p:childTnLst>
                                </p:cTn>
                              </p:par>
                            </p:childTnLst>
                          </p:cTn>
                        </p:par>
                      </p:childTnLst>
                    </p:cTn>
                  </p:par>
                  <p:par>
                    <p:cTn id="85" fill="hold">
                      <p:stCondLst>
                        <p:cond delay="indefinite"/>
                      </p:stCondLst>
                      <p:childTnLst>
                        <p:par>
                          <p:cTn id="86" fill="hold">
                            <p:stCondLst>
                              <p:cond delay="0"/>
                            </p:stCondLst>
                            <p:childTnLst>
                              <p:par>
                                <p:cTn id="78" fill="hold">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6" dur="420"/>
                                        <p:tgtEl>
                                          <p:spTgt spid="37"/>
                                        </p:tgtEl>
                                      </p:cBhvr>
                                    </p:animEffect>
                                  </p:childTnLst>
                                </p:cTn>
                              </p:par>
                              <p:par>
                                <p:cTn id="81" fill="hold">
                                  <p:stCondLst>
                                    <p:cond delay="110"/>
                                  </p:stCondLst>
                                  <p:childTnLst>
                                    <p:set>
                                      <p:cBhvr>
                                        <p:cTn id="80" dur="1" fill="hold">
                                          <p:stCondLst>
                                            <p:cond delay="0"/>
                                          </p:stCondLst>
                                        </p:cTn>
                                        <p:tgtEl>
                                          <p:spTgt spid="38"/>
                                        </p:tgtEl>
                                        <p:attrNameLst>
                                          <p:attrName>style.visibility</p:attrName>
                                        </p:attrNameLst>
                                      </p:cBhvr>
                                      <p:to>
                                        <p:strVal val="visible"/>
                                      </p:to>
                                    </p:set>
                                    <p:animEffect transition="in" filter="fade">
                                      <p:cBhvr>
                                        <p:cTn id="79" dur="420"/>
                                        <p:tgtEl>
                                          <p:spTgt spid="38"/>
                                        </p:tgtEl>
                                      </p:cBhvr>
                                    </p:animEffect>
                                  </p:childTnLst>
                                </p:cTn>
                              </p:par>
                              <p:par>
                                <p:cTn id="84" fill="hold">
                                  <p:stCondLst>
                                    <p:cond delay="220"/>
                                  </p:stCondLst>
                                  <p:childTnLst>
                                    <p:set>
                                      <p:cBhvr>
                                        <p:cTn id="83" dur="1" fill="hold">
                                          <p:stCondLst>
                                            <p:cond delay="0"/>
                                          </p:stCondLst>
                                        </p:cTn>
                                        <p:tgtEl>
                                          <p:spTgt spid="39"/>
                                        </p:tgtEl>
                                        <p:attrNameLst>
                                          <p:attrName>style.visibility</p:attrName>
                                        </p:attrNameLst>
                                      </p:cBhvr>
                                      <p:to>
                                        <p:strVal val="visible"/>
                                      </p:to>
                                    </p:set>
                                    <p:animEffect transition="in" filter="fade">
                                      <p:cBhvr>
                                        <p:cTn id="8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Tabla maestra: chips, funciones y equivalencias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Todo lo esencial en una sola lámina de consulta rápida.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341714"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20261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Compuerta</a:t>
            </a:r>
          </a:p>
        </p:txBody>
      </p:sp>
      <p:sp>
        <p:nvSpPr>
          <p:cNvPr id="18" name="TextBox 17"/>
          <p:cNvSpPr txBox="1"/>
          <p:nvPr/>
        </p:nvSpPr>
        <p:spPr>
          <a:xfrm>
            <a:off x="1897559" y="1371600"/>
            <a:ext cx="131502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Chip TTL</a:t>
            </a:r>
          </a:p>
        </p:txBody>
      </p:sp>
      <p:sp>
        <p:nvSpPr>
          <p:cNvPr id="19" name="TextBox 18"/>
          <p:cNvSpPr txBox="1"/>
          <p:nvPr/>
        </p:nvSpPr>
        <p:spPr>
          <a:xfrm>
            <a:off x="3358888" y="1371600"/>
            <a:ext cx="165225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Expresión</a:t>
            </a:r>
          </a:p>
        </p:txBody>
      </p:sp>
      <p:sp>
        <p:nvSpPr>
          <p:cNvPr id="20" name="TextBox 19"/>
          <p:cNvSpPr txBox="1"/>
          <p:nvPr/>
        </p:nvSpPr>
        <p:spPr>
          <a:xfrm>
            <a:off x="5157447" y="1371600"/>
            <a:ext cx="300117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Salida = 1 cuando</a:t>
            </a:r>
          </a:p>
        </p:txBody>
      </p:sp>
      <p:sp>
        <p:nvSpPr>
          <p:cNvPr id="21" name="TextBox 20"/>
          <p:cNvSpPr txBox="1"/>
          <p:nvPr/>
        </p:nvSpPr>
        <p:spPr>
          <a:xfrm>
            <a:off x="8304925" y="1371600"/>
            <a:ext cx="3338403"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Equivalencias directas</a:t>
            </a:r>
          </a:p>
        </p:txBody>
      </p:sp>
      <p:sp>
        <p:nvSpPr>
          <p:cNvPr id="22" name="Rectangle 21"/>
          <p:cNvSpPr/>
          <p:nvPr/>
        </p:nvSpPr>
        <p:spPr>
          <a:xfrm>
            <a:off x="475488" y="1700784"/>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AND</a:t>
            </a:r>
          </a:p>
        </p:txBody>
      </p:sp>
      <p:sp>
        <p:nvSpPr>
          <p:cNvPr id="24" name="TextBox 23"/>
          <p:cNvSpPr txBox="1"/>
          <p:nvPr/>
        </p:nvSpPr>
        <p:spPr>
          <a:xfrm>
            <a:off x="1897559" y="1700784"/>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7408</a:t>
            </a:r>
          </a:p>
        </p:txBody>
      </p:sp>
      <p:sp>
        <p:nvSpPr>
          <p:cNvPr id="25" name="TextBox 24"/>
          <p:cNvSpPr txBox="1"/>
          <p:nvPr/>
        </p:nvSpPr>
        <p:spPr>
          <a:xfrm>
            <a:off x="3358888" y="1700784"/>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26" name="TextBox 25"/>
          <p:cNvSpPr txBox="1"/>
          <p:nvPr/>
        </p:nvSpPr>
        <p:spPr>
          <a:xfrm>
            <a:off x="5157447" y="1700784"/>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 = 1 y B = 1</a:t>
            </a:r>
          </a:p>
        </p:txBody>
      </p:sp>
      <p:sp>
        <p:nvSpPr>
          <p:cNvPr id="27" name="TextBox 26"/>
          <p:cNvSpPr txBox="1"/>
          <p:nvPr/>
        </p:nvSpPr>
        <p:spPr>
          <a:xfrm>
            <a:off x="8304925" y="1700784"/>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74LS08 · ALS08 · F08 · HC08 · HCT08</a:t>
            </a:r>
          </a:p>
        </p:txBody>
      </p:sp>
      <p:sp>
        <p:nvSpPr>
          <p:cNvPr id="28" name="TextBox 27"/>
          <p:cNvSpPr txBox="1"/>
          <p:nvPr/>
        </p:nvSpPr>
        <p:spPr>
          <a:xfrm>
            <a:off x="548640" y="2048255"/>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OR</a:t>
            </a:r>
          </a:p>
        </p:txBody>
      </p:sp>
      <p:sp>
        <p:nvSpPr>
          <p:cNvPr id="29" name="TextBox 28"/>
          <p:cNvSpPr txBox="1"/>
          <p:nvPr/>
        </p:nvSpPr>
        <p:spPr>
          <a:xfrm>
            <a:off x="1897559" y="2048255"/>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7432</a:t>
            </a:r>
          </a:p>
        </p:txBody>
      </p:sp>
      <p:sp>
        <p:nvSpPr>
          <p:cNvPr id="30" name="TextBox 29"/>
          <p:cNvSpPr txBox="1"/>
          <p:nvPr/>
        </p:nvSpPr>
        <p:spPr>
          <a:xfrm>
            <a:off x="3358888" y="2048255"/>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31" name="TextBox 30"/>
          <p:cNvSpPr txBox="1"/>
          <p:nvPr/>
        </p:nvSpPr>
        <p:spPr>
          <a:xfrm>
            <a:off x="5157447" y="2048255"/>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 = 1 o B = 1 (o ambos)</a:t>
            </a:r>
          </a:p>
        </p:txBody>
      </p:sp>
      <p:sp>
        <p:nvSpPr>
          <p:cNvPr id="32" name="TextBox 31"/>
          <p:cNvSpPr txBox="1"/>
          <p:nvPr/>
        </p:nvSpPr>
        <p:spPr>
          <a:xfrm>
            <a:off x="8304925" y="2048255"/>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74LS32 · ALS32 · F32 · HC32 · HCT32</a:t>
            </a:r>
          </a:p>
        </p:txBody>
      </p:sp>
      <p:sp>
        <p:nvSpPr>
          <p:cNvPr id="33" name="Rectangle 32"/>
          <p:cNvSpPr/>
          <p:nvPr/>
        </p:nvSpPr>
        <p:spPr>
          <a:xfrm>
            <a:off x="475488" y="2395727"/>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395727"/>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NOT</a:t>
            </a:r>
          </a:p>
        </p:txBody>
      </p:sp>
      <p:sp>
        <p:nvSpPr>
          <p:cNvPr id="35" name="TextBox 34"/>
          <p:cNvSpPr txBox="1"/>
          <p:nvPr/>
        </p:nvSpPr>
        <p:spPr>
          <a:xfrm>
            <a:off x="1897559" y="2395727"/>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7404</a:t>
            </a:r>
          </a:p>
        </p:txBody>
      </p:sp>
      <p:sp>
        <p:nvSpPr>
          <p:cNvPr id="36" name="TextBox 35"/>
          <p:cNvSpPr txBox="1"/>
          <p:nvPr/>
        </p:nvSpPr>
        <p:spPr>
          <a:xfrm>
            <a:off x="3358888" y="2395727"/>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a:t>
            </a:r>
          </a:p>
        </p:txBody>
      </p:sp>
      <p:sp>
        <p:nvSpPr>
          <p:cNvPr id="37" name="TextBox 36"/>
          <p:cNvSpPr txBox="1"/>
          <p:nvPr/>
        </p:nvSpPr>
        <p:spPr>
          <a:xfrm>
            <a:off x="5157447" y="2395727"/>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A = 0</a:t>
            </a:r>
          </a:p>
        </p:txBody>
      </p:sp>
      <p:sp>
        <p:nvSpPr>
          <p:cNvPr id="38" name="TextBox 37"/>
          <p:cNvSpPr txBox="1"/>
          <p:nvPr/>
        </p:nvSpPr>
        <p:spPr>
          <a:xfrm>
            <a:off x="8304925" y="2395727"/>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74LS04 · 74LS05 (OC) · 74LS14 (Schmitt)</a:t>
            </a:r>
          </a:p>
        </p:txBody>
      </p:sp>
      <p:sp>
        <p:nvSpPr>
          <p:cNvPr id="39" name="TextBox 38"/>
          <p:cNvSpPr txBox="1"/>
          <p:nvPr/>
        </p:nvSpPr>
        <p:spPr>
          <a:xfrm>
            <a:off x="548640" y="2743199"/>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NAND</a:t>
            </a:r>
          </a:p>
        </p:txBody>
      </p:sp>
      <p:sp>
        <p:nvSpPr>
          <p:cNvPr id="40" name="TextBox 39"/>
          <p:cNvSpPr txBox="1"/>
          <p:nvPr/>
        </p:nvSpPr>
        <p:spPr>
          <a:xfrm>
            <a:off x="1897559" y="2743199"/>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7400</a:t>
            </a:r>
          </a:p>
        </p:txBody>
      </p:sp>
      <p:sp>
        <p:nvSpPr>
          <p:cNvPr id="41" name="TextBox 40"/>
          <p:cNvSpPr txBox="1"/>
          <p:nvPr/>
        </p:nvSpPr>
        <p:spPr>
          <a:xfrm>
            <a:off x="3358888" y="2743199"/>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42" name="TextBox 41"/>
          <p:cNvSpPr txBox="1"/>
          <p:nvPr/>
        </p:nvSpPr>
        <p:spPr>
          <a:xfrm>
            <a:off x="5157447" y="2743199"/>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No todas las entradas son '1'</a:t>
            </a:r>
          </a:p>
        </p:txBody>
      </p:sp>
      <p:sp>
        <p:nvSpPr>
          <p:cNvPr id="43" name="TextBox 42"/>
          <p:cNvSpPr txBox="1"/>
          <p:nvPr/>
        </p:nvSpPr>
        <p:spPr>
          <a:xfrm>
            <a:off x="8304925" y="2743199"/>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74LS00 · 74LS03 (OC) · 74132 (Schmitt)</a:t>
            </a:r>
          </a:p>
        </p:txBody>
      </p:sp>
      <p:sp>
        <p:nvSpPr>
          <p:cNvPr id="44" name="Rectangle 43"/>
          <p:cNvSpPr/>
          <p:nvPr/>
        </p:nvSpPr>
        <p:spPr>
          <a:xfrm>
            <a:off x="475488" y="3090671"/>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090671"/>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NOR</a:t>
            </a:r>
          </a:p>
        </p:txBody>
      </p:sp>
      <p:sp>
        <p:nvSpPr>
          <p:cNvPr id="46" name="TextBox 45"/>
          <p:cNvSpPr txBox="1"/>
          <p:nvPr/>
        </p:nvSpPr>
        <p:spPr>
          <a:xfrm>
            <a:off x="1897559" y="3090671"/>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7402</a:t>
            </a:r>
          </a:p>
        </p:txBody>
      </p:sp>
      <p:sp>
        <p:nvSpPr>
          <p:cNvPr id="47" name="TextBox 46"/>
          <p:cNvSpPr txBox="1"/>
          <p:nvPr/>
        </p:nvSpPr>
        <p:spPr>
          <a:xfrm>
            <a:off x="3358888" y="3090671"/>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48" name="TextBox 47"/>
          <p:cNvSpPr txBox="1"/>
          <p:nvPr/>
        </p:nvSpPr>
        <p:spPr>
          <a:xfrm>
            <a:off x="5157447" y="3090671"/>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Todas las entradas son '0'</a:t>
            </a:r>
          </a:p>
        </p:txBody>
      </p:sp>
      <p:sp>
        <p:nvSpPr>
          <p:cNvPr id="49" name="TextBox 48"/>
          <p:cNvSpPr txBox="1"/>
          <p:nvPr/>
        </p:nvSpPr>
        <p:spPr>
          <a:xfrm>
            <a:off x="8304925" y="3090671"/>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74LS02 · 74LS27 (3 entradas) · 74LS33 (OC)</a:t>
            </a:r>
          </a:p>
        </p:txBody>
      </p:sp>
      <p:sp>
        <p:nvSpPr>
          <p:cNvPr id="50" name="TextBox 49"/>
          <p:cNvSpPr txBox="1"/>
          <p:nvPr/>
        </p:nvSpPr>
        <p:spPr>
          <a:xfrm>
            <a:off x="548640" y="3438143"/>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XOR</a:t>
            </a:r>
          </a:p>
        </p:txBody>
      </p:sp>
      <p:sp>
        <p:nvSpPr>
          <p:cNvPr id="51" name="TextBox 50"/>
          <p:cNvSpPr txBox="1"/>
          <p:nvPr/>
        </p:nvSpPr>
        <p:spPr>
          <a:xfrm>
            <a:off x="1897559" y="3438143"/>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7486</a:t>
            </a:r>
          </a:p>
        </p:txBody>
      </p:sp>
      <p:sp>
        <p:nvSpPr>
          <p:cNvPr id="52" name="TextBox 51"/>
          <p:cNvSpPr txBox="1"/>
          <p:nvPr/>
        </p:nvSpPr>
        <p:spPr>
          <a:xfrm>
            <a:off x="3358888" y="3438143"/>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53" name="TextBox 52"/>
          <p:cNvSpPr txBox="1"/>
          <p:nvPr/>
        </p:nvSpPr>
        <p:spPr>
          <a:xfrm>
            <a:off x="5157447" y="3438143"/>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Las entradas son diferentes</a:t>
            </a:r>
          </a:p>
        </p:txBody>
      </p:sp>
      <p:sp>
        <p:nvSpPr>
          <p:cNvPr id="54" name="TextBox 53"/>
          <p:cNvSpPr txBox="1"/>
          <p:nvPr/>
        </p:nvSpPr>
        <p:spPr>
          <a:xfrm>
            <a:off x="8304925" y="3438143"/>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74LS86 · 74LS386 (3 entradas) · 74LS280 (paridad)</a:t>
            </a:r>
          </a:p>
        </p:txBody>
      </p:sp>
      <p:sp>
        <p:nvSpPr>
          <p:cNvPr id="55" name="Rectangle 54"/>
          <p:cNvSpPr/>
          <p:nvPr/>
        </p:nvSpPr>
        <p:spPr>
          <a:xfrm>
            <a:off x="475488" y="3785615"/>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3785615"/>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XNOR</a:t>
            </a:r>
          </a:p>
        </p:txBody>
      </p:sp>
      <p:sp>
        <p:nvSpPr>
          <p:cNvPr id="57" name="TextBox 56"/>
          <p:cNvSpPr txBox="1"/>
          <p:nvPr/>
        </p:nvSpPr>
        <p:spPr>
          <a:xfrm>
            <a:off x="1897559" y="3785615"/>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74266</a:t>
            </a:r>
          </a:p>
        </p:txBody>
      </p:sp>
      <p:sp>
        <p:nvSpPr>
          <p:cNvPr id="58" name="TextBox 57"/>
          <p:cNvSpPr txBox="1"/>
          <p:nvPr/>
        </p:nvSpPr>
        <p:spPr>
          <a:xfrm>
            <a:off x="3358888" y="3785615"/>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59" name="TextBox 58"/>
          <p:cNvSpPr txBox="1"/>
          <p:nvPr/>
        </p:nvSpPr>
        <p:spPr>
          <a:xfrm>
            <a:off x="5157447" y="3785615"/>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Las entradas son iguales</a:t>
            </a:r>
          </a:p>
        </p:txBody>
      </p:sp>
      <p:sp>
        <p:nvSpPr>
          <p:cNvPr id="60" name="TextBox 59"/>
          <p:cNvSpPr txBox="1"/>
          <p:nvPr/>
        </p:nvSpPr>
        <p:spPr>
          <a:xfrm>
            <a:off x="8304925" y="3785615"/>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74LS266 (OC) · 74HC7266 (sin OC)</a:t>
            </a:r>
          </a:p>
        </p:txBody>
      </p:sp>
      <p:sp>
        <p:nvSpPr>
          <p:cNvPr id="61" name="TextBox 60"/>
          <p:cNvSpPr txBox="1"/>
          <p:nvPr/>
        </p:nvSpPr>
        <p:spPr>
          <a:xfrm>
            <a:off x="548640" y="4133087"/>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Sumador</a:t>
            </a:r>
          </a:p>
        </p:txBody>
      </p:sp>
      <p:sp>
        <p:nvSpPr>
          <p:cNvPr id="62" name="TextBox 61"/>
          <p:cNvSpPr txBox="1"/>
          <p:nvPr/>
        </p:nvSpPr>
        <p:spPr>
          <a:xfrm>
            <a:off x="1897559" y="4133087"/>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7483 / 74181</a:t>
            </a:r>
          </a:p>
        </p:txBody>
      </p:sp>
      <p:sp>
        <p:nvSpPr>
          <p:cNvPr id="63" name="TextBox 62"/>
          <p:cNvSpPr txBox="1"/>
          <p:nvPr/>
        </p:nvSpPr>
        <p:spPr>
          <a:xfrm>
            <a:off x="3358888" y="4133087"/>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 = A + B + Cin</a:t>
            </a:r>
          </a:p>
        </p:txBody>
      </p:sp>
      <p:sp>
        <p:nvSpPr>
          <p:cNvPr id="64" name="TextBox 63"/>
          <p:cNvSpPr txBox="1"/>
          <p:nvPr/>
        </p:nvSpPr>
        <p:spPr>
          <a:xfrm>
            <a:off x="5157447" y="4133087"/>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No aplica: es aritmético</a:t>
            </a:r>
          </a:p>
        </p:txBody>
      </p:sp>
      <p:sp>
        <p:nvSpPr>
          <p:cNvPr id="65" name="TextBox 64"/>
          <p:cNvSpPr txBox="1"/>
          <p:nvPr/>
        </p:nvSpPr>
        <p:spPr>
          <a:xfrm>
            <a:off x="8304925" y="4133087"/>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74LS83 · 74LS283 (4 bits) · 74LS181 (ALU completa)</a:t>
            </a:r>
          </a:p>
        </p:txBody>
      </p:sp>
      <p:sp>
        <p:nvSpPr>
          <p:cNvPr id="66" name="Rectangle 65"/>
          <p:cNvSpPr/>
          <p:nvPr/>
        </p:nvSpPr>
        <p:spPr>
          <a:xfrm>
            <a:off x="475488" y="4480559"/>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480559"/>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Contador</a:t>
            </a:r>
          </a:p>
        </p:txBody>
      </p:sp>
      <p:sp>
        <p:nvSpPr>
          <p:cNvPr id="68" name="TextBox 67"/>
          <p:cNvSpPr txBox="1"/>
          <p:nvPr/>
        </p:nvSpPr>
        <p:spPr>
          <a:xfrm>
            <a:off x="1897559" y="4480559"/>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74161 / 7490</a:t>
            </a:r>
          </a:p>
        </p:txBody>
      </p:sp>
      <p:sp>
        <p:nvSpPr>
          <p:cNvPr id="69" name="TextBox 68"/>
          <p:cNvSpPr txBox="1"/>
          <p:nvPr/>
        </p:nvSpPr>
        <p:spPr>
          <a:xfrm>
            <a:off x="3358888" y="4480559"/>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Cuenta en binario o BCD</a:t>
            </a:r>
          </a:p>
        </p:txBody>
      </p:sp>
      <p:sp>
        <p:nvSpPr>
          <p:cNvPr id="70" name="TextBox 69"/>
          <p:cNvSpPr txBox="1"/>
          <p:nvPr/>
        </p:nvSpPr>
        <p:spPr>
          <a:xfrm>
            <a:off x="5157447" y="4480559"/>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No aplica: es secuencial</a:t>
            </a:r>
          </a:p>
        </p:txBody>
      </p:sp>
      <p:sp>
        <p:nvSpPr>
          <p:cNvPr id="71" name="TextBox 70"/>
          <p:cNvSpPr txBox="1"/>
          <p:nvPr/>
        </p:nvSpPr>
        <p:spPr>
          <a:xfrm>
            <a:off x="8304925" y="4480559"/>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74LS161 · 74LS163 (síncrono) · 74LS90 · 74LS390</a:t>
            </a:r>
          </a:p>
        </p:txBody>
      </p:sp>
      <p:sp>
        <p:nvSpPr>
          <p:cNvPr id="72" name="TextBox 71"/>
          <p:cNvSpPr txBox="1"/>
          <p:nvPr/>
        </p:nvSpPr>
        <p:spPr>
          <a:xfrm>
            <a:off x="548640" y="4828031"/>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Registro</a:t>
            </a:r>
          </a:p>
        </p:txBody>
      </p:sp>
      <p:sp>
        <p:nvSpPr>
          <p:cNvPr id="73" name="TextBox 72"/>
          <p:cNvSpPr txBox="1"/>
          <p:nvPr/>
        </p:nvSpPr>
        <p:spPr>
          <a:xfrm>
            <a:off x="1897559" y="4828031"/>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74164 / 74194</a:t>
            </a:r>
          </a:p>
        </p:txBody>
      </p:sp>
      <p:sp>
        <p:nvSpPr>
          <p:cNvPr id="74" name="TextBox 73"/>
          <p:cNvSpPr txBox="1"/>
          <p:nvPr/>
        </p:nvSpPr>
        <p:spPr>
          <a:xfrm>
            <a:off x="3358888" y="4828031"/>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Serie→paralelo / universal</a:t>
            </a:r>
          </a:p>
        </p:txBody>
      </p:sp>
      <p:sp>
        <p:nvSpPr>
          <p:cNvPr id="75" name="TextBox 74"/>
          <p:cNvSpPr txBox="1"/>
          <p:nvPr/>
        </p:nvSpPr>
        <p:spPr>
          <a:xfrm>
            <a:off x="5157447" y="4828031"/>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No aplica: es secuencial</a:t>
            </a:r>
          </a:p>
        </p:txBody>
      </p:sp>
      <p:sp>
        <p:nvSpPr>
          <p:cNvPr id="76" name="TextBox 75"/>
          <p:cNvSpPr txBox="1"/>
          <p:nvPr/>
        </p:nvSpPr>
        <p:spPr>
          <a:xfrm>
            <a:off x="8304925" y="4828031"/>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74LS164 · 74LS165 · 74LS194 · 74LS373</a:t>
            </a:r>
          </a:p>
        </p:txBody>
      </p:sp>
      <p:sp>
        <p:nvSpPr>
          <p:cNvPr id="77" name="Rounded Rectangle 76"/>
          <p:cNvSpPr/>
          <p:nvPr/>
        </p:nvSpPr>
        <p:spPr>
          <a:xfrm>
            <a:off x="475488" y="1371600"/>
            <a:ext cx="11240993" cy="3803903"/>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ounded Rectangle 77"/>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COMPATIBILIDAD GARANTIZADA</a:t>
            </a:r>
          </a:p>
        </p:txBody>
      </p:sp>
      <p:sp>
        <p:nvSpPr>
          <p:cNvPr id="81" name="TextBox 8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Compatible con las siete compuertas estudiadas: </a:t>
            </a:r>
            <a:r>
              <a:rPr sz="1050" b="1">
                <a:solidFill>
                  <a:srgbClr val="2C3E56"/>
                </a:solidFill>
                <a:latin typeface="Segoe UI Semibold"/>
              </a:rPr>
              <a:t>todo chip de la Serie 74XX mantiene su patrón de pines dentro de la misma función</a:t>
            </a:r>
            <a:r>
              <a:rPr sz="1050" b="0">
                <a:solidFill>
                  <a:srgbClr val="2C3E56"/>
                </a:solidFill>
                <a:latin typeface="Segoe UI"/>
              </a:rPr>
              <a:t>, solo cambia la tecnología (LS, ALS, F, HC, HCT) y con ella la velocidad, el consumo y las corrientes de entrada.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0"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31"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232"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233"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234" dur="420"/>
                                        <p:tgtEl>
                                          <p:spTgt spid="20"/>
                                        </p:tgtEl>
                                      </p:cBhvr>
                                    </p:animEffect>
                                  </p:childTnLst>
                                </p:cTn>
                              </p:par>
                            </p:childTnLst>
                          </p:cTn>
                        </p:par>
                      </p:childTnLst>
                    </p:cTn>
                  </p:par>
                  <p:par>
                    <p:cTn id="228" fill="hold">
                      <p:stCondLst>
                        <p:cond delay="0"/>
                      </p:stCondLst>
                      <p:childTnLst>
                        <p:par>
                          <p:cTn id="22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235"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236"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237"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238"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239"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240"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241"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242"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243"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244"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245"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246"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247"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248"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249"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250"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251"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252"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253"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254"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255"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256"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257"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258"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259"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260"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261"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262"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263"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264"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265"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266"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267"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268"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269"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270"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271"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272"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273"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274"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275"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276"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277"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278"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279"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280"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281"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282"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283"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284"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285"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286"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287"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288"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289"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290" dur="420"/>
                                        <p:tgtEl>
                                          <p:spTgt spid="76"/>
                                        </p:tgtEl>
                                      </p:cBhvr>
                                    </p:animEffect>
                                  </p:childTnLst>
                                </p:cTn>
                              </p:par>
                              <p:par>
                                <p:cTn id="218" fill="hold">
                                  <p:stCondLst>
                                    <p:cond delay="6160"/>
                                  </p:stCondLst>
                                  <p:childTnLst>
                                    <p:set>
                                      <p:cBhvr>
                                        <p:cTn id="217" dur="1" fill="hold">
                                          <p:stCondLst>
                                            <p:cond delay="0"/>
                                          </p:stCondLst>
                                        </p:cTn>
                                        <p:tgtEl>
                                          <p:spTgt spid="78"/>
                                        </p:tgtEl>
                                        <p:attrNameLst>
                                          <p:attrName>style.visibility</p:attrName>
                                        </p:attrNameLst>
                                      </p:cBhvr>
                                      <p:to>
                                        <p:strVal val="visible"/>
                                      </p:to>
                                    </p:set>
                                    <p:animEffect transition="in" filter="wipe(left)">
                                      <p:cBhvr>
                                        <p:cTn id="216" dur="420"/>
                                        <p:tgtEl>
                                          <p:spTgt spid="78"/>
                                        </p:tgtEl>
                                      </p:cBhvr>
                                    </p:animEffect>
                                    <p:animEffect transition="in" filter="fade">
                                      <p:cBhvr>
                                        <p:cTn id="291" dur="420"/>
                                        <p:tgtEl>
                                          <p:spTgt spid="78"/>
                                        </p:tgtEl>
                                      </p:cBhvr>
                                    </p:animEffect>
                                  </p:childTnLst>
                                </p:cTn>
                              </p:par>
                              <p:par>
                                <p:cTn id="221" fill="hold">
                                  <p:stCondLst>
                                    <p:cond delay="6270"/>
                                  </p:stCondLst>
                                  <p:childTnLst>
                                    <p:set>
                                      <p:cBhvr>
                                        <p:cTn id="220" dur="1" fill="hold">
                                          <p:stCondLst>
                                            <p:cond delay="0"/>
                                          </p:stCondLst>
                                        </p:cTn>
                                        <p:tgtEl>
                                          <p:spTgt spid="79"/>
                                        </p:tgtEl>
                                        <p:attrNameLst>
                                          <p:attrName>style.visibility</p:attrName>
                                        </p:attrNameLst>
                                      </p:cBhvr>
                                      <p:to>
                                        <p:strVal val="visible"/>
                                      </p:to>
                                    </p:set>
                                    <p:animEffect transition="in" filter="wipe(left)">
                                      <p:cBhvr>
                                        <p:cTn id="219" dur="420"/>
                                        <p:tgtEl>
                                          <p:spTgt spid="79"/>
                                        </p:tgtEl>
                                      </p:cBhvr>
                                    </p:animEffect>
                                    <p:animEffect transition="in" filter="fade">
                                      <p:cBhvr>
                                        <p:cTn id="292" dur="420"/>
                                        <p:tgtEl>
                                          <p:spTgt spid="79"/>
                                        </p:tgtEl>
                                      </p:cBhvr>
                                    </p:animEffect>
                                  </p:childTnLst>
                                </p:cTn>
                              </p:par>
                              <p:par>
                                <p:cTn id="224" fill="hold">
                                  <p:stCondLst>
                                    <p:cond delay="6380"/>
                                  </p:stCondLst>
                                  <p:childTnLst>
                                    <p:set>
                                      <p:cBhvr>
                                        <p:cTn id="223" dur="1" fill="hold">
                                          <p:stCondLst>
                                            <p:cond delay="0"/>
                                          </p:stCondLst>
                                        </p:cTn>
                                        <p:tgtEl>
                                          <p:spTgt spid="80"/>
                                        </p:tgtEl>
                                        <p:attrNameLst>
                                          <p:attrName>style.visibility</p:attrName>
                                        </p:attrNameLst>
                                      </p:cBhvr>
                                      <p:to>
                                        <p:strVal val="visible"/>
                                      </p:to>
                                    </p:set>
                                    <p:animEffect transition="in" filter="wipe(left)">
                                      <p:cBhvr>
                                        <p:cTn id="222" dur="420"/>
                                        <p:tgtEl>
                                          <p:spTgt spid="80"/>
                                        </p:tgtEl>
                                      </p:cBhvr>
                                    </p:animEffect>
                                    <p:animEffect transition="in" filter="fade">
                                      <p:cBhvr>
                                        <p:cTn id="293" dur="420"/>
                                        <p:tgtEl>
                                          <p:spTgt spid="80"/>
                                        </p:tgtEl>
                                      </p:cBhvr>
                                    </p:animEffect>
                                  </p:childTnLst>
                                </p:cTn>
                              </p:par>
                              <p:par>
                                <p:cTn id="227" fill="hold">
                                  <p:stCondLst>
                                    <p:cond delay="6490"/>
                                  </p:stCondLst>
                                  <p:childTnLst>
                                    <p:set>
                                      <p:cBhvr>
                                        <p:cTn id="226" dur="1" fill="hold">
                                          <p:stCondLst>
                                            <p:cond delay="0"/>
                                          </p:stCondLst>
                                        </p:cTn>
                                        <p:tgtEl>
                                          <p:spTgt spid="81"/>
                                        </p:tgtEl>
                                        <p:attrNameLst>
                                          <p:attrName>style.visibility</p:attrName>
                                        </p:attrNameLst>
                                      </p:cBhvr>
                                      <p:to>
                                        <p:strVal val="visible"/>
                                      </p:to>
                                    </p:set>
                                    <p:animEffect transition="in" filter="wipe(left)">
                                      <p:cBhvr>
                                        <p:cTn id="225" dur="420"/>
                                        <p:tgtEl>
                                          <p:spTgt spid="81"/>
                                        </p:tgtEl>
                                      </p:cBhvr>
                                    </p:animEffect>
                                    <p:animEffect transition="in" filter="fade">
                                      <p:cBhvr>
                                        <p:cTn id="294" dur="42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00" b="1">
                <a:solidFill>
                  <a:srgbClr val="0D1A2B"/>
                </a:solidFill>
                <a:latin typeface="Segoe UI Semibold"/>
              </a:rPr>
              <a:t>Catálogo ampliado de la Serie 74XX (parte 1: lógica y aritmética)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Los integrados que conviene conocer después de las siete compuertas básicas.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45412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371600"/>
            <a:ext cx="41148" cy="85496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463040"/>
            <a:ext cx="3320277" cy="237744"/>
          </a:xfrm>
          <a:prstGeom prst="rect">
            <a:avLst/>
          </a:prstGeom>
          <a:noFill/>
        </p:spPr>
        <p:txBody>
          <a:bodyPr wrap="square" lIns="0" rIns="0" tIns="0" bIns="0" anchor="t">
            <a:spAutoFit/>
          </a:bodyPr>
          <a:lstStyle/>
          <a:p>
            <a:pPr algn="l">
              <a:lnSpc>
                <a:spcPct val="100000"/>
              </a:lnSpc>
            </a:pPr>
            <a:r>
              <a:rPr sz="1200" b="1">
                <a:solidFill>
                  <a:srgbClr val="0E7C94"/>
                </a:solidFill>
                <a:latin typeface="Consolas"/>
              </a:rPr>
              <a:t>7411</a:t>
            </a:r>
          </a:p>
        </p:txBody>
      </p:sp>
      <p:sp>
        <p:nvSpPr>
          <p:cNvPr id="19" name="TextBox 18"/>
          <p:cNvSpPr txBox="1"/>
          <p:nvPr/>
        </p:nvSpPr>
        <p:spPr>
          <a:xfrm>
            <a:off x="640080" y="1719072"/>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Tres compuertas AND de 3 entradas en un DIP-14.</a:t>
            </a:r>
          </a:p>
        </p:txBody>
      </p:sp>
      <p:sp>
        <p:nvSpPr>
          <p:cNvPr id="20" name="TextBox 19"/>
          <p:cNvSpPr txBox="1"/>
          <p:nvPr/>
        </p:nvSpPr>
        <p:spPr>
          <a:xfrm>
            <a:off x="640080" y="1952244"/>
            <a:ext cx="3320277" cy="201168"/>
          </a:xfrm>
          <a:prstGeom prst="rect">
            <a:avLst/>
          </a:prstGeom>
          <a:noFill/>
        </p:spPr>
        <p:txBody>
          <a:bodyPr wrap="square" lIns="0" rIns="0" tIns="0" bIns="0" anchor="t">
            <a:spAutoFit/>
          </a:bodyPr>
          <a:lstStyle/>
          <a:p>
            <a:pPr algn="l">
              <a:lnSpc>
                <a:spcPct val="100000"/>
              </a:lnSpc>
            </a:pPr>
            <a:r>
              <a:rPr sz="850" b="0">
                <a:solidFill>
                  <a:srgbClr val="0E7C94"/>
                </a:solidFill>
                <a:latin typeface="Consolas"/>
              </a:rPr>
              <a:t>Lógica</a:t>
            </a:r>
          </a:p>
        </p:txBody>
      </p:sp>
      <p:sp>
        <p:nvSpPr>
          <p:cNvPr id="21" name="Rounded Rectangle 20"/>
          <p:cNvSpPr/>
          <p:nvPr/>
        </p:nvSpPr>
        <p:spPr>
          <a:xfrm>
            <a:off x="4271253"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71253" y="1371600"/>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63040"/>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7420</a:t>
            </a:r>
          </a:p>
        </p:txBody>
      </p:sp>
      <p:sp>
        <p:nvSpPr>
          <p:cNvPr id="24" name="TextBox 23"/>
          <p:cNvSpPr txBox="1"/>
          <p:nvPr/>
        </p:nvSpPr>
        <p:spPr>
          <a:xfrm>
            <a:off x="4435845" y="1719072"/>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Dos compuertas NAND de 4 entradas: ideal para decodificar direcciones.</a:t>
            </a:r>
          </a:p>
        </p:txBody>
      </p:sp>
      <p:sp>
        <p:nvSpPr>
          <p:cNvPr id="25" name="TextBox 24"/>
          <p:cNvSpPr txBox="1"/>
          <p:nvPr/>
        </p:nvSpPr>
        <p:spPr>
          <a:xfrm>
            <a:off x="4435845" y="1952244"/>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Lógica</a:t>
            </a:r>
          </a:p>
        </p:txBody>
      </p:sp>
      <p:sp>
        <p:nvSpPr>
          <p:cNvPr id="26" name="Rounded Rectangle 25"/>
          <p:cNvSpPr/>
          <p:nvPr/>
        </p:nvSpPr>
        <p:spPr>
          <a:xfrm>
            <a:off x="8067019"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67019" y="1371600"/>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31611" y="1463040"/>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7430</a:t>
            </a:r>
          </a:p>
        </p:txBody>
      </p:sp>
      <p:sp>
        <p:nvSpPr>
          <p:cNvPr id="29" name="TextBox 28"/>
          <p:cNvSpPr txBox="1"/>
          <p:nvPr/>
        </p:nvSpPr>
        <p:spPr>
          <a:xfrm>
            <a:off x="8231611" y="1719072"/>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NAND de 8 entradas; detecta cuando un byte completo vale todos unos.</a:t>
            </a:r>
          </a:p>
        </p:txBody>
      </p:sp>
      <p:sp>
        <p:nvSpPr>
          <p:cNvPr id="30" name="TextBox 29"/>
          <p:cNvSpPr txBox="1"/>
          <p:nvPr/>
        </p:nvSpPr>
        <p:spPr>
          <a:xfrm>
            <a:off x="8231611" y="1952244"/>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Lógica</a:t>
            </a:r>
          </a:p>
        </p:txBody>
      </p:sp>
      <p:sp>
        <p:nvSpPr>
          <p:cNvPr id="31" name="Rounded Rectangle 30"/>
          <p:cNvSpPr/>
          <p:nvPr/>
        </p:nvSpPr>
        <p:spPr>
          <a:xfrm>
            <a:off x="475488"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372868"/>
            <a:ext cx="41148" cy="85496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2464308"/>
            <a:ext cx="3320277" cy="237744"/>
          </a:xfrm>
          <a:prstGeom prst="rect">
            <a:avLst/>
          </a:prstGeom>
          <a:noFill/>
        </p:spPr>
        <p:txBody>
          <a:bodyPr wrap="square" lIns="0" rIns="0" tIns="0" bIns="0" anchor="t">
            <a:spAutoFit/>
          </a:bodyPr>
          <a:lstStyle/>
          <a:p>
            <a:pPr algn="l">
              <a:lnSpc>
                <a:spcPct val="100000"/>
              </a:lnSpc>
            </a:pPr>
            <a:r>
              <a:rPr sz="1200" b="1">
                <a:solidFill>
                  <a:srgbClr val="C42B6B"/>
                </a:solidFill>
                <a:latin typeface="Consolas"/>
              </a:rPr>
              <a:t>7427</a:t>
            </a:r>
          </a:p>
        </p:txBody>
      </p:sp>
      <p:sp>
        <p:nvSpPr>
          <p:cNvPr id="34" name="TextBox 33"/>
          <p:cNvSpPr txBox="1"/>
          <p:nvPr/>
        </p:nvSpPr>
        <p:spPr>
          <a:xfrm>
            <a:off x="640080" y="2720340"/>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Tres NOR de 3 entradas, muy usadas en lógica CMOS.</a:t>
            </a:r>
          </a:p>
        </p:txBody>
      </p:sp>
      <p:sp>
        <p:nvSpPr>
          <p:cNvPr id="35" name="TextBox 34"/>
          <p:cNvSpPr txBox="1"/>
          <p:nvPr/>
        </p:nvSpPr>
        <p:spPr>
          <a:xfrm>
            <a:off x="640080" y="2953512"/>
            <a:ext cx="3320277" cy="201168"/>
          </a:xfrm>
          <a:prstGeom prst="rect">
            <a:avLst/>
          </a:prstGeom>
          <a:noFill/>
        </p:spPr>
        <p:txBody>
          <a:bodyPr wrap="square" lIns="0" rIns="0" tIns="0" bIns="0" anchor="t">
            <a:spAutoFit/>
          </a:bodyPr>
          <a:lstStyle/>
          <a:p>
            <a:pPr algn="l">
              <a:lnSpc>
                <a:spcPct val="100000"/>
              </a:lnSpc>
            </a:pPr>
            <a:r>
              <a:rPr sz="850" b="0">
                <a:solidFill>
                  <a:srgbClr val="C42B6B"/>
                </a:solidFill>
                <a:latin typeface="Consolas"/>
              </a:rPr>
              <a:t>Lógica</a:t>
            </a:r>
          </a:p>
        </p:txBody>
      </p:sp>
      <p:sp>
        <p:nvSpPr>
          <p:cNvPr id="36" name="Rounded Rectangle 35"/>
          <p:cNvSpPr/>
          <p:nvPr/>
        </p:nvSpPr>
        <p:spPr>
          <a:xfrm>
            <a:off x="4271253"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71253" y="2372868"/>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464308"/>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74133</a:t>
            </a:r>
          </a:p>
        </p:txBody>
      </p:sp>
      <p:sp>
        <p:nvSpPr>
          <p:cNvPr id="39" name="TextBox 38"/>
          <p:cNvSpPr txBox="1"/>
          <p:nvPr/>
        </p:nvSpPr>
        <p:spPr>
          <a:xfrm>
            <a:off x="4435845" y="2720340"/>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NAND de 13 entradas: verifica 13 condiciones simultáneas.</a:t>
            </a:r>
          </a:p>
        </p:txBody>
      </p:sp>
      <p:sp>
        <p:nvSpPr>
          <p:cNvPr id="40" name="TextBox 39"/>
          <p:cNvSpPr txBox="1"/>
          <p:nvPr/>
        </p:nvSpPr>
        <p:spPr>
          <a:xfrm>
            <a:off x="4435845" y="2953512"/>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Lógica</a:t>
            </a:r>
          </a:p>
        </p:txBody>
      </p:sp>
      <p:sp>
        <p:nvSpPr>
          <p:cNvPr id="41" name="Rounded Rectangle 40"/>
          <p:cNvSpPr/>
          <p:nvPr/>
        </p:nvSpPr>
        <p:spPr>
          <a:xfrm>
            <a:off x="8067019"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067019" y="2372868"/>
            <a:ext cx="41148" cy="85496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31611" y="2464308"/>
            <a:ext cx="3320277" cy="237744"/>
          </a:xfrm>
          <a:prstGeom prst="rect">
            <a:avLst/>
          </a:prstGeom>
          <a:noFill/>
        </p:spPr>
        <p:txBody>
          <a:bodyPr wrap="square" lIns="0" rIns="0" tIns="0" bIns="0" anchor="t">
            <a:spAutoFit/>
          </a:bodyPr>
          <a:lstStyle/>
          <a:p>
            <a:pPr algn="l">
              <a:lnSpc>
                <a:spcPct val="100000"/>
              </a:lnSpc>
            </a:pPr>
            <a:r>
              <a:rPr sz="1200" b="1">
                <a:solidFill>
                  <a:srgbClr val="1E5FD0"/>
                </a:solidFill>
                <a:latin typeface="Consolas"/>
              </a:rPr>
              <a:t>74280</a:t>
            </a:r>
          </a:p>
        </p:txBody>
      </p:sp>
      <p:sp>
        <p:nvSpPr>
          <p:cNvPr id="44" name="TextBox 43"/>
          <p:cNvSpPr txBox="1"/>
          <p:nvPr/>
        </p:nvSpPr>
        <p:spPr>
          <a:xfrm>
            <a:off x="8231611" y="2720340"/>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Generador y verificador de paridad de 9 bits.</a:t>
            </a:r>
          </a:p>
        </p:txBody>
      </p:sp>
      <p:sp>
        <p:nvSpPr>
          <p:cNvPr id="45" name="TextBox 44"/>
          <p:cNvSpPr txBox="1"/>
          <p:nvPr/>
        </p:nvSpPr>
        <p:spPr>
          <a:xfrm>
            <a:off x="8231611" y="2953512"/>
            <a:ext cx="3320277" cy="201168"/>
          </a:xfrm>
          <a:prstGeom prst="rect">
            <a:avLst/>
          </a:prstGeom>
          <a:noFill/>
        </p:spPr>
        <p:txBody>
          <a:bodyPr wrap="square" lIns="0" rIns="0" tIns="0" bIns="0" anchor="t">
            <a:spAutoFit/>
          </a:bodyPr>
          <a:lstStyle/>
          <a:p>
            <a:pPr algn="l">
              <a:lnSpc>
                <a:spcPct val="100000"/>
              </a:lnSpc>
            </a:pPr>
            <a:r>
              <a:rPr sz="850" b="0">
                <a:solidFill>
                  <a:srgbClr val="1E5FD0"/>
                </a:solidFill>
                <a:latin typeface="Consolas"/>
              </a:rPr>
              <a:t>Paridad</a:t>
            </a:r>
          </a:p>
        </p:txBody>
      </p:sp>
      <p:sp>
        <p:nvSpPr>
          <p:cNvPr id="46" name="Rounded Rectangle 45"/>
          <p:cNvSpPr/>
          <p:nvPr/>
        </p:nvSpPr>
        <p:spPr>
          <a:xfrm>
            <a:off x="475488"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3374136"/>
            <a:ext cx="41148" cy="85496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3465576"/>
            <a:ext cx="3320277" cy="237744"/>
          </a:xfrm>
          <a:prstGeom prst="rect">
            <a:avLst/>
          </a:prstGeom>
          <a:noFill/>
        </p:spPr>
        <p:txBody>
          <a:bodyPr wrap="square" lIns="0" rIns="0" tIns="0" bIns="0" anchor="t">
            <a:spAutoFit/>
          </a:bodyPr>
          <a:lstStyle/>
          <a:p>
            <a:pPr algn="l">
              <a:lnSpc>
                <a:spcPct val="100000"/>
              </a:lnSpc>
            </a:pPr>
            <a:r>
              <a:rPr sz="1200" b="1">
                <a:solidFill>
                  <a:srgbClr val="0E7C94"/>
                </a:solidFill>
                <a:latin typeface="Consolas"/>
              </a:rPr>
              <a:t>7483</a:t>
            </a:r>
          </a:p>
        </p:txBody>
      </p:sp>
      <p:sp>
        <p:nvSpPr>
          <p:cNvPr id="49" name="TextBox 48"/>
          <p:cNvSpPr txBox="1"/>
          <p:nvPr/>
        </p:nvSpPr>
        <p:spPr>
          <a:xfrm>
            <a:off x="640080" y="3721608"/>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Sumador binario completo de 4 bits con acarreo.</a:t>
            </a:r>
          </a:p>
        </p:txBody>
      </p:sp>
      <p:sp>
        <p:nvSpPr>
          <p:cNvPr id="50" name="TextBox 49"/>
          <p:cNvSpPr txBox="1"/>
          <p:nvPr/>
        </p:nvSpPr>
        <p:spPr>
          <a:xfrm>
            <a:off x="640080" y="3954780"/>
            <a:ext cx="3320277" cy="201168"/>
          </a:xfrm>
          <a:prstGeom prst="rect">
            <a:avLst/>
          </a:prstGeom>
          <a:noFill/>
        </p:spPr>
        <p:txBody>
          <a:bodyPr wrap="square" lIns="0" rIns="0" tIns="0" bIns="0" anchor="t">
            <a:spAutoFit/>
          </a:bodyPr>
          <a:lstStyle/>
          <a:p>
            <a:pPr algn="l">
              <a:lnSpc>
                <a:spcPct val="100000"/>
              </a:lnSpc>
            </a:pPr>
            <a:r>
              <a:rPr sz="850" b="0">
                <a:solidFill>
                  <a:srgbClr val="0E7C94"/>
                </a:solidFill>
                <a:latin typeface="Consolas"/>
              </a:rPr>
              <a:t>Aritmética</a:t>
            </a:r>
          </a:p>
        </p:txBody>
      </p:sp>
      <p:sp>
        <p:nvSpPr>
          <p:cNvPr id="51" name="Rounded Rectangle 50"/>
          <p:cNvSpPr/>
          <p:nvPr/>
        </p:nvSpPr>
        <p:spPr>
          <a:xfrm>
            <a:off x="4271253"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71253" y="3374136"/>
            <a:ext cx="41148" cy="85496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3465576"/>
            <a:ext cx="3320277" cy="237744"/>
          </a:xfrm>
          <a:prstGeom prst="rect">
            <a:avLst/>
          </a:prstGeom>
          <a:noFill/>
        </p:spPr>
        <p:txBody>
          <a:bodyPr wrap="square" lIns="0" rIns="0" tIns="0" bIns="0" anchor="t">
            <a:spAutoFit/>
          </a:bodyPr>
          <a:lstStyle/>
          <a:p>
            <a:pPr algn="l">
              <a:lnSpc>
                <a:spcPct val="100000"/>
              </a:lnSpc>
            </a:pPr>
            <a:r>
              <a:rPr sz="1200" b="1">
                <a:solidFill>
                  <a:srgbClr val="0E7C94"/>
                </a:solidFill>
                <a:latin typeface="Consolas"/>
              </a:rPr>
              <a:t>74283</a:t>
            </a:r>
          </a:p>
        </p:txBody>
      </p:sp>
      <p:sp>
        <p:nvSpPr>
          <p:cNvPr id="54" name="TextBox 53"/>
          <p:cNvSpPr txBox="1"/>
          <p:nvPr/>
        </p:nvSpPr>
        <p:spPr>
          <a:xfrm>
            <a:off x="4435845" y="3721608"/>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Sumador de 4 bits con acarreo rápido anticipado.</a:t>
            </a:r>
          </a:p>
        </p:txBody>
      </p:sp>
      <p:sp>
        <p:nvSpPr>
          <p:cNvPr id="55" name="TextBox 54"/>
          <p:cNvSpPr txBox="1"/>
          <p:nvPr/>
        </p:nvSpPr>
        <p:spPr>
          <a:xfrm>
            <a:off x="4435845" y="3954780"/>
            <a:ext cx="3320277" cy="201168"/>
          </a:xfrm>
          <a:prstGeom prst="rect">
            <a:avLst/>
          </a:prstGeom>
          <a:noFill/>
        </p:spPr>
        <p:txBody>
          <a:bodyPr wrap="square" lIns="0" rIns="0" tIns="0" bIns="0" anchor="t">
            <a:spAutoFit/>
          </a:bodyPr>
          <a:lstStyle/>
          <a:p>
            <a:pPr algn="l">
              <a:lnSpc>
                <a:spcPct val="100000"/>
              </a:lnSpc>
            </a:pPr>
            <a:r>
              <a:rPr sz="850" b="0">
                <a:solidFill>
                  <a:srgbClr val="0E7C94"/>
                </a:solidFill>
                <a:latin typeface="Consolas"/>
              </a:rPr>
              <a:t>Aritmética</a:t>
            </a:r>
          </a:p>
        </p:txBody>
      </p:sp>
      <p:sp>
        <p:nvSpPr>
          <p:cNvPr id="56" name="Rounded Rectangle 55"/>
          <p:cNvSpPr/>
          <p:nvPr/>
        </p:nvSpPr>
        <p:spPr>
          <a:xfrm>
            <a:off x="8067019"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067019" y="3374136"/>
            <a:ext cx="41148" cy="85496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31611" y="3465576"/>
            <a:ext cx="3320277" cy="237744"/>
          </a:xfrm>
          <a:prstGeom prst="rect">
            <a:avLst/>
          </a:prstGeom>
          <a:noFill/>
        </p:spPr>
        <p:txBody>
          <a:bodyPr wrap="square" lIns="0" rIns="0" tIns="0" bIns="0" anchor="t">
            <a:spAutoFit/>
          </a:bodyPr>
          <a:lstStyle/>
          <a:p>
            <a:pPr algn="l">
              <a:lnSpc>
                <a:spcPct val="100000"/>
              </a:lnSpc>
            </a:pPr>
            <a:r>
              <a:rPr sz="1200" b="1">
                <a:solidFill>
                  <a:srgbClr val="C2690A"/>
                </a:solidFill>
                <a:latin typeface="Consolas"/>
              </a:rPr>
              <a:t>74181</a:t>
            </a:r>
          </a:p>
        </p:txBody>
      </p:sp>
      <p:sp>
        <p:nvSpPr>
          <p:cNvPr id="59" name="TextBox 58"/>
          <p:cNvSpPr txBox="1"/>
          <p:nvPr/>
        </p:nvSpPr>
        <p:spPr>
          <a:xfrm>
            <a:off x="8231611" y="3721608"/>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ALU de 4 bits: 16 operaciones lógicas y 16 aritméticas.</a:t>
            </a:r>
          </a:p>
        </p:txBody>
      </p:sp>
      <p:sp>
        <p:nvSpPr>
          <p:cNvPr id="60" name="TextBox 59"/>
          <p:cNvSpPr txBox="1"/>
          <p:nvPr/>
        </p:nvSpPr>
        <p:spPr>
          <a:xfrm>
            <a:off x="8231611" y="3954780"/>
            <a:ext cx="3320277" cy="201168"/>
          </a:xfrm>
          <a:prstGeom prst="rect">
            <a:avLst/>
          </a:prstGeom>
          <a:noFill/>
        </p:spPr>
        <p:txBody>
          <a:bodyPr wrap="square" lIns="0" rIns="0" tIns="0" bIns="0" anchor="t">
            <a:spAutoFit/>
          </a:bodyPr>
          <a:lstStyle/>
          <a:p>
            <a:pPr algn="l">
              <a:lnSpc>
                <a:spcPct val="100000"/>
              </a:lnSpc>
            </a:pPr>
            <a:r>
              <a:rPr sz="850" b="0">
                <a:solidFill>
                  <a:srgbClr val="C2690A"/>
                </a:solidFill>
                <a:latin typeface="Consolas"/>
              </a:rPr>
              <a:t>ALU</a:t>
            </a:r>
          </a:p>
        </p:txBody>
      </p:sp>
      <p:sp>
        <p:nvSpPr>
          <p:cNvPr id="61" name="Rounded Rectangle 60"/>
          <p:cNvSpPr/>
          <p:nvPr/>
        </p:nvSpPr>
        <p:spPr>
          <a:xfrm>
            <a:off x="475488"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4375404"/>
            <a:ext cx="41148" cy="85496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4466844"/>
            <a:ext cx="3320277" cy="237744"/>
          </a:xfrm>
          <a:prstGeom prst="rect">
            <a:avLst/>
          </a:prstGeom>
          <a:noFill/>
        </p:spPr>
        <p:txBody>
          <a:bodyPr wrap="square" lIns="0" rIns="0" tIns="0" bIns="0" anchor="t">
            <a:spAutoFit/>
          </a:bodyPr>
          <a:lstStyle/>
          <a:p>
            <a:pPr algn="l">
              <a:lnSpc>
                <a:spcPct val="100000"/>
              </a:lnSpc>
            </a:pPr>
            <a:r>
              <a:rPr sz="1200" b="1">
                <a:solidFill>
                  <a:srgbClr val="C2690A"/>
                </a:solidFill>
                <a:latin typeface="Consolas"/>
              </a:rPr>
              <a:t>74182</a:t>
            </a:r>
          </a:p>
        </p:txBody>
      </p:sp>
      <p:sp>
        <p:nvSpPr>
          <p:cNvPr id="64" name="TextBox 63"/>
          <p:cNvSpPr txBox="1"/>
          <p:nvPr/>
        </p:nvSpPr>
        <p:spPr>
          <a:xfrm>
            <a:off x="640080" y="4722876"/>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Unidad de acarreo anticipado para cadenas rápidas.</a:t>
            </a:r>
          </a:p>
        </p:txBody>
      </p:sp>
      <p:sp>
        <p:nvSpPr>
          <p:cNvPr id="65" name="TextBox 64"/>
          <p:cNvSpPr txBox="1"/>
          <p:nvPr/>
        </p:nvSpPr>
        <p:spPr>
          <a:xfrm>
            <a:off x="640080" y="4956048"/>
            <a:ext cx="3320277" cy="201168"/>
          </a:xfrm>
          <a:prstGeom prst="rect">
            <a:avLst/>
          </a:prstGeom>
          <a:noFill/>
        </p:spPr>
        <p:txBody>
          <a:bodyPr wrap="square" lIns="0" rIns="0" tIns="0" bIns="0" anchor="t">
            <a:spAutoFit/>
          </a:bodyPr>
          <a:lstStyle/>
          <a:p>
            <a:pPr algn="l">
              <a:lnSpc>
                <a:spcPct val="100000"/>
              </a:lnSpc>
            </a:pPr>
            <a:r>
              <a:rPr sz="850" b="0">
                <a:solidFill>
                  <a:srgbClr val="C2690A"/>
                </a:solidFill>
                <a:latin typeface="Consolas"/>
              </a:rPr>
              <a:t>ALU</a:t>
            </a:r>
          </a:p>
        </p:txBody>
      </p:sp>
      <p:sp>
        <p:nvSpPr>
          <p:cNvPr id="66" name="Rounded Rectangle 65"/>
          <p:cNvSpPr/>
          <p:nvPr/>
        </p:nvSpPr>
        <p:spPr>
          <a:xfrm>
            <a:off x="4271253"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271253" y="4375404"/>
            <a:ext cx="41148" cy="85496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435845" y="4466844"/>
            <a:ext cx="3320277" cy="237744"/>
          </a:xfrm>
          <a:prstGeom prst="rect">
            <a:avLst/>
          </a:prstGeom>
          <a:noFill/>
        </p:spPr>
        <p:txBody>
          <a:bodyPr wrap="square" lIns="0" rIns="0" tIns="0" bIns="0" anchor="t">
            <a:spAutoFit/>
          </a:bodyPr>
          <a:lstStyle/>
          <a:p>
            <a:pPr algn="l">
              <a:lnSpc>
                <a:spcPct val="100000"/>
              </a:lnSpc>
            </a:pPr>
            <a:r>
              <a:rPr sz="1200" b="1">
                <a:solidFill>
                  <a:srgbClr val="6D46E0"/>
                </a:solidFill>
                <a:latin typeface="Consolas"/>
              </a:rPr>
              <a:t>7485</a:t>
            </a:r>
          </a:p>
        </p:txBody>
      </p:sp>
      <p:sp>
        <p:nvSpPr>
          <p:cNvPr id="69" name="TextBox 68"/>
          <p:cNvSpPr txBox="1"/>
          <p:nvPr/>
        </p:nvSpPr>
        <p:spPr>
          <a:xfrm>
            <a:off x="4435845" y="4722876"/>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Comparador de magnitud de 4 bits (A &gt; B, A = B, A &lt; B).</a:t>
            </a:r>
          </a:p>
        </p:txBody>
      </p:sp>
      <p:sp>
        <p:nvSpPr>
          <p:cNvPr id="70" name="TextBox 69"/>
          <p:cNvSpPr txBox="1"/>
          <p:nvPr/>
        </p:nvSpPr>
        <p:spPr>
          <a:xfrm>
            <a:off x="4435845" y="4956048"/>
            <a:ext cx="3320277" cy="201168"/>
          </a:xfrm>
          <a:prstGeom prst="rect">
            <a:avLst/>
          </a:prstGeom>
          <a:noFill/>
        </p:spPr>
        <p:txBody>
          <a:bodyPr wrap="square" lIns="0" rIns="0" tIns="0" bIns="0" anchor="t">
            <a:spAutoFit/>
          </a:bodyPr>
          <a:lstStyle/>
          <a:p>
            <a:pPr algn="l">
              <a:lnSpc>
                <a:spcPct val="100000"/>
              </a:lnSpc>
            </a:pPr>
            <a:r>
              <a:rPr sz="850" b="0">
                <a:solidFill>
                  <a:srgbClr val="6D46E0"/>
                </a:solidFill>
                <a:latin typeface="Consolas"/>
              </a:rPr>
              <a:t>Comparación</a:t>
            </a:r>
          </a:p>
        </p:txBody>
      </p:sp>
      <p:sp>
        <p:nvSpPr>
          <p:cNvPr id="71" name="Rounded Rectangle 70"/>
          <p:cNvSpPr/>
          <p:nvPr/>
        </p:nvSpPr>
        <p:spPr>
          <a:xfrm>
            <a:off x="8067019"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8067019" y="4375404"/>
            <a:ext cx="41148" cy="85496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231611" y="4466844"/>
            <a:ext cx="3320277" cy="237744"/>
          </a:xfrm>
          <a:prstGeom prst="rect">
            <a:avLst/>
          </a:prstGeom>
          <a:noFill/>
        </p:spPr>
        <p:txBody>
          <a:bodyPr wrap="square" lIns="0" rIns="0" tIns="0" bIns="0" anchor="t">
            <a:spAutoFit/>
          </a:bodyPr>
          <a:lstStyle/>
          <a:p>
            <a:pPr algn="l">
              <a:lnSpc>
                <a:spcPct val="100000"/>
              </a:lnSpc>
            </a:pPr>
            <a:r>
              <a:rPr sz="1200" b="1">
                <a:solidFill>
                  <a:srgbClr val="6D46E0"/>
                </a:solidFill>
                <a:latin typeface="Consolas"/>
              </a:rPr>
              <a:t>74688</a:t>
            </a:r>
          </a:p>
        </p:txBody>
      </p:sp>
      <p:sp>
        <p:nvSpPr>
          <p:cNvPr id="74" name="TextBox 73"/>
          <p:cNvSpPr txBox="1"/>
          <p:nvPr/>
        </p:nvSpPr>
        <p:spPr>
          <a:xfrm>
            <a:off x="8231611" y="4722876"/>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Comparador de 8 bits pensado para direcciones de memoria.</a:t>
            </a:r>
          </a:p>
        </p:txBody>
      </p:sp>
      <p:sp>
        <p:nvSpPr>
          <p:cNvPr id="75" name="TextBox 74"/>
          <p:cNvSpPr txBox="1"/>
          <p:nvPr/>
        </p:nvSpPr>
        <p:spPr>
          <a:xfrm>
            <a:off x="8231611" y="4956048"/>
            <a:ext cx="3320277" cy="201168"/>
          </a:xfrm>
          <a:prstGeom prst="rect">
            <a:avLst/>
          </a:prstGeom>
          <a:noFill/>
        </p:spPr>
        <p:txBody>
          <a:bodyPr wrap="square" lIns="0" rIns="0" tIns="0" bIns="0" anchor="t">
            <a:spAutoFit/>
          </a:bodyPr>
          <a:lstStyle/>
          <a:p>
            <a:pPr algn="l">
              <a:lnSpc>
                <a:spcPct val="100000"/>
              </a:lnSpc>
            </a:pPr>
            <a:r>
              <a:rPr sz="850" b="0">
                <a:solidFill>
                  <a:srgbClr val="6D46E0"/>
                </a:solidFill>
                <a:latin typeface="Consolas"/>
              </a:rPr>
              <a:t>Comparación</a:t>
            </a:r>
          </a:p>
        </p:txBody>
      </p:sp>
      <p:sp>
        <p:nvSpPr>
          <p:cNvPr id="76" name="Rounded Rectangle 7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CÓMO ELEGIR</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Estos chips amplían las siete compuertas básicas: con ellos se construyen sumadores de palabras completas, comparadores y decodificadores de direcciones.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fltVal val="0.06"/>
                                          </p:val>
                                        </p:tav>
                                        <p:tav tm="100000">
                                          <p:val>
                                            <p:flt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fltVal val="0.06"/>
                                          </p:val>
                                        </p:tav>
                                        <p:tav tm="100000">
                                          <p:val>
                                            <p:flt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fltVal val="0.06"/>
                                          </p:val>
                                        </p:tav>
                                        <p:tav tm="100000">
                                          <p:val>
                                            <p:flt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fltVal val="0.06"/>
                                          </p:val>
                                        </p:tav>
                                        <p:tav tm="100000">
                                          <p:val>
                                            <p:flt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fltVal val="0.06"/>
                                          </p:val>
                                        </p:tav>
                                        <p:tav tm="100000">
                                          <p:val>
                                            <p:flt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fltVal val="0.06"/>
                                          </p:val>
                                        </p:tav>
                                        <p:tav tm="100000">
                                          <p:val>
                                            <p:flt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fltVal val="0.06"/>
                                          </p:val>
                                        </p:tav>
                                        <p:tav tm="100000">
                                          <p:val>
                                            <p:flt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fltVal val="0.06"/>
                                          </p:val>
                                        </p:tav>
                                        <p:tav tm="100000">
                                          <p:val>
                                            <p:flt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fltVal val="0.06"/>
                                          </p:val>
                                        </p:tav>
                                        <p:tav tm="100000">
                                          <p:val>
                                            <p:flt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fltVal val="0.06"/>
                                          </p:val>
                                        </p:tav>
                                        <p:tav tm="100000">
                                          <p:val>
                                            <p:flt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fltVal val="0.06"/>
                                          </p:val>
                                        </p:tav>
                                        <p:tav tm="100000">
                                          <p:val>
                                            <p:flt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fltVal val="0.06"/>
                                          </p:val>
                                        </p:tav>
                                        <p:tav tm="100000">
                                          <p:val>
                                            <p:flt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fltVal val="0.06"/>
                                          </p:val>
                                        </p:tav>
                                        <p:tav tm="100000">
                                          <p:val>
                                            <p:flt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fltVal val="0.06"/>
                                          </p:val>
                                        </p:tav>
                                        <p:tav tm="100000">
                                          <p:val>
                                            <p:flt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fltVal val="0.06"/>
                                          </p:val>
                                        </p:tav>
                                        <p:tav tm="100000">
                                          <p:val>
                                            <p:flt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fltVal val="0.06"/>
                                          </p:val>
                                        </p:tav>
                                        <p:tav tm="100000">
                                          <p:val>
                                            <p:flt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fltVal val="0.06"/>
                                          </p:val>
                                        </p:tav>
                                        <p:tav tm="100000">
                                          <p:val>
                                            <p:flt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fltVal val="0.06"/>
                                          </p:val>
                                        </p:tav>
                                        <p:tav tm="100000">
                                          <p:val>
                                            <p:flt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fltVal val="0.06"/>
                                          </p:val>
                                        </p:tav>
                                        <p:tav tm="100000">
                                          <p:val>
                                            <p:flt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fltVal val="0.06"/>
                                          </p:val>
                                        </p:tav>
                                        <p:tav tm="100000">
                                          <p:val>
                                            <p:flt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fltVal val="0.06"/>
                                          </p:val>
                                        </p:tav>
                                        <p:tav tm="100000">
                                          <p:val>
                                            <p:flt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fltVal val="0.06"/>
                                          </p:val>
                                        </p:tav>
                                        <p:tav tm="100000">
                                          <p:val>
                                            <p:flt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fltVal val="0.06"/>
                                          </p:val>
                                        </p:tav>
                                        <p:tav tm="100000">
                                          <p:val>
                                            <p:fltVal val="0"/>
                                          </p:val>
                                        </p:tav>
                                      </p:tavLst>
                                    </p:anim>
                                  </p:childTnLst>
                                </p:cTn>
                              </p:par>
                            </p:childTnLst>
                          </p:cTn>
                        </p:par>
                      </p:childTnLst>
                    </p:cTn>
                  </p:par>
                  <p:par>
                    <p:cTn id="289" fill="hold">
                      <p:stCondLst>
                        <p:cond delay="indefinite"/>
                      </p:stCondLst>
                      <p:childTnLst>
                        <p:par>
                          <p:cTn id="290"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par>
                                <p:cTn id="180" fill="hold">
                                  <p:stCondLst>
                                    <p:cond delay="1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fltVal val="0.06"/>
                                          </p:val>
                                        </p:tav>
                                        <p:tav tm="100000">
                                          <p:val>
                                            <p:fltVal val="0"/>
                                          </p:val>
                                        </p:tav>
                                      </p:tavLst>
                                    </p:anim>
                                  </p:childTnLst>
                                </p:cTn>
                              </p:par>
                              <p:par>
                                <p:cTn id="184" fill="hold">
                                  <p:stCondLst>
                                    <p:cond delay="2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fltVal val="0.06"/>
                                          </p:val>
                                        </p:tav>
                                        <p:tav tm="100000">
                                          <p:val>
                                            <p:fltVal val="0"/>
                                          </p:val>
                                        </p:tav>
                                      </p:tavLst>
                                    </p:anim>
                                  </p:childTnLst>
                                </p:cTn>
                              </p:par>
                              <p:par>
                                <p:cTn id="188" fill="hold">
                                  <p:stCondLst>
                                    <p:cond delay="3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fltVal val="0.06"/>
                                          </p:val>
                                        </p:tav>
                                        <p:tav tm="100000">
                                          <p:val>
                                            <p:fltVal val="0"/>
                                          </p:val>
                                        </p:tav>
                                      </p:tavLst>
                                    </p:anim>
                                  </p:childTnLst>
                                </p:cTn>
                              </p:par>
                              <p:par>
                                <p:cTn id="192" fill="hold">
                                  <p:stCondLst>
                                    <p:cond delay="4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fltVal val="0.06"/>
                                          </p:val>
                                        </p:tav>
                                        <p:tav tm="100000">
                                          <p:val>
                                            <p:fltVal val="0"/>
                                          </p:val>
                                        </p:tav>
                                      </p:tavLst>
                                    </p:anim>
                                  </p:childTnLst>
                                </p:cTn>
                              </p:par>
                              <p:par>
                                <p:cTn id="196" fill="hold">
                                  <p:stCondLst>
                                    <p:cond delay="5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fltVal val="0.06"/>
                                          </p:val>
                                        </p:tav>
                                        <p:tav tm="100000">
                                          <p:val>
                                            <p:fltVal val="0"/>
                                          </p:val>
                                        </p:tav>
                                      </p:tavLst>
                                    </p:anim>
                                  </p:childTnLst>
                                </p:cTn>
                              </p:par>
                              <p:par>
                                <p:cTn id="200" fill="hold">
                                  <p:stCondLst>
                                    <p:cond delay="6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fltVal val="0.06"/>
                                          </p:val>
                                        </p:tav>
                                        <p:tav tm="100000">
                                          <p:val>
                                            <p:fltVal val="0"/>
                                          </p:val>
                                        </p:tav>
                                      </p:tavLst>
                                    </p:anim>
                                  </p:childTnLst>
                                </p:cTn>
                              </p:par>
                              <p:par>
                                <p:cTn id="204" fill="hold">
                                  <p:stCondLst>
                                    <p:cond delay="7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fltVal val="0.06"/>
                                          </p:val>
                                        </p:tav>
                                        <p:tav tm="100000">
                                          <p:val>
                                            <p:fltVal val="0"/>
                                          </p:val>
                                        </p:tav>
                                      </p:tavLst>
                                    </p:anim>
                                  </p:childTnLst>
                                </p:cTn>
                              </p:par>
                              <p:par>
                                <p:cTn id="208" fill="hold">
                                  <p:stCondLst>
                                    <p:cond delay="8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fltVal val="0.06"/>
                                          </p:val>
                                        </p:tav>
                                        <p:tav tm="100000">
                                          <p:val>
                                            <p:fltVal val="0"/>
                                          </p:val>
                                        </p:tav>
                                      </p:tavLst>
                                    </p:anim>
                                  </p:childTnLst>
                                </p:cTn>
                              </p:par>
                              <p:par>
                                <p:cTn id="212" fill="hold">
                                  <p:stCondLst>
                                    <p:cond delay="9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fltVal val="0.06"/>
                                          </p:val>
                                        </p:tav>
                                        <p:tav tm="100000">
                                          <p:val>
                                            <p:fltVal val="0"/>
                                          </p:val>
                                        </p:tav>
                                      </p:tavLst>
                                    </p:anim>
                                  </p:childTnLst>
                                </p:cTn>
                              </p:par>
                              <p:par>
                                <p:cTn id="216" fill="hold">
                                  <p:stCondLst>
                                    <p:cond delay="11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fltVal val="0.06"/>
                                          </p:val>
                                        </p:tav>
                                        <p:tav tm="100000">
                                          <p:val>
                                            <p:fltVal val="0"/>
                                          </p:val>
                                        </p:tav>
                                      </p:tavLst>
                                    </p:anim>
                                  </p:childTnLst>
                                </p:cTn>
                              </p:par>
                              <p:par>
                                <p:cTn id="220" fill="hold">
                                  <p:stCondLst>
                                    <p:cond delay="12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fltVal val="0.06"/>
                                          </p:val>
                                        </p:tav>
                                        <p:tav tm="100000">
                                          <p:val>
                                            <p:fltVal val="0"/>
                                          </p:val>
                                        </p:tav>
                                      </p:tavLst>
                                    </p:anim>
                                  </p:childTnLst>
                                </p:cTn>
                              </p:par>
                              <p:par>
                                <p:cTn id="224" fill="hold">
                                  <p:stCondLst>
                                    <p:cond delay="13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fltVal val="0.06"/>
                                          </p:val>
                                        </p:tav>
                                        <p:tav tm="100000">
                                          <p:val>
                                            <p:fltVal val="0"/>
                                          </p:val>
                                        </p:tav>
                                      </p:tavLst>
                                    </p:anim>
                                  </p:childTnLst>
                                </p:cTn>
                              </p:par>
                              <p:par>
                                <p:cTn id="228" fill="hold">
                                  <p:stCondLst>
                                    <p:cond delay="14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fltVal val="0.06"/>
                                          </p:val>
                                        </p:tav>
                                        <p:tav tm="100000">
                                          <p:val>
                                            <p:fltVal val="0"/>
                                          </p:val>
                                        </p:tav>
                                      </p:tavLst>
                                    </p:anim>
                                  </p:childTnLst>
                                </p:cTn>
                              </p:par>
                              <p:par>
                                <p:cTn id="232" fill="hold">
                                  <p:stCondLst>
                                    <p:cond delay="1540"/>
                                  </p:stCondLst>
                                  <p:childTnLst>
                                    <p:set>
                                      <p:cBhvr>
                                        <p:cTn id="230" dur="1" fill="hold">
                                          <p:stCondLst>
                                            <p:cond delay="0"/>
                                          </p:stCondLst>
                                        </p:cTn>
                                        <p:tgtEl>
                                          <p:spTgt spid="65"/>
                                        </p:tgtEl>
                                        <p:attrNameLst>
                                          <p:attrName>style.visibility</p:attrName>
                                        </p:attrNameLst>
                                      </p:cBhvr>
                                      <p:to>
                                        <p:strVal val="visible"/>
                                      </p:to>
                                    </p:set>
                                    <p:animEffect transition="in" filter="fade">
                                      <p:cBhvr>
                                        <p:cTn id="229" dur="420"/>
                                        <p:tgtEl>
                                          <p:spTgt spid="65"/>
                                        </p:tgtEl>
                                      </p:cBhvr>
                                    </p:animEffect>
                                    <p:anim calcmode="lin" valueType="num">
                                      <p:cBhvr additive="base">
                                        <p:cTn id="231" dur="420" fill="hold"/>
                                        <p:tgtEl>
                                          <p:spTgt spid="65"/>
                                        </p:tgtEl>
                                        <p:attrNameLst>
                                          <p:attrName>ppt_y</p:attrName>
                                        </p:attrNameLst>
                                      </p:cBhvr>
                                      <p:tavLst>
                                        <p:tav tm="0">
                                          <p:val>
                                            <p:fltVal val="0.06"/>
                                          </p:val>
                                        </p:tav>
                                        <p:tav tm="100000">
                                          <p:val>
                                            <p:fltVal val="0"/>
                                          </p:val>
                                        </p:tav>
                                      </p:tavLst>
                                    </p:anim>
                                  </p:childTnLst>
                                </p:cTn>
                              </p:par>
                              <p:par>
                                <p:cTn id="236" fill="hold">
                                  <p:stCondLst>
                                    <p:cond delay="1650"/>
                                  </p:stCondLst>
                                  <p:childTnLst>
                                    <p:set>
                                      <p:cBhvr>
                                        <p:cTn id="234" dur="1" fill="hold">
                                          <p:stCondLst>
                                            <p:cond delay="0"/>
                                          </p:stCondLst>
                                        </p:cTn>
                                        <p:tgtEl>
                                          <p:spTgt spid="66"/>
                                        </p:tgtEl>
                                        <p:attrNameLst>
                                          <p:attrName>style.visibility</p:attrName>
                                        </p:attrNameLst>
                                      </p:cBhvr>
                                      <p:to>
                                        <p:strVal val="visible"/>
                                      </p:to>
                                    </p:set>
                                    <p:animEffect transition="in" filter="fade">
                                      <p:cBhvr>
                                        <p:cTn id="233" dur="420"/>
                                        <p:tgtEl>
                                          <p:spTgt spid="66"/>
                                        </p:tgtEl>
                                      </p:cBhvr>
                                    </p:animEffect>
                                    <p:anim calcmode="lin" valueType="num">
                                      <p:cBhvr additive="base">
                                        <p:cTn id="235" dur="420" fill="hold"/>
                                        <p:tgtEl>
                                          <p:spTgt spid="66"/>
                                        </p:tgtEl>
                                        <p:attrNameLst>
                                          <p:attrName>ppt_y</p:attrName>
                                        </p:attrNameLst>
                                      </p:cBhvr>
                                      <p:tavLst>
                                        <p:tav tm="0">
                                          <p:val>
                                            <p:fltVal val="0.06"/>
                                          </p:val>
                                        </p:tav>
                                        <p:tav tm="100000">
                                          <p:val>
                                            <p:fltVal val="0"/>
                                          </p:val>
                                        </p:tav>
                                      </p:tavLst>
                                    </p:anim>
                                  </p:childTnLst>
                                </p:cTn>
                              </p:par>
                              <p:par>
                                <p:cTn id="240" fill="hold">
                                  <p:stCondLst>
                                    <p:cond delay="1760"/>
                                  </p:stCondLst>
                                  <p:childTnLst>
                                    <p:set>
                                      <p:cBhvr>
                                        <p:cTn id="238" dur="1" fill="hold">
                                          <p:stCondLst>
                                            <p:cond delay="0"/>
                                          </p:stCondLst>
                                        </p:cTn>
                                        <p:tgtEl>
                                          <p:spTgt spid="67"/>
                                        </p:tgtEl>
                                        <p:attrNameLst>
                                          <p:attrName>style.visibility</p:attrName>
                                        </p:attrNameLst>
                                      </p:cBhvr>
                                      <p:to>
                                        <p:strVal val="visible"/>
                                      </p:to>
                                    </p:set>
                                    <p:animEffect transition="in" filter="fade">
                                      <p:cBhvr>
                                        <p:cTn id="237" dur="420"/>
                                        <p:tgtEl>
                                          <p:spTgt spid="67"/>
                                        </p:tgtEl>
                                      </p:cBhvr>
                                    </p:animEffect>
                                    <p:anim calcmode="lin" valueType="num">
                                      <p:cBhvr additive="base">
                                        <p:cTn id="239" dur="420" fill="hold"/>
                                        <p:tgtEl>
                                          <p:spTgt spid="67"/>
                                        </p:tgtEl>
                                        <p:attrNameLst>
                                          <p:attrName>ppt_y</p:attrName>
                                        </p:attrNameLst>
                                      </p:cBhvr>
                                      <p:tavLst>
                                        <p:tav tm="0">
                                          <p:val>
                                            <p:fltVal val="0.06"/>
                                          </p:val>
                                        </p:tav>
                                        <p:tav tm="100000">
                                          <p:val>
                                            <p:fltVal val="0"/>
                                          </p:val>
                                        </p:tav>
                                      </p:tavLst>
                                    </p:anim>
                                  </p:childTnLst>
                                </p:cTn>
                              </p:par>
                              <p:par>
                                <p:cTn id="244" fill="hold">
                                  <p:stCondLst>
                                    <p:cond delay="1870"/>
                                  </p:stCondLst>
                                  <p:childTnLst>
                                    <p:set>
                                      <p:cBhvr>
                                        <p:cTn id="242" dur="1" fill="hold">
                                          <p:stCondLst>
                                            <p:cond delay="0"/>
                                          </p:stCondLst>
                                        </p:cTn>
                                        <p:tgtEl>
                                          <p:spTgt spid="68"/>
                                        </p:tgtEl>
                                        <p:attrNameLst>
                                          <p:attrName>style.visibility</p:attrName>
                                        </p:attrNameLst>
                                      </p:cBhvr>
                                      <p:to>
                                        <p:strVal val="visible"/>
                                      </p:to>
                                    </p:set>
                                    <p:animEffect transition="in" filter="fade">
                                      <p:cBhvr>
                                        <p:cTn id="241" dur="420"/>
                                        <p:tgtEl>
                                          <p:spTgt spid="68"/>
                                        </p:tgtEl>
                                      </p:cBhvr>
                                    </p:animEffect>
                                    <p:anim calcmode="lin" valueType="num">
                                      <p:cBhvr additive="base">
                                        <p:cTn id="243" dur="420" fill="hold"/>
                                        <p:tgtEl>
                                          <p:spTgt spid="68"/>
                                        </p:tgtEl>
                                        <p:attrNameLst>
                                          <p:attrName>ppt_y</p:attrName>
                                        </p:attrNameLst>
                                      </p:cBhvr>
                                      <p:tavLst>
                                        <p:tav tm="0">
                                          <p:val>
                                            <p:fltVal val="0.06"/>
                                          </p:val>
                                        </p:tav>
                                        <p:tav tm="100000">
                                          <p:val>
                                            <p:fltVal val="0"/>
                                          </p:val>
                                        </p:tav>
                                      </p:tavLst>
                                    </p:anim>
                                  </p:childTnLst>
                                </p:cTn>
                              </p:par>
                              <p:par>
                                <p:cTn id="248" fill="hold">
                                  <p:stCondLst>
                                    <p:cond delay="1980"/>
                                  </p:stCondLst>
                                  <p:childTnLst>
                                    <p:set>
                                      <p:cBhvr>
                                        <p:cTn id="246" dur="1" fill="hold">
                                          <p:stCondLst>
                                            <p:cond delay="0"/>
                                          </p:stCondLst>
                                        </p:cTn>
                                        <p:tgtEl>
                                          <p:spTgt spid="69"/>
                                        </p:tgtEl>
                                        <p:attrNameLst>
                                          <p:attrName>style.visibility</p:attrName>
                                        </p:attrNameLst>
                                      </p:cBhvr>
                                      <p:to>
                                        <p:strVal val="visible"/>
                                      </p:to>
                                    </p:set>
                                    <p:animEffect transition="in" filter="fade">
                                      <p:cBhvr>
                                        <p:cTn id="245" dur="420"/>
                                        <p:tgtEl>
                                          <p:spTgt spid="69"/>
                                        </p:tgtEl>
                                      </p:cBhvr>
                                    </p:animEffect>
                                    <p:anim calcmode="lin" valueType="num">
                                      <p:cBhvr additive="base">
                                        <p:cTn id="247" dur="420" fill="hold"/>
                                        <p:tgtEl>
                                          <p:spTgt spid="69"/>
                                        </p:tgtEl>
                                        <p:attrNameLst>
                                          <p:attrName>ppt_y</p:attrName>
                                        </p:attrNameLst>
                                      </p:cBhvr>
                                      <p:tavLst>
                                        <p:tav tm="0">
                                          <p:val>
                                            <p:fltVal val="0.06"/>
                                          </p:val>
                                        </p:tav>
                                        <p:tav tm="100000">
                                          <p:val>
                                            <p:fltVal val="0"/>
                                          </p:val>
                                        </p:tav>
                                      </p:tavLst>
                                    </p:anim>
                                  </p:childTnLst>
                                </p:cTn>
                              </p:par>
                              <p:par>
                                <p:cTn id="252" fill="hold">
                                  <p:stCondLst>
                                    <p:cond delay="2090"/>
                                  </p:stCondLst>
                                  <p:childTnLst>
                                    <p:set>
                                      <p:cBhvr>
                                        <p:cTn id="250" dur="1" fill="hold">
                                          <p:stCondLst>
                                            <p:cond delay="0"/>
                                          </p:stCondLst>
                                        </p:cTn>
                                        <p:tgtEl>
                                          <p:spTgt spid="70"/>
                                        </p:tgtEl>
                                        <p:attrNameLst>
                                          <p:attrName>style.visibility</p:attrName>
                                        </p:attrNameLst>
                                      </p:cBhvr>
                                      <p:to>
                                        <p:strVal val="visible"/>
                                      </p:to>
                                    </p:set>
                                    <p:animEffect transition="in" filter="fade">
                                      <p:cBhvr>
                                        <p:cTn id="249" dur="420"/>
                                        <p:tgtEl>
                                          <p:spTgt spid="70"/>
                                        </p:tgtEl>
                                      </p:cBhvr>
                                    </p:animEffect>
                                    <p:anim calcmode="lin" valueType="num">
                                      <p:cBhvr additive="base">
                                        <p:cTn id="251" dur="420" fill="hold"/>
                                        <p:tgtEl>
                                          <p:spTgt spid="70"/>
                                        </p:tgtEl>
                                        <p:attrNameLst>
                                          <p:attrName>ppt_y</p:attrName>
                                        </p:attrNameLst>
                                      </p:cBhvr>
                                      <p:tavLst>
                                        <p:tav tm="0">
                                          <p:val>
                                            <p:fltVal val="0.06"/>
                                          </p:val>
                                        </p:tav>
                                        <p:tav tm="100000">
                                          <p:val>
                                            <p:fltVal val="0"/>
                                          </p:val>
                                        </p:tav>
                                      </p:tavLst>
                                    </p:anim>
                                  </p:childTnLst>
                                </p:cTn>
                              </p:par>
                              <p:par>
                                <p:cTn id="256" fill="hold">
                                  <p:stCondLst>
                                    <p:cond delay="2200"/>
                                  </p:stCondLst>
                                  <p:childTnLst>
                                    <p:set>
                                      <p:cBhvr>
                                        <p:cTn id="254" dur="1" fill="hold">
                                          <p:stCondLst>
                                            <p:cond delay="0"/>
                                          </p:stCondLst>
                                        </p:cTn>
                                        <p:tgtEl>
                                          <p:spTgt spid="71"/>
                                        </p:tgtEl>
                                        <p:attrNameLst>
                                          <p:attrName>style.visibility</p:attrName>
                                        </p:attrNameLst>
                                      </p:cBhvr>
                                      <p:to>
                                        <p:strVal val="visible"/>
                                      </p:to>
                                    </p:set>
                                    <p:animEffect transition="in" filter="fade">
                                      <p:cBhvr>
                                        <p:cTn id="253" dur="420"/>
                                        <p:tgtEl>
                                          <p:spTgt spid="71"/>
                                        </p:tgtEl>
                                      </p:cBhvr>
                                    </p:animEffect>
                                    <p:anim calcmode="lin" valueType="num">
                                      <p:cBhvr additive="base">
                                        <p:cTn id="255" dur="420" fill="hold"/>
                                        <p:tgtEl>
                                          <p:spTgt spid="71"/>
                                        </p:tgtEl>
                                        <p:attrNameLst>
                                          <p:attrName>ppt_y</p:attrName>
                                        </p:attrNameLst>
                                      </p:cBhvr>
                                      <p:tavLst>
                                        <p:tav tm="0">
                                          <p:val>
                                            <p:fltVal val="0.06"/>
                                          </p:val>
                                        </p:tav>
                                        <p:tav tm="100000">
                                          <p:val>
                                            <p:fltVal val="0"/>
                                          </p:val>
                                        </p:tav>
                                      </p:tavLst>
                                    </p:anim>
                                  </p:childTnLst>
                                </p:cTn>
                              </p:par>
                              <p:par>
                                <p:cTn id="260" fill="hold">
                                  <p:stCondLst>
                                    <p:cond delay="2310"/>
                                  </p:stCondLst>
                                  <p:childTnLst>
                                    <p:set>
                                      <p:cBhvr>
                                        <p:cTn id="258" dur="1" fill="hold">
                                          <p:stCondLst>
                                            <p:cond delay="0"/>
                                          </p:stCondLst>
                                        </p:cTn>
                                        <p:tgtEl>
                                          <p:spTgt spid="72"/>
                                        </p:tgtEl>
                                        <p:attrNameLst>
                                          <p:attrName>style.visibility</p:attrName>
                                        </p:attrNameLst>
                                      </p:cBhvr>
                                      <p:to>
                                        <p:strVal val="visible"/>
                                      </p:to>
                                    </p:set>
                                    <p:animEffect transition="in" filter="fade">
                                      <p:cBhvr>
                                        <p:cTn id="257" dur="420"/>
                                        <p:tgtEl>
                                          <p:spTgt spid="72"/>
                                        </p:tgtEl>
                                      </p:cBhvr>
                                    </p:animEffect>
                                    <p:anim calcmode="lin" valueType="num">
                                      <p:cBhvr additive="base">
                                        <p:cTn id="259" dur="420" fill="hold"/>
                                        <p:tgtEl>
                                          <p:spTgt spid="72"/>
                                        </p:tgtEl>
                                        <p:attrNameLst>
                                          <p:attrName>ppt_y</p:attrName>
                                        </p:attrNameLst>
                                      </p:cBhvr>
                                      <p:tavLst>
                                        <p:tav tm="0">
                                          <p:val>
                                            <p:fltVal val="0.06"/>
                                          </p:val>
                                        </p:tav>
                                        <p:tav tm="100000">
                                          <p:val>
                                            <p:fltVal val="0"/>
                                          </p:val>
                                        </p:tav>
                                      </p:tavLst>
                                    </p:anim>
                                  </p:childTnLst>
                                </p:cTn>
                              </p:par>
                              <p:par>
                                <p:cTn id="264" fill="hold">
                                  <p:stCondLst>
                                    <p:cond delay="2420"/>
                                  </p:stCondLst>
                                  <p:childTnLst>
                                    <p:set>
                                      <p:cBhvr>
                                        <p:cTn id="262" dur="1" fill="hold">
                                          <p:stCondLst>
                                            <p:cond delay="0"/>
                                          </p:stCondLst>
                                        </p:cTn>
                                        <p:tgtEl>
                                          <p:spTgt spid="73"/>
                                        </p:tgtEl>
                                        <p:attrNameLst>
                                          <p:attrName>style.visibility</p:attrName>
                                        </p:attrNameLst>
                                      </p:cBhvr>
                                      <p:to>
                                        <p:strVal val="visible"/>
                                      </p:to>
                                    </p:set>
                                    <p:animEffect transition="in" filter="fade">
                                      <p:cBhvr>
                                        <p:cTn id="261" dur="420"/>
                                        <p:tgtEl>
                                          <p:spTgt spid="73"/>
                                        </p:tgtEl>
                                      </p:cBhvr>
                                    </p:animEffect>
                                    <p:anim calcmode="lin" valueType="num">
                                      <p:cBhvr additive="base">
                                        <p:cTn id="263" dur="420" fill="hold"/>
                                        <p:tgtEl>
                                          <p:spTgt spid="73"/>
                                        </p:tgtEl>
                                        <p:attrNameLst>
                                          <p:attrName>ppt_y</p:attrName>
                                        </p:attrNameLst>
                                      </p:cBhvr>
                                      <p:tavLst>
                                        <p:tav tm="0">
                                          <p:val>
                                            <p:fltVal val="0.06"/>
                                          </p:val>
                                        </p:tav>
                                        <p:tav tm="100000">
                                          <p:val>
                                            <p:fltVal val="0"/>
                                          </p:val>
                                        </p:tav>
                                      </p:tavLst>
                                    </p:anim>
                                  </p:childTnLst>
                                </p:cTn>
                              </p:par>
                              <p:par>
                                <p:cTn id="268" fill="hold">
                                  <p:stCondLst>
                                    <p:cond delay="2530"/>
                                  </p:stCondLst>
                                  <p:childTnLst>
                                    <p:set>
                                      <p:cBhvr>
                                        <p:cTn id="266" dur="1" fill="hold">
                                          <p:stCondLst>
                                            <p:cond delay="0"/>
                                          </p:stCondLst>
                                        </p:cTn>
                                        <p:tgtEl>
                                          <p:spTgt spid="74"/>
                                        </p:tgtEl>
                                        <p:attrNameLst>
                                          <p:attrName>style.visibility</p:attrName>
                                        </p:attrNameLst>
                                      </p:cBhvr>
                                      <p:to>
                                        <p:strVal val="visible"/>
                                      </p:to>
                                    </p:set>
                                    <p:animEffect transition="in" filter="fade">
                                      <p:cBhvr>
                                        <p:cTn id="265" dur="420"/>
                                        <p:tgtEl>
                                          <p:spTgt spid="74"/>
                                        </p:tgtEl>
                                      </p:cBhvr>
                                    </p:animEffect>
                                    <p:anim calcmode="lin" valueType="num">
                                      <p:cBhvr additive="base">
                                        <p:cTn id="267" dur="420" fill="hold"/>
                                        <p:tgtEl>
                                          <p:spTgt spid="74"/>
                                        </p:tgtEl>
                                        <p:attrNameLst>
                                          <p:attrName>ppt_y</p:attrName>
                                        </p:attrNameLst>
                                      </p:cBhvr>
                                      <p:tavLst>
                                        <p:tav tm="0">
                                          <p:val>
                                            <p:fltVal val="0.06"/>
                                          </p:val>
                                        </p:tav>
                                        <p:tav tm="100000">
                                          <p:val>
                                            <p:fltVal val="0"/>
                                          </p:val>
                                        </p:tav>
                                      </p:tavLst>
                                    </p:anim>
                                  </p:childTnLst>
                                </p:cTn>
                              </p:par>
                              <p:par>
                                <p:cTn id="272" fill="hold">
                                  <p:stCondLst>
                                    <p:cond delay="2640"/>
                                  </p:stCondLst>
                                  <p:childTnLst>
                                    <p:set>
                                      <p:cBhvr>
                                        <p:cTn id="270" dur="1" fill="hold">
                                          <p:stCondLst>
                                            <p:cond delay="0"/>
                                          </p:stCondLst>
                                        </p:cTn>
                                        <p:tgtEl>
                                          <p:spTgt spid="75"/>
                                        </p:tgtEl>
                                        <p:attrNameLst>
                                          <p:attrName>style.visibility</p:attrName>
                                        </p:attrNameLst>
                                      </p:cBhvr>
                                      <p:to>
                                        <p:strVal val="visible"/>
                                      </p:to>
                                    </p:set>
                                    <p:animEffect transition="in" filter="fade">
                                      <p:cBhvr>
                                        <p:cTn id="269" dur="420"/>
                                        <p:tgtEl>
                                          <p:spTgt spid="75"/>
                                        </p:tgtEl>
                                      </p:cBhvr>
                                    </p:animEffect>
                                    <p:anim calcmode="lin" valueType="num">
                                      <p:cBhvr additive="base">
                                        <p:cTn id="271" dur="420" fill="hold"/>
                                        <p:tgtEl>
                                          <p:spTgt spid="75"/>
                                        </p:tgtEl>
                                        <p:attrNameLst>
                                          <p:attrName>ppt_y</p:attrName>
                                        </p:attrNameLst>
                                      </p:cBhvr>
                                      <p:tavLst>
                                        <p:tav tm="0">
                                          <p:val>
                                            <p:fltVal val="0.06"/>
                                          </p:val>
                                        </p:tav>
                                        <p:tav tm="100000">
                                          <p:val>
                                            <p:fltVal val="0"/>
                                          </p:val>
                                        </p:tav>
                                      </p:tavLst>
                                    </p:anim>
                                  </p:childTnLst>
                                </p:cTn>
                              </p:par>
                              <p:par>
                                <p:cTn id="276" fill="hold">
                                  <p:stCondLst>
                                    <p:cond delay="2750"/>
                                  </p:stCondLst>
                                  <p:childTnLst>
                                    <p:set>
                                      <p:cBhvr>
                                        <p:cTn id="274" dur="1" fill="hold">
                                          <p:stCondLst>
                                            <p:cond delay="0"/>
                                          </p:stCondLst>
                                        </p:cTn>
                                        <p:tgtEl>
                                          <p:spTgt spid="76"/>
                                        </p:tgtEl>
                                        <p:attrNameLst>
                                          <p:attrName>style.visibility</p:attrName>
                                        </p:attrNameLst>
                                      </p:cBhvr>
                                      <p:to>
                                        <p:strVal val="visible"/>
                                      </p:to>
                                    </p:set>
                                    <p:animEffect transition="in" filter="fade">
                                      <p:cBhvr>
                                        <p:cTn id="273" dur="420"/>
                                        <p:tgtEl>
                                          <p:spTgt spid="76"/>
                                        </p:tgtEl>
                                      </p:cBhvr>
                                    </p:animEffect>
                                    <p:anim calcmode="lin" valueType="num">
                                      <p:cBhvr additive="base">
                                        <p:cTn id="275" dur="420" fill="hold"/>
                                        <p:tgtEl>
                                          <p:spTgt spid="76"/>
                                        </p:tgtEl>
                                        <p:attrNameLst>
                                          <p:attrName>ppt_y</p:attrName>
                                        </p:attrNameLst>
                                      </p:cBhvr>
                                      <p:tavLst>
                                        <p:tav tm="0">
                                          <p:val>
                                            <p:fltVal val="0.06"/>
                                          </p:val>
                                        </p:tav>
                                        <p:tav tm="100000">
                                          <p:val>
                                            <p:fltVal val="0"/>
                                          </p:val>
                                        </p:tav>
                                      </p:tavLst>
                                    </p:anim>
                                  </p:childTnLst>
                                </p:cTn>
                              </p:par>
                              <p:par>
                                <p:cTn id="280" fill="hold">
                                  <p:stCondLst>
                                    <p:cond delay="2860"/>
                                  </p:stCondLst>
                                  <p:childTnLst>
                                    <p:set>
                                      <p:cBhvr>
                                        <p:cTn id="278" dur="1" fill="hold">
                                          <p:stCondLst>
                                            <p:cond delay="0"/>
                                          </p:stCondLst>
                                        </p:cTn>
                                        <p:tgtEl>
                                          <p:spTgt spid="77"/>
                                        </p:tgtEl>
                                        <p:attrNameLst>
                                          <p:attrName>style.visibility</p:attrName>
                                        </p:attrNameLst>
                                      </p:cBhvr>
                                      <p:to>
                                        <p:strVal val="visible"/>
                                      </p:to>
                                    </p:set>
                                    <p:animEffect transition="in" filter="fade">
                                      <p:cBhvr>
                                        <p:cTn id="277" dur="420"/>
                                        <p:tgtEl>
                                          <p:spTgt spid="77"/>
                                        </p:tgtEl>
                                      </p:cBhvr>
                                    </p:animEffect>
                                    <p:anim calcmode="lin" valueType="num">
                                      <p:cBhvr additive="base">
                                        <p:cTn id="279" dur="420" fill="hold"/>
                                        <p:tgtEl>
                                          <p:spTgt spid="77"/>
                                        </p:tgtEl>
                                        <p:attrNameLst>
                                          <p:attrName>ppt_y</p:attrName>
                                        </p:attrNameLst>
                                      </p:cBhvr>
                                      <p:tavLst>
                                        <p:tav tm="0">
                                          <p:val>
                                            <p:fltVal val="0.06"/>
                                          </p:val>
                                        </p:tav>
                                        <p:tav tm="100000">
                                          <p:val>
                                            <p:fltVal val="0"/>
                                          </p:val>
                                        </p:tav>
                                      </p:tavLst>
                                    </p:anim>
                                  </p:childTnLst>
                                </p:cTn>
                              </p:par>
                              <p:par>
                                <p:cTn id="284" fill="hold">
                                  <p:stCondLst>
                                    <p:cond delay="2970"/>
                                  </p:stCondLst>
                                  <p:childTnLst>
                                    <p:set>
                                      <p:cBhvr>
                                        <p:cTn id="282" dur="1" fill="hold">
                                          <p:stCondLst>
                                            <p:cond delay="0"/>
                                          </p:stCondLst>
                                        </p:cTn>
                                        <p:tgtEl>
                                          <p:spTgt spid="78"/>
                                        </p:tgtEl>
                                        <p:attrNameLst>
                                          <p:attrName>style.visibility</p:attrName>
                                        </p:attrNameLst>
                                      </p:cBhvr>
                                      <p:to>
                                        <p:strVal val="visible"/>
                                      </p:to>
                                    </p:set>
                                    <p:animEffect transition="in" filter="fade">
                                      <p:cBhvr>
                                        <p:cTn id="281" dur="420"/>
                                        <p:tgtEl>
                                          <p:spTgt spid="78"/>
                                        </p:tgtEl>
                                      </p:cBhvr>
                                    </p:animEffect>
                                    <p:anim calcmode="lin" valueType="num">
                                      <p:cBhvr additive="base">
                                        <p:cTn id="283" dur="420" fill="hold"/>
                                        <p:tgtEl>
                                          <p:spTgt spid="78"/>
                                        </p:tgtEl>
                                        <p:attrNameLst>
                                          <p:attrName>ppt_y</p:attrName>
                                        </p:attrNameLst>
                                      </p:cBhvr>
                                      <p:tavLst>
                                        <p:tav tm="0">
                                          <p:val>
                                            <p:fltVal val="0.06"/>
                                          </p:val>
                                        </p:tav>
                                        <p:tav tm="100000">
                                          <p:val>
                                            <p:fltVal val="0"/>
                                          </p:val>
                                        </p:tav>
                                      </p:tavLst>
                                    </p:anim>
                                  </p:childTnLst>
                                </p:cTn>
                              </p:par>
                              <p:par>
                                <p:cTn id="288" fill="hold">
                                  <p:stCondLst>
                                    <p:cond delay="3080"/>
                                  </p:stCondLst>
                                  <p:childTnLst>
                                    <p:set>
                                      <p:cBhvr>
                                        <p:cTn id="286" dur="1" fill="hold">
                                          <p:stCondLst>
                                            <p:cond delay="0"/>
                                          </p:stCondLst>
                                        </p:cTn>
                                        <p:tgtEl>
                                          <p:spTgt spid="79"/>
                                        </p:tgtEl>
                                        <p:attrNameLst>
                                          <p:attrName>style.visibility</p:attrName>
                                        </p:attrNameLst>
                                      </p:cBhvr>
                                      <p:to>
                                        <p:strVal val="visible"/>
                                      </p:to>
                                    </p:set>
                                    <p:animEffect transition="in" filter="fade">
                                      <p:cBhvr>
                                        <p:cTn id="285" dur="420"/>
                                        <p:tgtEl>
                                          <p:spTgt spid="79"/>
                                        </p:tgtEl>
                                      </p:cBhvr>
                                    </p:animEffect>
                                    <p:anim calcmode="lin" valueType="num">
                                      <p:cBhvr additive="base">
                                        <p:cTn id="287" dur="420" fill="hold"/>
                                        <p:tgtEl>
                                          <p:spTgt spid="7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0D1A2B"/>
                </a:solidFill>
                <a:latin typeface="Segoe UI Semibold"/>
              </a:rPr>
              <a:t>Catálogo ampliado (parte 2: secuencial, memoria e interfaz)</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Contadores, registros, memorias y chips de bus.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56653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371600"/>
            <a:ext cx="41148" cy="854964"/>
          </a:xfrm>
          <a:prstGeom prst="rect">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463040"/>
            <a:ext cx="3320277" cy="237744"/>
          </a:xfrm>
          <a:prstGeom prst="rect">
            <a:avLst/>
          </a:prstGeom>
          <a:noFill/>
        </p:spPr>
        <p:txBody>
          <a:bodyPr wrap="square" lIns="0" rIns="0" tIns="0" bIns="0" anchor="t">
            <a:spAutoFit/>
          </a:bodyPr>
          <a:lstStyle/>
          <a:p>
            <a:pPr algn="l">
              <a:lnSpc>
                <a:spcPct val="100000"/>
              </a:lnSpc>
            </a:pPr>
            <a:r>
              <a:rPr sz="1200" b="1">
                <a:solidFill>
                  <a:srgbClr val="4149C8"/>
                </a:solidFill>
                <a:latin typeface="Consolas"/>
              </a:rPr>
              <a:t>7474</a:t>
            </a:r>
          </a:p>
        </p:txBody>
      </p:sp>
      <p:sp>
        <p:nvSpPr>
          <p:cNvPr id="19" name="TextBox 18"/>
          <p:cNvSpPr txBox="1"/>
          <p:nvPr/>
        </p:nvSpPr>
        <p:spPr>
          <a:xfrm>
            <a:off x="640080" y="1719072"/>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Dos flip-flops D con preset y clear, disparados por flanco.</a:t>
            </a:r>
          </a:p>
        </p:txBody>
      </p:sp>
      <p:sp>
        <p:nvSpPr>
          <p:cNvPr id="20" name="TextBox 19"/>
          <p:cNvSpPr txBox="1"/>
          <p:nvPr/>
        </p:nvSpPr>
        <p:spPr>
          <a:xfrm>
            <a:off x="640080" y="1952244"/>
            <a:ext cx="3320277" cy="201168"/>
          </a:xfrm>
          <a:prstGeom prst="rect">
            <a:avLst/>
          </a:prstGeom>
          <a:noFill/>
        </p:spPr>
        <p:txBody>
          <a:bodyPr wrap="square" lIns="0" rIns="0" tIns="0" bIns="0" anchor="t">
            <a:spAutoFit/>
          </a:bodyPr>
          <a:lstStyle/>
          <a:p>
            <a:pPr algn="l">
              <a:lnSpc>
                <a:spcPct val="100000"/>
              </a:lnSpc>
            </a:pPr>
            <a:r>
              <a:rPr sz="850" b="0">
                <a:solidFill>
                  <a:srgbClr val="4149C8"/>
                </a:solidFill>
                <a:latin typeface="Consolas"/>
              </a:rPr>
              <a:t>Secuencial</a:t>
            </a:r>
          </a:p>
        </p:txBody>
      </p:sp>
      <p:sp>
        <p:nvSpPr>
          <p:cNvPr id="21" name="Rounded Rectangle 20"/>
          <p:cNvSpPr/>
          <p:nvPr/>
        </p:nvSpPr>
        <p:spPr>
          <a:xfrm>
            <a:off x="4271253"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71253" y="1371600"/>
            <a:ext cx="41148" cy="854964"/>
          </a:xfrm>
          <a:prstGeom prst="rect">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63040"/>
            <a:ext cx="3320277" cy="237744"/>
          </a:xfrm>
          <a:prstGeom prst="rect">
            <a:avLst/>
          </a:prstGeom>
          <a:noFill/>
        </p:spPr>
        <p:txBody>
          <a:bodyPr wrap="square" lIns="0" rIns="0" tIns="0" bIns="0" anchor="t">
            <a:spAutoFit/>
          </a:bodyPr>
          <a:lstStyle/>
          <a:p>
            <a:pPr algn="l">
              <a:lnSpc>
                <a:spcPct val="100000"/>
              </a:lnSpc>
            </a:pPr>
            <a:r>
              <a:rPr sz="1200" b="1">
                <a:solidFill>
                  <a:srgbClr val="4149C8"/>
                </a:solidFill>
                <a:latin typeface="Consolas"/>
              </a:rPr>
              <a:t>74107</a:t>
            </a:r>
          </a:p>
        </p:txBody>
      </p:sp>
      <p:sp>
        <p:nvSpPr>
          <p:cNvPr id="24" name="TextBox 23"/>
          <p:cNvSpPr txBox="1"/>
          <p:nvPr/>
        </p:nvSpPr>
        <p:spPr>
          <a:xfrm>
            <a:off x="4435845" y="1719072"/>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Dos flip-flops JK maestro-esclavo.</a:t>
            </a:r>
          </a:p>
        </p:txBody>
      </p:sp>
      <p:sp>
        <p:nvSpPr>
          <p:cNvPr id="25" name="TextBox 24"/>
          <p:cNvSpPr txBox="1"/>
          <p:nvPr/>
        </p:nvSpPr>
        <p:spPr>
          <a:xfrm>
            <a:off x="4435845" y="1952244"/>
            <a:ext cx="3320277" cy="201168"/>
          </a:xfrm>
          <a:prstGeom prst="rect">
            <a:avLst/>
          </a:prstGeom>
          <a:noFill/>
        </p:spPr>
        <p:txBody>
          <a:bodyPr wrap="square" lIns="0" rIns="0" tIns="0" bIns="0" anchor="t">
            <a:spAutoFit/>
          </a:bodyPr>
          <a:lstStyle/>
          <a:p>
            <a:pPr algn="l">
              <a:lnSpc>
                <a:spcPct val="100000"/>
              </a:lnSpc>
            </a:pPr>
            <a:r>
              <a:rPr sz="850" b="0">
                <a:solidFill>
                  <a:srgbClr val="4149C8"/>
                </a:solidFill>
                <a:latin typeface="Consolas"/>
              </a:rPr>
              <a:t>Secuencial</a:t>
            </a:r>
          </a:p>
        </p:txBody>
      </p:sp>
      <p:sp>
        <p:nvSpPr>
          <p:cNvPr id="26" name="Rounded Rectangle 25"/>
          <p:cNvSpPr/>
          <p:nvPr/>
        </p:nvSpPr>
        <p:spPr>
          <a:xfrm>
            <a:off x="8067019"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67019" y="1371600"/>
            <a:ext cx="41148" cy="854964"/>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31611" y="1463040"/>
            <a:ext cx="3320277" cy="237744"/>
          </a:xfrm>
          <a:prstGeom prst="rect">
            <a:avLst/>
          </a:prstGeom>
          <a:noFill/>
        </p:spPr>
        <p:txBody>
          <a:bodyPr wrap="square" lIns="0" rIns="0" tIns="0" bIns="0" anchor="t">
            <a:spAutoFit/>
          </a:bodyPr>
          <a:lstStyle/>
          <a:p>
            <a:pPr algn="l">
              <a:lnSpc>
                <a:spcPct val="100000"/>
              </a:lnSpc>
            </a:pPr>
            <a:r>
              <a:rPr sz="1200" b="1">
                <a:solidFill>
                  <a:srgbClr val="0C7C74"/>
                </a:solidFill>
                <a:latin typeface="Consolas"/>
              </a:rPr>
              <a:t>74161</a:t>
            </a:r>
          </a:p>
        </p:txBody>
      </p:sp>
      <p:sp>
        <p:nvSpPr>
          <p:cNvPr id="29" name="TextBox 28"/>
          <p:cNvSpPr txBox="1"/>
          <p:nvPr/>
        </p:nvSpPr>
        <p:spPr>
          <a:xfrm>
            <a:off x="8231611" y="1719072"/>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Contador binario síncrono de 4 bits con carga paralela.</a:t>
            </a:r>
          </a:p>
        </p:txBody>
      </p:sp>
      <p:sp>
        <p:nvSpPr>
          <p:cNvPr id="30" name="TextBox 29"/>
          <p:cNvSpPr txBox="1"/>
          <p:nvPr/>
        </p:nvSpPr>
        <p:spPr>
          <a:xfrm>
            <a:off x="8231611" y="1952244"/>
            <a:ext cx="3320277" cy="201168"/>
          </a:xfrm>
          <a:prstGeom prst="rect">
            <a:avLst/>
          </a:prstGeom>
          <a:noFill/>
        </p:spPr>
        <p:txBody>
          <a:bodyPr wrap="square" lIns="0" rIns="0" tIns="0" bIns="0" anchor="t">
            <a:spAutoFit/>
          </a:bodyPr>
          <a:lstStyle/>
          <a:p>
            <a:pPr algn="l">
              <a:lnSpc>
                <a:spcPct val="100000"/>
              </a:lnSpc>
            </a:pPr>
            <a:r>
              <a:rPr sz="850" b="0">
                <a:solidFill>
                  <a:srgbClr val="0C7C74"/>
                </a:solidFill>
                <a:latin typeface="Consolas"/>
              </a:rPr>
              <a:t>Contador</a:t>
            </a:r>
          </a:p>
        </p:txBody>
      </p:sp>
      <p:sp>
        <p:nvSpPr>
          <p:cNvPr id="31" name="Rounded Rectangle 30"/>
          <p:cNvSpPr/>
          <p:nvPr/>
        </p:nvSpPr>
        <p:spPr>
          <a:xfrm>
            <a:off x="475488"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372868"/>
            <a:ext cx="41148" cy="854964"/>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2464308"/>
            <a:ext cx="3320277" cy="237744"/>
          </a:xfrm>
          <a:prstGeom prst="rect">
            <a:avLst/>
          </a:prstGeom>
          <a:noFill/>
        </p:spPr>
        <p:txBody>
          <a:bodyPr wrap="square" lIns="0" rIns="0" tIns="0" bIns="0" anchor="t">
            <a:spAutoFit/>
          </a:bodyPr>
          <a:lstStyle/>
          <a:p>
            <a:pPr algn="l">
              <a:lnSpc>
                <a:spcPct val="100000"/>
              </a:lnSpc>
            </a:pPr>
            <a:r>
              <a:rPr sz="1200" b="1">
                <a:solidFill>
                  <a:srgbClr val="0C7C74"/>
                </a:solidFill>
                <a:latin typeface="Consolas"/>
              </a:rPr>
              <a:t>74163</a:t>
            </a:r>
          </a:p>
        </p:txBody>
      </p:sp>
      <p:sp>
        <p:nvSpPr>
          <p:cNvPr id="34" name="TextBox 33"/>
          <p:cNvSpPr txBox="1"/>
          <p:nvPr/>
        </p:nvSpPr>
        <p:spPr>
          <a:xfrm>
            <a:off x="640080" y="2720340"/>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Igual al 74161 pero con reinicio totalmente síncrono.</a:t>
            </a:r>
          </a:p>
        </p:txBody>
      </p:sp>
      <p:sp>
        <p:nvSpPr>
          <p:cNvPr id="35" name="TextBox 34"/>
          <p:cNvSpPr txBox="1"/>
          <p:nvPr/>
        </p:nvSpPr>
        <p:spPr>
          <a:xfrm>
            <a:off x="640080" y="2953512"/>
            <a:ext cx="3320277" cy="201168"/>
          </a:xfrm>
          <a:prstGeom prst="rect">
            <a:avLst/>
          </a:prstGeom>
          <a:noFill/>
        </p:spPr>
        <p:txBody>
          <a:bodyPr wrap="square" lIns="0" rIns="0" tIns="0" bIns="0" anchor="t">
            <a:spAutoFit/>
          </a:bodyPr>
          <a:lstStyle/>
          <a:p>
            <a:pPr algn="l">
              <a:lnSpc>
                <a:spcPct val="100000"/>
              </a:lnSpc>
            </a:pPr>
            <a:r>
              <a:rPr sz="850" b="0">
                <a:solidFill>
                  <a:srgbClr val="0C7C74"/>
                </a:solidFill>
                <a:latin typeface="Consolas"/>
              </a:rPr>
              <a:t>Contador</a:t>
            </a:r>
          </a:p>
        </p:txBody>
      </p:sp>
      <p:sp>
        <p:nvSpPr>
          <p:cNvPr id="36" name="Rounded Rectangle 35"/>
          <p:cNvSpPr/>
          <p:nvPr/>
        </p:nvSpPr>
        <p:spPr>
          <a:xfrm>
            <a:off x="4271253"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71253" y="2372868"/>
            <a:ext cx="41148" cy="854964"/>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464308"/>
            <a:ext cx="3320277" cy="237744"/>
          </a:xfrm>
          <a:prstGeom prst="rect">
            <a:avLst/>
          </a:prstGeom>
          <a:noFill/>
        </p:spPr>
        <p:txBody>
          <a:bodyPr wrap="square" lIns="0" rIns="0" tIns="0" bIns="0" anchor="t">
            <a:spAutoFit/>
          </a:bodyPr>
          <a:lstStyle/>
          <a:p>
            <a:pPr algn="l">
              <a:lnSpc>
                <a:spcPct val="100000"/>
              </a:lnSpc>
            </a:pPr>
            <a:r>
              <a:rPr sz="1200" b="1">
                <a:solidFill>
                  <a:srgbClr val="0C7C74"/>
                </a:solidFill>
                <a:latin typeface="Consolas"/>
              </a:rPr>
              <a:t>7490</a:t>
            </a:r>
          </a:p>
        </p:txBody>
      </p:sp>
      <p:sp>
        <p:nvSpPr>
          <p:cNvPr id="39" name="TextBox 38"/>
          <p:cNvSpPr txBox="1"/>
          <p:nvPr/>
        </p:nvSpPr>
        <p:spPr>
          <a:xfrm>
            <a:off x="4435845" y="2720340"/>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Contador de décadas: divide entre 2 y entre 5 (BCD).</a:t>
            </a:r>
          </a:p>
        </p:txBody>
      </p:sp>
      <p:sp>
        <p:nvSpPr>
          <p:cNvPr id="40" name="TextBox 39"/>
          <p:cNvSpPr txBox="1"/>
          <p:nvPr/>
        </p:nvSpPr>
        <p:spPr>
          <a:xfrm>
            <a:off x="4435845" y="2953512"/>
            <a:ext cx="3320277" cy="201168"/>
          </a:xfrm>
          <a:prstGeom prst="rect">
            <a:avLst/>
          </a:prstGeom>
          <a:noFill/>
        </p:spPr>
        <p:txBody>
          <a:bodyPr wrap="square" lIns="0" rIns="0" tIns="0" bIns="0" anchor="t">
            <a:spAutoFit/>
          </a:bodyPr>
          <a:lstStyle/>
          <a:p>
            <a:pPr algn="l">
              <a:lnSpc>
                <a:spcPct val="100000"/>
              </a:lnSpc>
            </a:pPr>
            <a:r>
              <a:rPr sz="850" b="0">
                <a:solidFill>
                  <a:srgbClr val="0C7C74"/>
                </a:solidFill>
                <a:latin typeface="Consolas"/>
              </a:rPr>
              <a:t>Contador</a:t>
            </a:r>
          </a:p>
        </p:txBody>
      </p:sp>
      <p:sp>
        <p:nvSpPr>
          <p:cNvPr id="41" name="Rounded Rectangle 40"/>
          <p:cNvSpPr/>
          <p:nvPr/>
        </p:nvSpPr>
        <p:spPr>
          <a:xfrm>
            <a:off x="8067019"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067019" y="2372868"/>
            <a:ext cx="41148" cy="85496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31611" y="2464308"/>
            <a:ext cx="3320277" cy="237744"/>
          </a:xfrm>
          <a:prstGeom prst="rect">
            <a:avLst/>
          </a:prstGeom>
          <a:noFill/>
        </p:spPr>
        <p:txBody>
          <a:bodyPr wrap="square" lIns="0" rIns="0" tIns="0" bIns="0" anchor="t">
            <a:spAutoFit/>
          </a:bodyPr>
          <a:lstStyle/>
          <a:p>
            <a:pPr algn="l">
              <a:lnSpc>
                <a:spcPct val="100000"/>
              </a:lnSpc>
            </a:pPr>
            <a:r>
              <a:rPr sz="1200" b="1">
                <a:solidFill>
                  <a:srgbClr val="1E5FD0"/>
                </a:solidFill>
                <a:latin typeface="Consolas"/>
              </a:rPr>
              <a:t>74164</a:t>
            </a:r>
          </a:p>
        </p:txBody>
      </p:sp>
      <p:sp>
        <p:nvSpPr>
          <p:cNvPr id="44" name="TextBox 43"/>
          <p:cNvSpPr txBox="1"/>
          <p:nvPr/>
        </p:nvSpPr>
        <p:spPr>
          <a:xfrm>
            <a:off x="8231611" y="2720340"/>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Registro de desplazamiento de 8 bits serie→paralelo.</a:t>
            </a:r>
          </a:p>
        </p:txBody>
      </p:sp>
      <p:sp>
        <p:nvSpPr>
          <p:cNvPr id="45" name="TextBox 44"/>
          <p:cNvSpPr txBox="1"/>
          <p:nvPr/>
        </p:nvSpPr>
        <p:spPr>
          <a:xfrm>
            <a:off x="8231611" y="2953512"/>
            <a:ext cx="3320277" cy="201168"/>
          </a:xfrm>
          <a:prstGeom prst="rect">
            <a:avLst/>
          </a:prstGeom>
          <a:noFill/>
        </p:spPr>
        <p:txBody>
          <a:bodyPr wrap="square" lIns="0" rIns="0" tIns="0" bIns="0" anchor="t">
            <a:spAutoFit/>
          </a:bodyPr>
          <a:lstStyle/>
          <a:p>
            <a:pPr algn="l">
              <a:lnSpc>
                <a:spcPct val="100000"/>
              </a:lnSpc>
            </a:pPr>
            <a:r>
              <a:rPr sz="850" b="0">
                <a:solidFill>
                  <a:srgbClr val="1E5FD0"/>
                </a:solidFill>
                <a:latin typeface="Consolas"/>
              </a:rPr>
              <a:t>Registro</a:t>
            </a:r>
          </a:p>
        </p:txBody>
      </p:sp>
      <p:sp>
        <p:nvSpPr>
          <p:cNvPr id="46" name="Rounded Rectangle 45"/>
          <p:cNvSpPr/>
          <p:nvPr/>
        </p:nvSpPr>
        <p:spPr>
          <a:xfrm>
            <a:off x="475488"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3374136"/>
            <a:ext cx="41148" cy="85496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3465576"/>
            <a:ext cx="3320277" cy="237744"/>
          </a:xfrm>
          <a:prstGeom prst="rect">
            <a:avLst/>
          </a:prstGeom>
          <a:noFill/>
        </p:spPr>
        <p:txBody>
          <a:bodyPr wrap="square" lIns="0" rIns="0" tIns="0" bIns="0" anchor="t">
            <a:spAutoFit/>
          </a:bodyPr>
          <a:lstStyle/>
          <a:p>
            <a:pPr algn="l">
              <a:lnSpc>
                <a:spcPct val="100000"/>
              </a:lnSpc>
            </a:pPr>
            <a:r>
              <a:rPr sz="1200" b="1">
                <a:solidFill>
                  <a:srgbClr val="1E5FD0"/>
                </a:solidFill>
                <a:latin typeface="Consolas"/>
              </a:rPr>
              <a:t>74194</a:t>
            </a:r>
          </a:p>
        </p:txBody>
      </p:sp>
      <p:sp>
        <p:nvSpPr>
          <p:cNvPr id="49" name="TextBox 48"/>
          <p:cNvSpPr txBox="1"/>
          <p:nvPr/>
        </p:nvSpPr>
        <p:spPr>
          <a:xfrm>
            <a:off x="640080" y="3721608"/>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Registro universal de 4 bits: desplaza en ambos sentidos.</a:t>
            </a:r>
          </a:p>
        </p:txBody>
      </p:sp>
      <p:sp>
        <p:nvSpPr>
          <p:cNvPr id="50" name="TextBox 49"/>
          <p:cNvSpPr txBox="1"/>
          <p:nvPr/>
        </p:nvSpPr>
        <p:spPr>
          <a:xfrm>
            <a:off x="640080" y="3954780"/>
            <a:ext cx="3320277" cy="201168"/>
          </a:xfrm>
          <a:prstGeom prst="rect">
            <a:avLst/>
          </a:prstGeom>
          <a:noFill/>
        </p:spPr>
        <p:txBody>
          <a:bodyPr wrap="square" lIns="0" rIns="0" tIns="0" bIns="0" anchor="t">
            <a:spAutoFit/>
          </a:bodyPr>
          <a:lstStyle/>
          <a:p>
            <a:pPr algn="l">
              <a:lnSpc>
                <a:spcPct val="100000"/>
              </a:lnSpc>
            </a:pPr>
            <a:r>
              <a:rPr sz="850" b="0">
                <a:solidFill>
                  <a:srgbClr val="1E5FD0"/>
                </a:solidFill>
                <a:latin typeface="Consolas"/>
              </a:rPr>
              <a:t>Registro</a:t>
            </a:r>
          </a:p>
        </p:txBody>
      </p:sp>
      <p:sp>
        <p:nvSpPr>
          <p:cNvPr id="51" name="Rounded Rectangle 50"/>
          <p:cNvSpPr/>
          <p:nvPr/>
        </p:nvSpPr>
        <p:spPr>
          <a:xfrm>
            <a:off x="4271253"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71253" y="3374136"/>
            <a:ext cx="41148" cy="854964"/>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3465576"/>
            <a:ext cx="3320277" cy="237744"/>
          </a:xfrm>
          <a:prstGeom prst="rect">
            <a:avLst/>
          </a:prstGeom>
          <a:noFill/>
        </p:spPr>
        <p:txBody>
          <a:bodyPr wrap="square" lIns="0" rIns="0" tIns="0" bIns="0" anchor="t">
            <a:spAutoFit/>
          </a:bodyPr>
          <a:lstStyle/>
          <a:p>
            <a:pPr algn="l">
              <a:lnSpc>
                <a:spcPct val="100000"/>
              </a:lnSpc>
            </a:pPr>
            <a:r>
              <a:rPr sz="1200" b="1">
                <a:solidFill>
                  <a:srgbClr val="9A7008"/>
                </a:solidFill>
                <a:latin typeface="Consolas"/>
              </a:rPr>
              <a:t>74189</a:t>
            </a:r>
          </a:p>
        </p:txBody>
      </p:sp>
      <p:sp>
        <p:nvSpPr>
          <p:cNvPr id="54" name="TextBox 53"/>
          <p:cNvSpPr txBox="1"/>
          <p:nvPr/>
        </p:nvSpPr>
        <p:spPr>
          <a:xfrm>
            <a:off x="4435845" y="3721608"/>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RAM estática de 64 bits organizada en 16 × 4.</a:t>
            </a:r>
          </a:p>
        </p:txBody>
      </p:sp>
      <p:sp>
        <p:nvSpPr>
          <p:cNvPr id="55" name="TextBox 54"/>
          <p:cNvSpPr txBox="1"/>
          <p:nvPr/>
        </p:nvSpPr>
        <p:spPr>
          <a:xfrm>
            <a:off x="4435845" y="3954780"/>
            <a:ext cx="3320277" cy="201168"/>
          </a:xfrm>
          <a:prstGeom prst="rect">
            <a:avLst/>
          </a:prstGeom>
          <a:noFill/>
        </p:spPr>
        <p:txBody>
          <a:bodyPr wrap="square" lIns="0" rIns="0" tIns="0" bIns="0" anchor="t">
            <a:spAutoFit/>
          </a:bodyPr>
          <a:lstStyle/>
          <a:p>
            <a:pPr algn="l">
              <a:lnSpc>
                <a:spcPct val="100000"/>
              </a:lnSpc>
            </a:pPr>
            <a:r>
              <a:rPr sz="850" b="0">
                <a:solidFill>
                  <a:srgbClr val="9A7008"/>
                </a:solidFill>
                <a:latin typeface="Consolas"/>
              </a:rPr>
              <a:t>Memoria</a:t>
            </a:r>
          </a:p>
        </p:txBody>
      </p:sp>
      <p:sp>
        <p:nvSpPr>
          <p:cNvPr id="56" name="Rounded Rectangle 55"/>
          <p:cNvSpPr/>
          <p:nvPr/>
        </p:nvSpPr>
        <p:spPr>
          <a:xfrm>
            <a:off x="8067019"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067019" y="3374136"/>
            <a:ext cx="41148" cy="854964"/>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31611" y="3465576"/>
            <a:ext cx="3320277" cy="237744"/>
          </a:xfrm>
          <a:prstGeom prst="rect">
            <a:avLst/>
          </a:prstGeom>
          <a:noFill/>
        </p:spPr>
        <p:txBody>
          <a:bodyPr wrap="square" lIns="0" rIns="0" tIns="0" bIns="0" anchor="t">
            <a:spAutoFit/>
          </a:bodyPr>
          <a:lstStyle/>
          <a:p>
            <a:pPr algn="l">
              <a:lnSpc>
                <a:spcPct val="100000"/>
              </a:lnSpc>
            </a:pPr>
            <a:r>
              <a:rPr sz="1200" b="1">
                <a:solidFill>
                  <a:srgbClr val="9A7008"/>
                </a:solidFill>
                <a:latin typeface="Consolas"/>
              </a:rPr>
              <a:t>74288</a:t>
            </a:r>
          </a:p>
        </p:txBody>
      </p:sp>
      <p:sp>
        <p:nvSpPr>
          <p:cNvPr id="59" name="TextBox 58"/>
          <p:cNvSpPr txBox="1"/>
          <p:nvPr/>
        </p:nvSpPr>
        <p:spPr>
          <a:xfrm>
            <a:off x="8231611" y="3721608"/>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PROM bipolar de 32 palabras × 8 bits (lógica programable).</a:t>
            </a:r>
          </a:p>
        </p:txBody>
      </p:sp>
      <p:sp>
        <p:nvSpPr>
          <p:cNvPr id="60" name="TextBox 59"/>
          <p:cNvSpPr txBox="1"/>
          <p:nvPr/>
        </p:nvSpPr>
        <p:spPr>
          <a:xfrm>
            <a:off x="8231611" y="3954780"/>
            <a:ext cx="3320277" cy="201168"/>
          </a:xfrm>
          <a:prstGeom prst="rect">
            <a:avLst/>
          </a:prstGeom>
          <a:noFill/>
        </p:spPr>
        <p:txBody>
          <a:bodyPr wrap="square" lIns="0" rIns="0" tIns="0" bIns="0" anchor="t">
            <a:spAutoFit/>
          </a:bodyPr>
          <a:lstStyle/>
          <a:p>
            <a:pPr algn="l">
              <a:lnSpc>
                <a:spcPct val="100000"/>
              </a:lnSpc>
            </a:pPr>
            <a:r>
              <a:rPr sz="850" b="0">
                <a:solidFill>
                  <a:srgbClr val="9A7008"/>
                </a:solidFill>
                <a:latin typeface="Consolas"/>
              </a:rPr>
              <a:t>Memoria</a:t>
            </a:r>
          </a:p>
        </p:txBody>
      </p:sp>
      <p:sp>
        <p:nvSpPr>
          <p:cNvPr id="61" name="Rounded Rectangle 60"/>
          <p:cNvSpPr/>
          <p:nvPr/>
        </p:nvSpPr>
        <p:spPr>
          <a:xfrm>
            <a:off x="475488"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4375404"/>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4466844"/>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74245</a:t>
            </a:r>
          </a:p>
        </p:txBody>
      </p:sp>
      <p:sp>
        <p:nvSpPr>
          <p:cNvPr id="64" name="TextBox 63"/>
          <p:cNvSpPr txBox="1"/>
          <p:nvPr/>
        </p:nvSpPr>
        <p:spPr>
          <a:xfrm>
            <a:off x="640080" y="4722876"/>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Transceptor octal de bus con control de dirección.</a:t>
            </a:r>
          </a:p>
        </p:txBody>
      </p:sp>
      <p:sp>
        <p:nvSpPr>
          <p:cNvPr id="65" name="TextBox 64"/>
          <p:cNvSpPr txBox="1"/>
          <p:nvPr/>
        </p:nvSpPr>
        <p:spPr>
          <a:xfrm>
            <a:off x="640080" y="4956048"/>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Bus</a:t>
            </a:r>
          </a:p>
        </p:txBody>
      </p:sp>
      <p:sp>
        <p:nvSpPr>
          <p:cNvPr id="66" name="Rounded Rectangle 65"/>
          <p:cNvSpPr/>
          <p:nvPr/>
        </p:nvSpPr>
        <p:spPr>
          <a:xfrm>
            <a:off x="4271253"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271253" y="4375404"/>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435845" y="4466844"/>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74373</a:t>
            </a:r>
          </a:p>
        </p:txBody>
      </p:sp>
      <p:sp>
        <p:nvSpPr>
          <p:cNvPr id="69" name="TextBox 68"/>
          <p:cNvSpPr txBox="1"/>
          <p:nvPr/>
        </p:nvSpPr>
        <p:spPr>
          <a:xfrm>
            <a:off x="4435845" y="4722876"/>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Latch octal transparente con salidas de 3 estados.</a:t>
            </a:r>
          </a:p>
        </p:txBody>
      </p:sp>
      <p:sp>
        <p:nvSpPr>
          <p:cNvPr id="70" name="TextBox 69"/>
          <p:cNvSpPr txBox="1"/>
          <p:nvPr/>
        </p:nvSpPr>
        <p:spPr>
          <a:xfrm>
            <a:off x="4435845" y="4956048"/>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Bus</a:t>
            </a:r>
          </a:p>
        </p:txBody>
      </p:sp>
      <p:sp>
        <p:nvSpPr>
          <p:cNvPr id="71" name="Rounded Rectangle 70"/>
          <p:cNvSpPr/>
          <p:nvPr/>
        </p:nvSpPr>
        <p:spPr>
          <a:xfrm>
            <a:off x="8067019"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8067019" y="4375404"/>
            <a:ext cx="41148" cy="854964"/>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231611" y="4466844"/>
            <a:ext cx="3320277" cy="237744"/>
          </a:xfrm>
          <a:prstGeom prst="rect">
            <a:avLst/>
          </a:prstGeom>
          <a:noFill/>
        </p:spPr>
        <p:txBody>
          <a:bodyPr wrap="square" lIns="0" rIns="0" tIns="0" bIns="0" anchor="t">
            <a:spAutoFit/>
          </a:bodyPr>
          <a:lstStyle/>
          <a:p>
            <a:pPr algn="l">
              <a:lnSpc>
                <a:spcPct val="100000"/>
              </a:lnSpc>
            </a:pPr>
            <a:r>
              <a:rPr sz="1200" b="1">
                <a:solidFill>
                  <a:srgbClr val="C8322B"/>
                </a:solidFill>
                <a:latin typeface="Consolas"/>
              </a:rPr>
              <a:t>7447</a:t>
            </a:r>
          </a:p>
        </p:txBody>
      </p:sp>
      <p:sp>
        <p:nvSpPr>
          <p:cNvPr id="74" name="TextBox 73"/>
          <p:cNvSpPr txBox="1"/>
          <p:nvPr/>
        </p:nvSpPr>
        <p:spPr>
          <a:xfrm>
            <a:off x="8231611" y="4722876"/>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Decodificador BCD a 7 segmentos, salidas activas en bajo.</a:t>
            </a:r>
          </a:p>
        </p:txBody>
      </p:sp>
      <p:sp>
        <p:nvSpPr>
          <p:cNvPr id="75" name="TextBox 74"/>
          <p:cNvSpPr txBox="1"/>
          <p:nvPr/>
        </p:nvSpPr>
        <p:spPr>
          <a:xfrm>
            <a:off x="8231611" y="4956048"/>
            <a:ext cx="3320277" cy="201168"/>
          </a:xfrm>
          <a:prstGeom prst="rect">
            <a:avLst/>
          </a:prstGeom>
          <a:noFill/>
        </p:spPr>
        <p:txBody>
          <a:bodyPr wrap="square" lIns="0" rIns="0" tIns="0" bIns="0" anchor="t">
            <a:spAutoFit/>
          </a:bodyPr>
          <a:lstStyle/>
          <a:p>
            <a:pPr algn="l">
              <a:lnSpc>
                <a:spcPct val="100000"/>
              </a:lnSpc>
            </a:pPr>
            <a:r>
              <a:rPr sz="850" b="0">
                <a:solidFill>
                  <a:srgbClr val="C8322B"/>
                </a:solidFill>
                <a:latin typeface="Consolas"/>
              </a:rPr>
              <a:t>Display</a:t>
            </a:r>
          </a:p>
        </p:txBody>
      </p:sp>
      <p:sp>
        <p:nvSpPr>
          <p:cNvPr id="76" name="Rounded Rectangle 7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CÓMO ELEGIR</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 estos integrados se puede construir un sistema digital completo de 8 bits: contador de programa, registros, memoria y decodificación de direcciones, igual que las primeras computadoras personales.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fltVal val="0.06"/>
                                          </p:val>
                                        </p:tav>
                                        <p:tav tm="100000">
                                          <p:val>
                                            <p:flt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fltVal val="0.06"/>
                                          </p:val>
                                        </p:tav>
                                        <p:tav tm="100000">
                                          <p:val>
                                            <p:flt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fltVal val="0.06"/>
                                          </p:val>
                                        </p:tav>
                                        <p:tav tm="100000">
                                          <p:val>
                                            <p:flt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fltVal val="0.06"/>
                                          </p:val>
                                        </p:tav>
                                        <p:tav tm="100000">
                                          <p:val>
                                            <p:flt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fltVal val="0.06"/>
                                          </p:val>
                                        </p:tav>
                                        <p:tav tm="100000">
                                          <p:val>
                                            <p:flt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fltVal val="0.06"/>
                                          </p:val>
                                        </p:tav>
                                        <p:tav tm="100000">
                                          <p:val>
                                            <p:flt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fltVal val="0.06"/>
                                          </p:val>
                                        </p:tav>
                                        <p:tav tm="100000">
                                          <p:val>
                                            <p:flt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fltVal val="0.06"/>
                                          </p:val>
                                        </p:tav>
                                        <p:tav tm="100000">
                                          <p:val>
                                            <p:flt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fltVal val="0.06"/>
                                          </p:val>
                                        </p:tav>
                                        <p:tav tm="100000">
                                          <p:val>
                                            <p:flt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fltVal val="0.06"/>
                                          </p:val>
                                        </p:tav>
                                        <p:tav tm="100000">
                                          <p:val>
                                            <p:flt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fltVal val="0.06"/>
                                          </p:val>
                                        </p:tav>
                                        <p:tav tm="100000">
                                          <p:val>
                                            <p:flt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fltVal val="0.06"/>
                                          </p:val>
                                        </p:tav>
                                        <p:tav tm="100000">
                                          <p:val>
                                            <p:flt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fltVal val="0.06"/>
                                          </p:val>
                                        </p:tav>
                                        <p:tav tm="100000">
                                          <p:val>
                                            <p:flt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fltVal val="0.06"/>
                                          </p:val>
                                        </p:tav>
                                        <p:tav tm="100000">
                                          <p:val>
                                            <p:flt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fltVal val="0.06"/>
                                          </p:val>
                                        </p:tav>
                                        <p:tav tm="100000">
                                          <p:val>
                                            <p:flt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fltVal val="0.06"/>
                                          </p:val>
                                        </p:tav>
                                        <p:tav tm="100000">
                                          <p:val>
                                            <p:flt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fltVal val="0.06"/>
                                          </p:val>
                                        </p:tav>
                                        <p:tav tm="100000">
                                          <p:val>
                                            <p:flt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fltVal val="0.06"/>
                                          </p:val>
                                        </p:tav>
                                        <p:tav tm="100000">
                                          <p:val>
                                            <p:flt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fltVal val="0.06"/>
                                          </p:val>
                                        </p:tav>
                                        <p:tav tm="100000">
                                          <p:val>
                                            <p:flt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fltVal val="0.06"/>
                                          </p:val>
                                        </p:tav>
                                        <p:tav tm="100000">
                                          <p:val>
                                            <p:flt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fltVal val="0.06"/>
                                          </p:val>
                                        </p:tav>
                                        <p:tav tm="100000">
                                          <p:val>
                                            <p:flt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fltVal val="0.06"/>
                                          </p:val>
                                        </p:tav>
                                        <p:tav tm="100000">
                                          <p:val>
                                            <p:flt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fltVal val="0.06"/>
                                          </p:val>
                                        </p:tav>
                                        <p:tav tm="100000">
                                          <p:val>
                                            <p:flt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fltVal val="0.06"/>
                                          </p:val>
                                        </p:tav>
                                        <p:tav tm="100000">
                                          <p:val>
                                            <p:flt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fltVal val="0.06"/>
                                          </p:val>
                                        </p:tav>
                                        <p:tav tm="100000">
                                          <p:val>
                                            <p:fltVal val="0"/>
                                          </p:val>
                                        </p:tav>
                                      </p:tavLst>
                                    </p:anim>
                                  </p:childTnLst>
                                </p:cTn>
                              </p:par>
                            </p:childTnLst>
                          </p:cTn>
                        </p:par>
                      </p:childTnLst>
                    </p:cTn>
                  </p:par>
                  <p:par>
                    <p:cTn id="289" fill="hold">
                      <p:stCondLst>
                        <p:cond delay="indefinite"/>
                      </p:stCondLst>
                      <p:childTnLst>
                        <p:par>
                          <p:cTn id="290"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fltVal val="0.06"/>
                                          </p:val>
                                        </p:tav>
                                        <p:tav tm="100000">
                                          <p:val>
                                            <p:fltVal val="0"/>
                                          </p:val>
                                        </p:tav>
                                      </p:tavLst>
                                    </p:anim>
                                  </p:childTnLst>
                                </p:cTn>
                              </p:par>
                              <p:par>
                                <p:cTn id="180" fill="hold">
                                  <p:stCondLst>
                                    <p:cond delay="1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fltVal val="0.06"/>
                                          </p:val>
                                        </p:tav>
                                        <p:tav tm="100000">
                                          <p:val>
                                            <p:fltVal val="0"/>
                                          </p:val>
                                        </p:tav>
                                      </p:tavLst>
                                    </p:anim>
                                  </p:childTnLst>
                                </p:cTn>
                              </p:par>
                              <p:par>
                                <p:cTn id="184" fill="hold">
                                  <p:stCondLst>
                                    <p:cond delay="2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fltVal val="0.06"/>
                                          </p:val>
                                        </p:tav>
                                        <p:tav tm="100000">
                                          <p:val>
                                            <p:fltVal val="0"/>
                                          </p:val>
                                        </p:tav>
                                      </p:tavLst>
                                    </p:anim>
                                  </p:childTnLst>
                                </p:cTn>
                              </p:par>
                              <p:par>
                                <p:cTn id="188" fill="hold">
                                  <p:stCondLst>
                                    <p:cond delay="3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fltVal val="0.06"/>
                                          </p:val>
                                        </p:tav>
                                        <p:tav tm="100000">
                                          <p:val>
                                            <p:fltVal val="0"/>
                                          </p:val>
                                        </p:tav>
                                      </p:tavLst>
                                    </p:anim>
                                  </p:childTnLst>
                                </p:cTn>
                              </p:par>
                              <p:par>
                                <p:cTn id="192" fill="hold">
                                  <p:stCondLst>
                                    <p:cond delay="4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fltVal val="0.06"/>
                                          </p:val>
                                        </p:tav>
                                        <p:tav tm="100000">
                                          <p:val>
                                            <p:fltVal val="0"/>
                                          </p:val>
                                        </p:tav>
                                      </p:tavLst>
                                    </p:anim>
                                  </p:childTnLst>
                                </p:cTn>
                              </p:par>
                              <p:par>
                                <p:cTn id="196" fill="hold">
                                  <p:stCondLst>
                                    <p:cond delay="5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fltVal val="0.06"/>
                                          </p:val>
                                        </p:tav>
                                        <p:tav tm="100000">
                                          <p:val>
                                            <p:fltVal val="0"/>
                                          </p:val>
                                        </p:tav>
                                      </p:tavLst>
                                    </p:anim>
                                  </p:childTnLst>
                                </p:cTn>
                              </p:par>
                              <p:par>
                                <p:cTn id="200" fill="hold">
                                  <p:stCondLst>
                                    <p:cond delay="6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fltVal val="0.06"/>
                                          </p:val>
                                        </p:tav>
                                        <p:tav tm="100000">
                                          <p:val>
                                            <p:fltVal val="0"/>
                                          </p:val>
                                        </p:tav>
                                      </p:tavLst>
                                    </p:anim>
                                  </p:childTnLst>
                                </p:cTn>
                              </p:par>
                              <p:par>
                                <p:cTn id="204" fill="hold">
                                  <p:stCondLst>
                                    <p:cond delay="7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fltVal val="0.06"/>
                                          </p:val>
                                        </p:tav>
                                        <p:tav tm="100000">
                                          <p:val>
                                            <p:fltVal val="0"/>
                                          </p:val>
                                        </p:tav>
                                      </p:tavLst>
                                    </p:anim>
                                  </p:childTnLst>
                                </p:cTn>
                              </p:par>
                              <p:par>
                                <p:cTn id="208" fill="hold">
                                  <p:stCondLst>
                                    <p:cond delay="8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fltVal val="0.06"/>
                                          </p:val>
                                        </p:tav>
                                        <p:tav tm="100000">
                                          <p:val>
                                            <p:fltVal val="0"/>
                                          </p:val>
                                        </p:tav>
                                      </p:tavLst>
                                    </p:anim>
                                  </p:childTnLst>
                                </p:cTn>
                              </p:par>
                              <p:par>
                                <p:cTn id="212" fill="hold">
                                  <p:stCondLst>
                                    <p:cond delay="9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fltVal val="0.06"/>
                                          </p:val>
                                        </p:tav>
                                        <p:tav tm="100000">
                                          <p:val>
                                            <p:fltVal val="0"/>
                                          </p:val>
                                        </p:tav>
                                      </p:tavLst>
                                    </p:anim>
                                  </p:childTnLst>
                                </p:cTn>
                              </p:par>
                              <p:par>
                                <p:cTn id="216" fill="hold">
                                  <p:stCondLst>
                                    <p:cond delay="11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fltVal val="0.06"/>
                                          </p:val>
                                        </p:tav>
                                        <p:tav tm="100000">
                                          <p:val>
                                            <p:fltVal val="0"/>
                                          </p:val>
                                        </p:tav>
                                      </p:tavLst>
                                    </p:anim>
                                  </p:childTnLst>
                                </p:cTn>
                              </p:par>
                              <p:par>
                                <p:cTn id="220" fill="hold">
                                  <p:stCondLst>
                                    <p:cond delay="12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fltVal val="0.06"/>
                                          </p:val>
                                        </p:tav>
                                        <p:tav tm="100000">
                                          <p:val>
                                            <p:fltVal val="0"/>
                                          </p:val>
                                        </p:tav>
                                      </p:tavLst>
                                    </p:anim>
                                  </p:childTnLst>
                                </p:cTn>
                              </p:par>
                              <p:par>
                                <p:cTn id="224" fill="hold">
                                  <p:stCondLst>
                                    <p:cond delay="13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fltVal val="0.06"/>
                                          </p:val>
                                        </p:tav>
                                        <p:tav tm="100000">
                                          <p:val>
                                            <p:fltVal val="0"/>
                                          </p:val>
                                        </p:tav>
                                      </p:tavLst>
                                    </p:anim>
                                  </p:childTnLst>
                                </p:cTn>
                              </p:par>
                              <p:par>
                                <p:cTn id="228" fill="hold">
                                  <p:stCondLst>
                                    <p:cond delay="14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fltVal val="0.06"/>
                                          </p:val>
                                        </p:tav>
                                        <p:tav tm="100000">
                                          <p:val>
                                            <p:fltVal val="0"/>
                                          </p:val>
                                        </p:tav>
                                      </p:tavLst>
                                    </p:anim>
                                  </p:childTnLst>
                                </p:cTn>
                              </p:par>
                              <p:par>
                                <p:cTn id="232" fill="hold">
                                  <p:stCondLst>
                                    <p:cond delay="1540"/>
                                  </p:stCondLst>
                                  <p:childTnLst>
                                    <p:set>
                                      <p:cBhvr>
                                        <p:cTn id="230" dur="1" fill="hold">
                                          <p:stCondLst>
                                            <p:cond delay="0"/>
                                          </p:stCondLst>
                                        </p:cTn>
                                        <p:tgtEl>
                                          <p:spTgt spid="65"/>
                                        </p:tgtEl>
                                        <p:attrNameLst>
                                          <p:attrName>style.visibility</p:attrName>
                                        </p:attrNameLst>
                                      </p:cBhvr>
                                      <p:to>
                                        <p:strVal val="visible"/>
                                      </p:to>
                                    </p:set>
                                    <p:animEffect transition="in" filter="fade">
                                      <p:cBhvr>
                                        <p:cTn id="229" dur="420"/>
                                        <p:tgtEl>
                                          <p:spTgt spid="65"/>
                                        </p:tgtEl>
                                      </p:cBhvr>
                                    </p:animEffect>
                                    <p:anim calcmode="lin" valueType="num">
                                      <p:cBhvr additive="base">
                                        <p:cTn id="231" dur="420" fill="hold"/>
                                        <p:tgtEl>
                                          <p:spTgt spid="65"/>
                                        </p:tgtEl>
                                        <p:attrNameLst>
                                          <p:attrName>ppt_y</p:attrName>
                                        </p:attrNameLst>
                                      </p:cBhvr>
                                      <p:tavLst>
                                        <p:tav tm="0">
                                          <p:val>
                                            <p:fltVal val="0.06"/>
                                          </p:val>
                                        </p:tav>
                                        <p:tav tm="100000">
                                          <p:val>
                                            <p:fltVal val="0"/>
                                          </p:val>
                                        </p:tav>
                                      </p:tavLst>
                                    </p:anim>
                                  </p:childTnLst>
                                </p:cTn>
                              </p:par>
                              <p:par>
                                <p:cTn id="236" fill="hold">
                                  <p:stCondLst>
                                    <p:cond delay="1650"/>
                                  </p:stCondLst>
                                  <p:childTnLst>
                                    <p:set>
                                      <p:cBhvr>
                                        <p:cTn id="234" dur="1" fill="hold">
                                          <p:stCondLst>
                                            <p:cond delay="0"/>
                                          </p:stCondLst>
                                        </p:cTn>
                                        <p:tgtEl>
                                          <p:spTgt spid="66"/>
                                        </p:tgtEl>
                                        <p:attrNameLst>
                                          <p:attrName>style.visibility</p:attrName>
                                        </p:attrNameLst>
                                      </p:cBhvr>
                                      <p:to>
                                        <p:strVal val="visible"/>
                                      </p:to>
                                    </p:set>
                                    <p:animEffect transition="in" filter="fade">
                                      <p:cBhvr>
                                        <p:cTn id="233" dur="420"/>
                                        <p:tgtEl>
                                          <p:spTgt spid="66"/>
                                        </p:tgtEl>
                                      </p:cBhvr>
                                    </p:animEffect>
                                    <p:anim calcmode="lin" valueType="num">
                                      <p:cBhvr additive="base">
                                        <p:cTn id="235" dur="420" fill="hold"/>
                                        <p:tgtEl>
                                          <p:spTgt spid="66"/>
                                        </p:tgtEl>
                                        <p:attrNameLst>
                                          <p:attrName>ppt_y</p:attrName>
                                        </p:attrNameLst>
                                      </p:cBhvr>
                                      <p:tavLst>
                                        <p:tav tm="0">
                                          <p:val>
                                            <p:fltVal val="0.06"/>
                                          </p:val>
                                        </p:tav>
                                        <p:tav tm="100000">
                                          <p:val>
                                            <p:fltVal val="0"/>
                                          </p:val>
                                        </p:tav>
                                      </p:tavLst>
                                    </p:anim>
                                  </p:childTnLst>
                                </p:cTn>
                              </p:par>
                              <p:par>
                                <p:cTn id="240" fill="hold">
                                  <p:stCondLst>
                                    <p:cond delay="1760"/>
                                  </p:stCondLst>
                                  <p:childTnLst>
                                    <p:set>
                                      <p:cBhvr>
                                        <p:cTn id="238" dur="1" fill="hold">
                                          <p:stCondLst>
                                            <p:cond delay="0"/>
                                          </p:stCondLst>
                                        </p:cTn>
                                        <p:tgtEl>
                                          <p:spTgt spid="67"/>
                                        </p:tgtEl>
                                        <p:attrNameLst>
                                          <p:attrName>style.visibility</p:attrName>
                                        </p:attrNameLst>
                                      </p:cBhvr>
                                      <p:to>
                                        <p:strVal val="visible"/>
                                      </p:to>
                                    </p:set>
                                    <p:animEffect transition="in" filter="fade">
                                      <p:cBhvr>
                                        <p:cTn id="237" dur="420"/>
                                        <p:tgtEl>
                                          <p:spTgt spid="67"/>
                                        </p:tgtEl>
                                      </p:cBhvr>
                                    </p:animEffect>
                                    <p:anim calcmode="lin" valueType="num">
                                      <p:cBhvr additive="base">
                                        <p:cTn id="239" dur="420" fill="hold"/>
                                        <p:tgtEl>
                                          <p:spTgt spid="67"/>
                                        </p:tgtEl>
                                        <p:attrNameLst>
                                          <p:attrName>ppt_y</p:attrName>
                                        </p:attrNameLst>
                                      </p:cBhvr>
                                      <p:tavLst>
                                        <p:tav tm="0">
                                          <p:val>
                                            <p:fltVal val="0.06"/>
                                          </p:val>
                                        </p:tav>
                                        <p:tav tm="100000">
                                          <p:val>
                                            <p:fltVal val="0"/>
                                          </p:val>
                                        </p:tav>
                                      </p:tavLst>
                                    </p:anim>
                                  </p:childTnLst>
                                </p:cTn>
                              </p:par>
                              <p:par>
                                <p:cTn id="244" fill="hold">
                                  <p:stCondLst>
                                    <p:cond delay="1870"/>
                                  </p:stCondLst>
                                  <p:childTnLst>
                                    <p:set>
                                      <p:cBhvr>
                                        <p:cTn id="242" dur="1" fill="hold">
                                          <p:stCondLst>
                                            <p:cond delay="0"/>
                                          </p:stCondLst>
                                        </p:cTn>
                                        <p:tgtEl>
                                          <p:spTgt spid="68"/>
                                        </p:tgtEl>
                                        <p:attrNameLst>
                                          <p:attrName>style.visibility</p:attrName>
                                        </p:attrNameLst>
                                      </p:cBhvr>
                                      <p:to>
                                        <p:strVal val="visible"/>
                                      </p:to>
                                    </p:set>
                                    <p:animEffect transition="in" filter="fade">
                                      <p:cBhvr>
                                        <p:cTn id="241" dur="420"/>
                                        <p:tgtEl>
                                          <p:spTgt spid="68"/>
                                        </p:tgtEl>
                                      </p:cBhvr>
                                    </p:animEffect>
                                    <p:anim calcmode="lin" valueType="num">
                                      <p:cBhvr additive="base">
                                        <p:cTn id="243" dur="420" fill="hold"/>
                                        <p:tgtEl>
                                          <p:spTgt spid="68"/>
                                        </p:tgtEl>
                                        <p:attrNameLst>
                                          <p:attrName>ppt_y</p:attrName>
                                        </p:attrNameLst>
                                      </p:cBhvr>
                                      <p:tavLst>
                                        <p:tav tm="0">
                                          <p:val>
                                            <p:fltVal val="0.06"/>
                                          </p:val>
                                        </p:tav>
                                        <p:tav tm="100000">
                                          <p:val>
                                            <p:fltVal val="0"/>
                                          </p:val>
                                        </p:tav>
                                      </p:tavLst>
                                    </p:anim>
                                  </p:childTnLst>
                                </p:cTn>
                              </p:par>
                              <p:par>
                                <p:cTn id="248" fill="hold">
                                  <p:stCondLst>
                                    <p:cond delay="1980"/>
                                  </p:stCondLst>
                                  <p:childTnLst>
                                    <p:set>
                                      <p:cBhvr>
                                        <p:cTn id="246" dur="1" fill="hold">
                                          <p:stCondLst>
                                            <p:cond delay="0"/>
                                          </p:stCondLst>
                                        </p:cTn>
                                        <p:tgtEl>
                                          <p:spTgt spid="69"/>
                                        </p:tgtEl>
                                        <p:attrNameLst>
                                          <p:attrName>style.visibility</p:attrName>
                                        </p:attrNameLst>
                                      </p:cBhvr>
                                      <p:to>
                                        <p:strVal val="visible"/>
                                      </p:to>
                                    </p:set>
                                    <p:animEffect transition="in" filter="fade">
                                      <p:cBhvr>
                                        <p:cTn id="245" dur="420"/>
                                        <p:tgtEl>
                                          <p:spTgt spid="69"/>
                                        </p:tgtEl>
                                      </p:cBhvr>
                                    </p:animEffect>
                                    <p:anim calcmode="lin" valueType="num">
                                      <p:cBhvr additive="base">
                                        <p:cTn id="247" dur="420" fill="hold"/>
                                        <p:tgtEl>
                                          <p:spTgt spid="69"/>
                                        </p:tgtEl>
                                        <p:attrNameLst>
                                          <p:attrName>ppt_y</p:attrName>
                                        </p:attrNameLst>
                                      </p:cBhvr>
                                      <p:tavLst>
                                        <p:tav tm="0">
                                          <p:val>
                                            <p:fltVal val="0.06"/>
                                          </p:val>
                                        </p:tav>
                                        <p:tav tm="100000">
                                          <p:val>
                                            <p:fltVal val="0"/>
                                          </p:val>
                                        </p:tav>
                                      </p:tavLst>
                                    </p:anim>
                                  </p:childTnLst>
                                </p:cTn>
                              </p:par>
                              <p:par>
                                <p:cTn id="252" fill="hold">
                                  <p:stCondLst>
                                    <p:cond delay="2090"/>
                                  </p:stCondLst>
                                  <p:childTnLst>
                                    <p:set>
                                      <p:cBhvr>
                                        <p:cTn id="250" dur="1" fill="hold">
                                          <p:stCondLst>
                                            <p:cond delay="0"/>
                                          </p:stCondLst>
                                        </p:cTn>
                                        <p:tgtEl>
                                          <p:spTgt spid="70"/>
                                        </p:tgtEl>
                                        <p:attrNameLst>
                                          <p:attrName>style.visibility</p:attrName>
                                        </p:attrNameLst>
                                      </p:cBhvr>
                                      <p:to>
                                        <p:strVal val="visible"/>
                                      </p:to>
                                    </p:set>
                                    <p:animEffect transition="in" filter="fade">
                                      <p:cBhvr>
                                        <p:cTn id="249" dur="420"/>
                                        <p:tgtEl>
                                          <p:spTgt spid="70"/>
                                        </p:tgtEl>
                                      </p:cBhvr>
                                    </p:animEffect>
                                    <p:anim calcmode="lin" valueType="num">
                                      <p:cBhvr additive="base">
                                        <p:cTn id="251" dur="420" fill="hold"/>
                                        <p:tgtEl>
                                          <p:spTgt spid="70"/>
                                        </p:tgtEl>
                                        <p:attrNameLst>
                                          <p:attrName>ppt_y</p:attrName>
                                        </p:attrNameLst>
                                      </p:cBhvr>
                                      <p:tavLst>
                                        <p:tav tm="0">
                                          <p:val>
                                            <p:fltVal val="0.06"/>
                                          </p:val>
                                        </p:tav>
                                        <p:tav tm="100000">
                                          <p:val>
                                            <p:fltVal val="0"/>
                                          </p:val>
                                        </p:tav>
                                      </p:tavLst>
                                    </p:anim>
                                  </p:childTnLst>
                                </p:cTn>
                              </p:par>
                              <p:par>
                                <p:cTn id="256" fill="hold">
                                  <p:stCondLst>
                                    <p:cond delay="2200"/>
                                  </p:stCondLst>
                                  <p:childTnLst>
                                    <p:set>
                                      <p:cBhvr>
                                        <p:cTn id="254" dur="1" fill="hold">
                                          <p:stCondLst>
                                            <p:cond delay="0"/>
                                          </p:stCondLst>
                                        </p:cTn>
                                        <p:tgtEl>
                                          <p:spTgt spid="71"/>
                                        </p:tgtEl>
                                        <p:attrNameLst>
                                          <p:attrName>style.visibility</p:attrName>
                                        </p:attrNameLst>
                                      </p:cBhvr>
                                      <p:to>
                                        <p:strVal val="visible"/>
                                      </p:to>
                                    </p:set>
                                    <p:animEffect transition="in" filter="fade">
                                      <p:cBhvr>
                                        <p:cTn id="253" dur="420"/>
                                        <p:tgtEl>
                                          <p:spTgt spid="71"/>
                                        </p:tgtEl>
                                      </p:cBhvr>
                                    </p:animEffect>
                                    <p:anim calcmode="lin" valueType="num">
                                      <p:cBhvr additive="base">
                                        <p:cTn id="255" dur="420" fill="hold"/>
                                        <p:tgtEl>
                                          <p:spTgt spid="71"/>
                                        </p:tgtEl>
                                        <p:attrNameLst>
                                          <p:attrName>ppt_y</p:attrName>
                                        </p:attrNameLst>
                                      </p:cBhvr>
                                      <p:tavLst>
                                        <p:tav tm="0">
                                          <p:val>
                                            <p:fltVal val="0.06"/>
                                          </p:val>
                                        </p:tav>
                                        <p:tav tm="100000">
                                          <p:val>
                                            <p:fltVal val="0"/>
                                          </p:val>
                                        </p:tav>
                                      </p:tavLst>
                                    </p:anim>
                                  </p:childTnLst>
                                </p:cTn>
                              </p:par>
                              <p:par>
                                <p:cTn id="260" fill="hold">
                                  <p:stCondLst>
                                    <p:cond delay="2310"/>
                                  </p:stCondLst>
                                  <p:childTnLst>
                                    <p:set>
                                      <p:cBhvr>
                                        <p:cTn id="258" dur="1" fill="hold">
                                          <p:stCondLst>
                                            <p:cond delay="0"/>
                                          </p:stCondLst>
                                        </p:cTn>
                                        <p:tgtEl>
                                          <p:spTgt spid="72"/>
                                        </p:tgtEl>
                                        <p:attrNameLst>
                                          <p:attrName>style.visibility</p:attrName>
                                        </p:attrNameLst>
                                      </p:cBhvr>
                                      <p:to>
                                        <p:strVal val="visible"/>
                                      </p:to>
                                    </p:set>
                                    <p:animEffect transition="in" filter="fade">
                                      <p:cBhvr>
                                        <p:cTn id="257" dur="420"/>
                                        <p:tgtEl>
                                          <p:spTgt spid="72"/>
                                        </p:tgtEl>
                                      </p:cBhvr>
                                    </p:animEffect>
                                    <p:anim calcmode="lin" valueType="num">
                                      <p:cBhvr additive="base">
                                        <p:cTn id="259" dur="420" fill="hold"/>
                                        <p:tgtEl>
                                          <p:spTgt spid="72"/>
                                        </p:tgtEl>
                                        <p:attrNameLst>
                                          <p:attrName>ppt_y</p:attrName>
                                        </p:attrNameLst>
                                      </p:cBhvr>
                                      <p:tavLst>
                                        <p:tav tm="0">
                                          <p:val>
                                            <p:fltVal val="0.06"/>
                                          </p:val>
                                        </p:tav>
                                        <p:tav tm="100000">
                                          <p:val>
                                            <p:fltVal val="0"/>
                                          </p:val>
                                        </p:tav>
                                      </p:tavLst>
                                    </p:anim>
                                  </p:childTnLst>
                                </p:cTn>
                              </p:par>
                              <p:par>
                                <p:cTn id="264" fill="hold">
                                  <p:stCondLst>
                                    <p:cond delay="2420"/>
                                  </p:stCondLst>
                                  <p:childTnLst>
                                    <p:set>
                                      <p:cBhvr>
                                        <p:cTn id="262" dur="1" fill="hold">
                                          <p:stCondLst>
                                            <p:cond delay="0"/>
                                          </p:stCondLst>
                                        </p:cTn>
                                        <p:tgtEl>
                                          <p:spTgt spid="73"/>
                                        </p:tgtEl>
                                        <p:attrNameLst>
                                          <p:attrName>style.visibility</p:attrName>
                                        </p:attrNameLst>
                                      </p:cBhvr>
                                      <p:to>
                                        <p:strVal val="visible"/>
                                      </p:to>
                                    </p:set>
                                    <p:animEffect transition="in" filter="fade">
                                      <p:cBhvr>
                                        <p:cTn id="261" dur="420"/>
                                        <p:tgtEl>
                                          <p:spTgt spid="73"/>
                                        </p:tgtEl>
                                      </p:cBhvr>
                                    </p:animEffect>
                                    <p:anim calcmode="lin" valueType="num">
                                      <p:cBhvr additive="base">
                                        <p:cTn id="263" dur="420" fill="hold"/>
                                        <p:tgtEl>
                                          <p:spTgt spid="73"/>
                                        </p:tgtEl>
                                        <p:attrNameLst>
                                          <p:attrName>ppt_y</p:attrName>
                                        </p:attrNameLst>
                                      </p:cBhvr>
                                      <p:tavLst>
                                        <p:tav tm="0">
                                          <p:val>
                                            <p:fltVal val="0.06"/>
                                          </p:val>
                                        </p:tav>
                                        <p:tav tm="100000">
                                          <p:val>
                                            <p:fltVal val="0"/>
                                          </p:val>
                                        </p:tav>
                                      </p:tavLst>
                                    </p:anim>
                                  </p:childTnLst>
                                </p:cTn>
                              </p:par>
                              <p:par>
                                <p:cTn id="268" fill="hold">
                                  <p:stCondLst>
                                    <p:cond delay="2530"/>
                                  </p:stCondLst>
                                  <p:childTnLst>
                                    <p:set>
                                      <p:cBhvr>
                                        <p:cTn id="266" dur="1" fill="hold">
                                          <p:stCondLst>
                                            <p:cond delay="0"/>
                                          </p:stCondLst>
                                        </p:cTn>
                                        <p:tgtEl>
                                          <p:spTgt spid="74"/>
                                        </p:tgtEl>
                                        <p:attrNameLst>
                                          <p:attrName>style.visibility</p:attrName>
                                        </p:attrNameLst>
                                      </p:cBhvr>
                                      <p:to>
                                        <p:strVal val="visible"/>
                                      </p:to>
                                    </p:set>
                                    <p:animEffect transition="in" filter="fade">
                                      <p:cBhvr>
                                        <p:cTn id="265" dur="420"/>
                                        <p:tgtEl>
                                          <p:spTgt spid="74"/>
                                        </p:tgtEl>
                                      </p:cBhvr>
                                    </p:animEffect>
                                    <p:anim calcmode="lin" valueType="num">
                                      <p:cBhvr additive="base">
                                        <p:cTn id="267" dur="420" fill="hold"/>
                                        <p:tgtEl>
                                          <p:spTgt spid="74"/>
                                        </p:tgtEl>
                                        <p:attrNameLst>
                                          <p:attrName>ppt_y</p:attrName>
                                        </p:attrNameLst>
                                      </p:cBhvr>
                                      <p:tavLst>
                                        <p:tav tm="0">
                                          <p:val>
                                            <p:fltVal val="0.06"/>
                                          </p:val>
                                        </p:tav>
                                        <p:tav tm="100000">
                                          <p:val>
                                            <p:fltVal val="0"/>
                                          </p:val>
                                        </p:tav>
                                      </p:tavLst>
                                    </p:anim>
                                  </p:childTnLst>
                                </p:cTn>
                              </p:par>
                              <p:par>
                                <p:cTn id="272" fill="hold">
                                  <p:stCondLst>
                                    <p:cond delay="2640"/>
                                  </p:stCondLst>
                                  <p:childTnLst>
                                    <p:set>
                                      <p:cBhvr>
                                        <p:cTn id="270" dur="1" fill="hold">
                                          <p:stCondLst>
                                            <p:cond delay="0"/>
                                          </p:stCondLst>
                                        </p:cTn>
                                        <p:tgtEl>
                                          <p:spTgt spid="75"/>
                                        </p:tgtEl>
                                        <p:attrNameLst>
                                          <p:attrName>style.visibility</p:attrName>
                                        </p:attrNameLst>
                                      </p:cBhvr>
                                      <p:to>
                                        <p:strVal val="visible"/>
                                      </p:to>
                                    </p:set>
                                    <p:animEffect transition="in" filter="fade">
                                      <p:cBhvr>
                                        <p:cTn id="269" dur="420"/>
                                        <p:tgtEl>
                                          <p:spTgt spid="75"/>
                                        </p:tgtEl>
                                      </p:cBhvr>
                                    </p:animEffect>
                                    <p:anim calcmode="lin" valueType="num">
                                      <p:cBhvr additive="base">
                                        <p:cTn id="271" dur="420" fill="hold"/>
                                        <p:tgtEl>
                                          <p:spTgt spid="75"/>
                                        </p:tgtEl>
                                        <p:attrNameLst>
                                          <p:attrName>ppt_y</p:attrName>
                                        </p:attrNameLst>
                                      </p:cBhvr>
                                      <p:tavLst>
                                        <p:tav tm="0">
                                          <p:val>
                                            <p:fltVal val="0.06"/>
                                          </p:val>
                                        </p:tav>
                                        <p:tav tm="100000">
                                          <p:val>
                                            <p:fltVal val="0"/>
                                          </p:val>
                                        </p:tav>
                                      </p:tavLst>
                                    </p:anim>
                                  </p:childTnLst>
                                </p:cTn>
                              </p:par>
                              <p:par>
                                <p:cTn id="276" fill="hold">
                                  <p:stCondLst>
                                    <p:cond delay="2750"/>
                                  </p:stCondLst>
                                  <p:childTnLst>
                                    <p:set>
                                      <p:cBhvr>
                                        <p:cTn id="274" dur="1" fill="hold">
                                          <p:stCondLst>
                                            <p:cond delay="0"/>
                                          </p:stCondLst>
                                        </p:cTn>
                                        <p:tgtEl>
                                          <p:spTgt spid="76"/>
                                        </p:tgtEl>
                                        <p:attrNameLst>
                                          <p:attrName>style.visibility</p:attrName>
                                        </p:attrNameLst>
                                      </p:cBhvr>
                                      <p:to>
                                        <p:strVal val="visible"/>
                                      </p:to>
                                    </p:set>
                                    <p:animEffect transition="in" filter="fade">
                                      <p:cBhvr>
                                        <p:cTn id="273" dur="420"/>
                                        <p:tgtEl>
                                          <p:spTgt spid="76"/>
                                        </p:tgtEl>
                                      </p:cBhvr>
                                    </p:animEffect>
                                    <p:anim calcmode="lin" valueType="num">
                                      <p:cBhvr additive="base">
                                        <p:cTn id="275" dur="420" fill="hold"/>
                                        <p:tgtEl>
                                          <p:spTgt spid="76"/>
                                        </p:tgtEl>
                                        <p:attrNameLst>
                                          <p:attrName>ppt_y</p:attrName>
                                        </p:attrNameLst>
                                      </p:cBhvr>
                                      <p:tavLst>
                                        <p:tav tm="0">
                                          <p:val>
                                            <p:fltVal val="0.06"/>
                                          </p:val>
                                        </p:tav>
                                        <p:tav tm="100000">
                                          <p:val>
                                            <p:fltVal val="0"/>
                                          </p:val>
                                        </p:tav>
                                      </p:tavLst>
                                    </p:anim>
                                  </p:childTnLst>
                                </p:cTn>
                              </p:par>
                              <p:par>
                                <p:cTn id="280" fill="hold">
                                  <p:stCondLst>
                                    <p:cond delay="2860"/>
                                  </p:stCondLst>
                                  <p:childTnLst>
                                    <p:set>
                                      <p:cBhvr>
                                        <p:cTn id="278" dur="1" fill="hold">
                                          <p:stCondLst>
                                            <p:cond delay="0"/>
                                          </p:stCondLst>
                                        </p:cTn>
                                        <p:tgtEl>
                                          <p:spTgt spid="77"/>
                                        </p:tgtEl>
                                        <p:attrNameLst>
                                          <p:attrName>style.visibility</p:attrName>
                                        </p:attrNameLst>
                                      </p:cBhvr>
                                      <p:to>
                                        <p:strVal val="visible"/>
                                      </p:to>
                                    </p:set>
                                    <p:animEffect transition="in" filter="fade">
                                      <p:cBhvr>
                                        <p:cTn id="277" dur="420"/>
                                        <p:tgtEl>
                                          <p:spTgt spid="77"/>
                                        </p:tgtEl>
                                      </p:cBhvr>
                                    </p:animEffect>
                                    <p:anim calcmode="lin" valueType="num">
                                      <p:cBhvr additive="base">
                                        <p:cTn id="279" dur="420" fill="hold"/>
                                        <p:tgtEl>
                                          <p:spTgt spid="77"/>
                                        </p:tgtEl>
                                        <p:attrNameLst>
                                          <p:attrName>ppt_y</p:attrName>
                                        </p:attrNameLst>
                                      </p:cBhvr>
                                      <p:tavLst>
                                        <p:tav tm="0">
                                          <p:val>
                                            <p:fltVal val="0.06"/>
                                          </p:val>
                                        </p:tav>
                                        <p:tav tm="100000">
                                          <p:val>
                                            <p:fltVal val="0"/>
                                          </p:val>
                                        </p:tav>
                                      </p:tavLst>
                                    </p:anim>
                                  </p:childTnLst>
                                </p:cTn>
                              </p:par>
                              <p:par>
                                <p:cTn id="284" fill="hold">
                                  <p:stCondLst>
                                    <p:cond delay="2970"/>
                                  </p:stCondLst>
                                  <p:childTnLst>
                                    <p:set>
                                      <p:cBhvr>
                                        <p:cTn id="282" dur="1" fill="hold">
                                          <p:stCondLst>
                                            <p:cond delay="0"/>
                                          </p:stCondLst>
                                        </p:cTn>
                                        <p:tgtEl>
                                          <p:spTgt spid="78"/>
                                        </p:tgtEl>
                                        <p:attrNameLst>
                                          <p:attrName>style.visibility</p:attrName>
                                        </p:attrNameLst>
                                      </p:cBhvr>
                                      <p:to>
                                        <p:strVal val="visible"/>
                                      </p:to>
                                    </p:set>
                                    <p:animEffect transition="in" filter="fade">
                                      <p:cBhvr>
                                        <p:cTn id="281" dur="420"/>
                                        <p:tgtEl>
                                          <p:spTgt spid="78"/>
                                        </p:tgtEl>
                                      </p:cBhvr>
                                    </p:animEffect>
                                    <p:anim calcmode="lin" valueType="num">
                                      <p:cBhvr additive="base">
                                        <p:cTn id="283" dur="420" fill="hold"/>
                                        <p:tgtEl>
                                          <p:spTgt spid="78"/>
                                        </p:tgtEl>
                                        <p:attrNameLst>
                                          <p:attrName>ppt_y</p:attrName>
                                        </p:attrNameLst>
                                      </p:cBhvr>
                                      <p:tavLst>
                                        <p:tav tm="0">
                                          <p:val>
                                            <p:fltVal val="0.06"/>
                                          </p:val>
                                        </p:tav>
                                        <p:tav tm="100000">
                                          <p:val>
                                            <p:fltVal val="0"/>
                                          </p:val>
                                        </p:tav>
                                      </p:tavLst>
                                    </p:anim>
                                  </p:childTnLst>
                                </p:cTn>
                              </p:par>
                              <p:par>
                                <p:cTn id="288" fill="hold">
                                  <p:stCondLst>
                                    <p:cond delay="3080"/>
                                  </p:stCondLst>
                                  <p:childTnLst>
                                    <p:set>
                                      <p:cBhvr>
                                        <p:cTn id="286" dur="1" fill="hold">
                                          <p:stCondLst>
                                            <p:cond delay="0"/>
                                          </p:stCondLst>
                                        </p:cTn>
                                        <p:tgtEl>
                                          <p:spTgt spid="79"/>
                                        </p:tgtEl>
                                        <p:attrNameLst>
                                          <p:attrName>style.visibility</p:attrName>
                                        </p:attrNameLst>
                                      </p:cBhvr>
                                      <p:to>
                                        <p:strVal val="visible"/>
                                      </p:to>
                                    </p:set>
                                    <p:animEffect transition="in" filter="fade">
                                      <p:cBhvr>
                                        <p:cTn id="285" dur="420"/>
                                        <p:tgtEl>
                                          <p:spTgt spid="79"/>
                                        </p:tgtEl>
                                      </p:cBhvr>
                                    </p:animEffect>
                                    <p:anim calcmode="lin" valueType="num">
                                      <p:cBhvr additive="base">
                                        <p:cTn id="287" dur="420" fill="hold"/>
                                        <p:tgtEl>
                                          <p:spTgt spid="7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Glosario técnico (parte 1)</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Terminología esencial que aparece en hojas de datos y exámenes.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67894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 y="146304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Anódico/Cátodo</a:t>
            </a:r>
          </a:p>
        </p:txBody>
      </p:sp>
      <p:sp>
        <p:nvSpPr>
          <p:cNvPr id="18" name="TextBox 17"/>
          <p:cNvSpPr txBox="1"/>
          <p:nvPr/>
        </p:nvSpPr>
        <p:spPr>
          <a:xfrm>
            <a:off x="621792"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Terminales del LED: el cátodo va al lado negativo; invertirlo impide el encendido.</a:t>
            </a:r>
          </a:p>
        </p:txBody>
      </p:sp>
      <p:sp>
        <p:nvSpPr>
          <p:cNvPr id="19" name="Rounded Rectangle 18"/>
          <p:cNvSpPr/>
          <p:nvPr/>
        </p:nvSpPr>
        <p:spPr>
          <a:xfrm>
            <a:off x="4277349"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23653" y="146304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Biestable (flip-flop)</a:t>
            </a:r>
          </a:p>
        </p:txBody>
      </p:sp>
      <p:sp>
        <p:nvSpPr>
          <p:cNvPr id="21" name="TextBox 20"/>
          <p:cNvSpPr txBox="1"/>
          <p:nvPr/>
        </p:nvSpPr>
        <p:spPr>
          <a:xfrm>
            <a:off x="4423653"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Circuito con memoria que cambia solo en el flanco de reloj.</a:t>
            </a:r>
          </a:p>
        </p:txBody>
      </p:sp>
      <p:sp>
        <p:nvSpPr>
          <p:cNvPr id="22" name="Rounded Rectangle 21"/>
          <p:cNvSpPr/>
          <p:nvPr/>
        </p:nvSpPr>
        <p:spPr>
          <a:xfrm>
            <a:off x="8079211"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5515" y="146304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Colector abierto</a:t>
            </a:r>
          </a:p>
        </p:txBody>
      </p:sp>
      <p:sp>
        <p:nvSpPr>
          <p:cNvPr id="24" name="TextBox 23"/>
          <p:cNvSpPr txBox="1"/>
          <p:nvPr/>
        </p:nvSpPr>
        <p:spPr>
          <a:xfrm>
            <a:off x="8225515"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Salida que solo puede llevar la línea a '0'; requiere resistencia pull-up externa.</a:t>
            </a:r>
          </a:p>
        </p:txBody>
      </p:sp>
      <p:sp>
        <p:nvSpPr>
          <p:cNvPr id="25" name="Rounded Rectangle 24"/>
          <p:cNvSpPr/>
          <p:nvPr/>
        </p:nvSpPr>
        <p:spPr>
          <a:xfrm>
            <a:off x="475488"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 y="2295144"/>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Compuerta</a:t>
            </a:r>
          </a:p>
        </p:txBody>
      </p:sp>
      <p:sp>
        <p:nvSpPr>
          <p:cNvPr id="27" name="TextBox 26"/>
          <p:cNvSpPr txBox="1"/>
          <p:nvPr/>
        </p:nvSpPr>
        <p:spPr>
          <a:xfrm>
            <a:off x="621792" y="2532888"/>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Circuito elemental que realiza una operación lógica booleana.</a:t>
            </a:r>
          </a:p>
        </p:txBody>
      </p:sp>
      <p:sp>
        <p:nvSpPr>
          <p:cNvPr id="28" name="Rounded Rectangle 27"/>
          <p:cNvSpPr/>
          <p:nvPr/>
        </p:nvSpPr>
        <p:spPr>
          <a:xfrm>
            <a:off x="4277349"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23653" y="2295144"/>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Datasheet</a:t>
            </a:r>
          </a:p>
        </p:txBody>
      </p:sp>
      <p:sp>
        <p:nvSpPr>
          <p:cNvPr id="30" name="TextBox 29"/>
          <p:cNvSpPr txBox="1"/>
          <p:nvPr/>
        </p:nvSpPr>
        <p:spPr>
          <a:xfrm>
            <a:off x="4423653" y="2532888"/>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Hoja de datos del fabricante con especificaciones eléctricas y funcionales.</a:t>
            </a:r>
          </a:p>
        </p:txBody>
      </p:sp>
      <p:sp>
        <p:nvSpPr>
          <p:cNvPr id="31" name="Rounded Rectangle 30"/>
          <p:cNvSpPr/>
          <p:nvPr/>
        </p:nvSpPr>
        <p:spPr>
          <a:xfrm>
            <a:off x="8079211"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5515" y="2295144"/>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DIP</a:t>
            </a:r>
          </a:p>
        </p:txBody>
      </p:sp>
      <p:sp>
        <p:nvSpPr>
          <p:cNvPr id="33" name="TextBox 32"/>
          <p:cNvSpPr txBox="1"/>
          <p:nvPr/>
        </p:nvSpPr>
        <p:spPr>
          <a:xfrm>
            <a:off x="8225515" y="2532888"/>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Dual In-line Package: encapsulado de dos filas de pines para protoboard.</a:t>
            </a:r>
          </a:p>
        </p:txBody>
      </p:sp>
      <p:sp>
        <p:nvSpPr>
          <p:cNvPr id="34" name="Rounded Rectangle 33"/>
          <p:cNvSpPr/>
          <p:nvPr/>
        </p:nvSpPr>
        <p:spPr>
          <a:xfrm>
            <a:off x="475488"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3127248"/>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E/S (I/O)</a:t>
            </a:r>
          </a:p>
        </p:txBody>
      </p:sp>
      <p:sp>
        <p:nvSpPr>
          <p:cNvPr id="36" name="TextBox 35"/>
          <p:cNvSpPr txBox="1"/>
          <p:nvPr/>
        </p:nvSpPr>
        <p:spPr>
          <a:xfrm>
            <a:off x="621792"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Entrada/Salida: pines que pueden recibir o entregar señales.</a:t>
            </a:r>
          </a:p>
        </p:txBody>
      </p:sp>
      <p:sp>
        <p:nvSpPr>
          <p:cNvPr id="37" name="Rounded Rectangle 36"/>
          <p:cNvSpPr/>
          <p:nvPr/>
        </p:nvSpPr>
        <p:spPr>
          <a:xfrm>
            <a:off x="4277349"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23653" y="3127248"/>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Fan-out</a:t>
            </a:r>
          </a:p>
        </p:txBody>
      </p:sp>
      <p:sp>
        <p:nvSpPr>
          <p:cNvPr id="39" name="TextBox 38"/>
          <p:cNvSpPr txBox="1"/>
          <p:nvPr/>
        </p:nvSpPr>
        <p:spPr>
          <a:xfrm>
            <a:off x="4423653"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Número de entradas que puede gobernar una salida sin degradar niveles.</a:t>
            </a:r>
          </a:p>
        </p:txBody>
      </p:sp>
      <p:sp>
        <p:nvSpPr>
          <p:cNvPr id="40" name="Rounded Rectangle 39"/>
          <p:cNvSpPr/>
          <p:nvPr/>
        </p:nvSpPr>
        <p:spPr>
          <a:xfrm>
            <a:off x="8079211"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5515" y="3127248"/>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Flanco</a:t>
            </a:r>
          </a:p>
        </p:txBody>
      </p:sp>
      <p:sp>
        <p:nvSpPr>
          <p:cNvPr id="42" name="TextBox 41"/>
          <p:cNvSpPr txBox="1"/>
          <p:nvPr/>
        </p:nvSpPr>
        <p:spPr>
          <a:xfrm>
            <a:off x="8225515"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Transición momentánea de 0 a 1 (subida) o de 1 a 0 (bajada).</a:t>
            </a:r>
          </a:p>
        </p:txBody>
      </p:sp>
      <p:sp>
        <p:nvSpPr>
          <p:cNvPr id="43" name="Rounded Rectangle 42"/>
          <p:cNvSpPr/>
          <p:nvPr/>
        </p:nvSpPr>
        <p:spPr>
          <a:xfrm>
            <a:off x="475488"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21792" y="3959352"/>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Glitch</a:t>
            </a:r>
          </a:p>
        </p:txBody>
      </p:sp>
      <p:sp>
        <p:nvSpPr>
          <p:cNvPr id="45" name="TextBox 44"/>
          <p:cNvSpPr txBox="1"/>
          <p:nvPr/>
        </p:nvSpPr>
        <p:spPr>
          <a:xfrm>
            <a:off x="621792"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Pulso espurio producido por diferencias de retardo entre rutas.</a:t>
            </a:r>
          </a:p>
        </p:txBody>
      </p:sp>
      <p:sp>
        <p:nvSpPr>
          <p:cNvPr id="46" name="Rounded Rectangle 45"/>
          <p:cNvSpPr/>
          <p:nvPr/>
        </p:nvSpPr>
        <p:spPr>
          <a:xfrm>
            <a:off x="4277349"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423653" y="3959352"/>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Latch</a:t>
            </a:r>
          </a:p>
        </p:txBody>
      </p:sp>
      <p:sp>
        <p:nvSpPr>
          <p:cNvPr id="48" name="TextBox 47"/>
          <p:cNvSpPr txBox="1"/>
          <p:nvPr/>
        </p:nvSpPr>
        <p:spPr>
          <a:xfrm>
            <a:off x="4423653"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Memoria sensible al nivel, transparente mientras el enable está activo.</a:t>
            </a:r>
          </a:p>
        </p:txBody>
      </p:sp>
      <p:sp>
        <p:nvSpPr>
          <p:cNvPr id="49" name="Rounded Rectangle 48"/>
          <p:cNvSpPr/>
          <p:nvPr/>
        </p:nvSpPr>
        <p:spPr>
          <a:xfrm>
            <a:off x="8079211"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25515" y="3959352"/>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LSB / MSB</a:t>
            </a:r>
          </a:p>
        </p:txBody>
      </p:sp>
      <p:sp>
        <p:nvSpPr>
          <p:cNvPr id="51" name="TextBox 50"/>
          <p:cNvSpPr txBox="1"/>
          <p:nvPr/>
        </p:nvSpPr>
        <p:spPr>
          <a:xfrm>
            <a:off x="8225515"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Bit menos significativo y bit más significativo de una palabra.</a:t>
            </a:r>
          </a:p>
        </p:txBody>
      </p:sp>
      <p:sp>
        <p:nvSpPr>
          <p:cNvPr id="52" name="Rounded Rectangle 51"/>
          <p:cNvSpPr/>
          <p:nvPr/>
        </p:nvSpPr>
        <p:spPr>
          <a:xfrm>
            <a:off x="475488"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21792" y="4791456"/>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Nivel activo</a:t>
            </a:r>
          </a:p>
        </p:txBody>
      </p:sp>
      <p:sp>
        <p:nvSpPr>
          <p:cNvPr id="54" name="TextBox 53"/>
          <p:cNvSpPr txBox="1"/>
          <p:nvPr/>
        </p:nvSpPr>
        <p:spPr>
          <a:xfrm>
            <a:off x="621792"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Estado ('1' o '0') que hace que una señal cumpla su función.</a:t>
            </a:r>
          </a:p>
        </p:txBody>
      </p:sp>
      <p:sp>
        <p:nvSpPr>
          <p:cNvPr id="55" name="Rounded Rectangle 54"/>
          <p:cNvSpPr/>
          <p:nvPr/>
        </p:nvSpPr>
        <p:spPr>
          <a:xfrm>
            <a:off x="4277349"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423653" y="4791456"/>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Pull-up</a:t>
            </a:r>
          </a:p>
        </p:txBody>
      </p:sp>
      <p:sp>
        <p:nvSpPr>
          <p:cNvPr id="57" name="TextBox 56"/>
          <p:cNvSpPr txBox="1"/>
          <p:nvPr/>
        </p:nvSpPr>
        <p:spPr>
          <a:xfrm>
            <a:off x="4423653"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Resistencia a VCC que fija el nivel alto cuando la salida está en alta impedancia.</a:t>
            </a:r>
          </a:p>
        </p:txBody>
      </p:sp>
      <p:sp>
        <p:nvSpPr>
          <p:cNvPr id="58" name="Rounded Rectangle 57"/>
          <p:cNvSpPr/>
          <p:nvPr/>
        </p:nvSpPr>
        <p:spPr>
          <a:xfrm>
            <a:off x="8079211"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225515" y="4791456"/>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Tres estados</a:t>
            </a:r>
          </a:p>
        </p:txBody>
      </p:sp>
      <p:sp>
        <p:nvSpPr>
          <p:cNvPr id="60" name="TextBox 59"/>
          <p:cNvSpPr txBox="1"/>
          <p:nvPr/>
        </p:nvSpPr>
        <p:spPr>
          <a:xfrm>
            <a:off x="8225515"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Salida que puede estar en '1', en '0' o en alta impedancia (Z).</a:t>
            </a:r>
          </a:p>
        </p:txBody>
      </p:sp>
      <p:sp>
        <p:nvSpPr>
          <p:cNvPr id="61" name="Rounded Rectangle 60"/>
          <p:cNvSpPr/>
          <p:nvPr/>
        </p:nvSpPr>
        <p:spPr>
          <a:xfrm>
            <a:off x="475488"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21792" y="562356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TTL</a:t>
            </a:r>
          </a:p>
        </p:txBody>
      </p:sp>
      <p:sp>
        <p:nvSpPr>
          <p:cNvPr id="63" name="TextBox 62"/>
          <p:cNvSpPr txBox="1"/>
          <p:nvPr/>
        </p:nvSpPr>
        <p:spPr>
          <a:xfrm>
            <a:off x="621792"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Transistor-Transistor Logic: familia bipolar de 5 V, base de la Serie 74XX.</a:t>
            </a:r>
          </a:p>
        </p:txBody>
      </p:sp>
      <p:sp>
        <p:nvSpPr>
          <p:cNvPr id="64" name="Rounded Rectangle 63"/>
          <p:cNvSpPr/>
          <p:nvPr/>
        </p:nvSpPr>
        <p:spPr>
          <a:xfrm>
            <a:off x="4277349"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423653" y="562356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CMOS</a:t>
            </a:r>
          </a:p>
        </p:txBody>
      </p:sp>
      <p:sp>
        <p:nvSpPr>
          <p:cNvPr id="66" name="TextBox 65"/>
          <p:cNvSpPr txBox="1"/>
          <p:nvPr/>
        </p:nvSpPr>
        <p:spPr>
          <a:xfrm>
            <a:off x="4423653"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Lógica de transistores MOSFET complementarios: bajo consumo, alimentación flexible.</a:t>
            </a:r>
          </a:p>
        </p:txBody>
      </p:sp>
      <p:sp>
        <p:nvSpPr>
          <p:cNvPr id="67" name="Rounded Rectangle 66"/>
          <p:cNvSpPr/>
          <p:nvPr/>
        </p:nvSpPr>
        <p:spPr>
          <a:xfrm>
            <a:off x="8079211"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225515" y="562356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VIL / VIH</a:t>
            </a:r>
          </a:p>
        </p:txBody>
      </p:sp>
      <p:sp>
        <p:nvSpPr>
          <p:cNvPr id="69" name="TextBox 68"/>
          <p:cNvSpPr txBox="1"/>
          <p:nvPr/>
        </p:nvSpPr>
        <p:spPr>
          <a:xfrm>
            <a:off x="8225515"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Tensiones máximas y mínimas que la entrada reconoce como '0' y '1'.</a:t>
            </a:r>
          </a:p>
        </p:txBody>
      </p:sp>
      <p:sp>
        <p:nvSpPr>
          <p:cNvPr id="70" name="Rounded Rectangle 69"/>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75488" y="5504688"/>
            <a:ext cx="32004" cy="603503"/>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RECORDATORIO</a:t>
            </a:r>
          </a:p>
        </p:txBody>
      </p:sp>
      <p:sp>
        <p:nvSpPr>
          <p:cNvPr id="73" name="TextBox 7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Estos términos aparecen constantemente en hojas de datos, foros y exámenes: conviene dominarlos antes de leer cualquier datasheet en inglés.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0" fill="hold">
                      <p:stCondLst>
                        <p:cond delay="indefinite"/>
                      </p:stCondLst>
                      <p:childTnLst>
                        <p:par>
                          <p:cTn id="51"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4" fill="hold">
                                  <p:stCondLst>
                                    <p:cond delay="330"/>
                                  </p:stCondLst>
                                  <p:childTnLst>
                                    <p:set>
                                      <p:cBhvr>
                                        <p:cTn id="33"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7" fill="hold">
                                  <p:stCondLst>
                                    <p:cond delay="440"/>
                                  </p:stCondLst>
                                  <p:childTnLst>
                                    <p:set>
                                      <p:cBhvr>
                                        <p:cTn id="36"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40" fill="hold">
                                  <p:stCondLst>
                                    <p:cond delay="550"/>
                                  </p:stCondLst>
                                  <p:childTnLst>
                                    <p:set>
                                      <p:cBhvr>
                                        <p:cTn id="39"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43" fill="hold">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6" fill="hold">
                                  <p:stCondLst>
                                    <p:cond delay="770"/>
                                  </p:stCondLst>
                                  <p:childTnLst>
                                    <p:set>
                                      <p:cBhvr>
                                        <p:cTn id="45"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9" fill="hold">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par>
                    <p:cTn id="79" fill="hold">
                      <p:stCondLst>
                        <p:cond delay="indefinite"/>
                      </p:stCondLst>
                      <p:childTnLst>
                        <p:par>
                          <p:cTn id="80" fill="hold">
                            <p:stCondLst>
                              <p:cond delay="0"/>
                            </p:stCondLst>
                            <p:childTnLst>
                              <p:par>
                                <p:cTn id="54" fill="hold">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2" dur="420"/>
                                        <p:tgtEl>
                                          <p:spTgt spid="25"/>
                                        </p:tgtEl>
                                      </p:cBhvr>
                                    </p:animEffect>
                                  </p:childTnLst>
                                </p:cTn>
                              </p:par>
                              <p:par>
                                <p:cTn id="57" fill="hold">
                                  <p:stCondLst>
                                    <p:cond delay="110"/>
                                  </p:stCondLst>
                                  <p:childTnLst>
                                    <p:set>
                                      <p:cBhvr>
                                        <p:cTn id="56" dur="1" fill="hold">
                                          <p:stCondLst>
                                            <p:cond delay="0"/>
                                          </p:stCondLst>
                                        </p:cTn>
                                        <p:tgtEl>
                                          <p:spTgt spid="26"/>
                                        </p:tgtEl>
                                        <p:attrNameLst>
                                          <p:attrName>style.visibility</p:attrName>
                                        </p:attrNameLst>
                                      </p:cBhvr>
                                      <p:to>
                                        <p:strVal val="visible"/>
                                      </p:to>
                                    </p:set>
                                    <p:animEffect transition="in" filter="fade">
                                      <p:cBhvr>
                                        <p:cTn id="55" dur="420"/>
                                        <p:tgtEl>
                                          <p:spTgt spid="26"/>
                                        </p:tgtEl>
                                      </p:cBhvr>
                                    </p:animEffect>
                                  </p:childTnLst>
                                </p:cTn>
                              </p:par>
                              <p:par>
                                <p:cTn id="60" fill="hold">
                                  <p:stCondLst>
                                    <p:cond delay="220"/>
                                  </p:stCondLst>
                                  <p:childTnLst>
                                    <p:set>
                                      <p:cBhvr>
                                        <p:cTn id="59" dur="1" fill="hold">
                                          <p:stCondLst>
                                            <p:cond delay="0"/>
                                          </p:stCondLst>
                                        </p:cTn>
                                        <p:tgtEl>
                                          <p:spTgt spid="27"/>
                                        </p:tgtEl>
                                        <p:attrNameLst>
                                          <p:attrName>style.visibility</p:attrName>
                                        </p:attrNameLst>
                                      </p:cBhvr>
                                      <p:to>
                                        <p:strVal val="visible"/>
                                      </p:to>
                                    </p:set>
                                    <p:animEffect transition="in" filter="fade">
                                      <p:cBhvr>
                                        <p:cTn id="58" dur="420"/>
                                        <p:tgtEl>
                                          <p:spTgt spid="27"/>
                                        </p:tgtEl>
                                      </p:cBhvr>
                                    </p:animEffect>
                                  </p:childTnLst>
                                </p:cTn>
                              </p:par>
                              <p:par>
                                <p:cTn id="63" fill="hold">
                                  <p:stCondLst>
                                    <p:cond delay="330"/>
                                  </p:stCondLst>
                                  <p:childTnLst>
                                    <p:set>
                                      <p:cBhvr>
                                        <p:cTn id="62" dur="1" fill="hold">
                                          <p:stCondLst>
                                            <p:cond delay="0"/>
                                          </p:stCondLst>
                                        </p:cTn>
                                        <p:tgtEl>
                                          <p:spTgt spid="28"/>
                                        </p:tgtEl>
                                        <p:attrNameLst>
                                          <p:attrName>style.visibility</p:attrName>
                                        </p:attrNameLst>
                                      </p:cBhvr>
                                      <p:to>
                                        <p:strVal val="visible"/>
                                      </p:to>
                                    </p:set>
                                    <p:animEffect transition="in" filter="fade">
                                      <p:cBhvr>
                                        <p:cTn id="61" dur="420"/>
                                        <p:tgtEl>
                                          <p:spTgt spid="28"/>
                                        </p:tgtEl>
                                      </p:cBhvr>
                                    </p:animEffect>
                                  </p:childTnLst>
                                </p:cTn>
                              </p:par>
                              <p:par>
                                <p:cTn id="66" fill="hold">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4" dur="420"/>
                                        <p:tgtEl>
                                          <p:spTgt spid="29"/>
                                        </p:tgtEl>
                                      </p:cBhvr>
                                    </p:animEffect>
                                  </p:childTnLst>
                                </p:cTn>
                              </p:par>
                              <p:par>
                                <p:cTn id="69" fill="hold">
                                  <p:stCondLst>
                                    <p:cond delay="550"/>
                                  </p:stCondLst>
                                  <p:childTnLst>
                                    <p:set>
                                      <p:cBhvr>
                                        <p:cTn id="68" dur="1" fill="hold">
                                          <p:stCondLst>
                                            <p:cond delay="0"/>
                                          </p:stCondLst>
                                        </p:cTn>
                                        <p:tgtEl>
                                          <p:spTgt spid="30"/>
                                        </p:tgtEl>
                                        <p:attrNameLst>
                                          <p:attrName>style.visibility</p:attrName>
                                        </p:attrNameLst>
                                      </p:cBhvr>
                                      <p:to>
                                        <p:strVal val="visible"/>
                                      </p:to>
                                    </p:set>
                                    <p:animEffect transition="in" filter="fade">
                                      <p:cBhvr>
                                        <p:cTn id="67" dur="420"/>
                                        <p:tgtEl>
                                          <p:spTgt spid="30"/>
                                        </p:tgtEl>
                                      </p:cBhvr>
                                    </p:animEffect>
                                  </p:childTnLst>
                                </p:cTn>
                              </p:par>
                              <p:par>
                                <p:cTn id="72" fill="hold">
                                  <p:stCondLst>
                                    <p:cond delay="660"/>
                                  </p:stCondLst>
                                  <p:childTnLst>
                                    <p:set>
                                      <p:cBhvr>
                                        <p:cTn id="71" dur="1" fill="hold">
                                          <p:stCondLst>
                                            <p:cond delay="0"/>
                                          </p:stCondLst>
                                        </p:cTn>
                                        <p:tgtEl>
                                          <p:spTgt spid="31"/>
                                        </p:tgtEl>
                                        <p:attrNameLst>
                                          <p:attrName>style.visibility</p:attrName>
                                        </p:attrNameLst>
                                      </p:cBhvr>
                                      <p:to>
                                        <p:strVal val="visible"/>
                                      </p:to>
                                    </p:set>
                                    <p:animEffect transition="in" filter="fade">
                                      <p:cBhvr>
                                        <p:cTn id="70" dur="420"/>
                                        <p:tgtEl>
                                          <p:spTgt spid="31"/>
                                        </p:tgtEl>
                                      </p:cBhvr>
                                    </p:animEffect>
                                  </p:childTnLst>
                                </p:cTn>
                              </p:par>
                              <p:par>
                                <p:cTn id="75" fill="hold">
                                  <p:stCondLst>
                                    <p:cond delay="770"/>
                                  </p:stCondLst>
                                  <p:childTnLst>
                                    <p:set>
                                      <p:cBhvr>
                                        <p:cTn id="74" dur="1" fill="hold">
                                          <p:stCondLst>
                                            <p:cond delay="0"/>
                                          </p:stCondLst>
                                        </p:cTn>
                                        <p:tgtEl>
                                          <p:spTgt spid="32"/>
                                        </p:tgtEl>
                                        <p:attrNameLst>
                                          <p:attrName>style.visibility</p:attrName>
                                        </p:attrNameLst>
                                      </p:cBhvr>
                                      <p:to>
                                        <p:strVal val="visible"/>
                                      </p:to>
                                    </p:set>
                                    <p:animEffect transition="in" filter="fade">
                                      <p:cBhvr>
                                        <p:cTn id="73" dur="420"/>
                                        <p:tgtEl>
                                          <p:spTgt spid="32"/>
                                        </p:tgtEl>
                                      </p:cBhvr>
                                    </p:animEffect>
                                  </p:childTnLst>
                                </p:cTn>
                              </p:par>
                              <p:par>
                                <p:cTn id="78" fill="hold">
                                  <p:stCondLst>
                                    <p:cond delay="880"/>
                                  </p:stCondLst>
                                  <p:childTnLst>
                                    <p:set>
                                      <p:cBhvr>
                                        <p:cTn id="77" dur="1" fill="hold">
                                          <p:stCondLst>
                                            <p:cond delay="0"/>
                                          </p:stCondLst>
                                        </p:cTn>
                                        <p:tgtEl>
                                          <p:spTgt spid="33"/>
                                        </p:tgtEl>
                                        <p:attrNameLst>
                                          <p:attrName>style.visibility</p:attrName>
                                        </p:attrNameLst>
                                      </p:cBhvr>
                                      <p:to>
                                        <p:strVal val="visible"/>
                                      </p:to>
                                    </p:set>
                                    <p:animEffect transition="in" filter="fade">
                                      <p:cBhvr>
                                        <p:cTn id="76" dur="42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83" fill="hold">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1" dur="420"/>
                                        <p:tgtEl>
                                          <p:spTgt spid="34"/>
                                        </p:tgtEl>
                                      </p:cBhvr>
                                    </p:animEffect>
                                  </p:childTnLst>
                                </p:cTn>
                              </p:par>
                              <p:par>
                                <p:cTn id="86" fill="hold">
                                  <p:stCondLst>
                                    <p:cond delay="110"/>
                                  </p:stCondLst>
                                  <p:childTnLst>
                                    <p:set>
                                      <p:cBhvr>
                                        <p:cTn id="85" dur="1" fill="hold">
                                          <p:stCondLst>
                                            <p:cond delay="0"/>
                                          </p:stCondLst>
                                        </p:cTn>
                                        <p:tgtEl>
                                          <p:spTgt spid="35"/>
                                        </p:tgtEl>
                                        <p:attrNameLst>
                                          <p:attrName>style.visibility</p:attrName>
                                        </p:attrNameLst>
                                      </p:cBhvr>
                                      <p:to>
                                        <p:strVal val="visible"/>
                                      </p:to>
                                    </p:set>
                                    <p:animEffect transition="in" filter="fade">
                                      <p:cBhvr>
                                        <p:cTn id="84" dur="420"/>
                                        <p:tgtEl>
                                          <p:spTgt spid="35"/>
                                        </p:tgtEl>
                                      </p:cBhvr>
                                    </p:animEffect>
                                  </p:childTnLst>
                                </p:cTn>
                              </p:par>
                              <p:par>
                                <p:cTn id="89" fill="hold">
                                  <p:stCondLst>
                                    <p:cond delay="220"/>
                                  </p:stCondLst>
                                  <p:childTnLst>
                                    <p:set>
                                      <p:cBhvr>
                                        <p:cTn id="88" dur="1" fill="hold">
                                          <p:stCondLst>
                                            <p:cond delay="0"/>
                                          </p:stCondLst>
                                        </p:cTn>
                                        <p:tgtEl>
                                          <p:spTgt spid="36"/>
                                        </p:tgtEl>
                                        <p:attrNameLst>
                                          <p:attrName>style.visibility</p:attrName>
                                        </p:attrNameLst>
                                      </p:cBhvr>
                                      <p:to>
                                        <p:strVal val="visible"/>
                                      </p:to>
                                    </p:set>
                                    <p:animEffect transition="in" filter="fade">
                                      <p:cBhvr>
                                        <p:cTn id="87" dur="420"/>
                                        <p:tgtEl>
                                          <p:spTgt spid="36"/>
                                        </p:tgtEl>
                                      </p:cBhvr>
                                    </p:animEffect>
                                  </p:childTnLst>
                                </p:cTn>
                              </p:par>
                              <p:par>
                                <p:cTn id="92" fill="hold">
                                  <p:stCondLst>
                                    <p:cond delay="330"/>
                                  </p:stCondLst>
                                  <p:childTnLst>
                                    <p:set>
                                      <p:cBhvr>
                                        <p:cTn id="91" dur="1" fill="hold">
                                          <p:stCondLst>
                                            <p:cond delay="0"/>
                                          </p:stCondLst>
                                        </p:cTn>
                                        <p:tgtEl>
                                          <p:spTgt spid="37"/>
                                        </p:tgtEl>
                                        <p:attrNameLst>
                                          <p:attrName>style.visibility</p:attrName>
                                        </p:attrNameLst>
                                      </p:cBhvr>
                                      <p:to>
                                        <p:strVal val="visible"/>
                                      </p:to>
                                    </p:set>
                                    <p:animEffect transition="in" filter="fade">
                                      <p:cBhvr>
                                        <p:cTn id="90" dur="420"/>
                                        <p:tgtEl>
                                          <p:spTgt spid="37"/>
                                        </p:tgtEl>
                                      </p:cBhvr>
                                    </p:animEffect>
                                  </p:childTnLst>
                                </p:cTn>
                              </p:par>
                              <p:par>
                                <p:cTn id="95" fill="hold">
                                  <p:stCondLst>
                                    <p:cond delay="44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childTnLst>
                                </p:cTn>
                              </p:par>
                              <p:par>
                                <p:cTn id="98" fill="hold">
                                  <p:stCondLst>
                                    <p:cond delay="550"/>
                                  </p:stCondLst>
                                  <p:childTnLst>
                                    <p:set>
                                      <p:cBhvr>
                                        <p:cTn id="97" dur="1" fill="hold">
                                          <p:stCondLst>
                                            <p:cond delay="0"/>
                                          </p:stCondLst>
                                        </p:cTn>
                                        <p:tgtEl>
                                          <p:spTgt spid="39"/>
                                        </p:tgtEl>
                                        <p:attrNameLst>
                                          <p:attrName>style.visibility</p:attrName>
                                        </p:attrNameLst>
                                      </p:cBhvr>
                                      <p:to>
                                        <p:strVal val="visible"/>
                                      </p:to>
                                    </p:set>
                                    <p:animEffect transition="in" filter="fade">
                                      <p:cBhvr>
                                        <p:cTn id="96" dur="420"/>
                                        <p:tgtEl>
                                          <p:spTgt spid="39"/>
                                        </p:tgtEl>
                                      </p:cBhvr>
                                    </p:animEffect>
                                  </p:childTnLst>
                                </p:cTn>
                              </p:par>
                              <p:par>
                                <p:cTn id="101" fill="hold">
                                  <p:stCondLst>
                                    <p:cond delay="660"/>
                                  </p:stCondLst>
                                  <p:childTnLst>
                                    <p:set>
                                      <p:cBhvr>
                                        <p:cTn id="100" dur="1" fill="hold">
                                          <p:stCondLst>
                                            <p:cond delay="0"/>
                                          </p:stCondLst>
                                        </p:cTn>
                                        <p:tgtEl>
                                          <p:spTgt spid="40"/>
                                        </p:tgtEl>
                                        <p:attrNameLst>
                                          <p:attrName>style.visibility</p:attrName>
                                        </p:attrNameLst>
                                      </p:cBhvr>
                                      <p:to>
                                        <p:strVal val="visible"/>
                                      </p:to>
                                    </p:set>
                                    <p:animEffect transition="in" filter="fade">
                                      <p:cBhvr>
                                        <p:cTn id="99" dur="420"/>
                                        <p:tgtEl>
                                          <p:spTgt spid="40"/>
                                        </p:tgtEl>
                                      </p:cBhvr>
                                    </p:animEffect>
                                  </p:childTnLst>
                                </p:cTn>
                              </p:par>
                              <p:par>
                                <p:cTn id="104" fill="hold">
                                  <p:stCondLst>
                                    <p:cond delay="77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2" dur="420"/>
                                        <p:tgtEl>
                                          <p:spTgt spid="41"/>
                                        </p:tgtEl>
                                      </p:cBhvr>
                                    </p:animEffect>
                                  </p:childTnLst>
                                </p:cTn>
                              </p:par>
                              <p:par>
                                <p:cTn id="107" fill="hold">
                                  <p:stCondLst>
                                    <p:cond delay="88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childTnLst>
                                </p:cTn>
                              </p:par>
                            </p:childTnLst>
                          </p:cTn>
                        </p:par>
                      </p:childTnLst>
                    </p:cTn>
                  </p:par>
                  <p:par>
                    <p:cTn id="137" fill="hold">
                      <p:stCondLst>
                        <p:cond delay="indefinite"/>
                      </p:stCondLst>
                      <p:childTnLst>
                        <p:par>
                          <p:cTn id="138" fill="hold">
                            <p:stCondLst>
                              <p:cond delay="0"/>
                            </p:stCondLst>
                            <p:childTnLst>
                              <p:par>
                                <p:cTn id="112" fill="hold">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0" dur="420"/>
                                        <p:tgtEl>
                                          <p:spTgt spid="43"/>
                                        </p:tgtEl>
                                      </p:cBhvr>
                                    </p:animEffect>
                                  </p:childTnLst>
                                </p:cTn>
                              </p:par>
                              <p:par>
                                <p:cTn id="115" fill="hold">
                                  <p:stCondLst>
                                    <p:cond delay="11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childTnLst>
                                </p:cTn>
                              </p:par>
                              <p:par>
                                <p:cTn id="118" fill="hold">
                                  <p:stCondLst>
                                    <p:cond delay="22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6" dur="420"/>
                                        <p:tgtEl>
                                          <p:spTgt spid="45"/>
                                        </p:tgtEl>
                                      </p:cBhvr>
                                    </p:animEffect>
                                  </p:childTnLst>
                                </p:cTn>
                              </p:par>
                              <p:par>
                                <p:cTn id="121" fill="hold">
                                  <p:stCondLst>
                                    <p:cond delay="33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19" dur="420"/>
                                        <p:tgtEl>
                                          <p:spTgt spid="46"/>
                                        </p:tgtEl>
                                      </p:cBhvr>
                                    </p:animEffect>
                                  </p:childTnLst>
                                </p:cTn>
                              </p:par>
                              <p:par>
                                <p:cTn id="124" fill="hold">
                                  <p:stCondLst>
                                    <p:cond delay="44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2" dur="420"/>
                                        <p:tgtEl>
                                          <p:spTgt spid="47"/>
                                        </p:tgtEl>
                                      </p:cBhvr>
                                    </p:animEffect>
                                  </p:childTnLst>
                                </p:cTn>
                              </p:par>
                              <p:par>
                                <p:cTn id="127" fill="hold">
                                  <p:stCondLst>
                                    <p:cond delay="55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5" dur="420"/>
                                        <p:tgtEl>
                                          <p:spTgt spid="48"/>
                                        </p:tgtEl>
                                      </p:cBhvr>
                                    </p:animEffect>
                                  </p:childTnLst>
                                </p:cTn>
                              </p:par>
                              <p:par>
                                <p:cTn id="130" fill="hold">
                                  <p:stCondLst>
                                    <p:cond delay="66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28" dur="420"/>
                                        <p:tgtEl>
                                          <p:spTgt spid="49"/>
                                        </p:tgtEl>
                                      </p:cBhvr>
                                    </p:animEffect>
                                  </p:childTnLst>
                                </p:cTn>
                              </p:par>
                              <p:par>
                                <p:cTn id="133" fill="hold">
                                  <p:stCondLst>
                                    <p:cond delay="77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1" dur="420"/>
                                        <p:tgtEl>
                                          <p:spTgt spid="50"/>
                                        </p:tgtEl>
                                      </p:cBhvr>
                                    </p:animEffect>
                                  </p:childTnLst>
                                </p:cTn>
                              </p:par>
                              <p:par>
                                <p:cTn id="136" fill="hold">
                                  <p:stCondLst>
                                    <p:cond delay="88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4" dur="420"/>
                                        <p:tgtEl>
                                          <p:spTgt spid="51"/>
                                        </p:tgtEl>
                                      </p:cBhvr>
                                    </p:animEffect>
                                  </p:childTnLst>
                                </p:cTn>
                              </p:par>
                            </p:childTnLst>
                          </p:cTn>
                        </p:par>
                      </p:childTnLst>
                    </p:cTn>
                  </p:par>
                  <p:par>
                    <p:cTn id="166" fill="hold">
                      <p:stCondLst>
                        <p:cond delay="indefinite"/>
                      </p:stCondLst>
                      <p:childTnLst>
                        <p:par>
                          <p:cTn id="167" fill="hold">
                            <p:stCondLst>
                              <p:cond delay="0"/>
                            </p:stCondLst>
                            <p:childTnLst>
                              <p:par>
                                <p:cTn id="141" fill="hold">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39" dur="420"/>
                                        <p:tgtEl>
                                          <p:spTgt spid="52"/>
                                        </p:tgtEl>
                                      </p:cBhvr>
                                    </p:animEffect>
                                  </p:childTnLst>
                                </p:cTn>
                              </p:par>
                              <p:par>
                                <p:cTn id="144" fill="hold">
                                  <p:stCondLst>
                                    <p:cond delay="11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2" dur="420"/>
                                        <p:tgtEl>
                                          <p:spTgt spid="53"/>
                                        </p:tgtEl>
                                      </p:cBhvr>
                                    </p:animEffect>
                                  </p:childTnLst>
                                </p:cTn>
                              </p:par>
                              <p:par>
                                <p:cTn id="147" fill="hold">
                                  <p:stCondLst>
                                    <p:cond delay="22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5" dur="420"/>
                                        <p:tgtEl>
                                          <p:spTgt spid="54"/>
                                        </p:tgtEl>
                                      </p:cBhvr>
                                    </p:animEffect>
                                  </p:childTnLst>
                                </p:cTn>
                              </p:par>
                              <p:par>
                                <p:cTn id="150" fill="hold">
                                  <p:stCondLst>
                                    <p:cond delay="33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48" dur="420"/>
                                        <p:tgtEl>
                                          <p:spTgt spid="55"/>
                                        </p:tgtEl>
                                      </p:cBhvr>
                                    </p:animEffect>
                                  </p:childTnLst>
                                </p:cTn>
                              </p:par>
                              <p:par>
                                <p:cTn id="153" fill="hold">
                                  <p:stCondLst>
                                    <p:cond delay="44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1" dur="420"/>
                                        <p:tgtEl>
                                          <p:spTgt spid="56"/>
                                        </p:tgtEl>
                                      </p:cBhvr>
                                    </p:animEffect>
                                  </p:childTnLst>
                                </p:cTn>
                              </p:par>
                              <p:par>
                                <p:cTn id="156" fill="hold">
                                  <p:stCondLst>
                                    <p:cond delay="55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4" dur="420"/>
                                        <p:tgtEl>
                                          <p:spTgt spid="57"/>
                                        </p:tgtEl>
                                      </p:cBhvr>
                                    </p:animEffect>
                                  </p:childTnLst>
                                </p:cTn>
                              </p:par>
                              <p:par>
                                <p:cTn id="159" fill="hold">
                                  <p:stCondLst>
                                    <p:cond delay="66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7" dur="420"/>
                                        <p:tgtEl>
                                          <p:spTgt spid="58"/>
                                        </p:tgtEl>
                                      </p:cBhvr>
                                    </p:animEffect>
                                  </p:childTnLst>
                                </p:cTn>
                              </p:par>
                              <p:par>
                                <p:cTn id="162" fill="hold">
                                  <p:stCondLst>
                                    <p:cond delay="77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0" dur="420"/>
                                        <p:tgtEl>
                                          <p:spTgt spid="59"/>
                                        </p:tgtEl>
                                      </p:cBhvr>
                                    </p:animEffect>
                                  </p:childTnLst>
                                </p:cTn>
                              </p:par>
                              <p:par>
                                <p:cTn id="165" fill="hold">
                                  <p:stCondLst>
                                    <p:cond delay="880"/>
                                  </p:stCondLst>
                                  <p:childTnLst>
                                    <p:set>
                                      <p:cBhvr>
                                        <p:cTn id="164" dur="1" fill="hold">
                                          <p:stCondLst>
                                            <p:cond delay="0"/>
                                          </p:stCondLst>
                                        </p:cTn>
                                        <p:tgtEl>
                                          <p:spTgt spid="60"/>
                                        </p:tgtEl>
                                        <p:attrNameLst>
                                          <p:attrName>style.visibility</p:attrName>
                                        </p:attrNameLst>
                                      </p:cBhvr>
                                      <p:to>
                                        <p:strVal val="visible"/>
                                      </p:to>
                                    </p:set>
                                    <p:animEffect transition="in" filter="fade">
                                      <p:cBhvr>
                                        <p:cTn id="163" dur="420"/>
                                        <p:tgtEl>
                                          <p:spTgt spid="60"/>
                                        </p:tgtEl>
                                      </p:cBhvr>
                                    </p:animEffect>
                                  </p:childTnLst>
                                </p:cTn>
                              </p:par>
                            </p:childTnLst>
                          </p:cTn>
                        </p:par>
                      </p:childTnLst>
                    </p:cTn>
                  </p:par>
                  <p:par>
                    <p:cTn id="207" fill="hold">
                      <p:stCondLst>
                        <p:cond delay="indefinite"/>
                      </p:stCondLst>
                      <p:childTnLst>
                        <p:par>
                          <p:cTn id="208" fill="hold">
                            <p:stCondLst>
                              <p:cond delay="0"/>
                            </p:stCondLst>
                            <p:childTnLst>
                              <p:par>
                                <p:cTn id="170" fill="hold">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1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2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3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5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6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7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8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9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11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12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13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Glosario técnico (parte 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Segunda tanda de conceptos clave.</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79135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 y="146304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VOL / VOH</a:t>
            </a:r>
          </a:p>
        </p:txBody>
      </p:sp>
      <p:sp>
        <p:nvSpPr>
          <p:cNvPr id="18" name="TextBox 17"/>
          <p:cNvSpPr txBox="1"/>
          <p:nvPr/>
        </p:nvSpPr>
        <p:spPr>
          <a:xfrm>
            <a:off x="621792"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Tensiones máximas y mínimas garantizadas a la salida en nivel bajo y alto.</a:t>
            </a:r>
          </a:p>
        </p:txBody>
      </p:sp>
      <p:sp>
        <p:nvSpPr>
          <p:cNvPr id="19" name="Rounded Rectangle 18"/>
          <p:cNvSpPr/>
          <p:nvPr/>
        </p:nvSpPr>
        <p:spPr>
          <a:xfrm>
            <a:off x="4277349"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23653" y="146304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IOH / IOL</a:t>
            </a:r>
          </a:p>
        </p:txBody>
      </p:sp>
      <p:sp>
        <p:nvSpPr>
          <p:cNvPr id="21" name="TextBox 20"/>
          <p:cNvSpPr txBox="1"/>
          <p:nvPr/>
        </p:nvSpPr>
        <p:spPr>
          <a:xfrm>
            <a:off x="4423653"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Corriente máxima que la salida entrega en alto y absorbe en bajo.</a:t>
            </a:r>
          </a:p>
        </p:txBody>
      </p:sp>
      <p:sp>
        <p:nvSpPr>
          <p:cNvPr id="22" name="Rounded Rectangle 21"/>
          <p:cNvSpPr/>
          <p:nvPr/>
        </p:nvSpPr>
        <p:spPr>
          <a:xfrm>
            <a:off x="8079211"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5515" y="146304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tPD</a:t>
            </a:r>
          </a:p>
        </p:txBody>
      </p:sp>
      <p:sp>
        <p:nvSpPr>
          <p:cNvPr id="24" name="TextBox 23"/>
          <p:cNvSpPr txBox="1"/>
          <p:nvPr/>
        </p:nvSpPr>
        <p:spPr>
          <a:xfrm>
            <a:off x="8225515"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Retardo de propagación: tiempo entre el cambio de entrada y el de salida.</a:t>
            </a:r>
          </a:p>
        </p:txBody>
      </p:sp>
      <p:sp>
        <p:nvSpPr>
          <p:cNvPr id="25" name="Rounded Rectangle 24"/>
          <p:cNvSpPr/>
          <p:nvPr/>
        </p:nvSpPr>
        <p:spPr>
          <a:xfrm>
            <a:off x="475488"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 y="2295144"/>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tPLH / tPHL</a:t>
            </a:r>
          </a:p>
        </p:txBody>
      </p:sp>
      <p:sp>
        <p:nvSpPr>
          <p:cNvPr id="27" name="TextBox 26"/>
          <p:cNvSpPr txBox="1"/>
          <p:nvPr/>
        </p:nvSpPr>
        <p:spPr>
          <a:xfrm>
            <a:off x="621792" y="2532888"/>
            <a:ext cx="3344661" cy="265176"/>
          </a:xfrm>
          <a:prstGeom prst="rect">
            <a:avLst/>
          </a:prstGeom>
          <a:noFill/>
        </p:spPr>
        <p:txBody>
          <a:bodyPr wrap="square" lIns="0" rIns="0" tIns="0" bIns="0" anchor="t">
            <a:spAutoFit/>
          </a:bodyPr>
          <a:lstStyle/>
          <a:p>
            <a:pPr algn="l">
              <a:lnSpc>
                <a:spcPct val="106000"/>
              </a:lnSpc>
            </a:pPr>
            <a:r>
              <a:rPr sz="919" b="0">
                <a:solidFill>
                  <a:srgbClr val="2C3E56"/>
                </a:solidFill>
                <a:latin typeface="Segoe UI"/>
              </a:rPr>
              <a:t>Retardo de subida y de bajada, respectivamente.</a:t>
            </a:r>
          </a:p>
        </p:txBody>
      </p:sp>
      <p:sp>
        <p:nvSpPr>
          <p:cNvPr id="28" name="Rounded Rectangle 27"/>
          <p:cNvSpPr/>
          <p:nvPr/>
        </p:nvSpPr>
        <p:spPr>
          <a:xfrm>
            <a:off x="4277349"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23653" y="2295144"/>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Margen de ruido</a:t>
            </a:r>
          </a:p>
        </p:txBody>
      </p:sp>
      <p:sp>
        <p:nvSpPr>
          <p:cNvPr id="30" name="TextBox 29"/>
          <p:cNvSpPr txBox="1"/>
          <p:nvPr/>
        </p:nvSpPr>
        <p:spPr>
          <a:xfrm>
            <a:off x="4423653" y="2532888"/>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Diferencia entre lo que una salida entrega y lo que una entrada exige.</a:t>
            </a:r>
          </a:p>
        </p:txBody>
      </p:sp>
      <p:sp>
        <p:nvSpPr>
          <p:cNvPr id="31" name="Rounded Rectangle 30"/>
          <p:cNvSpPr/>
          <p:nvPr/>
        </p:nvSpPr>
        <p:spPr>
          <a:xfrm>
            <a:off x="8079211"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5515" y="2295144"/>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VCC / VDD</a:t>
            </a:r>
          </a:p>
        </p:txBody>
      </p:sp>
      <p:sp>
        <p:nvSpPr>
          <p:cNvPr id="33" name="TextBox 32"/>
          <p:cNvSpPr txBox="1"/>
          <p:nvPr/>
        </p:nvSpPr>
        <p:spPr>
          <a:xfrm>
            <a:off x="8225515" y="2532888"/>
            <a:ext cx="3344661" cy="265176"/>
          </a:xfrm>
          <a:prstGeom prst="rect">
            <a:avLst/>
          </a:prstGeom>
          <a:noFill/>
        </p:spPr>
        <p:txBody>
          <a:bodyPr wrap="square" lIns="0" rIns="0" tIns="0" bIns="0" anchor="t">
            <a:spAutoFit/>
          </a:bodyPr>
          <a:lstStyle/>
          <a:p>
            <a:pPr algn="l">
              <a:lnSpc>
                <a:spcPct val="106000"/>
              </a:lnSpc>
            </a:pPr>
            <a:r>
              <a:rPr sz="919" b="0">
                <a:solidFill>
                  <a:srgbClr val="2C3E56"/>
                </a:solidFill>
                <a:latin typeface="Segoe UI"/>
              </a:rPr>
              <a:t>Nomenclatura de la alimentación positiva en TTL y CMOS.</a:t>
            </a:r>
          </a:p>
        </p:txBody>
      </p:sp>
      <p:sp>
        <p:nvSpPr>
          <p:cNvPr id="34" name="Rounded Rectangle 33"/>
          <p:cNvSpPr/>
          <p:nvPr/>
        </p:nvSpPr>
        <p:spPr>
          <a:xfrm>
            <a:off x="475488"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3127248"/>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GND</a:t>
            </a:r>
          </a:p>
        </p:txBody>
      </p:sp>
      <p:sp>
        <p:nvSpPr>
          <p:cNvPr id="36" name="TextBox 35"/>
          <p:cNvSpPr txBox="1"/>
          <p:nvPr/>
        </p:nvSpPr>
        <p:spPr>
          <a:xfrm>
            <a:off x="621792"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Referencia común de tierra; en DIP-14 corresponde al pin 7.</a:t>
            </a:r>
          </a:p>
        </p:txBody>
      </p:sp>
      <p:sp>
        <p:nvSpPr>
          <p:cNvPr id="37" name="Rounded Rectangle 36"/>
          <p:cNvSpPr/>
          <p:nvPr/>
        </p:nvSpPr>
        <p:spPr>
          <a:xfrm>
            <a:off x="4277349"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23653" y="3127248"/>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Habilitación (OE)</a:t>
            </a:r>
          </a:p>
        </p:txBody>
      </p:sp>
      <p:sp>
        <p:nvSpPr>
          <p:cNvPr id="39" name="TextBox 38"/>
          <p:cNvSpPr txBox="1"/>
          <p:nvPr/>
        </p:nvSpPr>
        <p:spPr>
          <a:xfrm>
            <a:off x="4423653"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Pin que activa la salida de un chip; activo en bajo en la mayoría.</a:t>
            </a:r>
          </a:p>
        </p:txBody>
      </p:sp>
      <p:sp>
        <p:nvSpPr>
          <p:cNvPr id="40" name="Rounded Rectangle 39"/>
          <p:cNvSpPr/>
          <p:nvPr/>
        </p:nvSpPr>
        <p:spPr>
          <a:xfrm>
            <a:off x="8079211"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5515" y="3127248"/>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Multiplexor</a:t>
            </a:r>
          </a:p>
        </p:txBody>
      </p:sp>
      <p:sp>
        <p:nvSpPr>
          <p:cNvPr id="42" name="TextBox 41"/>
          <p:cNvSpPr txBox="1"/>
          <p:nvPr/>
        </p:nvSpPr>
        <p:spPr>
          <a:xfrm>
            <a:off x="8225515"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Circuito que selecciona una de varias entradas y la envía a una salida.</a:t>
            </a:r>
          </a:p>
        </p:txBody>
      </p:sp>
      <p:sp>
        <p:nvSpPr>
          <p:cNvPr id="43" name="Rounded Rectangle 42"/>
          <p:cNvSpPr/>
          <p:nvPr/>
        </p:nvSpPr>
        <p:spPr>
          <a:xfrm>
            <a:off x="475488"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21792" y="3959352"/>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Decodificador</a:t>
            </a:r>
          </a:p>
        </p:txBody>
      </p:sp>
      <p:sp>
        <p:nvSpPr>
          <p:cNvPr id="45" name="TextBox 44"/>
          <p:cNvSpPr txBox="1"/>
          <p:nvPr/>
        </p:nvSpPr>
        <p:spPr>
          <a:xfrm>
            <a:off x="621792"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Circuito que activa una salida según el código binario de entrada.</a:t>
            </a:r>
          </a:p>
        </p:txBody>
      </p:sp>
      <p:sp>
        <p:nvSpPr>
          <p:cNvPr id="46" name="Rounded Rectangle 45"/>
          <p:cNvSpPr/>
          <p:nvPr/>
        </p:nvSpPr>
        <p:spPr>
          <a:xfrm>
            <a:off x="4277349"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423653" y="3959352"/>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Acarreo (carry)</a:t>
            </a:r>
          </a:p>
        </p:txBody>
      </p:sp>
      <p:sp>
        <p:nvSpPr>
          <p:cNvPr id="48" name="TextBox 47"/>
          <p:cNvSpPr txBox="1"/>
          <p:nvPr/>
        </p:nvSpPr>
        <p:spPr>
          <a:xfrm>
            <a:off x="4423653" y="4197096"/>
            <a:ext cx="3344661" cy="265176"/>
          </a:xfrm>
          <a:prstGeom prst="rect">
            <a:avLst/>
          </a:prstGeom>
          <a:noFill/>
        </p:spPr>
        <p:txBody>
          <a:bodyPr wrap="square" lIns="0" rIns="0" tIns="0" bIns="0" anchor="t">
            <a:spAutoFit/>
          </a:bodyPr>
          <a:lstStyle/>
          <a:p>
            <a:pPr algn="l">
              <a:lnSpc>
                <a:spcPct val="106000"/>
              </a:lnSpc>
            </a:pPr>
            <a:r>
              <a:rPr sz="919" b="0">
                <a:solidFill>
                  <a:srgbClr val="2C3E56"/>
                </a:solidFill>
                <a:latin typeface="Segoe UI"/>
              </a:rPr>
              <a:t>Bit que se propaga a la etapa siguiente en una suma.</a:t>
            </a:r>
          </a:p>
        </p:txBody>
      </p:sp>
      <p:sp>
        <p:nvSpPr>
          <p:cNvPr id="49" name="Rounded Rectangle 48"/>
          <p:cNvSpPr/>
          <p:nvPr/>
        </p:nvSpPr>
        <p:spPr>
          <a:xfrm>
            <a:off x="8079211"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25515" y="3959352"/>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Complemento a dos</a:t>
            </a:r>
          </a:p>
        </p:txBody>
      </p:sp>
      <p:sp>
        <p:nvSpPr>
          <p:cNvPr id="51" name="TextBox 50"/>
          <p:cNvSpPr txBox="1"/>
          <p:nvPr/>
        </p:nvSpPr>
        <p:spPr>
          <a:xfrm>
            <a:off x="8225515"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Forma de representar números negativos: invertir bits y sumar 1.</a:t>
            </a:r>
          </a:p>
        </p:txBody>
      </p:sp>
      <p:sp>
        <p:nvSpPr>
          <p:cNvPr id="52" name="Rounded Rectangle 51"/>
          <p:cNvSpPr/>
          <p:nvPr/>
        </p:nvSpPr>
        <p:spPr>
          <a:xfrm>
            <a:off x="475488"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21792" y="4791456"/>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SOP / POS</a:t>
            </a:r>
          </a:p>
        </p:txBody>
      </p:sp>
      <p:sp>
        <p:nvSpPr>
          <p:cNvPr id="54" name="TextBox 53"/>
          <p:cNvSpPr txBox="1"/>
          <p:nvPr/>
        </p:nvSpPr>
        <p:spPr>
          <a:xfrm>
            <a:off x="621792"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Suma de productos y producto de sumas: formas canónicas de una función.</a:t>
            </a:r>
          </a:p>
        </p:txBody>
      </p:sp>
      <p:sp>
        <p:nvSpPr>
          <p:cNvPr id="55" name="Rounded Rectangle 54"/>
          <p:cNvSpPr/>
          <p:nvPr/>
        </p:nvSpPr>
        <p:spPr>
          <a:xfrm>
            <a:off x="4277349"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423653" y="4791456"/>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Minitérmino</a:t>
            </a:r>
          </a:p>
        </p:txBody>
      </p:sp>
      <p:sp>
        <p:nvSpPr>
          <p:cNvPr id="57" name="TextBox 56"/>
          <p:cNvSpPr txBox="1"/>
          <p:nvPr/>
        </p:nvSpPr>
        <p:spPr>
          <a:xfrm>
            <a:off x="4423653"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Producto que vale 1 en exactamente una fila de la tabla de verdad.</a:t>
            </a:r>
          </a:p>
        </p:txBody>
      </p:sp>
      <p:sp>
        <p:nvSpPr>
          <p:cNvPr id="58" name="Rounded Rectangle 57"/>
          <p:cNvSpPr/>
          <p:nvPr/>
        </p:nvSpPr>
        <p:spPr>
          <a:xfrm>
            <a:off x="8079211"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225515" y="4791456"/>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Karnaugh</a:t>
            </a:r>
          </a:p>
        </p:txBody>
      </p:sp>
      <p:sp>
        <p:nvSpPr>
          <p:cNvPr id="60" name="TextBox 59"/>
          <p:cNvSpPr txBox="1"/>
          <p:nvPr/>
        </p:nvSpPr>
        <p:spPr>
          <a:xfrm>
            <a:off x="8225515"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Método gráfico de simplificación por agrupamiento de unos.</a:t>
            </a:r>
          </a:p>
        </p:txBody>
      </p:sp>
      <p:sp>
        <p:nvSpPr>
          <p:cNvPr id="61" name="Rounded Rectangle 60"/>
          <p:cNvSpPr/>
          <p:nvPr/>
        </p:nvSpPr>
        <p:spPr>
          <a:xfrm>
            <a:off x="475488"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21792" y="562356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ESD</a:t>
            </a:r>
          </a:p>
        </p:txBody>
      </p:sp>
      <p:sp>
        <p:nvSpPr>
          <p:cNvPr id="63" name="TextBox 62"/>
          <p:cNvSpPr txBox="1"/>
          <p:nvPr/>
        </p:nvSpPr>
        <p:spPr>
          <a:xfrm>
            <a:off x="621792"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Descarga electrostática: causa frecuente de daño en chips CMOS.</a:t>
            </a:r>
          </a:p>
        </p:txBody>
      </p:sp>
      <p:sp>
        <p:nvSpPr>
          <p:cNvPr id="64" name="Rounded Rectangle 63"/>
          <p:cNvSpPr/>
          <p:nvPr/>
        </p:nvSpPr>
        <p:spPr>
          <a:xfrm>
            <a:off x="4277349"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423653" y="562356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Schmitt trigger</a:t>
            </a:r>
          </a:p>
        </p:txBody>
      </p:sp>
      <p:sp>
        <p:nvSpPr>
          <p:cNvPr id="66" name="TextBox 65"/>
          <p:cNvSpPr txBox="1"/>
          <p:nvPr/>
        </p:nvSpPr>
        <p:spPr>
          <a:xfrm>
            <a:off x="4423653"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Entrada con histéresis que limpia señales ruidosas o lentas (7414).</a:t>
            </a:r>
          </a:p>
        </p:txBody>
      </p:sp>
      <p:sp>
        <p:nvSpPr>
          <p:cNvPr id="67" name="Rounded Rectangle 66"/>
          <p:cNvSpPr/>
          <p:nvPr/>
        </p:nvSpPr>
        <p:spPr>
          <a:xfrm>
            <a:off x="8079211"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225515" y="562356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Ripple carry</a:t>
            </a:r>
          </a:p>
        </p:txBody>
      </p:sp>
      <p:sp>
        <p:nvSpPr>
          <p:cNvPr id="69" name="TextBox 68"/>
          <p:cNvSpPr txBox="1"/>
          <p:nvPr/>
        </p:nvSpPr>
        <p:spPr>
          <a:xfrm>
            <a:off x="8225515"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Sumador donde el acarreo se propaga en cadena etapa por etapa.</a:t>
            </a:r>
          </a:p>
        </p:txBody>
      </p:sp>
      <p:sp>
        <p:nvSpPr>
          <p:cNvPr id="70" name="Rounded Rectangle 69"/>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75488" y="5504688"/>
            <a:ext cx="32004" cy="603503"/>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RECORDATORIO</a:t>
            </a:r>
          </a:p>
        </p:txBody>
      </p:sp>
      <p:sp>
        <p:nvSpPr>
          <p:cNvPr id="73" name="TextBox 7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Consejo de estudio: no memorizar el glosario completo, sino entender cómo se relaciona cada término con una decisión de diseño concreta.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0" fill="hold">
                      <p:stCondLst>
                        <p:cond delay="indefinite"/>
                      </p:stCondLst>
                      <p:childTnLst>
                        <p:par>
                          <p:cTn id="51"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4" fill="hold">
                                  <p:stCondLst>
                                    <p:cond delay="330"/>
                                  </p:stCondLst>
                                  <p:childTnLst>
                                    <p:set>
                                      <p:cBhvr>
                                        <p:cTn id="33"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7" fill="hold">
                                  <p:stCondLst>
                                    <p:cond delay="440"/>
                                  </p:stCondLst>
                                  <p:childTnLst>
                                    <p:set>
                                      <p:cBhvr>
                                        <p:cTn id="36"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40" fill="hold">
                                  <p:stCondLst>
                                    <p:cond delay="550"/>
                                  </p:stCondLst>
                                  <p:childTnLst>
                                    <p:set>
                                      <p:cBhvr>
                                        <p:cTn id="39"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43" fill="hold">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6" fill="hold">
                                  <p:stCondLst>
                                    <p:cond delay="770"/>
                                  </p:stCondLst>
                                  <p:childTnLst>
                                    <p:set>
                                      <p:cBhvr>
                                        <p:cTn id="45"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9" fill="hold">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par>
                    <p:cTn id="79" fill="hold">
                      <p:stCondLst>
                        <p:cond delay="indefinite"/>
                      </p:stCondLst>
                      <p:childTnLst>
                        <p:par>
                          <p:cTn id="80" fill="hold">
                            <p:stCondLst>
                              <p:cond delay="0"/>
                            </p:stCondLst>
                            <p:childTnLst>
                              <p:par>
                                <p:cTn id="54" fill="hold">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2" dur="420"/>
                                        <p:tgtEl>
                                          <p:spTgt spid="25"/>
                                        </p:tgtEl>
                                      </p:cBhvr>
                                    </p:animEffect>
                                  </p:childTnLst>
                                </p:cTn>
                              </p:par>
                              <p:par>
                                <p:cTn id="57" fill="hold">
                                  <p:stCondLst>
                                    <p:cond delay="110"/>
                                  </p:stCondLst>
                                  <p:childTnLst>
                                    <p:set>
                                      <p:cBhvr>
                                        <p:cTn id="56" dur="1" fill="hold">
                                          <p:stCondLst>
                                            <p:cond delay="0"/>
                                          </p:stCondLst>
                                        </p:cTn>
                                        <p:tgtEl>
                                          <p:spTgt spid="26"/>
                                        </p:tgtEl>
                                        <p:attrNameLst>
                                          <p:attrName>style.visibility</p:attrName>
                                        </p:attrNameLst>
                                      </p:cBhvr>
                                      <p:to>
                                        <p:strVal val="visible"/>
                                      </p:to>
                                    </p:set>
                                    <p:animEffect transition="in" filter="fade">
                                      <p:cBhvr>
                                        <p:cTn id="55" dur="420"/>
                                        <p:tgtEl>
                                          <p:spTgt spid="26"/>
                                        </p:tgtEl>
                                      </p:cBhvr>
                                    </p:animEffect>
                                  </p:childTnLst>
                                </p:cTn>
                              </p:par>
                              <p:par>
                                <p:cTn id="60" fill="hold">
                                  <p:stCondLst>
                                    <p:cond delay="220"/>
                                  </p:stCondLst>
                                  <p:childTnLst>
                                    <p:set>
                                      <p:cBhvr>
                                        <p:cTn id="59" dur="1" fill="hold">
                                          <p:stCondLst>
                                            <p:cond delay="0"/>
                                          </p:stCondLst>
                                        </p:cTn>
                                        <p:tgtEl>
                                          <p:spTgt spid="27"/>
                                        </p:tgtEl>
                                        <p:attrNameLst>
                                          <p:attrName>style.visibility</p:attrName>
                                        </p:attrNameLst>
                                      </p:cBhvr>
                                      <p:to>
                                        <p:strVal val="visible"/>
                                      </p:to>
                                    </p:set>
                                    <p:animEffect transition="in" filter="fade">
                                      <p:cBhvr>
                                        <p:cTn id="58" dur="420"/>
                                        <p:tgtEl>
                                          <p:spTgt spid="27"/>
                                        </p:tgtEl>
                                      </p:cBhvr>
                                    </p:animEffect>
                                  </p:childTnLst>
                                </p:cTn>
                              </p:par>
                              <p:par>
                                <p:cTn id="63" fill="hold">
                                  <p:stCondLst>
                                    <p:cond delay="330"/>
                                  </p:stCondLst>
                                  <p:childTnLst>
                                    <p:set>
                                      <p:cBhvr>
                                        <p:cTn id="62" dur="1" fill="hold">
                                          <p:stCondLst>
                                            <p:cond delay="0"/>
                                          </p:stCondLst>
                                        </p:cTn>
                                        <p:tgtEl>
                                          <p:spTgt spid="28"/>
                                        </p:tgtEl>
                                        <p:attrNameLst>
                                          <p:attrName>style.visibility</p:attrName>
                                        </p:attrNameLst>
                                      </p:cBhvr>
                                      <p:to>
                                        <p:strVal val="visible"/>
                                      </p:to>
                                    </p:set>
                                    <p:animEffect transition="in" filter="fade">
                                      <p:cBhvr>
                                        <p:cTn id="61" dur="420"/>
                                        <p:tgtEl>
                                          <p:spTgt spid="28"/>
                                        </p:tgtEl>
                                      </p:cBhvr>
                                    </p:animEffect>
                                  </p:childTnLst>
                                </p:cTn>
                              </p:par>
                              <p:par>
                                <p:cTn id="66" fill="hold">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4" dur="420"/>
                                        <p:tgtEl>
                                          <p:spTgt spid="29"/>
                                        </p:tgtEl>
                                      </p:cBhvr>
                                    </p:animEffect>
                                  </p:childTnLst>
                                </p:cTn>
                              </p:par>
                              <p:par>
                                <p:cTn id="69" fill="hold">
                                  <p:stCondLst>
                                    <p:cond delay="550"/>
                                  </p:stCondLst>
                                  <p:childTnLst>
                                    <p:set>
                                      <p:cBhvr>
                                        <p:cTn id="68" dur="1" fill="hold">
                                          <p:stCondLst>
                                            <p:cond delay="0"/>
                                          </p:stCondLst>
                                        </p:cTn>
                                        <p:tgtEl>
                                          <p:spTgt spid="30"/>
                                        </p:tgtEl>
                                        <p:attrNameLst>
                                          <p:attrName>style.visibility</p:attrName>
                                        </p:attrNameLst>
                                      </p:cBhvr>
                                      <p:to>
                                        <p:strVal val="visible"/>
                                      </p:to>
                                    </p:set>
                                    <p:animEffect transition="in" filter="fade">
                                      <p:cBhvr>
                                        <p:cTn id="67" dur="420"/>
                                        <p:tgtEl>
                                          <p:spTgt spid="30"/>
                                        </p:tgtEl>
                                      </p:cBhvr>
                                    </p:animEffect>
                                  </p:childTnLst>
                                </p:cTn>
                              </p:par>
                              <p:par>
                                <p:cTn id="72" fill="hold">
                                  <p:stCondLst>
                                    <p:cond delay="660"/>
                                  </p:stCondLst>
                                  <p:childTnLst>
                                    <p:set>
                                      <p:cBhvr>
                                        <p:cTn id="71" dur="1" fill="hold">
                                          <p:stCondLst>
                                            <p:cond delay="0"/>
                                          </p:stCondLst>
                                        </p:cTn>
                                        <p:tgtEl>
                                          <p:spTgt spid="31"/>
                                        </p:tgtEl>
                                        <p:attrNameLst>
                                          <p:attrName>style.visibility</p:attrName>
                                        </p:attrNameLst>
                                      </p:cBhvr>
                                      <p:to>
                                        <p:strVal val="visible"/>
                                      </p:to>
                                    </p:set>
                                    <p:animEffect transition="in" filter="fade">
                                      <p:cBhvr>
                                        <p:cTn id="70" dur="420"/>
                                        <p:tgtEl>
                                          <p:spTgt spid="31"/>
                                        </p:tgtEl>
                                      </p:cBhvr>
                                    </p:animEffect>
                                  </p:childTnLst>
                                </p:cTn>
                              </p:par>
                              <p:par>
                                <p:cTn id="75" fill="hold">
                                  <p:stCondLst>
                                    <p:cond delay="770"/>
                                  </p:stCondLst>
                                  <p:childTnLst>
                                    <p:set>
                                      <p:cBhvr>
                                        <p:cTn id="74" dur="1" fill="hold">
                                          <p:stCondLst>
                                            <p:cond delay="0"/>
                                          </p:stCondLst>
                                        </p:cTn>
                                        <p:tgtEl>
                                          <p:spTgt spid="32"/>
                                        </p:tgtEl>
                                        <p:attrNameLst>
                                          <p:attrName>style.visibility</p:attrName>
                                        </p:attrNameLst>
                                      </p:cBhvr>
                                      <p:to>
                                        <p:strVal val="visible"/>
                                      </p:to>
                                    </p:set>
                                    <p:animEffect transition="in" filter="fade">
                                      <p:cBhvr>
                                        <p:cTn id="73" dur="420"/>
                                        <p:tgtEl>
                                          <p:spTgt spid="32"/>
                                        </p:tgtEl>
                                      </p:cBhvr>
                                    </p:animEffect>
                                  </p:childTnLst>
                                </p:cTn>
                              </p:par>
                              <p:par>
                                <p:cTn id="78" fill="hold">
                                  <p:stCondLst>
                                    <p:cond delay="880"/>
                                  </p:stCondLst>
                                  <p:childTnLst>
                                    <p:set>
                                      <p:cBhvr>
                                        <p:cTn id="77" dur="1" fill="hold">
                                          <p:stCondLst>
                                            <p:cond delay="0"/>
                                          </p:stCondLst>
                                        </p:cTn>
                                        <p:tgtEl>
                                          <p:spTgt spid="33"/>
                                        </p:tgtEl>
                                        <p:attrNameLst>
                                          <p:attrName>style.visibility</p:attrName>
                                        </p:attrNameLst>
                                      </p:cBhvr>
                                      <p:to>
                                        <p:strVal val="visible"/>
                                      </p:to>
                                    </p:set>
                                    <p:animEffect transition="in" filter="fade">
                                      <p:cBhvr>
                                        <p:cTn id="76" dur="42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83" fill="hold">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1" dur="420"/>
                                        <p:tgtEl>
                                          <p:spTgt spid="34"/>
                                        </p:tgtEl>
                                      </p:cBhvr>
                                    </p:animEffect>
                                  </p:childTnLst>
                                </p:cTn>
                              </p:par>
                              <p:par>
                                <p:cTn id="86" fill="hold">
                                  <p:stCondLst>
                                    <p:cond delay="110"/>
                                  </p:stCondLst>
                                  <p:childTnLst>
                                    <p:set>
                                      <p:cBhvr>
                                        <p:cTn id="85" dur="1" fill="hold">
                                          <p:stCondLst>
                                            <p:cond delay="0"/>
                                          </p:stCondLst>
                                        </p:cTn>
                                        <p:tgtEl>
                                          <p:spTgt spid="35"/>
                                        </p:tgtEl>
                                        <p:attrNameLst>
                                          <p:attrName>style.visibility</p:attrName>
                                        </p:attrNameLst>
                                      </p:cBhvr>
                                      <p:to>
                                        <p:strVal val="visible"/>
                                      </p:to>
                                    </p:set>
                                    <p:animEffect transition="in" filter="fade">
                                      <p:cBhvr>
                                        <p:cTn id="84" dur="420"/>
                                        <p:tgtEl>
                                          <p:spTgt spid="35"/>
                                        </p:tgtEl>
                                      </p:cBhvr>
                                    </p:animEffect>
                                  </p:childTnLst>
                                </p:cTn>
                              </p:par>
                              <p:par>
                                <p:cTn id="89" fill="hold">
                                  <p:stCondLst>
                                    <p:cond delay="220"/>
                                  </p:stCondLst>
                                  <p:childTnLst>
                                    <p:set>
                                      <p:cBhvr>
                                        <p:cTn id="88" dur="1" fill="hold">
                                          <p:stCondLst>
                                            <p:cond delay="0"/>
                                          </p:stCondLst>
                                        </p:cTn>
                                        <p:tgtEl>
                                          <p:spTgt spid="36"/>
                                        </p:tgtEl>
                                        <p:attrNameLst>
                                          <p:attrName>style.visibility</p:attrName>
                                        </p:attrNameLst>
                                      </p:cBhvr>
                                      <p:to>
                                        <p:strVal val="visible"/>
                                      </p:to>
                                    </p:set>
                                    <p:animEffect transition="in" filter="fade">
                                      <p:cBhvr>
                                        <p:cTn id="87" dur="420"/>
                                        <p:tgtEl>
                                          <p:spTgt spid="36"/>
                                        </p:tgtEl>
                                      </p:cBhvr>
                                    </p:animEffect>
                                  </p:childTnLst>
                                </p:cTn>
                              </p:par>
                              <p:par>
                                <p:cTn id="92" fill="hold">
                                  <p:stCondLst>
                                    <p:cond delay="330"/>
                                  </p:stCondLst>
                                  <p:childTnLst>
                                    <p:set>
                                      <p:cBhvr>
                                        <p:cTn id="91" dur="1" fill="hold">
                                          <p:stCondLst>
                                            <p:cond delay="0"/>
                                          </p:stCondLst>
                                        </p:cTn>
                                        <p:tgtEl>
                                          <p:spTgt spid="37"/>
                                        </p:tgtEl>
                                        <p:attrNameLst>
                                          <p:attrName>style.visibility</p:attrName>
                                        </p:attrNameLst>
                                      </p:cBhvr>
                                      <p:to>
                                        <p:strVal val="visible"/>
                                      </p:to>
                                    </p:set>
                                    <p:animEffect transition="in" filter="fade">
                                      <p:cBhvr>
                                        <p:cTn id="90" dur="420"/>
                                        <p:tgtEl>
                                          <p:spTgt spid="37"/>
                                        </p:tgtEl>
                                      </p:cBhvr>
                                    </p:animEffect>
                                  </p:childTnLst>
                                </p:cTn>
                              </p:par>
                              <p:par>
                                <p:cTn id="95" fill="hold">
                                  <p:stCondLst>
                                    <p:cond delay="44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childTnLst>
                                </p:cTn>
                              </p:par>
                              <p:par>
                                <p:cTn id="98" fill="hold">
                                  <p:stCondLst>
                                    <p:cond delay="550"/>
                                  </p:stCondLst>
                                  <p:childTnLst>
                                    <p:set>
                                      <p:cBhvr>
                                        <p:cTn id="97" dur="1" fill="hold">
                                          <p:stCondLst>
                                            <p:cond delay="0"/>
                                          </p:stCondLst>
                                        </p:cTn>
                                        <p:tgtEl>
                                          <p:spTgt spid="39"/>
                                        </p:tgtEl>
                                        <p:attrNameLst>
                                          <p:attrName>style.visibility</p:attrName>
                                        </p:attrNameLst>
                                      </p:cBhvr>
                                      <p:to>
                                        <p:strVal val="visible"/>
                                      </p:to>
                                    </p:set>
                                    <p:animEffect transition="in" filter="fade">
                                      <p:cBhvr>
                                        <p:cTn id="96" dur="420"/>
                                        <p:tgtEl>
                                          <p:spTgt spid="39"/>
                                        </p:tgtEl>
                                      </p:cBhvr>
                                    </p:animEffect>
                                  </p:childTnLst>
                                </p:cTn>
                              </p:par>
                              <p:par>
                                <p:cTn id="101" fill="hold">
                                  <p:stCondLst>
                                    <p:cond delay="660"/>
                                  </p:stCondLst>
                                  <p:childTnLst>
                                    <p:set>
                                      <p:cBhvr>
                                        <p:cTn id="100" dur="1" fill="hold">
                                          <p:stCondLst>
                                            <p:cond delay="0"/>
                                          </p:stCondLst>
                                        </p:cTn>
                                        <p:tgtEl>
                                          <p:spTgt spid="40"/>
                                        </p:tgtEl>
                                        <p:attrNameLst>
                                          <p:attrName>style.visibility</p:attrName>
                                        </p:attrNameLst>
                                      </p:cBhvr>
                                      <p:to>
                                        <p:strVal val="visible"/>
                                      </p:to>
                                    </p:set>
                                    <p:animEffect transition="in" filter="fade">
                                      <p:cBhvr>
                                        <p:cTn id="99" dur="420"/>
                                        <p:tgtEl>
                                          <p:spTgt spid="40"/>
                                        </p:tgtEl>
                                      </p:cBhvr>
                                    </p:animEffect>
                                  </p:childTnLst>
                                </p:cTn>
                              </p:par>
                              <p:par>
                                <p:cTn id="104" fill="hold">
                                  <p:stCondLst>
                                    <p:cond delay="77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2" dur="420"/>
                                        <p:tgtEl>
                                          <p:spTgt spid="41"/>
                                        </p:tgtEl>
                                      </p:cBhvr>
                                    </p:animEffect>
                                  </p:childTnLst>
                                </p:cTn>
                              </p:par>
                              <p:par>
                                <p:cTn id="107" fill="hold">
                                  <p:stCondLst>
                                    <p:cond delay="88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childTnLst>
                                </p:cTn>
                              </p:par>
                            </p:childTnLst>
                          </p:cTn>
                        </p:par>
                      </p:childTnLst>
                    </p:cTn>
                  </p:par>
                  <p:par>
                    <p:cTn id="137" fill="hold">
                      <p:stCondLst>
                        <p:cond delay="indefinite"/>
                      </p:stCondLst>
                      <p:childTnLst>
                        <p:par>
                          <p:cTn id="138" fill="hold">
                            <p:stCondLst>
                              <p:cond delay="0"/>
                            </p:stCondLst>
                            <p:childTnLst>
                              <p:par>
                                <p:cTn id="112" fill="hold">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0" dur="420"/>
                                        <p:tgtEl>
                                          <p:spTgt spid="43"/>
                                        </p:tgtEl>
                                      </p:cBhvr>
                                    </p:animEffect>
                                  </p:childTnLst>
                                </p:cTn>
                              </p:par>
                              <p:par>
                                <p:cTn id="115" fill="hold">
                                  <p:stCondLst>
                                    <p:cond delay="11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childTnLst>
                                </p:cTn>
                              </p:par>
                              <p:par>
                                <p:cTn id="118" fill="hold">
                                  <p:stCondLst>
                                    <p:cond delay="22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6" dur="420"/>
                                        <p:tgtEl>
                                          <p:spTgt spid="45"/>
                                        </p:tgtEl>
                                      </p:cBhvr>
                                    </p:animEffect>
                                  </p:childTnLst>
                                </p:cTn>
                              </p:par>
                              <p:par>
                                <p:cTn id="121" fill="hold">
                                  <p:stCondLst>
                                    <p:cond delay="33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19" dur="420"/>
                                        <p:tgtEl>
                                          <p:spTgt spid="46"/>
                                        </p:tgtEl>
                                      </p:cBhvr>
                                    </p:animEffect>
                                  </p:childTnLst>
                                </p:cTn>
                              </p:par>
                              <p:par>
                                <p:cTn id="124" fill="hold">
                                  <p:stCondLst>
                                    <p:cond delay="44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2" dur="420"/>
                                        <p:tgtEl>
                                          <p:spTgt spid="47"/>
                                        </p:tgtEl>
                                      </p:cBhvr>
                                    </p:animEffect>
                                  </p:childTnLst>
                                </p:cTn>
                              </p:par>
                              <p:par>
                                <p:cTn id="127" fill="hold">
                                  <p:stCondLst>
                                    <p:cond delay="55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5" dur="420"/>
                                        <p:tgtEl>
                                          <p:spTgt spid="48"/>
                                        </p:tgtEl>
                                      </p:cBhvr>
                                    </p:animEffect>
                                  </p:childTnLst>
                                </p:cTn>
                              </p:par>
                              <p:par>
                                <p:cTn id="130" fill="hold">
                                  <p:stCondLst>
                                    <p:cond delay="66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28" dur="420"/>
                                        <p:tgtEl>
                                          <p:spTgt spid="49"/>
                                        </p:tgtEl>
                                      </p:cBhvr>
                                    </p:animEffect>
                                  </p:childTnLst>
                                </p:cTn>
                              </p:par>
                              <p:par>
                                <p:cTn id="133" fill="hold">
                                  <p:stCondLst>
                                    <p:cond delay="77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1" dur="420"/>
                                        <p:tgtEl>
                                          <p:spTgt spid="50"/>
                                        </p:tgtEl>
                                      </p:cBhvr>
                                    </p:animEffect>
                                  </p:childTnLst>
                                </p:cTn>
                              </p:par>
                              <p:par>
                                <p:cTn id="136" fill="hold">
                                  <p:stCondLst>
                                    <p:cond delay="88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4" dur="420"/>
                                        <p:tgtEl>
                                          <p:spTgt spid="51"/>
                                        </p:tgtEl>
                                      </p:cBhvr>
                                    </p:animEffect>
                                  </p:childTnLst>
                                </p:cTn>
                              </p:par>
                            </p:childTnLst>
                          </p:cTn>
                        </p:par>
                      </p:childTnLst>
                    </p:cTn>
                  </p:par>
                  <p:par>
                    <p:cTn id="166" fill="hold">
                      <p:stCondLst>
                        <p:cond delay="indefinite"/>
                      </p:stCondLst>
                      <p:childTnLst>
                        <p:par>
                          <p:cTn id="167" fill="hold">
                            <p:stCondLst>
                              <p:cond delay="0"/>
                            </p:stCondLst>
                            <p:childTnLst>
                              <p:par>
                                <p:cTn id="141" fill="hold">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39" dur="420"/>
                                        <p:tgtEl>
                                          <p:spTgt spid="52"/>
                                        </p:tgtEl>
                                      </p:cBhvr>
                                    </p:animEffect>
                                  </p:childTnLst>
                                </p:cTn>
                              </p:par>
                              <p:par>
                                <p:cTn id="144" fill="hold">
                                  <p:stCondLst>
                                    <p:cond delay="11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2" dur="420"/>
                                        <p:tgtEl>
                                          <p:spTgt spid="53"/>
                                        </p:tgtEl>
                                      </p:cBhvr>
                                    </p:animEffect>
                                  </p:childTnLst>
                                </p:cTn>
                              </p:par>
                              <p:par>
                                <p:cTn id="147" fill="hold">
                                  <p:stCondLst>
                                    <p:cond delay="22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5" dur="420"/>
                                        <p:tgtEl>
                                          <p:spTgt spid="54"/>
                                        </p:tgtEl>
                                      </p:cBhvr>
                                    </p:animEffect>
                                  </p:childTnLst>
                                </p:cTn>
                              </p:par>
                              <p:par>
                                <p:cTn id="150" fill="hold">
                                  <p:stCondLst>
                                    <p:cond delay="33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48" dur="420"/>
                                        <p:tgtEl>
                                          <p:spTgt spid="55"/>
                                        </p:tgtEl>
                                      </p:cBhvr>
                                    </p:animEffect>
                                  </p:childTnLst>
                                </p:cTn>
                              </p:par>
                              <p:par>
                                <p:cTn id="153" fill="hold">
                                  <p:stCondLst>
                                    <p:cond delay="44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1" dur="420"/>
                                        <p:tgtEl>
                                          <p:spTgt spid="56"/>
                                        </p:tgtEl>
                                      </p:cBhvr>
                                    </p:animEffect>
                                  </p:childTnLst>
                                </p:cTn>
                              </p:par>
                              <p:par>
                                <p:cTn id="156" fill="hold">
                                  <p:stCondLst>
                                    <p:cond delay="55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4" dur="420"/>
                                        <p:tgtEl>
                                          <p:spTgt spid="57"/>
                                        </p:tgtEl>
                                      </p:cBhvr>
                                    </p:animEffect>
                                  </p:childTnLst>
                                </p:cTn>
                              </p:par>
                              <p:par>
                                <p:cTn id="159" fill="hold">
                                  <p:stCondLst>
                                    <p:cond delay="66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7" dur="420"/>
                                        <p:tgtEl>
                                          <p:spTgt spid="58"/>
                                        </p:tgtEl>
                                      </p:cBhvr>
                                    </p:animEffect>
                                  </p:childTnLst>
                                </p:cTn>
                              </p:par>
                              <p:par>
                                <p:cTn id="162" fill="hold">
                                  <p:stCondLst>
                                    <p:cond delay="77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0" dur="420"/>
                                        <p:tgtEl>
                                          <p:spTgt spid="59"/>
                                        </p:tgtEl>
                                      </p:cBhvr>
                                    </p:animEffect>
                                  </p:childTnLst>
                                </p:cTn>
                              </p:par>
                              <p:par>
                                <p:cTn id="165" fill="hold">
                                  <p:stCondLst>
                                    <p:cond delay="880"/>
                                  </p:stCondLst>
                                  <p:childTnLst>
                                    <p:set>
                                      <p:cBhvr>
                                        <p:cTn id="164" dur="1" fill="hold">
                                          <p:stCondLst>
                                            <p:cond delay="0"/>
                                          </p:stCondLst>
                                        </p:cTn>
                                        <p:tgtEl>
                                          <p:spTgt spid="60"/>
                                        </p:tgtEl>
                                        <p:attrNameLst>
                                          <p:attrName>style.visibility</p:attrName>
                                        </p:attrNameLst>
                                      </p:cBhvr>
                                      <p:to>
                                        <p:strVal val="visible"/>
                                      </p:to>
                                    </p:set>
                                    <p:animEffect transition="in" filter="fade">
                                      <p:cBhvr>
                                        <p:cTn id="163" dur="420"/>
                                        <p:tgtEl>
                                          <p:spTgt spid="60"/>
                                        </p:tgtEl>
                                      </p:cBhvr>
                                    </p:animEffect>
                                  </p:childTnLst>
                                </p:cTn>
                              </p:par>
                            </p:childTnLst>
                          </p:cTn>
                        </p:par>
                      </p:childTnLst>
                    </p:cTn>
                  </p:par>
                  <p:par>
                    <p:cTn id="207" fill="hold">
                      <p:stCondLst>
                        <p:cond delay="indefinite"/>
                      </p:stCondLst>
                      <p:childTnLst>
                        <p:par>
                          <p:cTn id="208" fill="hold">
                            <p:stCondLst>
                              <p:cond delay="0"/>
                            </p:stCondLst>
                            <p:childTnLst>
                              <p:par>
                                <p:cTn id="170" fill="hold">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1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2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3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5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6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7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8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9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11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12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13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Fuentes de consulta y verificación</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Dónde comprobar cada dato antes de cablear o de publicar.</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90376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PDF</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Hojas de datos oficiales</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Texas Instruments (SN74LS00), ON Semiconductor, NXP y ST publican datasheets gratuitos con todos los parámetros. Es la única fuente que se considera válida para un reporte técnico.</a:t>
            </a:r>
          </a:p>
        </p:txBody>
      </p:sp>
      <p:sp>
        <p:nvSpPr>
          <p:cNvPr id="21" name="Rounded Rectangle 20"/>
          <p:cNvSpPr/>
          <p:nvPr/>
        </p:nvSpPr>
        <p:spPr>
          <a:xfrm>
            <a:off x="619656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LIB</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Bibliografía clásica</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1">
                <a:solidFill>
                  <a:srgbClr val="2C3E56"/>
                </a:solidFill>
                <a:latin typeface="Segoe UI Semibold"/>
              </a:rPr>
              <a:t>Digital Fundamentals</a:t>
            </a:r>
            <a:r>
              <a:rPr sz="1150" b="0">
                <a:solidFill>
                  <a:srgbClr val="2C3E56"/>
                </a:solidFill>
                <a:latin typeface="Segoe UI"/>
              </a:rPr>
              <a:t> (Thomas Floyd), </a:t>
            </a:r>
            <a:r>
              <a:rPr sz="1150" b="1">
                <a:solidFill>
                  <a:srgbClr val="2C3E56"/>
                </a:solidFill>
                <a:latin typeface="Segoe UI Semibold"/>
              </a:rPr>
              <a:t>Sistemas Digitales: Principios y Aplicaciones</a:t>
            </a:r>
            <a:r>
              <a:rPr sz="1150" b="0">
                <a:solidFill>
                  <a:srgbClr val="2C3E56"/>
                </a:solidFill>
                <a:latin typeface="Segoe UI"/>
              </a:rPr>
              <a:t> (Tocci), </a:t>
            </a:r>
            <a:r>
              <a:rPr sz="1150" b="1">
                <a:solidFill>
                  <a:srgbClr val="2C3E56"/>
                </a:solidFill>
                <a:latin typeface="Segoe UI Semibold"/>
              </a:rPr>
              <a:t>Diseño Digital</a:t>
            </a:r>
            <a:r>
              <a:rPr sz="1150" b="0">
                <a:solidFill>
                  <a:srgbClr val="2C3E56"/>
                </a:solidFill>
                <a:latin typeface="Segoe UI"/>
              </a:rPr>
              <a:t> (Morris Mano): los tres cubren compuertas, familias y práctica.</a:t>
            </a:r>
          </a:p>
        </p:txBody>
      </p:sp>
      <p:sp>
        <p:nvSpPr>
          <p:cNvPr id="26" name="Rounded Rectangle 25"/>
          <p:cNvSpPr/>
          <p:nvPr/>
        </p:nvSpPr>
        <p:spPr>
          <a:xfrm>
            <a:off x="47548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SIM</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Simuladores y herramientas</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Logisim Evolution, Tinkercad Circuits, Multisim, Proteus, KiCad y Falstad permiten validar el diseño antes del montaje físico.</a:t>
            </a:r>
          </a:p>
        </p:txBody>
      </p:sp>
      <p:sp>
        <p:nvSpPr>
          <p:cNvPr id="31" name="Rounded Rectangle 30"/>
          <p:cNvSpPr/>
          <p:nvPr/>
        </p:nvSpPr>
        <p:spPr>
          <a:xfrm>
            <a:off x="619656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WEB</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Recursos audiovisuales</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Canales técnicos como The Engineering Mindset, All About Circuits, Electronics Tutorials y el canal oficial de Texas Instruments.</a:t>
            </a:r>
          </a:p>
        </p:txBody>
      </p:sp>
      <p:sp>
        <p:nvSpPr>
          <p:cNvPr id="36" name="Rounded Rectangle 35"/>
          <p:cNvSpPr/>
          <p:nvPr/>
        </p:nvSpPr>
        <p:spPr>
          <a:xfrm>
            <a:off x="47548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IMG</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Crédito de las imágenes</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Fotografías originales del autor de la presentación y de las fuentes citadas en la diapositiva de referencias (electronics-lab.com, hackster.io). Diagramas técnicos generados para esta guía.</a:t>
            </a:r>
          </a:p>
        </p:txBody>
      </p:sp>
      <p:sp>
        <p:nvSpPr>
          <p:cNvPr id="41" name="Rounded Rectangle 40"/>
          <p:cNvSpPr/>
          <p:nvPr/>
        </p:nvSpPr>
        <p:spPr>
          <a:xfrm>
            <a:off x="619656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CHK</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Verificación de datos</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Todos los parámetros se tomaron de las hojas de datos de la serie 74LS y se recomienda verificarlos contra el PDF del fabricante antes de usarlos en un diseño industrial.</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Dato verificable en todos los datasheets: VCC nominal de 5 V, VIH mínima de 2 V y VIL máxima de 0.8 V. Son los tres números que jamás cambian en la familia TTL estándar.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fltVal val="0.06"/>
                                          </p:val>
                                        </p:tav>
                                        <p:tav tm="100000">
                                          <p:val>
                                            <p:flt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fltVal val="0.06"/>
                                          </p:val>
                                        </p:tav>
                                        <p:tav tm="100000">
                                          <p:val>
                                            <p:flt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fltVal val="0.06"/>
                                          </p:val>
                                        </p:tav>
                                        <p:tav tm="100000">
                                          <p:val>
                                            <p:flt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fltVal val="0.06"/>
                                          </p:val>
                                        </p:tav>
                                        <p:tav tm="100000">
                                          <p:val>
                                            <p:flt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fltVal val="0.06"/>
                                          </p:val>
                                        </p:tav>
                                        <p:tav tm="100000">
                                          <p:val>
                                            <p:flt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fltVal val="0.06"/>
                                          </p:val>
                                        </p:tav>
                                        <p:tav tm="100000">
                                          <p:val>
                                            <p:flt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fltVal val="0.06"/>
                                          </p:val>
                                        </p:tav>
                                        <p:tav tm="100000">
                                          <p:val>
                                            <p:flt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fltVal val="0.06"/>
                                          </p:val>
                                        </p:tav>
                                        <p:tav tm="100000">
                                          <p:val>
                                            <p:flt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fltVal val="0.06"/>
                                          </p:val>
                                        </p:tav>
                                        <p:tav tm="100000">
                                          <p:val>
                                            <p:flt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fltVal val="0.06"/>
                                          </p:val>
                                        </p:tav>
                                        <p:tav tm="100000">
                                          <p:val>
                                            <p:flt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fltVal val="0.06"/>
                                          </p:val>
                                        </p:tav>
                                        <p:tav tm="100000">
                                          <p:val>
                                            <p:flt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fltVal val="0.06"/>
                                          </p:val>
                                        </p:tav>
                                        <p:tav tm="100000">
                                          <p:val>
                                            <p:flt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fltVal val="0.06"/>
                                          </p:val>
                                        </p:tav>
                                        <p:tav tm="100000">
                                          <p:val>
                                            <p:flt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fltVal val="0.06"/>
                                          </p:val>
                                        </p:tav>
                                        <p:tav tm="100000">
                                          <p:val>
                                            <p:flt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fltVal val="0.06"/>
                                          </p:val>
                                        </p:tav>
                                        <p:tav tm="100000">
                                          <p:val>
                                            <p:flt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fltVal val="0.06"/>
                                          </p:val>
                                        </p:tav>
                                        <p:tav tm="100000">
                                          <p:val>
                                            <p:flt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fltVal val="0.06"/>
                                          </p:val>
                                        </p:tav>
                                        <p:tav tm="100000">
                                          <p:val>
                                            <p:flt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fltVal val="0.06"/>
                                          </p:val>
                                        </p:tav>
                                        <p:tav tm="100000">
                                          <p:val>
                                            <p:flt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fltVal val="0.06"/>
                                          </p:val>
                                        </p:tav>
                                        <p:tav tm="100000">
                                          <p:val>
                                            <p:flt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fltVal val="0.06"/>
                                          </p:val>
                                        </p:tav>
                                        <p:tav tm="100000">
                                          <p:val>
                                            <p:flt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fltVal val="0.06"/>
                                          </p:val>
                                        </p:tav>
                                        <p:tav tm="100000">
                                          <p:val>
                                            <p:flt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fltVal val="0.06"/>
                                          </p:val>
                                        </p:tav>
                                        <p:tav tm="100000">
                                          <p:val>
                                            <p:flt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fltVal val="0.06"/>
                                          </p:val>
                                        </p:tav>
                                        <p:tav tm="100000">
                                          <p:val>
                                            <p:flt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fltVal val="0.06"/>
                                          </p:val>
                                        </p:tav>
                                        <p:tav tm="100000">
                                          <p:val>
                                            <p:flt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fltVal val="0.06"/>
                                          </p:val>
                                        </p:tav>
                                        <p:tav tm="100000">
                                          <p:val>
                                            <p:flt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fltVal val="0.06"/>
                                          </p:val>
                                        </p:tav>
                                        <p:tav tm="100000">
                                          <p:val>
                                            <p:flt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fltVal val="0.06"/>
                                          </p:val>
                                        </p:tav>
                                        <p:tav tm="100000">
                                          <p:val>
                                            <p:flt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fltVal val="0.06"/>
                                          </p:val>
                                        </p:tav>
                                        <p:tav tm="100000">
                                          <p:val>
                                            <p:flt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50" b="1">
                <a:solidFill>
                  <a:srgbClr val="0D1A2B"/>
                </a:solidFill>
                <a:latin typeface="Segoe UI Semibold"/>
              </a:rPr>
              <a:t>Del transistor al microprocesador: la vigencia de la Serie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Cierre técnico: por qué seguir estudiando integrados de 1963 en pleno siglo XXI.</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01617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ero_chip.png"/>
          <p:cNvPicPr>
            <a:picLocks noChangeAspect="1"/>
          </p:cNvPicPr>
          <p:nvPr/>
        </p:nvPicPr>
        <p:blipFill>
          <a:blip r:embed="rId2"/>
          <a:stretch>
            <a:fillRect/>
          </a:stretch>
        </p:blipFill>
        <p:spPr>
          <a:xfrm>
            <a:off x="539496" y="2259210"/>
            <a:ext cx="3307064" cy="184580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Integrado 74LS00 real sobre placa: la misma función lógica que ejecutan los miles de millones de compuertas de un procesador actual.</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brication.png"/>
          <p:cNvPicPr>
            <a:picLocks noChangeAspect="1"/>
          </p:cNvPicPr>
          <p:nvPr/>
        </p:nvPicPr>
        <p:blipFill>
          <a:blip r:embed="rId3"/>
          <a:stretch>
            <a:fillRect/>
          </a:stretch>
        </p:blipFill>
        <p:spPr>
          <a:xfrm>
            <a:off x="4139168" y="2640205"/>
            <a:ext cx="3307064" cy="108381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El proceso de fabricación de integrados ha escalado durante más de sesenta años, pero el álgebra de Boole que lo gobierna es la misma.</a:t>
            </a:r>
          </a:p>
        </p:txBody>
      </p:sp>
      <p:sp>
        <p:nvSpPr>
          <p:cNvPr id="22" name="Oval 21"/>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Escalabilidad conceptual:</a:t>
            </a:r>
            <a:r>
              <a:rPr sz="1050" b="0">
                <a:solidFill>
                  <a:srgbClr val="2C3E56"/>
                </a:solidFill>
                <a:latin typeface="Segoe UI"/>
              </a:rPr>
              <a:t> un microprocesador no es más que millones de compuertas NAND, NOR y biestables interconectados.</a:t>
            </a:r>
          </a:p>
        </p:txBody>
      </p:sp>
      <p:sp>
        <p:nvSpPr>
          <p:cNvPr id="24" name="Oval 23"/>
          <p:cNvSpPr/>
          <p:nvPr/>
        </p:nvSpPr>
        <p:spPr>
          <a:xfrm>
            <a:off x="7793705" y="202240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Valor didáctico:</a:t>
            </a:r>
            <a:r>
              <a:rPr sz="1000" b="0">
                <a:solidFill>
                  <a:srgbClr val="2C3E56"/>
                </a:solidFill>
                <a:latin typeface="Segoe UI"/>
              </a:rPr>
              <a:t> con un chip de 5 pesos se puede ver, medir y tocar el principio que rige a la electrónica digital.</a:t>
            </a:r>
          </a:p>
        </p:txBody>
      </p:sp>
      <p:sp>
        <p:nvSpPr>
          <p:cNvPr id="26" name="Oval 25"/>
          <p:cNvSpPr/>
          <p:nvPr/>
        </p:nvSpPr>
        <p:spPr>
          <a:xfrm>
            <a:off x="7793705" y="244407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697047"/>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Aplicaciones actuales:</a:t>
            </a:r>
            <a:r>
              <a:rPr sz="1050" b="0">
                <a:solidFill>
                  <a:srgbClr val="2C3E56"/>
                </a:solidFill>
                <a:latin typeface="Segoe UI"/>
              </a:rPr>
              <a:t> los integrados 74XX siguen usándose en conversión de niveles, control de LEDs, temporización simple, prototipos educativos y reparación de equipos.</a:t>
            </a:r>
          </a:p>
        </p:txBody>
      </p:sp>
      <p:sp>
        <p:nvSpPr>
          <p:cNvPr id="28" name="Oval 27"/>
          <p:cNvSpPr/>
          <p:nvPr/>
        </p:nvSpPr>
        <p:spPr>
          <a:xfrm>
            <a:off x="7793705" y="321427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Compatibilidad histórica:</a:t>
            </a:r>
            <a:r>
              <a:rPr sz="1050" b="0">
                <a:solidFill>
                  <a:srgbClr val="2C3E56"/>
                </a:solidFill>
                <a:latin typeface="Segoe UI"/>
              </a:rPr>
              <a:t> el mismo código de función (00, 08, 32, 86) sobrevive desde 1963 con el mismo pinout.</a:t>
            </a:r>
          </a:p>
        </p:txBody>
      </p:sp>
      <p:sp>
        <p:nvSpPr>
          <p:cNvPr id="30" name="Oval 29"/>
          <p:cNvSpPr/>
          <p:nvPr/>
        </p:nvSpPr>
        <p:spPr>
          <a:xfrm>
            <a:off x="7793705" y="381021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755349"/>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Competencia moderna:</a:t>
            </a:r>
            <a:r>
              <a:rPr sz="1050" b="0">
                <a:solidFill>
                  <a:srgbClr val="2C3E56"/>
                </a:solidFill>
                <a:latin typeface="Segoe UI"/>
              </a:rPr>
              <a:t> el microcontrolador reemplaza muchas funciones, pero no enseña con la misma claridad el funcionamiento interno.</a:t>
            </a:r>
          </a:p>
        </p:txBody>
      </p:sp>
      <p:sp>
        <p:nvSpPr>
          <p:cNvPr id="32" name="Oval 31"/>
          <p:cNvSpPr/>
          <p:nvPr/>
        </p:nvSpPr>
        <p:spPr>
          <a:xfrm>
            <a:off x="7793705" y="440615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351286"/>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Cierre:</a:t>
            </a:r>
            <a:r>
              <a:rPr sz="1050" b="0">
                <a:solidFill>
                  <a:srgbClr val="2C3E56"/>
                </a:solidFill>
                <a:latin typeface="Segoe UI"/>
              </a:rPr>
              <a:t> comprender la lógica digital a nivel de compuerta es la base para entender las FPGAs, los procesadores y cualquier sistema digital moderno.</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La electrónica digital no se volvió obsoleta: se volvió invisible dentro de chips cada vez más integrados, con la misma lógica de 0 y 1 en su interior.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fltVal val="0.06"/>
                                          </p:val>
                                        </p:tav>
                                        <p:tav tm="100000">
                                          <p:val>
                                            <p:flt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fltVal val="0.06"/>
                                          </p:val>
                                        </p:tav>
                                        <p:tav tm="100000">
                                          <p:val>
                                            <p:flt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fltVal val="0.06"/>
                                          </p:val>
                                        </p:tav>
                                        <p:tav tm="100000">
                                          <p:val>
                                            <p:flt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fltVal val="0.06"/>
                                          </p:val>
                                        </p:tav>
                                        <p:tav tm="100000">
                                          <p:val>
                                            <p:flt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fltVal val="0.06"/>
                                          </p:val>
                                        </p:tav>
                                        <p:tav tm="100000">
                                          <p:val>
                                            <p:flt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2000"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Autoevaluación: 12 preguntas para repasar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Intenta responder sin mirar las diapositivas anteriores.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12858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1. ¿Cuál es la diferencia entre una señal analógica y una digital?</a:t>
            </a:r>
          </a:p>
        </p:txBody>
      </p:sp>
      <p:sp>
        <p:nvSpPr>
          <p:cNvPr id="18" name="Oval 17"/>
          <p:cNvSpPr/>
          <p:nvPr/>
        </p:nvSpPr>
        <p:spPr>
          <a:xfrm>
            <a:off x="502919" y="167753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62266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2. ¿Qué tensión se considera un nivel alto garantizado en TTL?</a:t>
            </a:r>
          </a:p>
        </p:txBody>
      </p:sp>
      <p:sp>
        <p:nvSpPr>
          <p:cNvPr id="20" name="Oval 19"/>
          <p:cNvSpPr/>
          <p:nvPr/>
        </p:nvSpPr>
        <p:spPr>
          <a:xfrm>
            <a:off x="502919" y="192860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187373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3. ¿Qué significa el margen de ruido de 0.4 V en TTL?</a:t>
            </a:r>
          </a:p>
        </p:txBody>
      </p:sp>
      <p:sp>
        <p:nvSpPr>
          <p:cNvPr id="22" name="Oval 21"/>
          <p:cNvSpPr/>
          <p:nvPr/>
        </p:nvSpPr>
        <p:spPr>
          <a:xfrm>
            <a:off x="502919" y="217967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12480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4. ¿Por qué la compuerta NAND es universal?</a:t>
            </a:r>
          </a:p>
        </p:txBody>
      </p:sp>
      <p:sp>
        <p:nvSpPr>
          <p:cNvPr id="24" name="Oval 23"/>
          <p:cNvSpPr/>
          <p:nvPr/>
        </p:nvSpPr>
        <p:spPr>
          <a:xfrm>
            <a:off x="502919" y="243074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237587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5. ¿Cuál es la diferencia entre VIL y VOL?</a:t>
            </a:r>
          </a:p>
        </p:txBody>
      </p:sp>
      <p:sp>
        <p:nvSpPr>
          <p:cNvPr id="26" name="Oval 25"/>
          <p:cNvSpPr/>
          <p:nvPr/>
        </p:nvSpPr>
        <p:spPr>
          <a:xfrm>
            <a:off x="502919" y="268181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262694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6. ¿Qué chip implementa la función XOR y cuántas compuertas tiene?</a:t>
            </a:r>
          </a:p>
        </p:txBody>
      </p:sp>
      <p:sp>
        <p:nvSpPr>
          <p:cNvPr id="28" name="Oval 27"/>
          <p:cNvSpPr/>
          <p:nvPr/>
        </p:nvSpPr>
        <p:spPr>
          <a:xfrm>
            <a:off x="6278864"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371600"/>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7. ¿Cuál es la diferencia entre el 7400 y el 7402, además de la función?</a:t>
            </a:r>
          </a:p>
        </p:txBody>
      </p:sp>
      <p:sp>
        <p:nvSpPr>
          <p:cNvPr id="30" name="Oval 29"/>
          <p:cNvSpPr/>
          <p:nvPr/>
        </p:nvSpPr>
        <p:spPr>
          <a:xfrm>
            <a:off x="6278864" y="167753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162266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8. ¿Por qué el 74266 requiere una resistencia pull-up?</a:t>
            </a:r>
          </a:p>
        </p:txBody>
      </p:sp>
      <p:sp>
        <p:nvSpPr>
          <p:cNvPr id="32" name="Oval 31"/>
          <p:cNvSpPr/>
          <p:nvPr/>
        </p:nvSpPr>
        <p:spPr>
          <a:xfrm>
            <a:off x="6278864" y="192860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187373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9. ¿Qué significa fan-out y cuánto vale en TTL estándar?</a:t>
            </a:r>
          </a:p>
        </p:txBody>
      </p:sp>
      <p:sp>
        <p:nvSpPr>
          <p:cNvPr id="34" name="Oval 33"/>
          <p:cNvSpPr/>
          <p:nvPr/>
        </p:nvSpPr>
        <p:spPr>
          <a:xfrm>
            <a:off x="6278864" y="217967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212480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10. ¿Cómo se construye un medio sumador con compuertas?</a:t>
            </a:r>
          </a:p>
        </p:txBody>
      </p:sp>
      <p:sp>
        <p:nvSpPr>
          <p:cNvPr id="36" name="Oval 35"/>
          <p:cNvSpPr/>
          <p:nvPr/>
        </p:nvSpPr>
        <p:spPr>
          <a:xfrm>
            <a:off x="6278864" y="243074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25168" y="237587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11. ¿Cuál es la diferencia entre un latch y un flip-flop?</a:t>
            </a:r>
          </a:p>
        </p:txBody>
      </p:sp>
      <p:sp>
        <p:nvSpPr>
          <p:cNvPr id="38" name="Oval 37"/>
          <p:cNvSpPr/>
          <p:nvPr/>
        </p:nvSpPr>
        <p:spPr>
          <a:xfrm>
            <a:off x="6278864" y="268181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5168" y="262694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12. ¿Qué se verifica primero cuando un circuito digital no funciona?</a:t>
            </a:r>
          </a:p>
        </p:txBody>
      </p:sp>
      <p:sp>
        <p:nvSpPr>
          <p:cNvPr id="40" name="Rounded Rectangle 39"/>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75488" y="5449824"/>
            <a:ext cx="32004" cy="65836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RESPUESTAS</a:t>
            </a:r>
          </a:p>
        </p:txBody>
      </p:sp>
      <p:sp>
        <p:nvSpPr>
          <p:cNvPr id="43" name="TextBox 42"/>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Respuestas clave: (2) 2.0 V, (3) la tolerancia a interferencia, (5) VIL es un umbral de entrada y VOL una garantía de salida, (8) su salida es de colector abierto, (9) 10 entradas, (12) la alimentación.</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9" fill="hold">
                      <p:stCondLst>
                        <p:cond delay="indefinite"/>
                      </p:stCondLst>
                      <p:childTnLst>
                        <p:par>
                          <p:cTn id="40"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fltVal val="0.06"/>
                                          </p:val>
                                        </p:tav>
                                        <p:tav tm="100000">
                                          <p:val>
                                            <p:flt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fltVal val="0.06"/>
                                          </p:val>
                                        </p:tav>
                                        <p:tav tm="100000">
                                          <p:val>
                                            <p:flt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fltVal val="0.06"/>
                                          </p:val>
                                        </p:tav>
                                        <p:tav tm="100000">
                                          <p:val>
                                            <p:fltVal val="0"/>
                                          </p:val>
                                        </p:tav>
                                      </p:tavLst>
                                    </p:anim>
                                  </p:childTnLst>
                                </p:cTn>
                              </p:par>
                              <p:par>
                                <p:cTn id="38" fill="hold">
                                  <p:stCondLst>
                                    <p:cond delay="330"/>
                                  </p:stCondLst>
                                  <p:childTnLst>
                                    <p:set>
                                      <p:cBhvr>
                                        <p:cTn id="36" dur="1" fill="hold">
                                          <p:stCondLst>
                                            <p:cond delay="0"/>
                                          </p:stCondLst>
                                        </p:cTn>
                                        <p:tgtEl>
                                          <p:spTgt spid="23"/>
                                        </p:tgtEl>
                                        <p:attrNameLst>
                                          <p:attrName>style.visibility</p:attrName>
                                        </p:attrNameLst>
                                      </p:cBhvr>
                                      <p:to>
                                        <p:strVal val="visible"/>
                                      </p:to>
                                    </p:set>
                                    <p:animEffect transition="in" filter="fade">
                                      <p:cBhvr>
                                        <p:cTn id="35" dur="420"/>
                                        <p:tgtEl>
                                          <p:spTgt spid="23"/>
                                        </p:tgtEl>
                                      </p:cBhvr>
                                    </p:animEffect>
                                    <p:anim calcmode="lin" valueType="num">
                                      <p:cBhvr additive="base">
                                        <p:cTn id="37" dur="420" fill="hold"/>
                                        <p:tgtEl>
                                          <p:spTgt spid="23"/>
                                        </p:tgtEl>
                                        <p:attrNameLst>
                                          <p:attrName>ppt_y</p:attrName>
                                        </p:attrNameLst>
                                      </p:cBhvr>
                                      <p:tavLst>
                                        <p:tav tm="0">
                                          <p:val>
                                            <p:fltVal val="0.06"/>
                                          </p:val>
                                        </p:tav>
                                        <p:tav tm="100000">
                                          <p:val>
                                            <p:fltVal val="0"/>
                                          </p:val>
                                        </p:tav>
                                      </p:tavLst>
                                    </p:anim>
                                  </p:childTnLst>
                                </p:cTn>
                              </p:par>
                            </p:childTnLst>
                          </p:cTn>
                        </p:par>
                      </p:childTnLst>
                    </p:cTn>
                  </p:par>
                  <p:par>
                    <p:cTn id="57" fill="hold">
                      <p:stCondLst>
                        <p:cond delay="indefinite"/>
                      </p:stCondLst>
                      <p:childTnLst>
                        <p:par>
                          <p:cTn id="58" fill="hold">
                            <p:stCondLst>
                              <p:cond delay="0"/>
                            </p:stCondLst>
                            <p:childTnLst>
                              <p:par>
                                <p:cTn id="44" fill="hold">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fltVal val="0.06"/>
                                          </p:val>
                                        </p:tav>
                                        <p:tav tm="100000">
                                          <p:val>
                                            <p:fltVal val="0"/>
                                          </p:val>
                                        </p:tav>
                                      </p:tavLst>
                                    </p:anim>
                                  </p:childTnLst>
                                </p:cTn>
                              </p:par>
                              <p:par>
                                <p:cTn id="48" fill="hold">
                                  <p:stCondLst>
                                    <p:cond delay="11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fltVal val="0.06"/>
                                          </p:val>
                                        </p:tav>
                                        <p:tav tm="100000">
                                          <p:val>
                                            <p:fltVal val="0"/>
                                          </p:val>
                                        </p:tav>
                                      </p:tavLst>
                                    </p:anim>
                                  </p:childTnLst>
                                </p:cTn>
                              </p:par>
                              <p:par>
                                <p:cTn id="52" fill="hold">
                                  <p:stCondLst>
                                    <p:cond delay="220"/>
                                  </p:stCondLst>
                                  <p:childTnLst>
                                    <p:set>
                                      <p:cBhvr>
                                        <p:cTn id="50" dur="1" fill="hold">
                                          <p:stCondLst>
                                            <p:cond delay="0"/>
                                          </p:stCondLst>
                                        </p:cTn>
                                        <p:tgtEl>
                                          <p:spTgt spid="29"/>
                                        </p:tgtEl>
                                        <p:attrNameLst>
                                          <p:attrName>style.visibility</p:attrName>
                                        </p:attrNameLst>
                                      </p:cBhvr>
                                      <p:to>
                                        <p:strVal val="visible"/>
                                      </p:to>
                                    </p:set>
                                    <p:animEffect transition="in" filter="fade">
                                      <p:cBhvr>
                                        <p:cTn id="49" dur="420"/>
                                        <p:tgtEl>
                                          <p:spTgt spid="29"/>
                                        </p:tgtEl>
                                      </p:cBhvr>
                                    </p:animEffect>
                                    <p:anim calcmode="lin" valueType="num">
                                      <p:cBhvr additive="base">
                                        <p:cTn id="51" dur="420" fill="hold"/>
                                        <p:tgtEl>
                                          <p:spTgt spid="29"/>
                                        </p:tgtEl>
                                        <p:attrNameLst>
                                          <p:attrName>ppt_y</p:attrName>
                                        </p:attrNameLst>
                                      </p:cBhvr>
                                      <p:tavLst>
                                        <p:tav tm="0">
                                          <p:val>
                                            <p:fltVal val="0.06"/>
                                          </p:val>
                                        </p:tav>
                                        <p:tav tm="100000">
                                          <p:val>
                                            <p:fltVal val="0"/>
                                          </p:val>
                                        </p:tav>
                                      </p:tavLst>
                                    </p:anim>
                                  </p:childTnLst>
                                </p:cTn>
                              </p:par>
                              <p:par>
                                <p:cTn id="56" fill="hold">
                                  <p:stCondLst>
                                    <p:cond delay="330"/>
                                  </p:stCondLst>
                                  <p:childTnLst>
                                    <p:set>
                                      <p:cBhvr>
                                        <p:cTn id="54" dur="1" fill="hold">
                                          <p:stCondLst>
                                            <p:cond delay="0"/>
                                          </p:stCondLst>
                                        </p:cTn>
                                        <p:tgtEl>
                                          <p:spTgt spid="31"/>
                                        </p:tgtEl>
                                        <p:attrNameLst>
                                          <p:attrName>style.visibility</p:attrName>
                                        </p:attrNameLst>
                                      </p:cBhvr>
                                      <p:to>
                                        <p:strVal val="visible"/>
                                      </p:to>
                                    </p:set>
                                    <p:animEffect transition="in" filter="fade">
                                      <p:cBhvr>
                                        <p:cTn id="53" dur="420"/>
                                        <p:tgtEl>
                                          <p:spTgt spid="31"/>
                                        </p:tgtEl>
                                      </p:cBhvr>
                                    </p:animEffect>
                                    <p:anim calcmode="lin" valueType="num">
                                      <p:cBhvr additive="base">
                                        <p:cTn id="55" dur="420" fill="hold"/>
                                        <p:tgtEl>
                                          <p:spTgt spid="31"/>
                                        </p:tgtEl>
                                        <p:attrNameLst>
                                          <p:attrName>ppt_y</p:attrName>
                                        </p:attrNameLst>
                                      </p:cBhvr>
                                      <p:tavLst>
                                        <p:tav tm="0">
                                          <p:val>
                                            <p:fltVal val="0.06"/>
                                          </p:val>
                                        </p:tav>
                                        <p:tav tm="100000">
                                          <p:val>
                                            <p:fltVal val="0"/>
                                          </p:val>
                                        </p:tav>
                                      </p:tavLst>
                                    </p:anim>
                                  </p:childTnLst>
                                </p:cTn>
                              </p:par>
                            </p:childTnLst>
                          </p:cTn>
                        </p:par>
                      </p:childTnLst>
                    </p:cTn>
                  </p:par>
                  <p:par>
                    <p:cTn id="75" fill="hold">
                      <p:stCondLst>
                        <p:cond delay="indefinite"/>
                      </p:stCondLst>
                      <p:childTnLst>
                        <p:par>
                          <p:cTn id="76" fill="hold">
                            <p:stCondLst>
                              <p:cond delay="0"/>
                            </p:stCondLst>
                            <p:childTnLst>
                              <p:par>
                                <p:cTn id="62" fill="hold">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fltVal val="0.06"/>
                                          </p:val>
                                        </p:tav>
                                        <p:tav tm="100000">
                                          <p:val>
                                            <p:fltVal val="0"/>
                                          </p:val>
                                        </p:tav>
                                      </p:tavLst>
                                    </p:anim>
                                  </p:childTnLst>
                                </p:cTn>
                              </p:par>
                              <p:par>
                                <p:cTn id="66" fill="hold">
                                  <p:stCondLst>
                                    <p:cond delay="110"/>
                                  </p:stCondLst>
                                  <p:childTnLst>
                                    <p:set>
                                      <p:cBhvr>
                                        <p:cTn id="64" dur="1" fill="hold">
                                          <p:stCondLst>
                                            <p:cond delay="0"/>
                                          </p:stCondLst>
                                        </p:cTn>
                                        <p:tgtEl>
                                          <p:spTgt spid="35"/>
                                        </p:tgtEl>
                                        <p:attrNameLst>
                                          <p:attrName>style.visibility</p:attrName>
                                        </p:attrNameLst>
                                      </p:cBhvr>
                                      <p:to>
                                        <p:strVal val="visible"/>
                                      </p:to>
                                    </p:set>
                                    <p:animEffect transition="in" filter="fade">
                                      <p:cBhvr>
                                        <p:cTn id="63" dur="420"/>
                                        <p:tgtEl>
                                          <p:spTgt spid="35"/>
                                        </p:tgtEl>
                                      </p:cBhvr>
                                    </p:animEffect>
                                    <p:anim calcmode="lin" valueType="num">
                                      <p:cBhvr additive="base">
                                        <p:cTn id="65" dur="420" fill="hold"/>
                                        <p:tgtEl>
                                          <p:spTgt spid="35"/>
                                        </p:tgtEl>
                                        <p:attrNameLst>
                                          <p:attrName>ppt_y</p:attrName>
                                        </p:attrNameLst>
                                      </p:cBhvr>
                                      <p:tavLst>
                                        <p:tav tm="0">
                                          <p:val>
                                            <p:fltVal val="0.06"/>
                                          </p:val>
                                        </p:tav>
                                        <p:tav tm="100000">
                                          <p:val>
                                            <p:fltVal val="0"/>
                                          </p:val>
                                        </p:tav>
                                      </p:tavLst>
                                    </p:anim>
                                  </p:childTnLst>
                                </p:cTn>
                              </p:par>
                              <p:par>
                                <p:cTn id="70" fill="hold">
                                  <p:stCondLst>
                                    <p:cond delay="220"/>
                                  </p:stCondLst>
                                  <p:childTnLst>
                                    <p:set>
                                      <p:cBhvr>
                                        <p:cTn id="68" dur="1" fill="hold">
                                          <p:stCondLst>
                                            <p:cond delay="0"/>
                                          </p:stCondLst>
                                        </p:cTn>
                                        <p:tgtEl>
                                          <p:spTgt spid="37"/>
                                        </p:tgtEl>
                                        <p:attrNameLst>
                                          <p:attrName>style.visibility</p:attrName>
                                        </p:attrNameLst>
                                      </p:cBhvr>
                                      <p:to>
                                        <p:strVal val="visible"/>
                                      </p:to>
                                    </p:set>
                                    <p:animEffect transition="in" filter="fade">
                                      <p:cBhvr>
                                        <p:cTn id="67" dur="420"/>
                                        <p:tgtEl>
                                          <p:spTgt spid="37"/>
                                        </p:tgtEl>
                                      </p:cBhvr>
                                    </p:animEffect>
                                    <p:anim calcmode="lin" valueType="num">
                                      <p:cBhvr additive="base">
                                        <p:cTn id="69" dur="420" fill="hold"/>
                                        <p:tgtEl>
                                          <p:spTgt spid="37"/>
                                        </p:tgtEl>
                                        <p:attrNameLst>
                                          <p:attrName>ppt_y</p:attrName>
                                        </p:attrNameLst>
                                      </p:cBhvr>
                                      <p:tavLst>
                                        <p:tav tm="0">
                                          <p:val>
                                            <p:fltVal val="0.06"/>
                                          </p:val>
                                        </p:tav>
                                        <p:tav tm="100000">
                                          <p:val>
                                            <p:fltVal val="0"/>
                                          </p:val>
                                        </p:tav>
                                      </p:tavLst>
                                    </p:anim>
                                  </p:childTnLst>
                                </p:cTn>
                              </p:par>
                              <p:par>
                                <p:cTn id="74" fill="hold">
                                  <p:stCondLst>
                                    <p:cond delay="330"/>
                                  </p:stCondLst>
                                  <p:childTnLst>
                                    <p:set>
                                      <p:cBhvr>
                                        <p:cTn id="72" dur="1" fill="hold">
                                          <p:stCondLst>
                                            <p:cond delay="0"/>
                                          </p:stCondLst>
                                        </p:cTn>
                                        <p:tgtEl>
                                          <p:spTgt spid="39"/>
                                        </p:tgtEl>
                                        <p:attrNameLst>
                                          <p:attrName>style.visibility</p:attrName>
                                        </p:attrNameLst>
                                      </p:cBhvr>
                                      <p:to>
                                        <p:strVal val="visible"/>
                                      </p:to>
                                    </p:set>
                                    <p:animEffect transition="in" filter="fade">
                                      <p:cBhvr>
                                        <p:cTn id="71" dur="420"/>
                                        <p:tgtEl>
                                          <p:spTgt spid="39"/>
                                        </p:tgtEl>
                                      </p:cBhvr>
                                    </p:animEffect>
                                    <p:anim calcmode="lin" valueType="num">
                                      <p:cBhvr additive="base">
                                        <p:cTn id="73" dur="420" fill="hold"/>
                                        <p:tgtEl>
                                          <p:spTgt spid="39"/>
                                        </p:tgtEl>
                                        <p:attrNameLst>
                                          <p:attrName>ppt_y</p:attrName>
                                        </p:attrNameLst>
                                      </p:cBhvr>
                                      <p:tavLst>
                                        <p:tav tm="0">
                                          <p:val>
                                            <p:fltVal val="0.06"/>
                                          </p:val>
                                        </p:tav>
                                        <p:tav tm="100000">
                                          <p:val>
                                            <p:fltVal val="0"/>
                                          </p:val>
                                        </p:tav>
                                      </p:tavLst>
                                    </p:anim>
                                  </p:childTnLst>
                                </p:cTn>
                              </p:par>
                            </p:childTnLst>
                          </p:cTn>
                        </p:par>
                      </p:childTnLst>
                    </p:cTn>
                  </p:par>
                  <p:par>
                    <p:cTn id="80" fill="hold">
                      <p:stCondLst>
                        <p:cond delay="indefinite"/>
                      </p:stCondLst>
                      <p:childTnLst>
                        <p:par>
                          <p:cTn id="81" fill="hold">
                            <p:stCondLst>
                              <p:cond delay="0"/>
                            </p:stCondLst>
                            <p:childTnLst>
                              <p:par>
                                <p:cTn id="79" fill="hold">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7" dur="420"/>
                                        <p:tgtEl>
                                          <p:spTgt spid="40"/>
                                        </p:tgtEl>
                                      </p:cBhvr>
                                    </p:animEffect>
                                  </p:childTnLst>
                                </p:cTn>
                              </p:par>
                            </p:childTnLst>
                          </p:cTn>
                        </p:par>
                      </p:childTnLst>
                    </p:cTn>
                  </p:par>
                  <p:par>
                    <p:cTn id="85" fill="hold">
                      <p:stCondLst>
                        <p:cond delay="indefinite"/>
                      </p:stCondLst>
                      <p:childTnLst>
                        <p:par>
                          <p:cTn id="86" fill="hold">
                            <p:stCondLst>
                              <p:cond delay="0"/>
                            </p:stCondLst>
                            <p:childTnLst>
                              <p:par>
                                <p:cTn id="84" fill="hold">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2" dur="420"/>
                                        <p:tgtEl>
                                          <p:spTgt spid="41"/>
                                        </p:tgtEl>
                                      </p:cBhvr>
                                    </p:animEffect>
                                  </p:childTnLst>
                                </p:cTn>
                              </p:par>
                            </p:childTnLst>
                          </p:cTn>
                        </p:par>
                      </p:childTnLst>
                    </p:cTn>
                  </p:par>
                  <p:par>
                    <p:cTn id="93" fill="hold">
                      <p:stCondLst>
                        <p:cond delay="indefinite"/>
                      </p:stCondLst>
                      <p:childTnLst>
                        <p:par>
                          <p:cTn id="94" fill="hold">
                            <p:stCondLst>
                              <p:cond delay="0"/>
                            </p:stCondLst>
                            <p:childTnLst>
                              <p:par>
                                <p:cTn id="89" fill="hold">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7" dur="420"/>
                                        <p:tgtEl>
                                          <p:spTgt spid="42"/>
                                        </p:tgtEl>
                                      </p:cBhvr>
                                    </p:animEffect>
                                  </p:childTnLst>
                                </p:cTn>
                              </p:par>
                              <p:par>
                                <p:cTn id="92" fill="hold">
                                  <p:stCondLst>
                                    <p:cond delay="110"/>
                                  </p:stCondLst>
                                  <p:childTnLst>
                                    <p:set>
                                      <p:cBhvr>
                                        <p:cTn id="91" dur="1" fill="hold">
                                          <p:stCondLst>
                                            <p:cond delay="0"/>
                                          </p:stCondLst>
                                        </p:cTn>
                                        <p:tgtEl>
                                          <p:spTgt spid="43"/>
                                        </p:tgtEl>
                                        <p:attrNameLst>
                                          <p:attrName>style.visibility</p:attrName>
                                        </p:attrNameLst>
                                      </p:cBhvr>
                                      <p:to>
                                        <p:strVal val="visible"/>
                                      </p:to>
                                    </p:set>
                                    <p:animEffect transition="in" filter="fade">
                                      <p:cBhvr>
                                        <p:cTn id="90" dur="42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14.png"/>
          <p:cNvPicPr>
            <a:picLocks noChangeAspect="1"/>
          </p:cNvPicPr>
          <p:nvPr/>
        </p:nvPicPr>
        <p:blipFill>
          <a:blip r:embed="rId2"/>
          <a:srcRect t="4156" b="4156"/>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solidFill>
            <a:srgbClr val="F5F8FC">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926079" y="457200"/>
            <a:ext cx="6217920" cy="621792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2000" cy="6400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1600200"/>
            <a:ext cx="11240993" cy="822960"/>
          </a:xfrm>
          <a:prstGeom prst="rect">
            <a:avLst/>
          </a:prstGeom>
          <a:noFill/>
        </p:spPr>
        <p:txBody>
          <a:bodyPr wrap="square" lIns="0" rIns="0" tIns="0" bIns="0" anchor="t">
            <a:spAutoFit/>
          </a:bodyPr>
          <a:lstStyle/>
          <a:p>
            <a:pPr algn="ctr">
              <a:lnSpc>
                <a:spcPct val="95000"/>
              </a:lnSpc>
            </a:pPr>
            <a:r>
              <a:rPr sz="4400" b="1">
                <a:solidFill>
                  <a:srgbClr val="0D1A2B"/>
                </a:solidFill>
                <a:latin typeface="Segoe UI Semibold"/>
              </a:rPr>
              <a:t>¿Preguntas o dudas?</a:t>
            </a:r>
          </a:p>
        </p:txBody>
      </p:sp>
      <p:sp>
        <p:nvSpPr>
          <p:cNvPr id="8" name="TextBox 7"/>
          <p:cNvSpPr txBox="1"/>
          <p:nvPr/>
        </p:nvSpPr>
        <p:spPr>
          <a:xfrm>
            <a:off x="475488" y="2606040"/>
            <a:ext cx="11240993" cy="457200"/>
          </a:xfrm>
          <a:prstGeom prst="rect">
            <a:avLst/>
          </a:prstGeom>
          <a:noFill/>
        </p:spPr>
        <p:txBody>
          <a:bodyPr wrap="square" lIns="0" rIns="0" tIns="0" bIns="0" anchor="t">
            <a:spAutoFit/>
          </a:bodyPr>
          <a:lstStyle/>
          <a:p>
            <a:pPr algn="ctr">
              <a:lnSpc>
                <a:spcPct val="105000"/>
              </a:lnSpc>
            </a:pPr>
            <a:r>
              <a:rPr sz="1600" b="1">
                <a:solidFill>
                  <a:srgbClr val="1E5FD0"/>
                </a:solidFill>
                <a:latin typeface="Segoe UI Semibold"/>
              </a:rPr>
              <a:t>Electrónica Digital · Compuertas Lógicas y Chips Serie 74XX</a:t>
            </a:r>
          </a:p>
        </p:txBody>
      </p:sp>
      <p:sp>
        <p:nvSpPr>
          <p:cNvPr id="9" name="Rectangle 8"/>
          <p:cNvSpPr/>
          <p:nvPr/>
        </p:nvSpPr>
        <p:spPr>
          <a:xfrm>
            <a:off x="5273024" y="3218688"/>
            <a:ext cx="1645920" cy="457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304288" y="3429000"/>
            <a:ext cx="7583393" cy="914400"/>
          </a:xfrm>
          <a:prstGeom prst="rect">
            <a:avLst/>
          </a:prstGeom>
          <a:noFill/>
        </p:spPr>
        <p:txBody>
          <a:bodyPr wrap="square" lIns="0" rIns="0" tIns="0" bIns="0" anchor="t">
            <a:spAutoFit/>
          </a:bodyPr>
          <a:lstStyle/>
          <a:p>
            <a:pPr algn="ctr">
              <a:lnSpc>
                <a:spcPct val="120000"/>
              </a:lnSpc>
            </a:pPr>
            <a:r>
              <a:rPr sz="1250" b="0">
                <a:solidFill>
                  <a:srgbClr val="2C3E56"/>
                </a:solidFill>
                <a:latin typeface="Segoe UI"/>
              </a:rPr>
              <a:t>Guía técnica ampliada con fundamentos, compuertas, hojas de datos, aplicaciones, práctica de laboratorio, glosario y recursos. Todas las diapositivas incluyen transición y entradas animadas para exposición por bloques.</a:t>
            </a:r>
          </a:p>
        </p:txBody>
      </p:sp>
      <p:sp>
        <p:nvSpPr>
          <p:cNvPr id="11" name="Rounded Rectangle 10"/>
          <p:cNvSpPr/>
          <p:nvPr/>
        </p:nvSpPr>
        <p:spPr>
          <a:xfrm>
            <a:off x="744458" y="4754880"/>
            <a:ext cx="987552" cy="347472"/>
          </a:xfrm>
          <a:prstGeom prst="roundRect">
            <a:avLst>
              <a:gd name="adj" fmla="val 12962"/>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4458" y="4754880"/>
            <a:ext cx="987552"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TTL 74XX</a:t>
            </a:r>
          </a:p>
        </p:txBody>
      </p:sp>
      <p:sp>
        <p:nvSpPr>
          <p:cNvPr id="13" name="Rounded Rectangle 12"/>
          <p:cNvSpPr/>
          <p:nvPr/>
        </p:nvSpPr>
        <p:spPr>
          <a:xfrm>
            <a:off x="1823450" y="4754880"/>
            <a:ext cx="1947672" cy="347472"/>
          </a:xfrm>
          <a:prstGeom prst="roundRect">
            <a:avLst>
              <a:gd name="adj" fmla="val 6572"/>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823450" y="4754880"/>
            <a:ext cx="1947672"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7400 · 7408 · 7432</a:t>
            </a:r>
          </a:p>
        </p:txBody>
      </p:sp>
      <p:sp>
        <p:nvSpPr>
          <p:cNvPr id="15" name="Rounded Rectangle 14"/>
          <p:cNvSpPr/>
          <p:nvPr/>
        </p:nvSpPr>
        <p:spPr>
          <a:xfrm>
            <a:off x="3862562" y="4754880"/>
            <a:ext cx="2043684" cy="347472"/>
          </a:xfrm>
          <a:prstGeom prst="roundRect">
            <a:avLst>
              <a:gd name="adj" fmla="val 6263"/>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62562" y="4754880"/>
            <a:ext cx="2043684"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7402 · 7486 · 74266</a:t>
            </a:r>
          </a:p>
        </p:txBody>
      </p:sp>
      <p:sp>
        <p:nvSpPr>
          <p:cNvPr id="17" name="Rounded Rectangle 16"/>
          <p:cNvSpPr/>
          <p:nvPr/>
        </p:nvSpPr>
        <p:spPr>
          <a:xfrm>
            <a:off x="5997686" y="4754880"/>
            <a:ext cx="2139696" cy="347472"/>
          </a:xfrm>
          <a:prstGeom prst="roundRect">
            <a:avLst>
              <a:gd name="adj" fmla="val 5982"/>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997686" y="4754880"/>
            <a:ext cx="2139696"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Lógica combinacional</a:t>
            </a:r>
          </a:p>
        </p:txBody>
      </p:sp>
      <p:sp>
        <p:nvSpPr>
          <p:cNvPr id="19" name="Rounded Rectangle 18"/>
          <p:cNvSpPr/>
          <p:nvPr/>
        </p:nvSpPr>
        <p:spPr>
          <a:xfrm>
            <a:off x="8228822" y="4754880"/>
            <a:ext cx="1851660" cy="347472"/>
          </a:xfrm>
          <a:prstGeom prst="roundRect">
            <a:avLst>
              <a:gd name="adj" fmla="val 6913"/>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8822" y="4754880"/>
            <a:ext cx="1851660"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Lógica secuencial</a:t>
            </a:r>
          </a:p>
        </p:txBody>
      </p:sp>
      <p:sp>
        <p:nvSpPr>
          <p:cNvPr id="21" name="Rounded Rectangle 20"/>
          <p:cNvSpPr/>
          <p:nvPr/>
        </p:nvSpPr>
        <p:spPr>
          <a:xfrm>
            <a:off x="10171922" y="4754880"/>
            <a:ext cx="1275588" cy="347472"/>
          </a:xfrm>
          <a:prstGeom prst="roundRect">
            <a:avLst>
              <a:gd name="adj" fmla="val 10035"/>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171922" y="4754880"/>
            <a:ext cx="1275588"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Laboratorio</a:t>
            </a:r>
          </a:p>
        </p:txBody>
      </p:sp>
      <p:cxnSp>
        <p:nvCxnSpPr>
          <p:cNvPr id="23" name="Connector 22"/>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6446520"/>
            <a:ext cx="73152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 · Guía técnica ampliada · 2026</a:t>
            </a:r>
          </a:p>
        </p:txBody>
      </p:sp>
      <p:sp>
        <p:nvSpPr>
          <p:cNvPr id="25" name="TextBox 24"/>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100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7" fill="hold">
                      <p:stCondLst>
                        <p:cond delay="0"/>
                      </p:stCondLst>
                      <p:childTnLst>
                        <p:par>
                          <p:cTn id="8" fill="hold">
                            <p:stCondLst>
                              <p:cond delay="0"/>
                            </p:stCondLst>
                            <p:childTnLst>
                              <p:par>
                                <p:cTn id="6" fill="hold">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3" dur="420"/>
                                        <p:tgtEl>
                                          <p:spTgt spid="7"/>
                                        </p:tgtEl>
                                      </p:cBhvr>
                                    </p:animEffect>
                                    <p:anim calcmode="lin" valueType="num">
                                      <p:cBhvr additive="base">
                                        <p:cTn id="5" dur="420" fill="hold"/>
                                        <p:tgtEl>
                                          <p:spTgt spid="7"/>
                                        </p:tgtEl>
                                        <p:attrNameLst>
                                          <p:attrName>ppt_y</p:attrName>
                                        </p:attrNameLst>
                                      </p:cBhvr>
                                      <p:tavLst>
                                        <p:tav tm="0">
                                          <p:val>
                                            <p:fltVal val="0.06"/>
                                          </p:val>
                                        </p:tav>
                                        <p:tav tm="100000">
                                          <p:val>
                                            <p:fltVal val="0"/>
                                          </p:val>
                                        </p:tav>
                                      </p:tavLst>
                                    </p:anim>
                                  </p:childTnLst>
                                </p:cTn>
                              </p:par>
                            </p:childTnLst>
                          </p:cTn>
                        </p:par>
                      </p:childTnLst>
                    </p:cTn>
                  </p:par>
                  <p:par>
                    <p:cTn id="13" fill="hold">
                      <p:stCondLst>
                        <p:cond delay="indefinite"/>
                      </p:stCondLst>
                      <p:childTnLst>
                        <p:par>
                          <p:cTn id="14" fill="hold">
                            <p:stCondLst>
                              <p:cond delay="0"/>
                            </p:stCondLst>
                            <p:childTnLst>
                              <p:par>
                                <p:cTn id="12" fill="hold">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9" dur="420"/>
                                        <p:tgtEl>
                                          <p:spTgt spid="8"/>
                                        </p:tgtEl>
                                      </p:cBhvr>
                                    </p:animEffect>
                                    <p:anim calcmode="lin" valueType="num">
                                      <p:cBhvr additive="base">
                                        <p:cTn id="11" dur="420" fill="hold"/>
                                        <p:tgtEl>
                                          <p:spTgt spid="8"/>
                                        </p:tgtEl>
                                        <p:attrNameLst>
                                          <p:attrName>ppt_y</p:attrName>
                                        </p:attrNameLst>
                                      </p:cBhvr>
                                      <p:tavLst>
                                        <p:tav tm="0">
                                          <p:val>
                                            <p:fltVal val="0.06"/>
                                          </p:val>
                                        </p:tav>
                                        <p:tav tm="100000">
                                          <p:val>
                                            <p:fltVal val="0"/>
                                          </p:val>
                                        </p:tav>
                                      </p:tavLst>
                                    </p:anim>
                                  </p:childTnLst>
                                </p:cTn>
                              </p:par>
                            </p:childTnLst>
                          </p:cTn>
                        </p:par>
                      </p:childTnLst>
                    </p:cTn>
                  </p:par>
                  <p:par>
                    <p:cTn id="19" fill="hold">
                      <p:stCondLst>
                        <p:cond delay="indefinite"/>
                      </p:stCondLst>
                      <p:childTnLst>
                        <p:par>
                          <p:cTn id="20" fill="hold">
                            <p:stCondLst>
                              <p:cond delay="0"/>
                            </p:stCondLst>
                            <p:childTnLst>
                              <p:par>
                                <p:cTn id="18"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anim calcmode="lin" valueType="num">
                                      <p:cBhvr additive="base">
                                        <p:cTn id="17" dur="420" fill="hold"/>
                                        <p:tgtEl>
                                          <p:spTgt spid="9"/>
                                        </p:tgtEl>
                                        <p:attrNameLst>
                                          <p:attrName>ppt_y</p:attrName>
                                        </p:attrNameLst>
                                      </p:cBhvr>
                                      <p:tavLst>
                                        <p:tav tm="0">
                                          <p:val>
                                            <p:fltVal val="0.06"/>
                                          </p:val>
                                        </p:tav>
                                        <p:tav tm="100000">
                                          <p:val>
                                            <p:fltVal val="0"/>
                                          </p:val>
                                        </p:tav>
                                      </p:tavLst>
                                    </p:anim>
                                  </p:childTnLst>
                                </p:cTn>
                              </p:par>
                            </p:childTnLst>
                          </p:cTn>
                        </p:par>
                      </p:childTnLst>
                    </p:cTn>
                  </p:par>
                  <p:par>
                    <p:cTn id="25" fill="hold">
                      <p:stCondLst>
                        <p:cond delay="indefinite"/>
                      </p:stCondLst>
                      <p:childTnLst>
                        <p:par>
                          <p:cTn id="26" fill="hold">
                            <p:stCondLst>
                              <p:cond delay="0"/>
                            </p:stCondLst>
                            <p:childTnLst>
                              <p:par>
                                <p:cTn id="24" fill="hold">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1" dur="420"/>
                                        <p:tgtEl>
                                          <p:spTgt spid="10"/>
                                        </p:tgtEl>
                                      </p:cBhvr>
                                    </p:animEffect>
                                    <p:anim calcmode="lin" valueType="num">
                                      <p:cBhvr additive="base">
                                        <p:cTn id="23" dur="420" fill="hold"/>
                                        <p:tgtEl>
                                          <p:spTgt spid="10"/>
                                        </p:tgtEl>
                                        <p:attrNameLst>
                                          <p:attrName>ppt_y</p:attrName>
                                        </p:attrNameLst>
                                      </p:cBhvr>
                                      <p:tavLst>
                                        <p:tav tm="0">
                                          <p:val>
                                            <p:fltVal val="0.06"/>
                                          </p:val>
                                        </p:tav>
                                        <p:tav tm="100000">
                                          <p:val>
                                            <p:fltVal val="0"/>
                                          </p:val>
                                        </p:tav>
                                      </p:tavLst>
                                    </p:anim>
                                  </p:childTnLst>
                                </p:cTn>
                              </p:par>
                            </p:childTnLst>
                          </p:cTn>
                        </p:par>
                      </p:childTnLst>
                    </p:cTn>
                  </p:par>
                  <p:par>
                    <p:cTn id="39" fill="hold">
                      <p:stCondLst>
                        <p:cond delay="indefinite"/>
                      </p:stCondLst>
                      <p:childTnLst>
                        <p:par>
                          <p:cTn id="40" fill="hold">
                            <p:stCondLst>
                              <p:cond delay="0"/>
                            </p:stCondLst>
                            <p:childTnLst>
                              <p:par>
                                <p:cTn id="30" fill="hold">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7" dur="420"/>
                                        <p:tgtEl>
                                          <p:spTgt spid="11"/>
                                        </p:tgtEl>
                                      </p:cBhvr>
                                    </p:animEffect>
                                    <p:anim calcmode="lin" valueType="num">
                                      <p:cBhvr additive="base">
                                        <p:cTn id="29" dur="420" fill="hold"/>
                                        <p:tgtEl>
                                          <p:spTgt spid="11"/>
                                        </p:tgtEl>
                                        <p:attrNameLst>
                                          <p:attrName>ppt_y</p:attrName>
                                        </p:attrNameLst>
                                      </p:cBhvr>
                                      <p:tavLst>
                                        <p:tav tm="0">
                                          <p:val>
                                            <p:fltVal val="0.06"/>
                                          </p:val>
                                        </p:tav>
                                        <p:tav tm="100000">
                                          <p:val>
                                            <p:fltVal val="0"/>
                                          </p:val>
                                        </p:tav>
                                      </p:tavLst>
                                    </p:anim>
                                  </p:childTnLst>
                                </p:cTn>
                              </p:par>
                              <p:par>
                                <p:cTn id="34" fill="hold">
                                  <p:stCondLst>
                                    <p:cond delay="110"/>
                                  </p:stCondLst>
                                  <p:childTnLst>
                                    <p:set>
                                      <p:cBhvr>
                                        <p:cTn id="32" dur="1" fill="hold">
                                          <p:stCondLst>
                                            <p:cond delay="0"/>
                                          </p:stCondLst>
                                        </p:cTn>
                                        <p:tgtEl>
                                          <p:spTgt spid="12"/>
                                        </p:tgtEl>
                                        <p:attrNameLst>
                                          <p:attrName>style.visibility</p:attrName>
                                        </p:attrNameLst>
                                      </p:cBhvr>
                                      <p:to>
                                        <p:strVal val="visible"/>
                                      </p:to>
                                    </p:set>
                                    <p:animEffect transition="in" filter="fade">
                                      <p:cBhvr>
                                        <p:cTn id="31" dur="420"/>
                                        <p:tgtEl>
                                          <p:spTgt spid="12"/>
                                        </p:tgtEl>
                                      </p:cBhvr>
                                    </p:animEffect>
                                    <p:anim calcmode="lin" valueType="num">
                                      <p:cBhvr additive="base">
                                        <p:cTn id="33" dur="420" fill="hold"/>
                                        <p:tgtEl>
                                          <p:spTgt spid="12"/>
                                        </p:tgtEl>
                                        <p:attrNameLst>
                                          <p:attrName>ppt_y</p:attrName>
                                        </p:attrNameLst>
                                      </p:cBhvr>
                                      <p:tavLst>
                                        <p:tav tm="0">
                                          <p:val>
                                            <p:fltVal val="0.06"/>
                                          </p:val>
                                        </p:tav>
                                        <p:tav tm="100000">
                                          <p:val>
                                            <p:fltVal val="0"/>
                                          </p:val>
                                        </p:tav>
                                      </p:tavLst>
                                    </p:anim>
                                  </p:childTnLst>
                                </p:cTn>
                              </p:par>
                              <p:par>
                                <p:cTn id="38" fill="hold">
                                  <p:stCondLst>
                                    <p:cond delay="220"/>
                                  </p:stCondLst>
                                  <p:childTnLst>
                                    <p:set>
                                      <p:cBhvr>
                                        <p:cTn id="36" dur="1" fill="hold">
                                          <p:stCondLst>
                                            <p:cond delay="0"/>
                                          </p:stCondLst>
                                        </p:cTn>
                                        <p:tgtEl>
                                          <p:spTgt spid="13"/>
                                        </p:tgtEl>
                                        <p:attrNameLst>
                                          <p:attrName>style.visibility</p:attrName>
                                        </p:attrNameLst>
                                      </p:cBhvr>
                                      <p:to>
                                        <p:strVal val="visible"/>
                                      </p:to>
                                    </p:set>
                                    <p:animEffect transition="in" filter="fade">
                                      <p:cBhvr>
                                        <p:cTn id="35" dur="420"/>
                                        <p:tgtEl>
                                          <p:spTgt spid="13"/>
                                        </p:tgtEl>
                                      </p:cBhvr>
                                    </p:animEffect>
                                    <p:anim calcmode="lin" valueType="num">
                                      <p:cBhvr additive="base">
                                        <p:cTn id="37" dur="420" fill="hold"/>
                                        <p:tgtEl>
                                          <p:spTgt spid="13"/>
                                        </p:tgtEl>
                                        <p:attrNameLst>
                                          <p:attrName>ppt_y</p:attrName>
                                        </p:attrNameLst>
                                      </p:cBhvr>
                                      <p:tavLst>
                                        <p:tav tm="0">
                                          <p:val>
                                            <p:fltVal val="0.06"/>
                                          </p:val>
                                        </p:tav>
                                        <p:tav tm="100000">
                                          <p:val>
                                            <p:fltVal val="0"/>
                                          </p:val>
                                        </p:tav>
                                      </p:tavLst>
                                    </p:anim>
                                  </p:childTnLst>
                                </p:cTn>
                              </p:par>
                            </p:childTnLst>
                          </p:cTn>
                        </p:par>
                      </p:childTnLst>
                    </p:cTn>
                  </p:par>
                  <p:par>
                    <p:cTn id="53" fill="hold">
                      <p:stCondLst>
                        <p:cond delay="indefinite"/>
                      </p:stCondLst>
                      <p:childTnLst>
                        <p:par>
                          <p:cTn id="54" fill="hold">
                            <p:stCondLst>
                              <p:cond delay="0"/>
                            </p:stCondLst>
                            <p:childTnLst>
                              <p:par>
                                <p:cTn id="44" fill="hold">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1" dur="420"/>
                                        <p:tgtEl>
                                          <p:spTgt spid="14"/>
                                        </p:tgtEl>
                                      </p:cBhvr>
                                    </p:animEffect>
                                    <p:anim calcmode="lin" valueType="num">
                                      <p:cBhvr additive="base">
                                        <p:cTn id="43" dur="420" fill="hold"/>
                                        <p:tgtEl>
                                          <p:spTgt spid="14"/>
                                        </p:tgtEl>
                                        <p:attrNameLst>
                                          <p:attrName>ppt_y</p:attrName>
                                        </p:attrNameLst>
                                      </p:cBhvr>
                                      <p:tavLst>
                                        <p:tav tm="0">
                                          <p:val>
                                            <p:fltVal val="0.06"/>
                                          </p:val>
                                        </p:tav>
                                        <p:tav tm="100000">
                                          <p:val>
                                            <p:fltVal val="0"/>
                                          </p:val>
                                        </p:tav>
                                      </p:tavLst>
                                    </p:anim>
                                  </p:childTnLst>
                                </p:cTn>
                              </p:par>
                              <p:par>
                                <p:cTn id="48" fill="hold">
                                  <p:stCondLst>
                                    <p:cond delay="110"/>
                                  </p:stCondLst>
                                  <p:childTnLst>
                                    <p:set>
                                      <p:cBhvr>
                                        <p:cTn id="46" dur="1" fill="hold">
                                          <p:stCondLst>
                                            <p:cond delay="0"/>
                                          </p:stCondLst>
                                        </p:cTn>
                                        <p:tgtEl>
                                          <p:spTgt spid="15"/>
                                        </p:tgtEl>
                                        <p:attrNameLst>
                                          <p:attrName>style.visibility</p:attrName>
                                        </p:attrNameLst>
                                      </p:cBhvr>
                                      <p:to>
                                        <p:strVal val="visible"/>
                                      </p:to>
                                    </p:set>
                                    <p:animEffect transition="in" filter="fade">
                                      <p:cBhvr>
                                        <p:cTn id="45" dur="420"/>
                                        <p:tgtEl>
                                          <p:spTgt spid="15"/>
                                        </p:tgtEl>
                                      </p:cBhvr>
                                    </p:animEffect>
                                    <p:anim calcmode="lin" valueType="num">
                                      <p:cBhvr additive="base">
                                        <p:cTn id="47" dur="420" fill="hold"/>
                                        <p:tgtEl>
                                          <p:spTgt spid="15"/>
                                        </p:tgtEl>
                                        <p:attrNameLst>
                                          <p:attrName>ppt_y</p:attrName>
                                        </p:attrNameLst>
                                      </p:cBhvr>
                                      <p:tavLst>
                                        <p:tav tm="0">
                                          <p:val>
                                            <p:fltVal val="0.06"/>
                                          </p:val>
                                        </p:tav>
                                        <p:tav tm="100000">
                                          <p:val>
                                            <p:fltVal val="0"/>
                                          </p:val>
                                        </p:tav>
                                      </p:tavLst>
                                    </p:anim>
                                  </p:childTnLst>
                                </p:cTn>
                              </p:par>
                              <p:par>
                                <p:cTn id="52" fill="hold">
                                  <p:stCondLst>
                                    <p:cond delay="220"/>
                                  </p:stCondLst>
                                  <p:childTnLst>
                                    <p:set>
                                      <p:cBhvr>
                                        <p:cTn id="50" dur="1" fill="hold">
                                          <p:stCondLst>
                                            <p:cond delay="0"/>
                                          </p:stCondLst>
                                        </p:cTn>
                                        <p:tgtEl>
                                          <p:spTgt spid="16"/>
                                        </p:tgtEl>
                                        <p:attrNameLst>
                                          <p:attrName>style.visibility</p:attrName>
                                        </p:attrNameLst>
                                      </p:cBhvr>
                                      <p:to>
                                        <p:strVal val="visible"/>
                                      </p:to>
                                    </p:set>
                                    <p:animEffect transition="in" filter="fade">
                                      <p:cBhvr>
                                        <p:cTn id="49" dur="420"/>
                                        <p:tgtEl>
                                          <p:spTgt spid="16"/>
                                        </p:tgtEl>
                                      </p:cBhvr>
                                    </p:animEffect>
                                    <p:anim calcmode="lin" valueType="num">
                                      <p:cBhvr additive="base">
                                        <p:cTn id="51" dur="420" fill="hold"/>
                                        <p:tgtEl>
                                          <p:spTgt spid="16"/>
                                        </p:tgtEl>
                                        <p:attrNameLst>
                                          <p:attrName>ppt_y</p:attrName>
                                        </p:attrNameLst>
                                      </p:cBhvr>
                                      <p:tavLst>
                                        <p:tav tm="0">
                                          <p:val>
                                            <p:fltVal val="0.06"/>
                                          </p:val>
                                        </p:tav>
                                        <p:tav tm="100000">
                                          <p:val>
                                            <p:fltVal val="0"/>
                                          </p:val>
                                        </p:tav>
                                      </p:tavLst>
                                    </p:anim>
                                  </p:childTnLst>
                                </p:cTn>
                              </p:par>
                            </p:childTnLst>
                          </p:cTn>
                        </p:par>
                      </p:childTnLst>
                    </p:cTn>
                  </p:par>
                  <p:par>
                    <p:cTn id="79" fill="hold">
                      <p:stCondLst>
                        <p:cond delay="indefinite"/>
                      </p:stCondLst>
                      <p:childTnLst>
                        <p:par>
                          <p:cTn id="80" fill="hold">
                            <p:stCondLst>
                              <p:cond delay="0"/>
                            </p:stCondLst>
                            <p:childTnLst>
                              <p:par>
                                <p:cTn id="58" fill="hold">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5" dur="420"/>
                                        <p:tgtEl>
                                          <p:spTgt spid="17"/>
                                        </p:tgtEl>
                                      </p:cBhvr>
                                    </p:animEffect>
                                    <p:anim calcmode="lin" valueType="num">
                                      <p:cBhvr additive="base">
                                        <p:cTn id="57" dur="420" fill="hold"/>
                                        <p:tgtEl>
                                          <p:spTgt spid="17"/>
                                        </p:tgtEl>
                                        <p:attrNameLst>
                                          <p:attrName>ppt_y</p:attrName>
                                        </p:attrNameLst>
                                      </p:cBhvr>
                                      <p:tavLst>
                                        <p:tav tm="0">
                                          <p:val>
                                            <p:fltVal val="0.06"/>
                                          </p:val>
                                        </p:tav>
                                        <p:tav tm="100000">
                                          <p:val>
                                            <p:fltVal val="0"/>
                                          </p:val>
                                        </p:tav>
                                      </p:tavLst>
                                    </p:anim>
                                  </p:childTnLst>
                                </p:cTn>
                              </p:par>
                              <p:par>
                                <p:cTn id="62" fill="hold">
                                  <p:stCondLst>
                                    <p:cond delay="110"/>
                                  </p:stCondLst>
                                  <p:childTnLst>
                                    <p:set>
                                      <p:cBhvr>
                                        <p:cTn id="60" dur="1" fill="hold">
                                          <p:stCondLst>
                                            <p:cond delay="0"/>
                                          </p:stCondLst>
                                        </p:cTn>
                                        <p:tgtEl>
                                          <p:spTgt spid="18"/>
                                        </p:tgtEl>
                                        <p:attrNameLst>
                                          <p:attrName>style.visibility</p:attrName>
                                        </p:attrNameLst>
                                      </p:cBhvr>
                                      <p:to>
                                        <p:strVal val="visible"/>
                                      </p:to>
                                    </p:set>
                                    <p:animEffect transition="in" filter="fade">
                                      <p:cBhvr>
                                        <p:cTn id="59" dur="420"/>
                                        <p:tgtEl>
                                          <p:spTgt spid="18"/>
                                        </p:tgtEl>
                                      </p:cBhvr>
                                    </p:animEffect>
                                    <p:anim calcmode="lin" valueType="num">
                                      <p:cBhvr additive="base">
                                        <p:cTn id="61" dur="420" fill="hold"/>
                                        <p:tgtEl>
                                          <p:spTgt spid="18"/>
                                        </p:tgtEl>
                                        <p:attrNameLst>
                                          <p:attrName>ppt_y</p:attrName>
                                        </p:attrNameLst>
                                      </p:cBhvr>
                                      <p:tavLst>
                                        <p:tav tm="0">
                                          <p:val>
                                            <p:fltVal val="0.06"/>
                                          </p:val>
                                        </p:tav>
                                        <p:tav tm="100000">
                                          <p:val>
                                            <p:fltVal val="0"/>
                                          </p:val>
                                        </p:tav>
                                      </p:tavLst>
                                    </p:anim>
                                  </p:childTnLst>
                                </p:cTn>
                              </p:par>
                              <p:par>
                                <p:cTn id="66" fill="hold">
                                  <p:stCondLst>
                                    <p:cond delay="220"/>
                                  </p:stCondLst>
                                  <p:childTnLst>
                                    <p:set>
                                      <p:cBhvr>
                                        <p:cTn id="64" dur="1" fill="hold">
                                          <p:stCondLst>
                                            <p:cond delay="0"/>
                                          </p:stCondLst>
                                        </p:cTn>
                                        <p:tgtEl>
                                          <p:spTgt spid="19"/>
                                        </p:tgtEl>
                                        <p:attrNameLst>
                                          <p:attrName>style.visibility</p:attrName>
                                        </p:attrNameLst>
                                      </p:cBhvr>
                                      <p:to>
                                        <p:strVal val="visible"/>
                                      </p:to>
                                    </p:set>
                                    <p:animEffect transition="in" filter="fade">
                                      <p:cBhvr>
                                        <p:cTn id="63" dur="420"/>
                                        <p:tgtEl>
                                          <p:spTgt spid="19"/>
                                        </p:tgtEl>
                                      </p:cBhvr>
                                    </p:animEffect>
                                    <p:anim calcmode="lin" valueType="num">
                                      <p:cBhvr additive="base">
                                        <p:cTn id="65" dur="420" fill="hold"/>
                                        <p:tgtEl>
                                          <p:spTgt spid="19"/>
                                        </p:tgtEl>
                                        <p:attrNameLst>
                                          <p:attrName>ppt_y</p:attrName>
                                        </p:attrNameLst>
                                      </p:cBhvr>
                                      <p:tavLst>
                                        <p:tav tm="0">
                                          <p:val>
                                            <p:fltVal val="0.06"/>
                                          </p:val>
                                        </p:tav>
                                        <p:tav tm="100000">
                                          <p:val>
                                            <p:fltVal val="0"/>
                                          </p:val>
                                        </p:tav>
                                      </p:tavLst>
                                    </p:anim>
                                  </p:childTnLst>
                                </p:cTn>
                              </p:par>
                              <p:par>
                                <p:cTn id="70" fill="hold">
                                  <p:stCondLst>
                                    <p:cond delay="330"/>
                                  </p:stCondLst>
                                  <p:childTnLst>
                                    <p:set>
                                      <p:cBhvr>
                                        <p:cTn id="68" dur="1" fill="hold">
                                          <p:stCondLst>
                                            <p:cond delay="0"/>
                                          </p:stCondLst>
                                        </p:cTn>
                                        <p:tgtEl>
                                          <p:spTgt spid="20"/>
                                        </p:tgtEl>
                                        <p:attrNameLst>
                                          <p:attrName>style.visibility</p:attrName>
                                        </p:attrNameLst>
                                      </p:cBhvr>
                                      <p:to>
                                        <p:strVal val="visible"/>
                                      </p:to>
                                    </p:set>
                                    <p:animEffect transition="in" filter="fade">
                                      <p:cBhvr>
                                        <p:cTn id="67" dur="420"/>
                                        <p:tgtEl>
                                          <p:spTgt spid="20"/>
                                        </p:tgtEl>
                                      </p:cBhvr>
                                    </p:animEffect>
                                    <p:anim calcmode="lin" valueType="num">
                                      <p:cBhvr additive="base">
                                        <p:cTn id="69" dur="420" fill="hold"/>
                                        <p:tgtEl>
                                          <p:spTgt spid="20"/>
                                        </p:tgtEl>
                                        <p:attrNameLst>
                                          <p:attrName>ppt_y</p:attrName>
                                        </p:attrNameLst>
                                      </p:cBhvr>
                                      <p:tavLst>
                                        <p:tav tm="0">
                                          <p:val>
                                            <p:fltVal val="0.06"/>
                                          </p:val>
                                        </p:tav>
                                        <p:tav tm="100000">
                                          <p:val>
                                            <p:fltVal val="0"/>
                                          </p:val>
                                        </p:tav>
                                      </p:tavLst>
                                    </p:anim>
                                  </p:childTnLst>
                                </p:cTn>
                              </p:par>
                              <p:par>
                                <p:cTn id="74" fill="hold">
                                  <p:stCondLst>
                                    <p:cond delay="440"/>
                                  </p:stCondLst>
                                  <p:childTnLst>
                                    <p:set>
                                      <p:cBhvr>
                                        <p:cTn id="72" dur="1" fill="hold">
                                          <p:stCondLst>
                                            <p:cond delay="0"/>
                                          </p:stCondLst>
                                        </p:cTn>
                                        <p:tgtEl>
                                          <p:spTgt spid="21"/>
                                        </p:tgtEl>
                                        <p:attrNameLst>
                                          <p:attrName>style.visibility</p:attrName>
                                        </p:attrNameLst>
                                      </p:cBhvr>
                                      <p:to>
                                        <p:strVal val="visible"/>
                                      </p:to>
                                    </p:set>
                                    <p:animEffect transition="in" filter="fade">
                                      <p:cBhvr>
                                        <p:cTn id="71" dur="420"/>
                                        <p:tgtEl>
                                          <p:spTgt spid="21"/>
                                        </p:tgtEl>
                                      </p:cBhvr>
                                    </p:animEffect>
                                    <p:anim calcmode="lin" valueType="num">
                                      <p:cBhvr additive="base">
                                        <p:cTn id="73" dur="420" fill="hold"/>
                                        <p:tgtEl>
                                          <p:spTgt spid="21"/>
                                        </p:tgtEl>
                                        <p:attrNameLst>
                                          <p:attrName>ppt_y</p:attrName>
                                        </p:attrNameLst>
                                      </p:cBhvr>
                                      <p:tavLst>
                                        <p:tav tm="0">
                                          <p:val>
                                            <p:fltVal val="0.06"/>
                                          </p:val>
                                        </p:tav>
                                        <p:tav tm="100000">
                                          <p:val>
                                            <p:fltVal val="0"/>
                                          </p:val>
                                        </p:tav>
                                      </p:tavLst>
                                    </p:anim>
                                  </p:childTnLst>
                                </p:cTn>
                              </p:par>
                              <p:par>
                                <p:cTn id="78" fill="hold">
                                  <p:stCondLst>
                                    <p:cond delay="550"/>
                                  </p:stCondLst>
                                  <p:childTnLst>
                                    <p:set>
                                      <p:cBhvr>
                                        <p:cTn id="76" dur="1" fill="hold">
                                          <p:stCondLst>
                                            <p:cond delay="0"/>
                                          </p:stCondLst>
                                        </p:cTn>
                                        <p:tgtEl>
                                          <p:spTgt spid="22"/>
                                        </p:tgtEl>
                                        <p:attrNameLst>
                                          <p:attrName>style.visibility</p:attrName>
                                        </p:attrNameLst>
                                      </p:cBhvr>
                                      <p:to>
                                        <p:strVal val="visible"/>
                                      </p:to>
                                    </p:set>
                                    <p:animEffect transition="in" filter="fade">
                                      <p:cBhvr>
                                        <p:cTn id="75" dur="420"/>
                                        <p:tgtEl>
                                          <p:spTgt spid="22"/>
                                        </p:tgtEl>
                                      </p:cBhvr>
                                    </p:animEffect>
                                    <p:anim calcmode="lin" valueType="num">
                                      <p:cBhvr additive="base">
                                        <p:cTn id="77" dur="420" fill="hold"/>
                                        <p:tgtEl>
                                          <p:spTgt spid="22"/>
                                        </p:tgtEl>
                                        <p:attrNameLst>
                                          <p:attrName>ppt_y</p:attrName>
                                        </p:attrNameLst>
                                      </p:cBhvr>
                                      <p:tavLst>
                                        <p:tav tm="0">
                                          <p:val>
                                            <p:fltVal val="0.06"/>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Compuertas Lógicas y Chips Serie 74XX</dc:title>
  <dc:subject>Electrónica Digital · Serie 74XX</dc:subject>
  <dc:creator>Presentación ampliada</dc:creator>
  <cp:keywords/>
  <dc:description>Versión ampliada a 100 diapositivas con transiciones y animaciones de entrada en cada lámina.</dc:description>
  <cp:lastModifiedBy>Steve Canny</cp:lastModifiedBy>
  <cp:revision>1</cp:revision>
  <dcterms:created xsi:type="dcterms:W3CDTF">2013-01-27T09:14:16Z</dcterms:created>
  <dcterms:modified xsi:type="dcterms:W3CDTF">2013-01-27T09:15:58Z</dcterms:modified>
  <cp:category/>
</cp:coreProperties>
</file>