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Presentación de apertura. Cada diapositiva tiene transición y entradas animadas por clic. Comentar el alcance general: fundamentos, compuertas, hoja de datos, aplicaciones, laboratorio y repaso.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Usar esta lámina como mapa de navegación durante toda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la diferencia entre valor lógico y valor de tensión.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Dar ejemplos del aula: luz de un LED vs. intensidad de un 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la diferencia entre tabla de verdad (comportamiento) y ecuación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tres conversiones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cómo el hex resume el binario.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unidades con pines del integrado.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Distinguir claramente conversión binaria de codificación BCD.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uno de los conceptos más evaluados: memorizar VIL/VIH.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Relacionar con el fan-out de la siguiente sección.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74LS08 también se consigue como 74ALS08, 74HC08 y 74HCT08 con el mismo pinout.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regla universal: pin 14 = VCC, pin 7 = GND en todos los DIP-14 TTL.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el símbolo y los tiempos juntos.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Explicar por qué los datasheets usan tanto la actividad en bajo.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Practicar De Morgan con un ejemplo numérico.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equivalencia con un par de compuertas en el pizarrón.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Resolver un mapa completo de 3 variables en clase.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Insistir en que la tabla de verdad es la fuente de verdad del diseño.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Apertura del bloque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74LS32 es tan común que los 'OR de emergencia' en un tablero casi siempre se hacen con un 7400 por equivalencia de De Morgan.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Comparar lado a lado con el 7408.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Mostrar la diferencia entre suma booleana y suma aritmética.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También existe el 7406 (colector abierto, 30 V) y el 7414 (Schmitt trigger) para entradas lentas o ruidosas.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Mencionar el uso del 7404 para eliminar rebote eléctrico.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El 74LS00 se fabrica desde 1961 y puede que sea el integrado lógico más vendido de la historia.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Recordar la convención: pin 1 junto a la muesca, lado izquierdo.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Este es un ejercicio típico de examen y de práctica de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t>Corregir el error clásico: en el 7402 las SALIDAS están en los pines 1, 4, 10 y 13, no las entradas.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chip.png"/>
          <p:cNvPicPr>
            <a:picLocks noChangeAspect="1"/>
          </p:cNvPicPr>
          <p:nvPr/>
        </p:nvPicPr>
        <p:blipFill>
          <a:blip r:embed="rId2"/>
          <a:srcRect l="23830" r="23830"/>
          <a:stretch>
            <a:fillRect/>
          </a:stretch>
        </p:blipFill>
        <p:spPr>
          <a:xfrm>
            <a:off x="5760720" y="0"/>
            <a:ext cx="6431249" cy="6858000"/>
          </a:xfrm>
          <a:prstGeom prst="rect">
            <a:avLst/>
          </a:prstGeom>
        </p:spPr>
      </p:pic>
      <p:sp>
        <p:nvSpPr>
          <p:cNvPr id="4" name="Rectangle 3"/>
          <p:cNvSpPr/>
          <p:nvPr/>
        </p:nvSpPr>
        <p:spPr>
          <a:xfrm>
            <a:off x="5760720" y="0"/>
            <a:ext cx="502920" cy="6858000"/>
          </a:xfrm>
          <a:prstGeom prst="rect">
            <a:avLst/>
          </a:prstGeom>
          <a:solidFill>
            <a:srgbClr val="F5F8FC">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548640" y="2651760"/>
            <a:ext cx="5486400" cy="548640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969" cy="6400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777240"/>
            <a:ext cx="5486400" cy="274320"/>
          </a:xfrm>
          <a:prstGeom prst="rect">
            <a:avLst/>
          </a:prstGeom>
          <a:noFill/>
        </p:spPr>
        <p:txBody>
          <a:bodyPr wrap="square" lIns="0" rIns="0" tIns="0" bIns="0" anchor="t">
            <a:spAutoFit/>
          </a:bodyPr>
          <a:lstStyle/>
          <a:p>
            <a:pPr algn="l">
              <a:lnSpc>
                <a:spcPct val="100000"/>
              </a:lnSpc>
            </a:pPr>
            <a:r>
              <a:rPr sz="1100" b="1">
                <a:solidFill>
                  <a:srgbClr val="0E7C94"/>
                </a:solidFill>
                <a:latin typeface="Consolas"/>
              </a:rPr>
              <a:t>GUÍA TÉCNICA · ELECTRÓNICA DIGITAL · EDICIÓN AMPLIADA</a:t>
            </a:r>
          </a:p>
        </p:txBody>
      </p:sp>
      <p:sp>
        <p:nvSpPr>
          <p:cNvPr id="8" name="TextBox 7"/>
          <p:cNvSpPr txBox="1"/>
          <p:nvPr/>
        </p:nvSpPr>
        <p:spPr>
          <a:xfrm>
            <a:off x="475488" y="1170432"/>
            <a:ext cx="5669280" cy="1920240"/>
          </a:xfrm>
          <a:prstGeom prst="rect">
            <a:avLst/>
          </a:prstGeom>
          <a:noFill/>
        </p:spPr>
        <p:txBody>
          <a:bodyPr wrap="square" lIns="0" rIns="0" tIns="0" bIns="0" anchor="t">
            <a:spAutoFit/>
          </a:bodyPr>
          <a:lstStyle/>
          <a:p>
            <a:pPr algn="l">
              <a:lnSpc>
                <a:spcPct val="90000"/>
              </a:lnSpc>
            </a:pPr>
            <a:r>
              <a:rPr sz="4400" b="1">
                <a:solidFill>
                  <a:srgbClr val="0D1A2B"/>
                </a:solidFill>
                <a:latin typeface="Segoe UI Semibold"/>
              </a:rPr>
              <a:t>Compuertas Lógicas y Chips Serie 74XX</a:t>
            </a:r>
          </a:p>
        </p:txBody>
      </p:sp>
      <p:sp>
        <p:nvSpPr>
          <p:cNvPr id="9" name="TextBox 8"/>
          <p:cNvSpPr txBox="1"/>
          <p:nvPr/>
        </p:nvSpPr>
        <p:spPr>
          <a:xfrm>
            <a:off x="475488" y="3310128"/>
            <a:ext cx="5394960" cy="914400"/>
          </a:xfrm>
          <a:prstGeom prst="rect">
            <a:avLst/>
          </a:prstGeom>
          <a:noFill/>
        </p:spPr>
        <p:txBody>
          <a:bodyPr wrap="square" lIns="0" rIns="0" tIns="0" bIns="0" anchor="t">
            <a:spAutoFit/>
          </a:bodyPr>
          <a:lstStyle/>
          <a:p>
            <a:pPr algn="l">
              <a:lnSpc>
                <a:spcPct val="112000"/>
              </a:lnSpc>
            </a:pPr>
            <a:r>
              <a:rPr sz="1450" b="0">
                <a:solidFill>
                  <a:srgbClr val="2C3E56"/>
                </a:solidFill>
                <a:latin typeface="Segoe UI"/>
              </a:rPr>
              <a:t>De los fundamentos de Boole al montaje real en laboratorio: teoría, hoja de datos, diagramas de tiempo, aplicaciones y práctica guiada.</a:t>
            </a:r>
          </a:p>
        </p:txBody>
      </p:sp>
      <p:sp>
        <p:nvSpPr>
          <p:cNvPr id="10" name="Rectangle 9"/>
          <p:cNvSpPr/>
          <p:nvPr/>
        </p:nvSpPr>
        <p:spPr>
          <a:xfrm>
            <a:off x="475488" y="4315968"/>
            <a:ext cx="1371600" cy="457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5488" y="4498848"/>
            <a:ext cx="5394960" cy="822960"/>
          </a:xfrm>
          <a:prstGeom prst="rect">
            <a:avLst/>
          </a:prstGeom>
          <a:noFill/>
        </p:spPr>
        <p:txBody>
          <a:bodyPr wrap="square" lIns="0" rIns="0" tIns="0" bIns="0" anchor="t">
            <a:spAutoFit/>
          </a:bodyPr>
          <a:lstStyle/>
          <a:p>
            <a:pPr algn="l">
              <a:lnSpc>
                <a:spcPct val="114000"/>
              </a:lnSpc>
            </a:pPr>
            <a:r>
              <a:rPr sz="900" b="0">
                <a:solidFill>
                  <a:srgbClr val="61738C"/>
                </a:solidFill>
                <a:latin typeface="Segoe UI"/>
              </a:rPr>
              <a:t>Recorrido completo por las compuertas AND, OR, NOT, NAND, NOR, XOR y XNOR; el funcionamiento interno de la familia TTL 74XX; las subfamilias 74LS, 74S, 74F, 74HC y 74HCT; los parámetros eléctricos de una hoja de datos; y los circuitos integrados que se construyen con ellos: sumadores, multiplexores, decodificadores, contadores, registros y memorias.</a:t>
            </a:r>
          </a:p>
        </p:txBody>
      </p:sp>
      <p:sp>
        <p:nvSpPr>
          <p:cNvPr id="12" name="Rounded Rectangle 11"/>
          <p:cNvSpPr/>
          <p:nvPr/>
        </p:nvSpPr>
        <p:spPr>
          <a:xfrm>
            <a:off x="475488"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3504"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7</a:t>
            </a:r>
          </a:p>
        </p:txBody>
      </p:sp>
      <p:sp>
        <p:nvSpPr>
          <p:cNvPr id="14" name="TextBox 13"/>
          <p:cNvSpPr txBox="1"/>
          <p:nvPr/>
        </p:nvSpPr>
        <p:spPr>
          <a:xfrm>
            <a:off x="603504"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compuertas lógicas fundamentales</a:t>
            </a:r>
          </a:p>
        </p:txBody>
      </p:sp>
      <p:sp>
        <p:nvSpPr>
          <p:cNvPr id="15" name="Rounded Rectangle 14"/>
          <p:cNvSpPr/>
          <p:nvPr/>
        </p:nvSpPr>
        <p:spPr>
          <a:xfrm>
            <a:off x="1906524"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034540"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6+</a:t>
            </a:r>
          </a:p>
        </p:txBody>
      </p:sp>
      <p:sp>
        <p:nvSpPr>
          <p:cNvPr id="17" name="TextBox 16"/>
          <p:cNvSpPr txBox="1"/>
          <p:nvPr/>
        </p:nvSpPr>
        <p:spPr>
          <a:xfrm>
            <a:off x="2034540"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chips 74XX estudiados a detalle</a:t>
            </a:r>
          </a:p>
        </p:txBody>
      </p:sp>
      <p:sp>
        <p:nvSpPr>
          <p:cNvPr id="18" name="Rounded Rectangle 17"/>
          <p:cNvSpPr/>
          <p:nvPr/>
        </p:nvSpPr>
        <p:spPr>
          <a:xfrm>
            <a:off x="3337559"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65575"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40+</a:t>
            </a:r>
          </a:p>
        </p:txBody>
      </p:sp>
      <p:sp>
        <p:nvSpPr>
          <p:cNvPr id="20" name="TextBox 19"/>
          <p:cNvSpPr txBox="1"/>
          <p:nvPr/>
        </p:nvSpPr>
        <p:spPr>
          <a:xfrm>
            <a:off x="3465575" y="5769864"/>
            <a:ext cx="1028699" cy="347472"/>
          </a:xfrm>
          <a:prstGeom prst="rect">
            <a:avLst/>
          </a:prstGeom>
          <a:noFill/>
        </p:spPr>
        <p:txBody>
          <a:bodyPr wrap="square" lIns="0" rIns="0" tIns="0" bIns="0" anchor="t">
            <a:spAutoFit/>
          </a:bodyPr>
          <a:lstStyle/>
          <a:p>
            <a:pPr algn="l">
              <a:lnSpc>
                <a:spcPct val="105000"/>
              </a:lnSpc>
            </a:pPr>
            <a:r>
              <a:rPr sz="900" b="0">
                <a:solidFill>
                  <a:srgbClr val="61738C"/>
                </a:solidFill>
                <a:latin typeface="Segoe UI"/>
              </a:rPr>
              <a:t>diagramas, tablas y esquemas</a:t>
            </a:r>
          </a:p>
        </p:txBody>
      </p:sp>
      <p:sp>
        <p:nvSpPr>
          <p:cNvPr id="21" name="Rounded Rectangle 20"/>
          <p:cNvSpPr/>
          <p:nvPr/>
        </p:nvSpPr>
        <p:spPr>
          <a:xfrm>
            <a:off x="4768596" y="5257800"/>
            <a:ext cx="1284731" cy="914400"/>
          </a:xfrm>
          <a:prstGeom prst="roundRect">
            <a:avLst>
              <a:gd name="adj" fmla="val 5693"/>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96612" y="5367528"/>
            <a:ext cx="1028699" cy="365760"/>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100</a:t>
            </a:r>
          </a:p>
        </p:txBody>
      </p:sp>
      <p:sp>
        <p:nvSpPr>
          <p:cNvPr id="23" name="TextBox 22"/>
          <p:cNvSpPr txBox="1"/>
          <p:nvPr/>
        </p:nvSpPr>
        <p:spPr>
          <a:xfrm>
            <a:off x="4896612" y="5769864"/>
            <a:ext cx="1028699" cy="347472"/>
          </a:xfrm>
          <a:prstGeom prst="rect">
            <a:avLst/>
          </a:prstGeom>
          <a:noFill/>
        </p:spPr>
        <p:txBody>
          <a:bodyPr wrap="square" lIns="0" rIns="0" tIns="0" bIns="0" anchor="t">
            <a:spAutoFit/>
          </a:bodyPr>
          <a:lstStyle/>
          <a:p>
            <a:pPr algn="l">
              <a:lnSpc>
                <a:spcPct val="105000"/>
              </a:lnSpc>
            </a:pPr>
            <a:r>
              <a:rPr sz="850" b="0">
                <a:solidFill>
                  <a:srgbClr val="61738C"/>
                </a:solidFill>
                <a:latin typeface="Segoe UI"/>
              </a:rPr>
              <a:t>diapositivas con transiciones y animaciones</a:t>
            </a:r>
          </a:p>
        </p:txBody>
      </p:sp>
      <p:sp>
        <p:nvSpPr>
          <p:cNvPr id="24" name="Rectangle 23"/>
          <p:cNvSpPr/>
          <p:nvPr/>
        </p:nvSpPr>
        <p:spPr>
          <a:xfrm>
            <a:off x="5760720" y="6254496"/>
            <a:ext cx="6431249" cy="603503"/>
          </a:xfrm>
          <a:prstGeom prst="rect">
            <a:avLst/>
          </a:prstGeom>
          <a:solidFill>
            <a:srgbClr val="F5F8FC">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6446520"/>
            <a:ext cx="73152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 · Guía técnica ampliada · 2026</a:t>
            </a:r>
          </a:p>
        </p:txBody>
      </p:sp>
      <p:sp>
        <p:nvSpPr>
          <p:cNvPr id="27" name="TextBox 26"/>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01 / 30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5" fill="hold">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3" dur="420"/>
                                        <p:tgtEl>
                                          <p:spTgt spid="7"/>
                                        </p:tgtEl>
                                      </p:cBhvr>
                                    </p:animEffect>
                                  </p:childTnLst>
                                </p:cTn>
                              </p:par>
                              <p:par>
                                <p:cTn id="8" fill="hold">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6" dur="420"/>
                                        <p:tgtEl>
                                          <p:spTgt spid="8"/>
                                        </p:tgtEl>
                                      </p:cBhvr>
                                    </p:animEffect>
                                  </p:childTnLst>
                                </p:cTn>
                              </p:par>
                              <p:par>
                                <p:cTn id="11" fill="hold">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9" dur="420"/>
                                        <p:tgtEl>
                                          <p:spTgt spid="9"/>
                                        </p:tgtEl>
                                      </p:cBhvr>
                                    </p:animEffect>
                                  </p:childTnLst>
                                </p:cTn>
                              </p:par>
                              <p:par>
                                <p:cTn id="14" fill="hold">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2" dur="420"/>
                                        <p:tgtEl>
                                          <p:spTgt spid="10"/>
                                        </p:tgtEl>
                                      </p:cBhvr>
                                    </p:animEffect>
                                  </p:childTnLst>
                                </p:cTn>
                              </p:par>
                              <p:par>
                                <p:cTn id="17" fill="hold">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5" dur="420"/>
                                        <p:tgtEl>
                                          <p:spTgt spid="11"/>
                                        </p:tgtEl>
                                      </p:cBhvr>
                                    </p:animEffect>
                                  </p:childTnLst>
                                </p:cTn>
                              </p:par>
                            </p:childTnLst>
                          </p:cTn>
                        </p:par>
                      </p:childTnLst>
                    </p:cTn>
                  </p:par>
                  <p:par>
                    <p:cTn id="36" fill="hold">
                      <p:stCondLst>
                        <p:cond delay="indefinite"/>
                      </p:stCondLst>
                      <p:childTnLst>
                        <p:par>
                          <p:cTn id="37" fill="hold">
                            <p:stCondLst>
                              <p:cond delay="0"/>
                            </p:stCondLst>
                            <p:childTnLst>
                              <p:par>
                                <p:cTn id="23" fill="hold">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0" dur="420"/>
                                        <p:tgtEl>
                                          <p:spTgt spid="12"/>
                                        </p:tgtEl>
                                      </p:cBhvr>
                                    </p:animEffect>
                                    <p:anim calcmode="lin" valueType="num">
                                      <p:cBhvr additive="base">
                                        <p:cTn id="22" dur="420" fill="hold"/>
                                        <p:tgtEl>
                                          <p:spTgt spid="12"/>
                                        </p:tgtEl>
                                        <p:attrNameLst>
                                          <p:attrName>ppt_y</p:attrName>
                                        </p:attrNameLst>
                                      </p:cBhvr>
                                      <p:tavLst>
                                        <p:tav tm="0">
                                          <p:val>
                                            <p:strVal val="0.06"/>
                                          </p:val>
                                        </p:tav>
                                        <p:tav tm="100000">
                                          <p:val>
                                            <p:strVal val="0"/>
                                          </p:val>
                                        </p:tav>
                                      </p:tavLst>
                                    </p:anim>
                                  </p:childTnLst>
                                </p:cTn>
                              </p:par>
                              <p:par>
                                <p:cTn id="27" fill="hold">
                                  <p:stCondLst>
                                    <p:cond delay="1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anim calcmode="lin" valueType="num">
                                      <p:cBhvr additive="base">
                                        <p:cTn id="26" dur="420" fill="hold"/>
                                        <p:tgtEl>
                                          <p:spTgt spid="13"/>
                                        </p:tgtEl>
                                        <p:attrNameLst>
                                          <p:attrName>ppt_y</p:attrName>
                                        </p:attrNameLst>
                                      </p:cBhvr>
                                      <p:tavLst>
                                        <p:tav tm="0">
                                          <p:val>
                                            <p:strVal val="0.06"/>
                                          </p:val>
                                        </p:tav>
                                        <p:tav tm="100000">
                                          <p:val>
                                            <p:strVal val="0"/>
                                          </p:val>
                                        </p:tav>
                                      </p:tavLst>
                                    </p:anim>
                                  </p:childTnLst>
                                </p:cTn>
                              </p:par>
                              <p:par>
                                <p:cTn id="31" fill="hold">
                                  <p:stCondLst>
                                    <p:cond delay="220"/>
                                  </p:stCondLst>
                                  <p:childTnLst>
                                    <p:set>
                                      <p:cBhvr>
                                        <p:cTn id="29"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anim calcmode="lin" valueType="num">
                                      <p:cBhvr additive="base">
                                        <p:cTn id="30" dur="420" fill="hold"/>
                                        <p:tgtEl>
                                          <p:spTgt spid="14"/>
                                        </p:tgtEl>
                                        <p:attrNameLst>
                                          <p:attrName>ppt_y</p:attrName>
                                        </p:attrNameLst>
                                      </p:cBhvr>
                                      <p:tavLst>
                                        <p:tav tm="0">
                                          <p:val>
                                            <p:strVal val="0.06"/>
                                          </p:val>
                                        </p:tav>
                                        <p:tav tm="100000">
                                          <p:val>
                                            <p:strVal val="0"/>
                                          </p:val>
                                        </p:tav>
                                      </p:tavLst>
                                    </p:anim>
                                  </p:childTnLst>
                                </p:cTn>
                              </p:par>
                              <p:par>
                                <p:cTn id="35" fill="hold">
                                  <p:stCondLst>
                                    <p:cond delay="330"/>
                                  </p:stCondLst>
                                  <p:childTnLst>
                                    <p:set>
                                      <p:cBhvr>
                                        <p:cTn id="33" dur="1" fill="hold">
                                          <p:stCondLst>
                                            <p:cond delay="0"/>
                                          </p:stCondLst>
                                        </p:cTn>
                                        <p:tgtEl>
                                          <p:spTgt spid="15"/>
                                        </p:tgtEl>
                                        <p:attrNameLst>
                                          <p:attrName>style.visibility</p:attrName>
                                        </p:attrNameLst>
                                      </p:cBhvr>
                                      <p:to>
                                        <p:strVal val="visible"/>
                                      </p:to>
                                    </p:set>
                                    <p:animEffect transition="in" filter="fade">
                                      <p:cBhvr>
                                        <p:cTn id="32" dur="420"/>
                                        <p:tgtEl>
                                          <p:spTgt spid="15"/>
                                        </p:tgtEl>
                                      </p:cBhvr>
                                    </p:animEffect>
                                    <p:anim calcmode="lin" valueType="num">
                                      <p:cBhvr additive="base">
                                        <p:cTn id="34"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54" fill="hold">
                      <p:stCondLst>
                        <p:cond delay="indefinite"/>
                      </p:stCondLst>
                      <p:childTnLst>
                        <p:par>
                          <p:cTn id="55" fill="hold">
                            <p:stCondLst>
                              <p:cond delay="0"/>
                            </p:stCondLst>
                            <p:childTnLst>
                              <p:par>
                                <p:cTn id="41" fill="hold">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38" dur="420"/>
                                        <p:tgtEl>
                                          <p:spTgt spid="16"/>
                                        </p:tgtEl>
                                      </p:cBhvr>
                                    </p:animEffect>
                                    <p:anim calcmode="lin" valueType="num">
                                      <p:cBhvr additive="base">
                                        <p:cTn id="40" dur="420" fill="hold"/>
                                        <p:tgtEl>
                                          <p:spTgt spid="16"/>
                                        </p:tgtEl>
                                        <p:attrNameLst>
                                          <p:attrName>ppt_y</p:attrName>
                                        </p:attrNameLst>
                                      </p:cBhvr>
                                      <p:tavLst>
                                        <p:tav tm="0">
                                          <p:val>
                                            <p:strVal val="0.06"/>
                                          </p:val>
                                        </p:tav>
                                        <p:tav tm="100000">
                                          <p:val>
                                            <p:strVal val="0"/>
                                          </p:val>
                                        </p:tav>
                                      </p:tavLst>
                                    </p:anim>
                                  </p:childTnLst>
                                </p:cTn>
                              </p:par>
                              <p:par>
                                <p:cTn id="45" fill="hold">
                                  <p:stCondLst>
                                    <p:cond delay="110"/>
                                  </p:stCondLst>
                                  <p:childTnLst>
                                    <p:set>
                                      <p:cBhvr>
                                        <p:cTn id="43" dur="1" fill="hold">
                                          <p:stCondLst>
                                            <p:cond delay="0"/>
                                          </p:stCondLst>
                                        </p:cTn>
                                        <p:tgtEl>
                                          <p:spTgt spid="17"/>
                                        </p:tgtEl>
                                        <p:attrNameLst>
                                          <p:attrName>style.visibility</p:attrName>
                                        </p:attrNameLst>
                                      </p:cBhvr>
                                      <p:to>
                                        <p:strVal val="visible"/>
                                      </p:to>
                                    </p:set>
                                    <p:animEffect transition="in" filter="fade">
                                      <p:cBhvr>
                                        <p:cTn id="42" dur="420"/>
                                        <p:tgtEl>
                                          <p:spTgt spid="17"/>
                                        </p:tgtEl>
                                      </p:cBhvr>
                                    </p:animEffect>
                                    <p:anim calcmode="lin" valueType="num">
                                      <p:cBhvr additive="base">
                                        <p:cTn id="44" dur="420" fill="hold"/>
                                        <p:tgtEl>
                                          <p:spTgt spid="17"/>
                                        </p:tgtEl>
                                        <p:attrNameLst>
                                          <p:attrName>ppt_y</p:attrName>
                                        </p:attrNameLst>
                                      </p:cBhvr>
                                      <p:tavLst>
                                        <p:tav tm="0">
                                          <p:val>
                                            <p:strVal val="0.06"/>
                                          </p:val>
                                        </p:tav>
                                        <p:tav tm="100000">
                                          <p:val>
                                            <p:strVal val="0"/>
                                          </p:val>
                                        </p:tav>
                                      </p:tavLst>
                                    </p:anim>
                                  </p:childTnLst>
                                </p:cTn>
                              </p:par>
                              <p:par>
                                <p:cTn id="49" fill="hold">
                                  <p:stCondLst>
                                    <p:cond delay="220"/>
                                  </p:stCondLst>
                                  <p:childTnLst>
                                    <p:set>
                                      <p:cBhvr>
                                        <p:cTn id="47" dur="1" fill="hold">
                                          <p:stCondLst>
                                            <p:cond delay="0"/>
                                          </p:stCondLst>
                                        </p:cTn>
                                        <p:tgtEl>
                                          <p:spTgt spid="18"/>
                                        </p:tgtEl>
                                        <p:attrNameLst>
                                          <p:attrName>style.visibility</p:attrName>
                                        </p:attrNameLst>
                                      </p:cBhvr>
                                      <p:to>
                                        <p:strVal val="visible"/>
                                      </p:to>
                                    </p:set>
                                    <p:animEffect transition="in" filter="fade">
                                      <p:cBhvr>
                                        <p:cTn id="46" dur="420"/>
                                        <p:tgtEl>
                                          <p:spTgt spid="18"/>
                                        </p:tgtEl>
                                      </p:cBhvr>
                                    </p:animEffect>
                                    <p:anim calcmode="lin" valueType="num">
                                      <p:cBhvr additive="base">
                                        <p:cTn id="48" dur="420" fill="hold"/>
                                        <p:tgtEl>
                                          <p:spTgt spid="18"/>
                                        </p:tgtEl>
                                        <p:attrNameLst>
                                          <p:attrName>ppt_y</p:attrName>
                                        </p:attrNameLst>
                                      </p:cBhvr>
                                      <p:tavLst>
                                        <p:tav tm="0">
                                          <p:val>
                                            <p:strVal val="0.06"/>
                                          </p:val>
                                        </p:tav>
                                        <p:tav tm="100000">
                                          <p:val>
                                            <p:strVal val="0"/>
                                          </p:val>
                                        </p:tav>
                                      </p:tavLst>
                                    </p:anim>
                                  </p:childTnLst>
                                </p:cTn>
                              </p:par>
                              <p:par>
                                <p:cTn id="53" fill="hold">
                                  <p:stCondLst>
                                    <p:cond delay="330"/>
                                  </p:stCondLst>
                                  <p:childTnLst>
                                    <p:set>
                                      <p:cBhvr>
                                        <p:cTn id="51" dur="1" fill="hold">
                                          <p:stCondLst>
                                            <p:cond delay="0"/>
                                          </p:stCondLst>
                                        </p:cTn>
                                        <p:tgtEl>
                                          <p:spTgt spid="19"/>
                                        </p:tgtEl>
                                        <p:attrNameLst>
                                          <p:attrName>style.visibility</p:attrName>
                                        </p:attrNameLst>
                                      </p:cBhvr>
                                      <p:to>
                                        <p:strVal val="visible"/>
                                      </p:to>
                                    </p:set>
                                    <p:animEffect transition="in" filter="fade">
                                      <p:cBhvr>
                                        <p:cTn id="50" dur="420"/>
                                        <p:tgtEl>
                                          <p:spTgt spid="19"/>
                                        </p:tgtEl>
                                      </p:cBhvr>
                                    </p:animEffect>
                                    <p:anim calcmode="lin" valueType="num">
                                      <p:cBhvr additive="base">
                                        <p:cTn id="52"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59" fill="hold">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6" dur="420"/>
                                        <p:tgtEl>
                                          <p:spTgt spid="20"/>
                                        </p:tgtEl>
                                      </p:cBhvr>
                                    </p:animEffect>
                                    <p:anim calcmode="lin" valueType="num">
                                      <p:cBhvr additive="base">
                                        <p:cTn id="58" dur="420" fill="hold"/>
                                        <p:tgtEl>
                                          <p:spTgt spid="20"/>
                                        </p:tgtEl>
                                        <p:attrNameLst>
                                          <p:attrName>ppt_y</p:attrName>
                                        </p:attrNameLst>
                                      </p:cBhvr>
                                      <p:tavLst>
                                        <p:tav tm="0">
                                          <p:val>
                                            <p:strVal val="0.06"/>
                                          </p:val>
                                        </p:tav>
                                        <p:tav tm="100000">
                                          <p:val>
                                            <p:strVal val="0"/>
                                          </p:val>
                                        </p:tav>
                                      </p:tavLst>
                                    </p:anim>
                                  </p:childTnLst>
                                </p:cTn>
                              </p:par>
                              <p:par>
                                <p:cTn id="63" fill="hold">
                                  <p:stCondLst>
                                    <p:cond delay="110"/>
                                  </p:stCondLst>
                                  <p:childTnLst>
                                    <p:set>
                                      <p:cBhvr>
                                        <p:cTn id="61" dur="1" fill="hold">
                                          <p:stCondLst>
                                            <p:cond delay="0"/>
                                          </p:stCondLst>
                                        </p:cTn>
                                        <p:tgtEl>
                                          <p:spTgt spid="21"/>
                                        </p:tgtEl>
                                        <p:attrNameLst>
                                          <p:attrName>style.visibility</p:attrName>
                                        </p:attrNameLst>
                                      </p:cBhvr>
                                      <p:to>
                                        <p:strVal val="visible"/>
                                      </p:to>
                                    </p:set>
                                    <p:animEffect transition="in" filter="fade">
                                      <p:cBhvr>
                                        <p:cTn id="60" dur="420"/>
                                        <p:tgtEl>
                                          <p:spTgt spid="21"/>
                                        </p:tgtEl>
                                      </p:cBhvr>
                                    </p:animEffect>
                                    <p:anim calcmode="lin" valueType="num">
                                      <p:cBhvr additive="base">
                                        <p:cTn id="62" dur="420" fill="hold"/>
                                        <p:tgtEl>
                                          <p:spTgt spid="21"/>
                                        </p:tgtEl>
                                        <p:attrNameLst>
                                          <p:attrName>ppt_y</p:attrName>
                                        </p:attrNameLst>
                                      </p:cBhvr>
                                      <p:tavLst>
                                        <p:tav tm="0">
                                          <p:val>
                                            <p:strVal val="0.06"/>
                                          </p:val>
                                        </p:tav>
                                        <p:tav tm="100000">
                                          <p:val>
                                            <p:strVal val="0"/>
                                          </p:val>
                                        </p:tav>
                                      </p:tavLst>
                                    </p:anim>
                                  </p:childTnLst>
                                </p:cTn>
                              </p:par>
                              <p:par>
                                <p:cTn id="67" fill="hold">
                                  <p:stCondLst>
                                    <p:cond delay="220"/>
                                  </p:stCondLst>
                                  <p:childTnLst>
                                    <p:set>
                                      <p:cBhvr>
                                        <p:cTn id="65" dur="1" fill="hold">
                                          <p:stCondLst>
                                            <p:cond delay="0"/>
                                          </p:stCondLst>
                                        </p:cTn>
                                        <p:tgtEl>
                                          <p:spTgt spid="22"/>
                                        </p:tgtEl>
                                        <p:attrNameLst>
                                          <p:attrName>style.visibility</p:attrName>
                                        </p:attrNameLst>
                                      </p:cBhvr>
                                      <p:to>
                                        <p:strVal val="visible"/>
                                      </p:to>
                                    </p:set>
                                    <p:animEffect transition="in" filter="fade">
                                      <p:cBhvr>
                                        <p:cTn id="64" dur="420"/>
                                        <p:tgtEl>
                                          <p:spTgt spid="22"/>
                                        </p:tgtEl>
                                      </p:cBhvr>
                                    </p:animEffect>
                                    <p:anim calcmode="lin" valueType="num">
                                      <p:cBhvr additive="base">
                                        <p:cTn id="66" dur="420" fill="hold"/>
                                        <p:tgtEl>
                                          <p:spTgt spid="22"/>
                                        </p:tgtEl>
                                        <p:attrNameLst>
                                          <p:attrName>ppt_y</p:attrName>
                                        </p:attrNameLst>
                                      </p:cBhvr>
                                      <p:tavLst>
                                        <p:tav tm="0">
                                          <p:val>
                                            <p:strVal val="0.06"/>
                                          </p:val>
                                        </p:tav>
                                        <p:tav tm="100000">
                                          <p:val>
                                            <p:strVal val="0"/>
                                          </p:val>
                                        </p:tav>
                                      </p:tavLst>
                                    </p:anim>
                                  </p:childTnLst>
                                </p:cTn>
                              </p:par>
                              <p:par>
                                <p:cTn id="71" fill="hold">
                                  <p:stCondLst>
                                    <p:cond delay="330"/>
                                  </p:stCondLst>
                                  <p:childTnLst>
                                    <p:set>
                                      <p:cBhvr>
                                        <p:cTn id="69" dur="1" fill="hold">
                                          <p:stCondLst>
                                            <p:cond delay="0"/>
                                          </p:stCondLst>
                                        </p:cTn>
                                        <p:tgtEl>
                                          <p:spTgt spid="23"/>
                                        </p:tgtEl>
                                        <p:attrNameLst>
                                          <p:attrName>style.visibility</p:attrName>
                                        </p:attrNameLst>
                                      </p:cBhvr>
                                      <p:to>
                                        <p:strVal val="visible"/>
                                      </p:to>
                                    </p:set>
                                    <p:animEffect transition="in" filter="fade">
                                      <p:cBhvr>
                                        <p:cTn id="68" dur="420"/>
                                        <p:tgtEl>
                                          <p:spTgt spid="23"/>
                                        </p:tgtEl>
                                      </p:cBhvr>
                                    </p:animEffect>
                                    <p:anim calcmode="lin" valueType="num">
                                      <p:cBhvr additive="base">
                                        <p:cTn id="70" dur="420" fill="hold"/>
                                        <p:tgtEl>
                                          <p:spTgt spid="23"/>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Contenido de la guía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Seis bloques temáticos que van de la teoría básica hasta la verificación en el laboratorio.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02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4939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6656"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01</a:t>
            </a:r>
          </a:p>
        </p:txBody>
      </p:sp>
      <p:sp>
        <p:nvSpPr>
          <p:cNvPr id="19" name="TextBox 18"/>
          <p:cNvSpPr txBox="1"/>
          <p:nvPr/>
        </p:nvSpPr>
        <p:spPr>
          <a:xfrm>
            <a:off x="1344168"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Fundamentos de la lógica digital</a:t>
            </a:r>
          </a:p>
        </p:txBody>
      </p:sp>
      <p:sp>
        <p:nvSpPr>
          <p:cNvPr id="20" name="TextBox 19"/>
          <p:cNvSpPr txBox="1"/>
          <p:nvPr/>
        </p:nvSpPr>
        <p:spPr>
          <a:xfrm>
            <a:off x="676656"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Sistema binario, códigos, niveles lógicos, ruido, álgebra de Boole, De Morgan, Karnaugh y formas canónicas.</a:t>
            </a:r>
          </a:p>
        </p:txBody>
      </p:sp>
      <p:sp>
        <p:nvSpPr>
          <p:cNvPr id="21" name="TextBox 20"/>
          <p:cNvSpPr txBox="1"/>
          <p:nvPr/>
        </p:nvSpPr>
        <p:spPr>
          <a:xfrm>
            <a:off x="676656"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3 – 24</a:t>
            </a:r>
          </a:p>
        </p:txBody>
      </p:sp>
      <p:sp>
        <p:nvSpPr>
          <p:cNvPr id="22" name="Rounded Rectangle 21"/>
          <p:cNvSpPr/>
          <p:nvPr/>
        </p:nvSpPr>
        <p:spPr>
          <a:xfrm>
            <a:off x="4283445"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283445"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4613"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02</a:t>
            </a:r>
          </a:p>
        </p:txBody>
      </p:sp>
      <p:sp>
        <p:nvSpPr>
          <p:cNvPr id="25" name="TextBox 24"/>
          <p:cNvSpPr txBox="1"/>
          <p:nvPr/>
        </p:nvSpPr>
        <p:spPr>
          <a:xfrm>
            <a:off x="5152125"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Compuertas lógicas y chips 74XX</a:t>
            </a:r>
          </a:p>
        </p:txBody>
      </p:sp>
      <p:sp>
        <p:nvSpPr>
          <p:cNvPr id="26" name="TextBox 25"/>
          <p:cNvSpPr txBox="1"/>
          <p:nvPr/>
        </p:nvSpPr>
        <p:spPr>
          <a:xfrm>
            <a:off x="4484613"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AND 7408, OR 7432, NOT 7404, NAND 7400, NOR 7402, XOR 7486 y XNOR 74266 con símbolo, tabla de verdad y pinout.</a:t>
            </a:r>
          </a:p>
        </p:txBody>
      </p:sp>
      <p:sp>
        <p:nvSpPr>
          <p:cNvPr id="27" name="TextBox 26"/>
          <p:cNvSpPr txBox="1"/>
          <p:nvPr/>
        </p:nvSpPr>
        <p:spPr>
          <a:xfrm>
            <a:off x="4484613"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25 – 50</a:t>
            </a:r>
          </a:p>
        </p:txBody>
      </p:sp>
      <p:sp>
        <p:nvSpPr>
          <p:cNvPr id="28" name="Rounded Rectangle 27"/>
          <p:cNvSpPr/>
          <p:nvPr/>
        </p:nvSpPr>
        <p:spPr>
          <a:xfrm>
            <a:off x="8091403" y="1463040"/>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91403" y="1463040"/>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92571" y="1609344"/>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03</a:t>
            </a:r>
          </a:p>
        </p:txBody>
      </p:sp>
      <p:sp>
        <p:nvSpPr>
          <p:cNvPr id="31" name="TextBox 30"/>
          <p:cNvSpPr txBox="1"/>
          <p:nvPr/>
        </p:nvSpPr>
        <p:spPr>
          <a:xfrm>
            <a:off x="8960083" y="1645920"/>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Hoja de datos, tiempos y parámetros</a:t>
            </a:r>
          </a:p>
        </p:txBody>
      </p:sp>
      <p:sp>
        <p:nvSpPr>
          <p:cNvPr id="32" name="TextBox 31"/>
          <p:cNvSpPr txBox="1"/>
          <p:nvPr/>
        </p:nvSpPr>
        <p:spPr>
          <a:xfrm>
            <a:off x="8292571" y="2176272"/>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VCC, retardo de propagación, fan-out, inmunidad al ruido, familias lógicas TTL y CMOS, encapsulados y ESD.</a:t>
            </a:r>
          </a:p>
        </p:txBody>
      </p:sp>
      <p:sp>
        <p:nvSpPr>
          <p:cNvPr id="33" name="TextBox 32"/>
          <p:cNvSpPr txBox="1"/>
          <p:nvPr/>
        </p:nvSpPr>
        <p:spPr>
          <a:xfrm>
            <a:off x="8292571" y="2651760"/>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51 – 65</a:t>
            </a:r>
          </a:p>
        </p:txBody>
      </p:sp>
      <p:sp>
        <p:nvSpPr>
          <p:cNvPr id="34" name="Rounded Rectangle 33"/>
          <p:cNvSpPr/>
          <p:nvPr/>
        </p:nvSpPr>
        <p:spPr>
          <a:xfrm>
            <a:off x="475488"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76656"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04</a:t>
            </a:r>
          </a:p>
        </p:txBody>
      </p:sp>
      <p:sp>
        <p:nvSpPr>
          <p:cNvPr id="37" name="TextBox 36"/>
          <p:cNvSpPr txBox="1"/>
          <p:nvPr/>
        </p:nvSpPr>
        <p:spPr>
          <a:xfrm>
            <a:off x="1344168"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Aplicaciones reales</a:t>
            </a:r>
          </a:p>
        </p:txBody>
      </p:sp>
      <p:sp>
        <p:nvSpPr>
          <p:cNvPr id="38" name="TextBox 37"/>
          <p:cNvSpPr txBox="1"/>
          <p:nvPr/>
        </p:nvSpPr>
        <p:spPr>
          <a:xfrm>
            <a:off x="676656"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Sumadores, multiplexores, decodificadores, codificadores, displays, latches, flip-flops, contadores, registros y memorias.</a:t>
            </a:r>
          </a:p>
        </p:txBody>
      </p:sp>
      <p:sp>
        <p:nvSpPr>
          <p:cNvPr id="39" name="TextBox 38"/>
          <p:cNvSpPr txBox="1"/>
          <p:nvPr/>
        </p:nvSpPr>
        <p:spPr>
          <a:xfrm>
            <a:off x="676656"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66 – 81</a:t>
            </a:r>
          </a:p>
        </p:txBody>
      </p:sp>
      <p:sp>
        <p:nvSpPr>
          <p:cNvPr id="40" name="Rounded Rectangle 39"/>
          <p:cNvSpPr/>
          <p:nvPr/>
        </p:nvSpPr>
        <p:spPr>
          <a:xfrm>
            <a:off x="4283445"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83445"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484613"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05</a:t>
            </a:r>
          </a:p>
        </p:txBody>
      </p:sp>
      <p:sp>
        <p:nvSpPr>
          <p:cNvPr id="43" name="TextBox 42"/>
          <p:cNvSpPr txBox="1"/>
          <p:nvPr/>
        </p:nvSpPr>
        <p:spPr>
          <a:xfrm>
            <a:off x="5152125"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Práctica de laboratorio y diagnóstico</a:t>
            </a:r>
          </a:p>
        </p:txBody>
      </p:sp>
      <p:sp>
        <p:nvSpPr>
          <p:cNvPr id="44" name="TextBox 43"/>
          <p:cNvSpPr txBox="1"/>
          <p:nvPr/>
        </p:nvSpPr>
        <p:spPr>
          <a:xfrm>
            <a:off x="4484613"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Montaje en protoboard, alimentación y desacople, medición, punta lógica y resolución de fallas paso a paso.</a:t>
            </a:r>
          </a:p>
        </p:txBody>
      </p:sp>
      <p:sp>
        <p:nvSpPr>
          <p:cNvPr id="45" name="TextBox 44"/>
          <p:cNvSpPr txBox="1"/>
          <p:nvPr/>
        </p:nvSpPr>
        <p:spPr>
          <a:xfrm>
            <a:off x="4484613"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82 – 92</a:t>
            </a:r>
          </a:p>
        </p:txBody>
      </p:sp>
      <p:sp>
        <p:nvSpPr>
          <p:cNvPr id="46" name="Rounded Rectangle 45"/>
          <p:cNvSpPr/>
          <p:nvPr/>
        </p:nvSpPr>
        <p:spPr>
          <a:xfrm>
            <a:off x="8091403" y="3145536"/>
            <a:ext cx="3625077" cy="1481328"/>
          </a:xfrm>
          <a:prstGeom prst="roundRect">
            <a:avLst>
              <a:gd name="adj" fmla="val 252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091403" y="3145536"/>
            <a:ext cx="45720" cy="148132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292571" y="3291840"/>
            <a:ext cx="914400" cy="310896"/>
          </a:xfrm>
          <a:prstGeom prst="rect">
            <a:avLst/>
          </a:prstGeom>
          <a:noFill/>
        </p:spPr>
        <p:txBody>
          <a:bodyPr wrap="square" lIns="0" rIns="0" tIns="0" bIns="0" anchor="t">
            <a:spAutoFit/>
          </a:bodyPr>
          <a:lstStyle/>
          <a:p>
            <a:pPr algn="l">
              <a:lnSpc>
                <a:spcPct val="95000"/>
              </a:lnSpc>
            </a:pPr>
            <a:r>
              <a:rPr sz="2100" b="1">
                <a:solidFill>
                  <a:srgbClr val="0E7C94"/>
                </a:solidFill>
                <a:latin typeface="Consolas"/>
              </a:rPr>
              <a:t>06</a:t>
            </a:r>
          </a:p>
        </p:txBody>
      </p:sp>
      <p:sp>
        <p:nvSpPr>
          <p:cNvPr id="49" name="TextBox 48"/>
          <p:cNvSpPr txBox="1"/>
          <p:nvPr/>
        </p:nvSpPr>
        <p:spPr>
          <a:xfrm>
            <a:off x="8960083" y="3328416"/>
            <a:ext cx="2573517" cy="457200"/>
          </a:xfrm>
          <a:prstGeom prst="rect">
            <a:avLst/>
          </a:prstGeom>
          <a:noFill/>
        </p:spPr>
        <p:txBody>
          <a:bodyPr wrap="square" lIns="0" rIns="0" tIns="0" bIns="0" anchor="t">
            <a:spAutoFit/>
          </a:bodyPr>
          <a:lstStyle/>
          <a:p>
            <a:pPr algn="l">
              <a:lnSpc>
                <a:spcPct val="100000"/>
              </a:lnSpc>
            </a:pPr>
            <a:r>
              <a:rPr sz="1350" b="1">
                <a:solidFill>
                  <a:srgbClr val="0D1A2B"/>
                </a:solidFill>
                <a:latin typeface="Segoe UI Semibold"/>
              </a:rPr>
              <a:t>Repaso, glosario y recursos</a:t>
            </a:r>
          </a:p>
        </p:txBody>
      </p:sp>
      <p:sp>
        <p:nvSpPr>
          <p:cNvPr id="50" name="TextBox 49"/>
          <p:cNvSpPr txBox="1"/>
          <p:nvPr/>
        </p:nvSpPr>
        <p:spPr>
          <a:xfrm>
            <a:off x="8292571" y="3858768"/>
            <a:ext cx="3222741" cy="548640"/>
          </a:xfrm>
          <a:prstGeom prst="rect">
            <a:avLst/>
          </a:prstGeom>
          <a:noFill/>
        </p:spPr>
        <p:txBody>
          <a:bodyPr wrap="square" lIns="0" rIns="0" tIns="0" bIns="0" anchor="t">
            <a:spAutoFit/>
          </a:bodyPr>
          <a:lstStyle/>
          <a:p>
            <a:pPr algn="l">
              <a:lnSpc>
                <a:spcPct val="108000"/>
              </a:lnSpc>
            </a:pPr>
            <a:r>
              <a:rPr sz="1050" b="0">
                <a:solidFill>
                  <a:srgbClr val="2C3E56"/>
                </a:solidFill>
                <a:latin typeface="Segoe UI"/>
              </a:rPr>
              <a:t>Resumen comparativo de compuertas y chips, catálogo ampliado 74XX, glosario técnico y fuentes de consulta.</a:t>
            </a:r>
          </a:p>
        </p:txBody>
      </p:sp>
      <p:sp>
        <p:nvSpPr>
          <p:cNvPr id="51" name="TextBox 50"/>
          <p:cNvSpPr txBox="1"/>
          <p:nvPr/>
        </p:nvSpPr>
        <p:spPr>
          <a:xfrm>
            <a:off x="8292571" y="4334256"/>
            <a:ext cx="3222741" cy="219456"/>
          </a:xfrm>
          <a:prstGeom prst="rect">
            <a:avLst/>
          </a:prstGeom>
          <a:noFill/>
        </p:spPr>
        <p:txBody>
          <a:bodyPr wrap="square" lIns="0" rIns="0" tIns="0" bIns="0" anchor="t">
            <a:spAutoFit/>
          </a:bodyPr>
          <a:lstStyle/>
          <a:p>
            <a:pPr algn="l">
              <a:lnSpc>
                <a:spcPct val="100000"/>
              </a:lnSpc>
            </a:pPr>
            <a:r>
              <a:rPr sz="900" b="0">
                <a:solidFill>
                  <a:srgbClr val="61738C"/>
                </a:solidFill>
                <a:latin typeface="Consolas"/>
              </a:rPr>
              <a:t>Diapositivas 93 – 100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51" fill="hold">
                      <p:stCondLst>
                        <p:cond delay="indefinite"/>
                      </p:stCondLst>
                      <p:childTnLst>
                        <p:par>
                          <p:cTn id="5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par>
                                <p:cTn id="46" fill="hold">
                                  <p:stCondLst>
                                    <p:cond delay="5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660"/>
                                  </p:stCondLst>
                                  <p:childTnLst>
                                    <p:set>
                                      <p:cBhvr>
                                        <p:cTn id="48" dur="1" fill="hold">
                                          <p:stCondLst>
                                            <p:cond delay="0"/>
                                          </p:stCondLst>
                                        </p:cTn>
                                        <p:tgtEl>
                                          <p:spTgt spid="22"/>
                                        </p:tgtEl>
                                        <p:attrNameLst>
                                          <p:attrName>style.visibility</p:attrName>
                                        </p:attrNameLst>
                                      </p:cBhvr>
                                      <p:to>
                                        <p:strVal val="visible"/>
                                      </p:to>
                                    </p:set>
                                    <p:animEffect transition="in" filter="fade">
                                      <p:cBhvr>
                                        <p:cTn id="47" dur="420"/>
                                        <p:tgtEl>
                                          <p:spTgt spid="22"/>
                                        </p:tgtEl>
                                      </p:cBhvr>
                                    </p:animEffect>
                                    <p:anim calcmode="lin" valueType="num">
                                      <p:cBhvr additive="base">
                                        <p:cTn id="49"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81" fill="hold">
                      <p:stCondLst>
                        <p:cond delay="indefinite"/>
                      </p:stCondLst>
                      <p:childTnLst>
                        <p:par>
                          <p:cTn id="82" fill="hold">
                            <p:stCondLst>
                              <p:cond delay="0"/>
                            </p:stCondLst>
                            <p:childTnLst>
                              <p:par>
                                <p:cTn id="56" fill="hold">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22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par>
                                <p:cTn id="68" fill="hold">
                                  <p:stCondLst>
                                    <p:cond delay="330"/>
                                  </p:stCondLst>
                                  <p:childTnLst>
                                    <p:set>
                                      <p:cBhvr>
                                        <p:cTn id="66" dur="1" fill="hold">
                                          <p:stCondLst>
                                            <p:cond delay="0"/>
                                          </p:stCondLst>
                                        </p:cTn>
                                        <p:tgtEl>
                                          <p:spTgt spid="26"/>
                                        </p:tgtEl>
                                        <p:attrNameLst>
                                          <p:attrName>style.visibility</p:attrName>
                                        </p:attrNameLst>
                                      </p:cBhvr>
                                      <p:to>
                                        <p:strVal val="visible"/>
                                      </p:to>
                                    </p:set>
                                    <p:animEffect transition="in" filter="fade">
                                      <p:cBhvr>
                                        <p:cTn id="65" dur="420"/>
                                        <p:tgtEl>
                                          <p:spTgt spid="26"/>
                                        </p:tgtEl>
                                      </p:cBhvr>
                                    </p:animEffect>
                                    <p:anim calcmode="lin" valueType="num">
                                      <p:cBhvr additive="base">
                                        <p:cTn id="67" dur="420" fill="hold"/>
                                        <p:tgtEl>
                                          <p:spTgt spid="26"/>
                                        </p:tgtEl>
                                        <p:attrNameLst>
                                          <p:attrName>ppt_y</p:attrName>
                                        </p:attrNameLst>
                                      </p:cBhvr>
                                      <p:tavLst>
                                        <p:tav tm="0">
                                          <p:val>
                                            <p:strVal val="0.06"/>
                                          </p:val>
                                        </p:tav>
                                        <p:tav tm="100000">
                                          <p:val>
                                            <p:strVal val="0"/>
                                          </p:val>
                                        </p:tav>
                                      </p:tavLst>
                                    </p:anim>
                                  </p:childTnLst>
                                </p:cTn>
                              </p:par>
                              <p:par>
                                <p:cTn id="72" fill="hold">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69" dur="420"/>
                                        <p:tgtEl>
                                          <p:spTgt spid="27"/>
                                        </p:tgtEl>
                                      </p:cBhvr>
                                    </p:animEffect>
                                    <p:anim calcmode="lin" valueType="num">
                                      <p:cBhvr additive="base">
                                        <p:cTn id="71" dur="420" fill="hold"/>
                                        <p:tgtEl>
                                          <p:spTgt spid="27"/>
                                        </p:tgtEl>
                                        <p:attrNameLst>
                                          <p:attrName>ppt_y</p:attrName>
                                        </p:attrNameLst>
                                      </p:cBhvr>
                                      <p:tavLst>
                                        <p:tav tm="0">
                                          <p:val>
                                            <p:strVal val="0.06"/>
                                          </p:val>
                                        </p:tav>
                                        <p:tav tm="100000">
                                          <p:val>
                                            <p:strVal val="0"/>
                                          </p:val>
                                        </p:tav>
                                      </p:tavLst>
                                    </p:anim>
                                  </p:childTnLst>
                                </p:cTn>
                              </p:par>
                              <p:par>
                                <p:cTn id="76" fill="hold">
                                  <p:stCondLst>
                                    <p:cond delay="550"/>
                                  </p:stCondLst>
                                  <p:childTnLst>
                                    <p:set>
                                      <p:cBhvr>
                                        <p:cTn id="74" dur="1" fill="hold">
                                          <p:stCondLst>
                                            <p:cond delay="0"/>
                                          </p:stCondLst>
                                        </p:cTn>
                                        <p:tgtEl>
                                          <p:spTgt spid="28"/>
                                        </p:tgtEl>
                                        <p:attrNameLst>
                                          <p:attrName>style.visibility</p:attrName>
                                        </p:attrNameLst>
                                      </p:cBhvr>
                                      <p:to>
                                        <p:strVal val="visible"/>
                                      </p:to>
                                    </p:set>
                                    <p:animEffect transition="in" filter="fade">
                                      <p:cBhvr>
                                        <p:cTn id="73" dur="420"/>
                                        <p:tgtEl>
                                          <p:spTgt spid="28"/>
                                        </p:tgtEl>
                                      </p:cBhvr>
                                    </p:animEffect>
                                    <p:anim calcmode="lin" valueType="num">
                                      <p:cBhvr additive="base">
                                        <p:cTn id="75" dur="420" fill="hold"/>
                                        <p:tgtEl>
                                          <p:spTgt spid="28"/>
                                        </p:tgtEl>
                                        <p:attrNameLst>
                                          <p:attrName>ppt_y</p:attrName>
                                        </p:attrNameLst>
                                      </p:cBhvr>
                                      <p:tavLst>
                                        <p:tav tm="0">
                                          <p:val>
                                            <p:strVal val="0.06"/>
                                          </p:val>
                                        </p:tav>
                                        <p:tav tm="100000">
                                          <p:val>
                                            <p:strVal val="0"/>
                                          </p:val>
                                        </p:tav>
                                      </p:tavLst>
                                    </p:anim>
                                  </p:childTnLst>
                                </p:cTn>
                              </p:par>
                              <p:par>
                                <p:cTn id="80" fill="hold">
                                  <p:stCondLst>
                                    <p:cond delay="6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7" dur="420"/>
                                        <p:tgtEl>
                                          <p:spTgt spid="29"/>
                                        </p:tgtEl>
                                      </p:cBhvr>
                                    </p:animEffect>
                                    <p:anim calcmode="lin" valueType="num">
                                      <p:cBhvr additive="base">
                                        <p:cTn id="7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11" fill="hold">
                      <p:stCondLst>
                        <p:cond delay="indefinite"/>
                      </p:stCondLst>
                      <p:childTnLst>
                        <p:par>
                          <p:cTn id="112" fill="hold">
                            <p:stCondLst>
                              <p:cond delay="0"/>
                            </p:stCondLst>
                            <p:childTnLst>
                              <p:par>
                                <p:cTn id="86" fill="hold">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par>
                                <p:cTn id="90" fill="hold">
                                  <p:stCondLst>
                                    <p:cond delay="110"/>
                                  </p:stCondLst>
                                  <p:childTnLst>
                                    <p:set>
                                      <p:cBhvr>
                                        <p:cTn id="88"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anim calcmode="lin" valueType="num">
                                      <p:cBhvr additive="base">
                                        <p:cTn id="89" dur="420" fill="hold"/>
                                        <p:tgtEl>
                                          <p:spTgt spid="31"/>
                                        </p:tgtEl>
                                        <p:attrNameLst>
                                          <p:attrName>ppt_y</p:attrName>
                                        </p:attrNameLst>
                                      </p:cBhvr>
                                      <p:tavLst>
                                        <p:tav tm="0">
                                          <p:val>
                                            <p:strVal val="0.06"/>
                                          </p:val>
                                        </p:tav>
                                        <p:tav tm="100000">
                                          <p:val>
                                            <p:strVal val="0"/>
                                          </p:val>
                                        </p:tav>
                                      </p:tavLst>
                                    </p:anim>
                                  </p:childTnLst>
                                </p:cTn>
                              </p:par>
                              <p:par>
                                <p:cTn id="94" fill="hold">
                                  <p:stCondLst>
                                    <p:cond delay="220"/>
                                  </p:stCondLst>
                                  <p:childTnLst>
                                    <p:set>
                                      <p:cBhvr>
                                        <p:cTn id="92" dur="1" fill="hold">
                                          <p:stCondLst>
                                            <p:cond delay="0"/>
                                          </p:stCondLst>
                                        </p:cTn>
                                        <p:tgtEl>
                                          <p:spTgt spid="32"/>
                                        </p:tgtEl>
                                        <p:attrNameLst>
                                          <p:attrName>style.visibility</p:attrName>
                                        </p:attrNameLst>
                                      </p:cBhvr>
                                      <p:to>
                                        <p:strVal val="visible"/>
                                      </p:to>
                                    </p:set>
                                    <p:animEffect transition="in" filter="fade">
                                      <p:cBhvr>
                                        <p:cTn id="91" dur="420"/>
                                        <p:tgtEl>
                                          <p:spTgt spid="32"/>
                                        </p:tgtEl>
                                      </p:cBhvr>
                                    </p:animEffect>
                                    <p:anim calcmode="lin" valueType="num">
                                      <p:cBhvr additive="base">
                                        <p:cTn id="93" dur="420" fill="hold"/>
                                        <p:tgtEl>
                                          <p:spTgt spid="32"/>
                                        </p:tgtEl>
                                        <p:attrNameLst>
                                          <p:attrName>ppt_y</p:attrName>
                                        </p:attrNameLst>
                                      </p:cBhvr>
                                      <p:tavLst>
                                        <p:tav tm="0">
                                          <p:val>
                                            <p:strVal val="0.06"/>
                                          </p:val>
                                        </p:tav>
                                        <p:tav tm="100000">
                                          <p:val>
                                            <p:strVal val="0"/>
                                          </p:val>
                                        </p:tav>
                                      </p:tavLst>
                                    </p:anim>
                                  </p:childTnLst>
                                </p:cTn>
                              </p:par>
                              <p:par>
                                <p:cTn id="98" fill="hold">
                                  <p:stCondLst>
                                    <p:cond delay="330"/>
                                  </p:stCondLst>
                                  <p:childTnLst>
                                    <p:set>
                                      <p:cBhvr>
                                        <p:cTn id="96" dur="1" fill="hold">
                                          <p:stCondLst>
                                            <p:cond delay="0"/>
                                          </p:stCondLst>
                                        </p:cTn>
                                        <p:tgtEl>
                                          <p:spTgt spid="33"/>
                                        </p:tgtEl>
                                        <p:attrNameLst>
                                          <p:attrName>style.visibility</p:attrName>
                                        </p:attrNameLst>
                                      </p:cBhvr>
                                      <p:to>
                                        <p:strVal val="visible"/>
                                      </p:to>
                                    </p:set>
                                    <p:animEffect transition="in" filter="fade">
                                      <p:cBhvr>
                                        <p:cTn id="95" dur="420"/>
                                        <p:tgtEl>
                                          <p:spTgt spid="33"/>
                                        </p:tgtEl>
                                      </p:cBhvr>
                                    </p:animEffect>
                                    <p:anim calcmode="lin" valueType="num">
                                      <p:cBhvr additive="base">
                                        <p:cTn id="97" dur="420" fill="hold"/>
                                        <p:tgtEl>
                                          <p:spTgt spid="33"/>
                                        </p:tgtEl>
                                        <p:attrNameLst>
                                          <p:attrName>ppt_y</p:attrName>
                                        </p:attrNameLst>
                                      </p:cBhvr>
                                      <p:tavLst>
                                        <p:tav tm="0">
                                          <p:val>
                                            <p:strVal val="0.06"/>
                                          </p:val>
                                        </p:tav>
                                        <p:tav tm="100000">
                                          <p:val>
                                            <p:strVal val="0"/>
                                          </p:val>
                                        </p:tav>
                                      </p:tavLst>
                                    </p:anim>
                                  </p:childTnLst>
                                </p:cTn>
                              </p:par>
                              <p:par>
                                <p:cTn id="102" fill="hold">
                                  <p:stCondLst>
                                    <p:cond delay="440"/>
                                  </p:stCondLst>
                                  <p:childTnLst>
                                    <p:set>
                                      <p:cBhvr>
                                        <p:cTn id="100" dur="1" fill="hold">
                                          <p:stCondLst>
                                            <p:cond delay="0"/>
                                          </p:stCondLst>
                                        </p:cTn>
                                        <p:tgtEl>
                                          <p:spTgt spid="34"/>
                                        </p:tgtEl>
                                        <p:attrNameLst>
                                          <p:attrName>style.visibility</p:attrName>
                                        </p:attrNameLst>
                                      </p:cBhvr>
                                      <p:to>
                                        <p:strVal val="visible"/>
                                      </p:to>
                                    </p:set>
                                    <p:animEffect transition="in" filter="fade">
                                      <p:cBhvr>
                                        <p:cTn id="99" dur="420"/>
                                        <p:tgtEl>
                                          <p:spTgt spid="34"/>
                                        </p:tgtEl>
                                      </p:cBhvr>
                                    </p:animEffect>
                                    <p:anim calcmode="lin" valueType="num">
                                      <p:cBhvr additive="base">
                                        <p:cTn id="101" dur="420" fill="hold"/>
                                        <p:tgtEl>
                                          <p:spTgt spid="34"/>
                                        </p:tgtEl>
                                        <p:attrNameLst>
                                          <p:attrName>ppt_y</p:attrName>
                                        </p:attrNameLst>
                                      </p:cBhvr>
                                      <p:tavLst>
                                        <p:tav tm="0">
                                          <p:val>
                                            <p:strVal val="0.06"/>
                                          </p:val>
                                        </p:tav>
                                        <p:tav tm="100000">
                                          <p:val>
                                            <p:strVal val="0"/>
                                          </p:val>
                                        </p:tav>
                                      </p:tavLst>
                                    </p:anim>
                                  </p:childTnLst>
                                </p:cTn>
                              </p:par>
                              <p:par>
                                <p:cTn id="106" fill="hold">
                                  <p:stCondLst>
                                    <p:cond delay="55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3" dur="420"/>
                                        <p:tgtEl>
                                          <p:spTgt spid="35"/>
                                        </p:tgtEl>
                                      </p:cBhvr>
                                    </p:animEffect>
                                    <p:anim calcmode="lin" valueType="num">
                                      <p:cBhvr additive="base">
                                        <p:cTn id="105" dur="420" fill="hold"/>
                                        <p:tgtEl>
                                          <p:spTgt spid="35"/>
                                        </p:tgtEl>
                                        <p:attrNameLst>
                                          <p:attrName>ppt_y</p:attrName>
                                        </p:attrNameLst>
                                      </p:cBhvr>
                                      <p:tavLst>
                                        <p:tav tm="0">
                                          <p:val>
                                            <p:strVal val="0.06"/>
                                          </p:val>
                                        </p:tav>
                                        <p:tav tm="100000">
                                          <p:val>
                                            <p:strVal val="0"/>
                                          </p:val>
                                        </p:tav>
                                      </p:tavLst>
                                    </p:anim>
                                  </p:childTnLst>
                                </p:cTn>
                              </p:par>
                              <p:par>
                                <p:cTn id="110" fill="hold">
                                  <p:stCondLst>
                                    <p:cond delay="6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7" dur="420"/>
                                        <p:tgtEl>
                                          <p:spTgt spid="36"/>
                                        </p:tgtEl>
                                      </p:cBhvr>
                                    </p:animEffect>
                                    <p:anim calcmode="lin" valueType="num">
                                      <p:cBhvr additive="base">
                                        <p:cTn id="109" dur="420" fill="hold"/>
                                        <p:tgtEl>
                                          <p:spTgt spid="36"/>
                                        </p:tgtEl>
                                        <p:attrNameLst>
                                          <p:attrName>ppt_y</p:attrName>
                                        </p:attrNameLst>
                                      </p:cBhvr>
                                      <p:tavLst>
                                        <p:tav tm="0">
                                          <p:val>
                                            <p:strVal val="0.06"/>
                                          </p:val>
                                        </p:tav>
                                        <p:tav tm="100000">
                                          <p:val>
                                            <p:strVal val="0"/>
                                          </p:val>
                                        </p:tav>
                                      </p:tavLst>
                                    </p:anim>
                                  </p:childTnLst>
                                </p:cTn>
                              </p:par>
                            </p:childTnLst>
                          </p:cTn>
                        </p:par>
                      </p:childTnLst>
                    </p:cTn>
                  </p:par>
                  <p:par>
                    <p:cTn id="141" fill="hold">
                      <p:stCondLst>
                        <p:cond delay="indefinite"/>
                      </p:stCondLst>
                      <p:childTnLst>
                        <p:par>
                          <p:cTn id="142" fill="hold">
                            <p:stCondLst>
                              <p:cond delay="0"/>
                            </p:stCondLst>
                            <p:childTnLst>
                              <p:par>
                                <p:cTn id="116" fill="hold">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3" dur="420"/>
                                        <p:tgtEl>
                                          <p:spTgt spid="37"/>
                                        </p:tgtEl>
                                      </p:cBhvr>
                                    </p:animEffect>
                                    <p:anim calcmode="lin" valueType="num">
                                      <p:cBhvr additive="base">
                                        <p:cTn id="115" dur="420" fill="hold"/>
                                        <p:tgtEl>
                                          <p:spTgt spid="37"/>
                                        </p:tgtEl>
                                        <p:attrNameLst>
                                          <p:attrName>ppt_y</p:attrName>
                                        </p:attrNameLst>
                                      </p:cBhvr>
                                      <p:tavLst>
                                        <p:tav tm="0">
                                          <p:val>
                                            <p:strVal val="0.06"/>
                                          </p:val>
                                        </p:tav>
                                        <p:tav tm="100000">
                                          <p:val>
                                            <p:strVal val="0"/>
                                          </p:val>
                                        </p:tav>
                                      </p:tavLst>
                                    </p:anim>
                                  </p:childTnLst>
                                </p:cTn>
                              </p:par>
                              <p:par>
                                <p:cTn id="120" fill="hold">
                                  <p:stCondLst>
                                    <p:cond delay="11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7" dur="420"/>
                                        <p:tgtEl>
                                          <p:spTgt spid="38"/>
                                        </p:tgtEl>
                                      </p:cBhvr>
                                    </p:animEffect>
                                    <p:anim calcmode="lin" valueType="num">
                                      <p:cBhvr additive="base">
                                        <p:cTn id="119" dur="420" fill="hold"/>
                                        <p:tgtEl>
                                          <p:spTgt spid="38"/>
                                        </p:tgtEl>
                                        <p:attrNameLst>
                                          <p:attrName>ppt_y</p:attrName>
                                        </p:attrNameLst>
                                      </p:cBhvr>
                                      <p:tavLst>
                                        <p:tav tm="0">
                                          <p:val>
                                            <p:strVal val="0.06"/>
                                          </p:val>
                                        </p:tav>
                                        <p:tav tm="100000">
                                          <p:val>
                                            <p:strVal val="0"/>
                                          </p:val>
                                        </p:tav>
                                      </p:tavLst>
                                    </p:anim>
                                  </p:childTnLst>
                                </p:cTn>
                              </p:par>
                              <p:par>
                                <p:cTn id="124" fill="hold">
                                  <p:stCondLst>
                                    <p:cond delay="22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1" dur="420"/>
                                        <p:tgtEl>
                                          <p:spTgt spid="39"/>
                                        </p:tgtEl>
                                      </p:cBhvr>
                                    </p:animEffect>
                                    <p:anim calcmode="lin" valueType="num">
                                      <p:cBhvr additive="base">
                                        <p:cTn id="123" dur="420" fill="hold"/>
                                        <p:tgtEl>
                                          <p:spTgt spid="39"/>
                                        </p:tgtEl>
                                        <p:attrNameLst>
                                          <p:attrName>ppt_y</p:attrName>
                                        </p:attrNameLst>
                                      </p:cBhvr>
                                      <p:tavLst>
                                        <p:tav tm="0">
                                          <p:val>
                                            <p:strVal val="0.06"/>
                                          </p:val>
                                        </p:tav>
                                        <p:tav tm="100000">
                                          <p:val>
                                            <p:strVal val="0"/>
                                          </p:val>
                                        </p:tav>
                                      </p:tavLst>
                                    </p:anim>
                                  </p:childTnLst>
                                </p:cTn>
                              </p:par>
                              <p:par>
                                <p:cTn id="128" fill="hold">
                                  <p:stCondLst>
                                    <p:cond delay="33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5" dur="420"/>
                                        <p:tgtEl>
                                          <p:spTgt spid="40"/>
                                        </p:tgtEl>
                                      </p:cBhvr>
                                    </p:animEffect>
                                    <p:anim calcmode="lin" valueType="num">
                                      <p:cBhvr additive="base">
                                        <p:cTn id="127" dur="420" fill="hold"/>
                                        <p:tgtEl>
                                          <p:spTgt spid="40"/>
                                        </p:tgtEl>
                                        <p:attrNameLst>
                                          <p:attrName>ppt_y</p:attrName>
                                        </p:attrNameLst>
                                      </p:cBhvr>
                                      <p:tavLst>
                                        <p:tav tm="0">
                                          <p:val>
                                            <p:strVal val="0.06"/>
                                          </p:val>
                                        </p:tav>
                                        <p:tav tm="100000">
                                          <p:val>
                                            <p:strVal val="0"/>
                                          </p:val>
                                        </p:tav>
                                      </p:tavLst>
                                    </p:anim>
                                  </p:childTnLst>
                                </p:cTn>
                              </p:par>
                              <p:par>
                                <p:cTn id="132" fill="hold">
                                  <p:stCondLst>
                                    <p:cond delay="44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29" dur="420"/>
                                        <p:tgtEl>
                                          <p:spTgt spid="41"/>
                                        </p:tgtEl>
                                      </p:cBhvr>
                                    </p:animEffect>
                                    <p:anim calcmode="lin" valueType="num">
                                      <p:cBhvr additive="base">
                                        <p:cTn id="131" dur="420" fill="hold"/>
                                        <p:tgtEl>
                                          <p:spTgt spid="41"/>
                                        </p:tgtEl>
                                        <p:attrNameLst>
                                          <p:attrName>ppt_y</p:attrName>
                                        </p:attrNameLst>
                                      </p:cBhvr>
                                      <p:tavLst>
                                        <p:tav tm="0">
                                          <p:val>
                                            <p:strVal val="0.06"/>
                                          </p:val>
                                        </p:tav>
                                        <p:tav tm="100000">
                                          <p:val>
                                            <p:strVal val="0"/>
                                          </p:val>
                                        </p:tav>
                                      </p:tavLst>
                                    </p:anim>
                                  </p:childTnLst>
                                </p:cTn>
                              </p:par>
                              <p:par>
                                <p:cTn id="136" fill="hold">
                                  <p:stCondLst>
                                    <p:cond delay="55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3" dur="420"/>
                                        <p:tgtEl>
                                          <p:spTgt spid="42"/>
                                        </p:tgtEl>
                                      </p:cBhvr>
                                    </p:animEffect>
                                    <p:anim calcmode="lin" valueType="num">
                                      <p:cBhvr additive="base">
                                        <p:cTn id="135" dur="420" fill="hold"/>
                                        <p:tgtEl>
                                          <p:spTgt spid="42"/>
                                        </p:tgtEl>
                                        <p:attrNameLst>
                                          <p:attrName>ppt_y</p:attrName>
                                        </p:attrNameLst>
                                      </p:cBhvr>
                                      <p:tavLst>
                                        <p:tav tm="0">
                                          <p:val>
                                            <p:strVal val="0.06"/>
                                          </p:val>
                                        </p:tav>
                                        <p:tav tm="100000">
                                          <p:val>
                                            <p:strVal val="0"/>
                                          </p:val>
                                        </p:tav>
                                      </p:tavLst>
                                    </p:anim>
                                  </p:childTnLst>
                                </p:cTn>
                              </p:par>
                              <p:par>
                                <p:cTn id="140" fill="hold">
                                  <p:stCondLst>
                                    <p:cond delay="66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7" dur="420"/>
                                        <p:tgtEl>
                                          <p:spTgt spid="43"/>
                                        </p:tgtEl>
                                      </p:cBhvr>
                                    </p:animEffect>
                                    <p:anim calcmode="lin" valueType="num">
                                      <p:cBhvr additive="base">
                                        <p:cTn id="139" dur="420" fill="hold"/>
                                        <p:tgtEl>
                                          <p:spTgt spid="43"/>
                                        </p:tgtEl>
                                        <p:attrNameLst>
                                          <p:attrName>ppt_y</p:attrName>
                                        </p:attrNameLst>
                                      </p:cBhvr>
                                      <p:tavLst>
                                        <p:tav tm="0">
                                          <p:val>
                                            <p:strVal val="0.06"/>
                                          </p:val>
                                        </p:tav>
                                        <p:tav tm="100000">
                                          <p:val>
                                            <p:strVal val="0"/>
                                          </p:val>
                                        </p:tav>
                                      </p:tavLst>
                                    </p:anim>
                                  </p:childTnLst>
                                </p:cTn>
                              </p:par>
                            </p:childTnLst>
                          </p:cTn>
                        </p:par>
                      </p:childTnLst>
                    </p:cTn>
                  </p:par>
                  <p:par>
                    <p:cTn id="171" fill="hold">
                      <p:stCondLst>
                        <p:cond delay="indefinite"/>
                      </p:stCondLst>
                      <p:childTnLst>
                        <p:par>
                          <p:cTn id="172" fill="hold">
                            <p:stCondLst>
                              <p:cond delay="0"/>
                            </p:stCondLst>
                            <p:childTnLst>
                              <p:par>
                                <p:cTn id="146" fill="hold">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3" dur="420"/>
                                        <p:tgtEl>
                                          <p:spTgt spid="44"/>
                                        </p:tgtEl>
                                      </p:cBhvr>
                                    </p:animEffect>
                                    <p:anim calcmode="lin" valueType="num">
                                      <p:cBhvr additive="base">
                                        <p:cTn id="145" dur="420" fill="hold"/>
                                        <p:tgtEl>
                                          <p:spTgt spid="44"/>
                                        </p:tgtEl>
                                        <p:attrNameLst>
                                          <p:attrName>ppt_y</p:attrName>
                                        </p:attrNameLst>
                                      </p:cBhvr>
                                      <p:tavLst>
                                        <p:tav tm="0">
                                          <p:val>
                                            <p:strVal val="0.06"/>
                                          </p:val>
                                        </p:tav>
                                        <p:tav tm="100000">
                                          <p:val>
                                            <p:strVal val="0"/>
                                          </p:val>
                                        </p:tav>
                                      </p:tavLst>
                                    </p:anim>
                                  </p:childTnLst>
                                </p:cTn>
                              </p:par>
                              <p:par>
                                <p:cTn id="150" fill="hold">
                                  <p:stCondLst>
                                    <p:cond delay="110"/>
                                  </p:stCondLst>
                                  <p:childTnLst>
                                    <p:set>
                                      <p:cBhvr>
                                        <p:cTn id="148" dur="1" fill="hold">
                                          <p:stCondLst>
                                            <p:cond delay="0"/>
                                          </p:stCondLst>
                                        </p:cTn>
                                        <p:tgtEl>
                                          <p:spTgt spid="45"/>
                                        </p:tgtEl>
                                        <p:attrNameLst>
                                          <p:attrName>style.visibility</p:attrName>
                                        </p:attrNameLst>
                                      </p:cBhvr>
                                      <p:to>
                                        <p:strVal val="visible"/>
                                      </p:to>
                                    </p:set>
                                    <p:animEffect transition="in" filter="fade">
                                      <p:cBhvr>
                                        <p:cTn id="147" dur="420"/>
                                        <p:tgtEl>
                                          <p:spTgt spid="45"/>
                                        </p:tgtEl>
                                      </p:cBhvr>
                                    </p:animEffect>
                                    <p:anim calcmode="lin" valueType="num">
                                      <p:cBhvr additive="base">
                                        <p:cTn id="149" dur="420" fill="hold"/>
                                        <p:tgtEl>
                                          <p:spTgt spid="45"/>
                                        </p:tgtEl>
                                        <p:attrNameLst>
                                          <p:attrName>ppt_y</p:attrName>
                                        </p:attrNameLst>
                                      </p:cBhvr>
                                      <p:tavLst>
                                        <p:tav tm="0">
                                          <p:val>
                                            <p:strVal val="0.06"/>
                                          </p:val>
                                        </p:tav>
                                        <p:tav tm="100000">
                                          <p:val>
                                            <p:strVal val="0"/>
                                          </p:val>
                                        </p:tav>
                                      </p:tavLst>
                                    </p:anim>
                                  </p:childTnLst>
                                </p:cTn>
                              </p:par>
                              <p:par>
                                <p:cTn id="154" fill="hold">
                                  <p:stCondLst>
                                    <p:cond delay="22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1" dur="420"/>
                                        <p:tgtEl>
                                          <p:spTgt spid="46"/>
                                        </p:tgtEl>
                                      </p:cBhvr>
                                    </p:animEffect>
                                    <p:anim calcmode="lin" valueType="num">
                                      <p:cBhvr additive="base">
                                        <p:cTn id="153" dur="420" fill="hold"/>
                                        <p:tgtEl>
                                          <p:spTgt spid="46"/>
                                        </p:tgtEl>
                                        <p:attrNameLst>
                                          <p:attrName>ppt_y</p:attrName>
                                        </p:attrNameLst>
                                      </p:cBhvr>
                                      <p:tavLst>
                                        <p:tav tm="0">
                                          <p:val>
                                            <p:strVal val="0.06"/>
                                          </p:val>
                                        </p:tav>
                                        <p:tav tm="100000">
                                          <p:val>
                                            <p:strVal val="0"/>
                                          </p:val>
                                        </p:tav>
                                      </p:tavLst>
                                    </p:anim>
                                  </p:childTnLst>
                                </p:cTn>
                              </p:par>
                              <p:par>
                                <p:cTn id="158" fill="hold">
                                  <p:stCondLst>
                                    <p:cond delay="33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5" dur="420"/>
                                        <p:tgtEl>
                                          <p:spTgt spid="47"/>
                                        </p:tgtEl>
                                      </p:cBhvr>
                                    </p:animEffect>
                                    <p:anim calcmode="lin" valueType="num">
                                      <p:cBhvr additive="base">
                                        <p:cTn id="157" dur="420" fill="hold"/>
                                        <p:tgtEl>
                                          <p:spTgt spid="47"/>
                                        </p:tgtEl>
                                        <p:attrNameLst>
                                          <p:attrName>ppt_y</p:attrName>
                                        </p:attrNameLst>
                                      </p:cBhvr>
                                      <p:tavLst>
                                        <p:tav tm="0">
                                          <p:val>
                                            <p:strVal val="0.06"/>
                                          </p:val>
                                        </p:tav>
                                        <p:tav tm="100000">
                                          <p:val>
                                            <p:strVal val="0"/>
                                          </p:val>
                                        </p:tav>
                                      </p:tavLst>
                                    </p:anim>
                                  </p:childTnLst>
                                </p:cTn>
                              </p:par>
                              <p:par>
                                <p:cTn id="162" fill="hold">
                                  <p:stCondLst>
                                    <p:cond delay="440"/>
                                  </p:stCondLst>
                                  <p:childTnLst>
                                    <p:set>
                                      <p:cBhvr>
                                        <p:cTn id="160" dur="1" fill="hold">
                                          <p:stCondLst>
                                            <p:cond delay="0"/>
                                          </p:stCondLst>
                                        </p:cTn>
                                        <p:tgtEl>
                                          <p:spTgt spid="48"/>
                                        </p:tgtEl>
                                        <p:attrNameLst>
                                          <p:attrName>style.visibility</p:attrName>
                                        </p:attrNameLst>
                                      </p:cBhvr>
                                      <p:to>
                                        <p:strVal val="visible"/>
                                      </p:to>
                                    </p:set>
                                    <p:animEffect transition="in" filter="fade">
                                      <p:cBhvr>
                                        <p:cTn id="159" dur="420"/>
                                        <p:tgtEl>
                                          <p:spTgt spid="48"/>
                                        </p:tgtEl>
                                      </p:cBhvr>
                                    </p:animEffect>
                                    <p:anim calcmode="lin" valueType="num">
                                      <p:cBhvr additive="base">
                                        <p:cTn id="161" dur="420" fill="hold"/>
                                        <p:tgtEl>
                                          <p:spTgt spid="48"/>
                                        </p:tgtEl>
                                        <p:attrNameLst>
                                          <p:attrName>ppt_y</p:attrName>
                                        </p:attrNameLst>
                                      </p:cBhvr>
                                      <p:tavLst>
                                        <p:tav tm="0">
                                          <p:val>
                                            <p:strVal val="0.06"/>
                                          </p:val>
                                        </p:tav>
                                        <p:tav tm="100000">
                                          <p:val>
                                            <p:strVal val="0"/>
                                          </p:val>
                                        </p:tav>
                                      </p:tavLst>
                                    </p:anim>
                                  </p:childTnLst>
                                </p:cTn>
                              </p:par>
                              <p:par>
                                <p:cTn id="166" fill="hold">
                                  <p:stCondLst>
                                    <p:cond delay="550"/>
                                  </p:stCondLst>
                                  <p:childTnLst>
                                    <p:set>
                                      <p:cBhvr>
                                        <p:cTn id="164" dur="1" fill="hold">
                                          <p:stCondLst>
                                            <p:cond delay="0"/>
                                          </p:stCondLst>
                                        </p:cTn>
                                        <p:tgtEl>
                                          <p:spTgt spid="49"/>
                                        </p:tgtEl>
                                        <p:attrNameLst>
                                          <p:attrName>style.visibility</p:attrName>
                                        </p:attrNameLst>
                                      </p:cBhvr>
                                      <p:to>
                                        <p:strVal val="visible"/>
                                      </p:to>
                                    </p:set>
                                    <p:animEffect transition="in" filter="fade">
                                      <p:cBhvr>
                                        <p:cTn id="163" dur="420"/>
                                        <p:tgtEl>
                                          <p:spTgt spid="49"/>
                                        </p:tgtEl>
                                      </p:cBhvr>
                                    </p:animEffect>
                                    <p:anim calcmode="lin" valueType="num">
                                      <p:cBhvr additive="base">
                                        <p:cTn id="165" dur="420" fill="hold"/>
                                        <p:tgtEl>
                                          <p:spTgt spid="49"/>
                                        </p:tgtEl>
                                        <p:attrNameLst>
                                          <p:attrName>ppt_y</p:attrName>
                                        </p:attrNameLst>
                                      </p:cBhvr>
                                      <p:tavLst>
                                        <p:tav tm="0">
                                          <p:val>
                                            <p:strVal val="0.06"/>
                                          </p:val>
                                        </p:tav>
                                        <p:tav tm="100000">
                                          <p:val>
                                            <p:strVal val="0"/>
                                          </p:val>
                                        </p:tav>
                                      </p:tavLst>
                                    </p:anim>
                                  </p:childTnLst>
                                </p:cTn>
                              </p:par>
                              <p:par>
                                <p:cTn id="170" fill="hold">
                                  <p:stCondLst>
                                    <p:cond delay="660"/>
                                  </p:stCondLst>
                                  <p:childTnLst>
                                    <p:set>
                                      <p:cBhvr>
                                        <p:cTn id="168" dur="1" fill="hold">
                                          <p:stCondLst>
                                            <p:cond delay="0"/>
                                          </p:stCondLst>
                                        </p:cTn>
                                        <p:tgtEl>
                                          <p:spTgt spid="50"/>
                                        </p:tgtEl>
                                        <p:attrNameLst>
                                          <p:attrName>style.visibility</p:attrName>
                                        </p:attrNameLst>
                                      </p:cBhvr>
                                      <p:to>
                                        <p:strVal val="visible"/>
                                      </p:to>
                                    </p:set>
                                    <p:animEffect transition="in" filter="fade">
                                      <p:cBhvr>
                                        <p:cTn id="167" dur="420"/>
                                        <p:tgtEl>
                                          <p:spTgt spid="50"/>
                                        </p:tgtEl>
                                      </p:cBhvr>
                                    </p:animEffect>
                                    <p:anim calcmode="lin" valueType="num">
                                      <p:cBhvr additive="base">
                                        <p:cTn id="169" dur="420" fill="hold"/>
                                        <p:tgtEl>
                                          <p:spTgt spid="50"/>
                                        </p:tgtEl>
                                        <p:attrNameLst>
                                          <p:attrName>ppt_y</p:attrName>
                                        </p:attrNameLst>
                                      </p:cBhvr>
                                      <p:tavLst>
                                        <p:tav tm="0">
                                          <p:val>
                                            <p:strVal val="0.06"/>
                                          </p:val>
                                        </p:tav>
                                        <p:tav tm="100000">
                                          <p:val>
                                            <p:strVal val="0"/>
                                          </p:val>
                                        </p:tav>
                                      </p:tavLst>
                                    </p:anim>
                                  </p:childTnLst>
                                </p:cTn>
                              </p:par>
                            </p:childTnLst>
                          </p:cTn>
                        </p:par>
                      </p:childTnLst>
                    </p:cTn>
                  </p:par>
                  <p:par>
                    <p:cTn id="177" fill="hold">
                      <p:stCondLst>
                        <p:cond delay="indefinite"/>
                      </p:stCondLst>
                      <p:childTnLst>
                        <p:par>
                          <p:cTn id="178" fill="hold">
                            <p:stCondLst>
                              <p:cond delay="0"/>
                            </p:stCondLst>
                            <p:childTnLst>
                              <p:par>
                                <p:cTn id="176" fill="hold">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3" dur="420"/>
                                        <p:tgtEl>
                                          <p:spTgt spid="51"/>
                                        </p:tgtEl>
                                      </p:cBhvr>
                                    </p:animEffect>
                                    <p:anim calcmode="lin" valueType="num">
                                      <p:cBhvr additive="base">
                                        <p:cTn id="175" dur="420" fill="hold"/>
                                        <p:tgtEl>
                                          <p:spTgt spid="51"/>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03 / 30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112409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0E7C94"/>
                </a:solidFill>
                <a:latin typeface="Consolas"/>
              </a:rPr>
              <a:t>01</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Fundamentos de la lógica digital</a:t>
            </a:r>
          </a:p>
        </p:txBody>
      </p:sp>
      <p:sp>
        <p:nvSpPr>
          <p:cNvPr id="15" name="Rectangle 14"/>
          <p:cNvSpPr/>
          <p:nvPr/>
        </p:nvSpPr>
        <p:spPr>
          <a:xfrm>
            <a:off x="475488" y="4370832"/>
            <a:ext cx="1645920" cy="457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fund.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Qué es una señal digital y por qué domina la electrónica moderna</a:t>
            </a:r>
          </a:p>
        </p:txBody>
      </p:sp>
      <p:sp>
        <p:nvSpPr>
          <p:cNvPr id="19" name="Oval 18"/>
          <p:cNvSpPr/>
          <p:nvPr/>
        </p:nvSpPr>
        <p:spPr>
          <a:xfrm>
            <a:off x="502919" y="49130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Sistema binario, bits, bytes y códigos (BCD, Gray, ASCII)</a:t>
            </a:r>
          </a:p>
        </p:txBody>
      </p:sp>
      <p:sp>
        <p:nvSpPr>
          <p:cNvPr id="21" name="Oval 20"/>
          <p:cNvSpPr/>
          <p:nvPr/>
        </p:nvSpPr>
        <p:spPr>
          <a:xfrm>
            <a:off x="502919" y="515342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Niveles lógicos TTL: VIL, VIH, VOL, VOH y márgenes de ruido</a:t>
            </a:r>
          </a:p>
        </p:txBody>
      </p:sp>
      <p:sp>
        <p:nvSpPr>
          <p:cNvPr id="23" name="Oval 22"/>
          <p:cNvSpPr/>
          <p:nvPr/>
        </p:nvSpPr>
        <p:spPr>
          <a:xfrm>
            <a:off x="502919" y="539384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Álgebra de Boole, teoremas, De Morgan y simplificación con Karnaugh</a:t>
            </a:r>
          </a:p>
        </p:txBody>
      </p:sp>
      <p:sp>
        <p:nvSpPr>
          <p:cNvPr id="25" name="Oval 24"/>
          <p:cNvSpPr/>
          <p:nvPr/>
        </p:nvSpPr>
        <p:spPr>
          <a:xfrm>
            <a:off x="502919" y="563426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Diferencia entre lógica combinacional y lógica secuencial</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56" fill="hold">
                      <p:stCondLst>
                        <p:cond delay="indefinite"/>
                      </p:stCondLst>
                      <p:childTnLst>
                        <p:par>
                          <p:cTn id="57"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¿Qué es la electrónica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Una señal digital solo admite dos estados válidos y todo lo demás se interpreta como error.</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04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498799"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245592" cy="839898"/>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a:t>
            </a:r>
            <a:r>
              <a:rPr sz="1220" b="1">
                <a:solidFill>
                  <a:srgbClr val="2C3E56"/>
                </a:solidFill>
                <a:latin typeface="Segoe UI Semibold"/>
              </a:rPr>
              <a:t>electrónica digital</a:t>
            </a:r>
            <a:r>
              <a:rPr sz="1220" b="0">
                <a:solidFill>
                  <a:srgbClr val="2C3E56"/>
                </a:solidFill>
                <a:latin typeface="Segoe UI"/>
              </a:rPr>
              <a:t> trabaja con señales que solo pueden tomar dos valores discretos: nivel </a:t>
            </a:r>
            <a:r>
              <a:rPr sz="1220" b="1">
                <a:solidFill>
                  <a:srgbClr val="2C3E56"/>
                </a:solidFill>
                <a:latin typeface="Segoe UI Semibold"/>
              </a:rPr>
              <a:t>ALTO ('1')</a:t>
            </a:r>
            <a:r>
              <a:rPr sz="1220" b="0">
                <a:solidFill>
                  <a:srgbClr val="2C3E56"/>
                </a:solidFill>
                <a:latin typeface="Segoe UI"/>
              </a:rPr>
              <a:t> o nivel </a:t>
            </a:r>
            <a:r>
              <a:rPr sz="1220" b="1">
                <a:solidFill>
                  <a:srgbClr val="2C3E56"/>
                </a:solidFill>
                <a:latin typeface="Segoe UI Semibold"/>
              </a:rPr>
              <a:t>BAJO ('0')</a:t>
            </a:r>
            <a:r>
              <a:rPr sz="1220" b="0">
                <a:solidFill>
                  <a:srgbClr val="2C3E56"/>
                </a:solidFill>
                <a:latin typeface="Segoe UI"/>
              </a:rPr>
              <a:t>. Todo valor intermedio es una zona prohibida que el circuito no debe interpretar como dato válido.</a:t>
            </a:r>
          </a:p>
        </p:txBody>
      </p:sp>
      <p:sp>
        <p:nvSpPr>
          <p:cNvPr id="18" name="Oval 17"/>
          <p:cNvSpPr/>
          <p:nvPr/>
        </p:nvSpPr>
        <p:spPr>
          <a:xfrm>
            <a:off x="502919" y="236694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312082"/>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Los dos estados se representan con </a:t>
            </a:r>
            <a:r>
              <a:rPr sz="1220" b="1">
                <a:solidFill>
                  <a:srgbClr val="2C3E56"/>
                </a:solidFill>
                <a:latin typeface="Segoe UI Semibold"/>
              </a:rPr>
              <a:t>tensiones eléctricas</a:t>
            </a:r>
            <a:r>
              <a:rPr sz="1220" b="0">
                <a:solidFill>
                  <a:srgbClr val="2C3E56"/>
                </a:solidFill>
                <a:latin typeface="Segoe UI"/>
              </a:rPr>
              <a:t>: en la familia TTL, aproximadamente </a:t>
            </a:r>
            <a:r>
              <a:rPr sz="1220" b="1">
                <a:solidFill>
                  <a:srgbClr val="2C3E56"/>
                </a:solidFill>
                <a:latin typeface="Segoe UI Semibold"/>
              </a:rPr>
              <a:t>0 V = '0'</a:t>
            </a:r>
            <a:r>
              <a:rPr sz="1220" b="0">
                <a:solidFill>
                  <a:srgbClr val="2C3E56"/>
                </a:solidFill>
                <a:latin typeface="Segoe UI"/>
              </a:rPr>
              <a:t> y </a:t>
            </a:r>
            <a:r>
              <a:rPr sz="1220" b="1">
                <a:solidFill>
                  <a:srgbClr val="2C3E56"/>
                </a:solidFill>
                <a:latin typeface="Segoe UI Semibold"/>
              </a:rPr>
              <a:t>5 V = '1'</a:t>
            </a:r>
            <a:r>
              <a:rPr sz="1220" b="0">
                <a:solidFill>
                  <a:srgbClr val="2C3E56"/>
                </a:solidFill>
                <a:latin typeface="Segoe UI"/>
              </a:rPr>
              <a:t>; en CMOS moderno se usan 3.3 V o 1.8 V con la misma idea.</a:t>
            </a:r>
          </a:p>
        </p:txBody>
      </p:sp>
      <p:sp>
        <p:nvSpPr>
          <p:cNvPr id="20" name="Oval 19"/>
          <p:cNvSpPr/>
          <p:nvPr/>
        </p:nvSpPr>
        <p:spPr>
          <a:xfrm>
            <a:off x="502919" y="309745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042590"/>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El estado '1' y el '0' reciben el nombre de </a:t>
            </a:r>
            <a:r>
              <a:rPr sz="1220" b="1">
                <a:solidFill>
                  <a:srgbClr val="2C3E56"/>
                </a:solidFill>
                <a:latin typeface="Segoe UI Semibold"/>
              </a:rPr>
              <a:t>bit</a:t>
            </a:r>
            <a:r>
              <a:rPr sz="1220" b="0">
                <a:solidFill>
                  <a:srgbClr val="2C3E56"/>
                </a:solidFill>
                <a:latin typeface="Segoe UI"/>
              </a:rPr>
              <a:t> (binary digit, dígito binario), y los bits se agrupan en </a:t>
            </a:r>
            <a:r>
              <a:rPr sz="1220" b="1">
                <a:solidFill>
                  <a:srgbClr val="2C3E56"/>
                </a:solidFill>
                <a:latin typeface="Segoe UI Semibold"/>
              </a:rPr>
              <a:t>nibbles</a:t>
            </a:r>
            <a:r>
              <a:rPr sz="1220" b="0">
                <a:solidFill>
                  <a:srgbClr val="2C3E56"/>
                </a:solidFill>
                <a:latin typeface="Segoe UI"/>
              </a:rPr>
              <a:t> (4 bits), </a:t>
            </a:r>
            <a:r>
              <a:rPr sz="1220" b="1">
                <a:solidFill>
                  <a:srgbClr val="2C3E56"/>
                </a:solidFill>
                <a:latin typeface="Segoe UI Semibold"/>
              </a:rPr>
              <a:t>bytes</a:t>
            </a:r>
            <a:r>
              <a:rPr sz="1220" b="0">
                <a:solidFill>
                  <a:srgbClr val="2C3E56"/>
                </a:solidFill>
                <a:latin typeface="Segoe UI"/>
              </a:rPr>
              <a:t> (8 bits), </a:t>
            </a:r>
            <a:r>
              <a:rPr sz="1220" b="1">
                <a:solidFill>
                  <a:srgbClr val="2C3E56"/>
                </a:solidFill>
                <a:latin typeface="Segoe UI Semibold"/>
              </a:rPr>
              <a:t>palabras</a:t>
            </a:r>
            <a:r>
              <a:rPr sz="1220" b="0">
                <a:solidFill>
                  <a:srgbClr val="2C3E56"/>
                </a:solidFill>
                <a:latin typeface="Segoe UI"/>
              </a:rPr>
              <a:t> (16, 32 o 64 bits) y bloques de memoria.</a:t>
            </a:r>
          </a:p>
        </p:txBody>
      </p:sp>
      <p:sp>
        <p:nvSpPr>
          <p:cNvPr id="22" name="Oval 21"/>
          <p:cNvSpPr/>
          <p:nvPr/>
        </p:nvSpPr>
        <p:spPr>
          <a:xfrm>
            <a:off x="502919" y="382796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773098"/>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gran ventaja es la </a:t>
            </a:r>
            <a:r>
              <a:rPr sz="1220" b="1">
                <a:solidFill>
                  <a:srgbClr val="2C3E56"/>
                </a:solidFill>
                <a:latin typeface="Segoe UI Semibold"/>
              </a:rPr>
              <a:t>inmunidad al ruido</a:t>
            </a:r>
            <a:r>
              <a:rPr sz="1220" b="0">
                <a:solidFill>
                  <a:srgbClr val="2C3E56"/>
                </a:solidFill>
                <a:latin typeface="Segoe UI"/>
              </a:rPr>
              <a:t> frente a la electrónica analógica: un pequeño voltaje parásito no cambia el valor lógico, salvo que cruce el umbral de decisión.</a:t>
            </a:r>
          </a:p>
        </p:txBody>
      </p:sp>
      <p:sp>
        <p:nvSpPr>
          <p:cNvPr id="24" name="Oval 23"/>
          <p:cNvSpPr/>
          <p:nvPr/>
        </p:nvSpPr>
        <p:spPr>
          <a:xfrm>
            <a:off x="6278864"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5168" y="1371600"/>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Las </a:t>
            </a:r>
            <a:r>
              <a:rPr sz="1220" b="1">
                <a:solidFill>
                  <a:srgbClr val="2C3E56"/>
                </a:solidFill>
                <a:latin typeface="Segoe UI Semibold"/>
              </a:rPr>
              <a:t>compuertas lógicas</a:t>
            </a:r>
            <a:r>
              <a:rPr sz="1220" b="0">
                <a:solidFill>
                  <a:srgbClr val="2C3E56"/>
                </a:solidFill>
                <a:latin typeface="Segoe UI"/>
              </a:rPr>
              <a:t> son los ladrillos elementales: implementan una función booleana con transistores y producen una salida digital a partir de una o varias entradas digitales.</a:t>
            </a:r>
          </a:p>
        </p:txBody>
      </p:sp>
      <p:sp>
        <p:nvSpPr>
          <p:cNvPr id="26" name="Oval 25"/>
          <p:cNvSpPr/>
          <p:nvPr/>
        </p:nvSpPr>
        <p:spPr>
          <a:xfrm>
            <a:off x="6278864" y="215697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5168" y="2102108"/>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Con compuertas se construyen </a:t>
            </a:r>
            <a:r>
              <a:rPr sz="1220" b="1">
                <a:solidFill>
                  <a:srgbClr val="2C3E56"/>
                </a:solidFill>
                <a:latin typeface="Segoe UI Semibold"/>
              </a:rPr>
              <a:t>sumadores, comparadores, contadores, memorias y microprocesadores</a:t>
            </a:r>
            <a:r>
              <a:rPr sz="1220" b="0">
                <a:solidFill>
                  <a:srgbClr val="2C3E56"/>
                </a:solidFill>
                <a:latin typeface="Segoe UI"/>
              </a:rPr>
              <a:t>: un procesador moderno contiene miles de millones de compuertas elementales.</a:t>
            </a:r>
          </a:p>
        </p:txBody>
      </p:sp>
      <p:sp>
        <p:nvSpPr>
          <p:cNvPr id="28" name="Oval 27"/>
          <p:cNvSpPr/>
          <p:nvPr/>
        </p:nvSpPr>
        <p:spPr>
          <a:xfrm>
            <a:off x="6278864" y="2887480"/>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5168" y="2832616"/>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La </a:t>
            </a:r>
            <a:r>
              <a:rPr sz="1220" b="1">
                <a:solidFill>
                  <a:srgbClr val="2C3E56"/>
                </a:solidFill>
                <a:latin typeface="Segoe UI Semibold"/>
              </a:rPr>
              <a:t>Serie 74XX</a:t>
            </a:r>
            <a:r>
              <a:rPr sz="1220" b="0">
                <a:solidFill>
                  <a:srgbClr val="2C3E56"/>
                </a:solidFill>
                <a:latin typeface="Segoe UI"/>
              </a:rPr>
              <a:t> es el catálogo de integrados lógicos más importante de la historia: desde 1963 sigue vigente por su bajo costo, disponibilidad y valor didáctico.</a:t>
            </a:r>
          </a:p>
        </p:txBody>
      </p:sp>
      <p:sp>
        <p:nvSpPr>
          <p:cNvPr id="30" name="Oval 29"/>
          <p:cNvSpPr/>
          <p:nvPr/>
        </p:nvSpPr>
        <p:spPr>
          <a:xfrm>
            <a:off x="6278864" y="361798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5168" y="3563124"/>
            <a:ext cx="5245592" cy="629924"/>
          </a:xfrm>
          <a:prstGeom prst="rect">
            <a:avLst/>
          </a:prstGeom>
          <a:noFill/>
        </p:spPr>
        <p:txBody>
          <a:bodyPr wrap="square" lIns="0" rIns="0" tIns="0" bIns="0" anchor="t">
            <a:spAutoFit/>
          </a:bodyPr>
          <a:lstStyle/>
          <a:p>
            <a:pPr algn="l">
              <a:lnSpc>
                <a:spcPct val="112000"/>
              </a:lnSpc>
            </a:pPr>
            <a:r>
              <a:rPr sz="1220" b="0">
                <a:solidFill>
                  <a:srgbClr val="2C3E56"/>
                </a:solidFill>
                <a:latin typeface="Segoe UI"/>
              </a:rPr>
              <a:t>En el laboratorio el chip se alimenta con </a:t>
            </a:r>
            <a:r>
              <a:rPr sz="1220" b="1">
                <a:solidFill>
                  <a:srgbClr val="2C3E56"/>
                </a:solidFill>
                <a:latin typeface="Segoe UI Semibold"/>
              </a:rPr>
              <a:t>+5 V ± 5 %</a:t>
            </a:r>
            <a:r>
              <a:rPr sz="1220" b="0">
                <a:solidFill>
                  <a:srgbClr val="2C3E56"/>
                </a:solidFill>
                <a:latin typeface="Segoe UI"/>
              </a:rPr>
              <a:t> entre los pines VCC y GND, y todas las señales de entrada y salida se miden respecto a ese GND común.</a:t>
            </a:r>
          </a:p>
        </p:txBody>
      </p:sp>
      <p:sp>
        <p:nvSpPr>
          <p:cNvPr id="32" name="Rounded Rectangle 31"/>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49824"/>
            <a:ext cx="32004" cy="65836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a:t>
            </a:r>
          </a:p>
        </p:txBody>
      </p:sp>
      <p:sp>
        <p:nvSpPr>
          <p:cNvPr id="35" name="TextBox 34"/>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Escala de la lógica digital: un solo chip 7400 (4 compuertas) contiene 24 transistores; un microprocesador actual contiene más de 30 000 millones. El principio de funcionamiento es el mismo: manipular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21"/>
                                        </p:tgtEl>
                                        <p:attrNameLst>
                                          <p:attrName>style.visibility</p:attrName>
                                        </p:attrNameLst>
                                      </p:cBhvr>
                                      <p:to>
                                        <p:strVal val="visible"/>
                                      </p:to>
                                    </p:set>
                                    <p:animEffect transition="in" filter="fade">
                                      <p:cBhvr>
                                        <p:cTn id="31" dur="420"/>
                                        <p:tgtEl>
                                          <p:spTgt spid="21"/>
                                        </p:tgtEl>
                                      </p:cBhvr>
                                    </p:animEffect>
                                    <p:anim calcmode="lin" valueType="num">
                                      <p:cBhvr additive="base">
                                        <p:cTn id="33"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5"/>
                                        </p:tgtEl>
                                        <p:attrNameLst>
                                          <p:attrName>style.visibility</p:attrName>
                                        </p:attrNameLst>
                                      </p:cBhvr>
                                      <p:to>
                                        <p:strVal val="visible"/>
                                      </p:to>
                                    </p:set>
                                    <p:animEffect transition="in" filter="fade">
                                      <p:cBhvr>
                                        <p:cTn id="41" dur="420"/>
                                        <p:tgtEl>
                                          <p:spTgt spid="25"/>
                                        </p:tgtEl>
                                      </p:cBhvr>
                                    </p:animEffect>
                                    <p:anim calcmode="lin" valueType="num">
                                      <p:cBhvr additive="base">
                                        <p:cTn id="43" dur="420" fill="hold"/>
                                        <p:tgtEl>
                                          <p:spTgt spid="25"/>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7"/>
                                        </p:tgtEl>
                                        <p:attrNameLst>
                                          <p:attrName>style.visibility</p:attrName>
                                        </p:attrNameLst>
                                      </p:cBhvr>
                                      <p:to>
                                        <p:strVal val="visible"/>
                                      </p:to>
                                    </p:set>
                                    <p:animEffect transition="in" filter="fade">
                                      <p:cBhvr>
                                        <p:cTn id="45" dur="420"/>
                                        <p:tgtEl>
                                          <p:spTgt spid="27"/>
                                        </p:tgtEl>
                                      </p:cBhvr>
                                    </p:animEffect>
                                    <p:anim calcmode="lin" valueType="num">
                                      <p:cBhvr additive="base">
                                        <p:cTn id="47"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59" fill="hold">
                      <p:stCondLst>
                        <p:cond delay="indefinite"/>
                      </p:stCondLst>
                      <p:childTnLst>
                        <p:par>
                          <p:cTn id="60" fill="hold">
                            <p:stCondLst>
                              <p:cond delay="0"/>
                            </p:stCondLst>
                            <p:childTnLst>
                              <p:par>
                                <p:cTn id="54" fill="hold">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1" dur="420"/>
                                        <p:tgtEl>
                                          <p:spTgt spid="29"/>
                                        </p:tgtEl>
                                      </p:cBhvr>
                                    </p:animEffect>
                                    <p:anim calcmode="lin" valueType="num">
                                      <p:cBhvr additive="base">
                                        <p:cTn id="53" dur="420" fill="hold"/>
                                        <p:tgtEl>
                                          <p:spTgt spid="29"/>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31"/>
                                        </p:tgtEl>
                                        <p:attrNameLst>
                                          <p:attrName>style.visibility</p:attrName>
                                        </p:attrNameLst>
                                      </p:cBhvr>
                                      <p:to>
                                        <p:strVal val="visible"/>
                                      </p:to>
                                    </p:set>
                                    <p:animEffect transition="in" filter="fade">
                                      <p:cBhvr>
                                        <p:cTn id="55" dur="420"/>
                                        <p:tgtEl>
                                          <p:spTgt spid="31"/>
                                        </p:tgtEl>
                                      </p:cBhvr>
                                    </p:animEffect>
                                    <p:anim calcmode="lin" valueType="num">
                                      <p:cBhvr additive="base">
                                        <p:cTn id="5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64" fill="hold">
                      <p:stCondLst>
                        <p:cond delay="indefinite"/>
                      </p:stCondLst>
                      <p:childTnLst>
                        <p:par>
                          <p:cTn id="65" fill="hold">
                            <p:stCondLst>
                              <p:cond delay="0"/>
                            </p:stCondLst>
                            <p:childTnLst>
                              <p:par>
                                <p:cTn id="63" fill="hold">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1" dur="420"/>
                                        <p:tgtEl>
                                          <p:spTgt spid="32"/>
                                        </p:tgtEl>
                                      </p:cBhvr>
                                    </p:animEffect>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6" dur="420"/>
                                        <p:tgtEl>
                                          <p:spTgt spid="33"/>
                                        </p:tgtEl>
                                      </p:cBhvr>
                                    </p:animEffect>
                                  </p:childTnLst>
                                </p:cTn>
                              </p:par>
                            </p:childTnLst>
                          </p:cTn>
                        </p:par>
                      </p:childTnLst>
                    </p:cTn>
                  </p:par>
                  <p:par>
                    <p:cTn id="77" fill="hold">
                      <p:stCondLst>
                        <p:cond delay="indefinite"/>
                      </p:stCondLst>
                      <p:childTnLst>
                        <p:par>
                          <p:cTn id="78" fill="hold">
                            <p:stCondLst>
                              <p:cond delay="0"/>
                            </p:stCondLst>
                            <p:childTnLst>
                              <p:par>
                                <p:cTn id="73" fill="hold">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11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Mundo analógico vs. mundo digital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Comparación de los dos enfoques; la guía trabaja exclusivamente el enfoque digital.</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05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8734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C2690A"/>
                </a:solidFill>
                <a:latin typeface="Segoe UI Semibold"/>
              </a:rPr>
              <a:t>Señal analógica</a:t>
            </a:r>
          </a:p>
        </p:txBody>
      </p:sp>
      <p:sp>
        <p:nvSpPr>
          <p:cNvPr id="19" name="Oval 18"/>
          <p:cNvSpPr/>
          <p:nvPr/>
        </p:nvSpPr>
        <p:spPr>
          <a:xfrm>
            <a:off x="685799" y="19751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Toma </a:t>
            </a:r>
            <a:r>
              <a:rPr sz="1150" b="1">
                <a:solidFill>
                  <a:srgbClr val="2C3E56"/>
                </a:solidFill>
                <a:latin typeface="Segoe UI Semibold"/>
              </a:rPr>
              <a:t>infinitos valores</a:t>
            </a:r>
            <a:r>
              <a:rPr sz="1150" b="0">
                <a:solidFill>
                  <a:srgbClr val="2C3E56"/>
                </a:solidFill>
                <a:latin typeface="Segoe UI"/>
              </a:rPr>
              <a:t> dentro de un rango continuo (0 V … 5 V, sin escalones).</a:t>
            </a:r>
          </a:p>
        </p:txBody>
      </p:sp>
      <p:sp>
        <p:nvSpPr>
          <p:cNvPr id="21" name="Oval 20"/>
          <p:cNvSpPr/>
          <p:nvPr/>
        </p:nvSpPr>
        <p:spPr>
          <a:xfrm>
            <a:off x="685799" y="24532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3983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Cualquier perturbación se suma al valor: </a:t>
            </a:r>
            <a:r>
              <a:rPr sz="1150" b="1">
                <a:solidFill>
                  <a:srgbClr val="2C3E56"/>
                </a:solidFill>
                <a:latin typeface="Segoe UI Semibold"/>
              </a:rPr>
              <a:t>el ruido no se puede eliminar</a:t>
            </a:r>
            <a:r>
              <a:rPr sz="1150" b="0">
                <a:solidFill>
                  <a:srgbClr val="2C3E56"/>
                </a:solidFill>
                <a:latin typeface="Segoe UI"/>
              </a:rPr>
              <a:t>, solo filtrar.</a:t>
            </a:r>
          </a:p>
        </p:txBody>
      </p:sp>
      <p:sp>
        <p:nvSpPr>
          <p:cNvPr id="23" name="Oval 22"/>
          <p:cNvSpPr/>
          <p:nvPr/>
        </p:nvSpPr>
        <p:spPr>
          <a:xfrm>
            <a:off x="685799" y="29314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8765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Requiere </a:t>
            </a:r>
            <a:r>
              <a:rPr sz="1150" b="1">
                <a:solidFill>
                  <a:srgbClr val="2C3E56"/>
                </a:solidFill>
                <a:latin typeface="Segoe UI Semibold"/>
              </a:rPr>
              <a:t>conversión a digital</a:t>
            </a:r>
            <a:r>
              <a:rPr sz="1150" b="0">
                <a:solidFill>
                  <a:srgbClr val="2C3E56"/>
                </a:solidFill>
                <a:latin typeface="Segoe UI"/>
              </a:rPr>
              <a:t> (ADC) para ser procesada por un chip digital.</a:t>
            </a:r>
          </a:p>
        </p:txBody>
      </p:sp>
      <p:sp>
        <p:nvSpPr>
          <p:cNvPr id="25" name="Oval 24"/>
          <p:cNvSpPr/>
          <p:nvPr/>
        </p:nvSpPr>
        <p:spPr>
          <a:xfrm>
            <a:off x="685799" y="34095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33546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Ejemplos: audio de un micrófono, salida de un termistor o de un LDR, señal de un potenciómetro.</a:t>
            </a:r>
          </a:p>
        </p:txBody>
      </p:sp>
      <p:sp>
        <p:nvSpPr>
          <p:cNvPr id="27" name="Oval 26"/>
          <p:cNvSpPr/>
          <p:nvPr/>
        </p:nvSpPr>
        <p:spPr>
          <a:xfrm>
            <a:off x="685799" y="38877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8328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Su precisión depende de tolerancias, temperatura y calidad de los componentes.</a:t>
            </a:r>
          </a:p>
        </p:txBody>
      </p:sp>
      <p:sp>
        <p:nvSpPr>
          <p:cNvPr id="29" name="Oval 28"/>
          <p:cNvSpPr/>
          <p:nvPr/>
        </p:nvSpPr>
        <p:spPr>
          <a:xfrm>
            <a:off x="685799" y="436585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43109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Procesarla exige amplificadores operacionales, filtros y etapas lineales.</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Señal digital</a:t>
            </a:r>
          </a:p>
        </p:txBody>
      </p:sp>
      <p:sp>
        <p:nvSpPr>
          <p:cNvPr id="34" name="Oval 33"/>
          <p:cNvSpPr/>
          <p:nvPr/>
        </p:nvSpPr>
        <p:spPr>
          <a:xfrm>
            <a:off x="6416024"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Solo admite </a:t>
            </a:r>
            <a:r>
              <a:rPr sz="1150" b="1">
                <a:solidFill>
                  <a:srgbClr val="2C3E56"/>
                </a:solidFill>
                <a:latin typeface="Segoe UI Semibold"/>
              </a:rPr>
              <a:t>dos estados discretos</a:t>
            </a:r>
            <a:r>
              <a:rPr sz="1150" b="0">
                <a:solidFill>
                  <a:srgbClr val="2C3E56"/>
                </a:solidFill>
                <a:latin typeface="Segoe UI"/>
              </a:rPr>
              <a:t> ('0' y '1'), representados por bandas de tensión.</a:t>
            </a:r>
          </a:p>
        </p:txBody>
      </p:sp>
      <p:sp>
        <p:nvSpPr>
          <p:cNvPr id="36" name="Oval 35"/>
          <p:cNvSpPr/>
          <p:nvPr/>
        </p:nvSpPr>
        <p:spPr>
          <a:xfrm>
            <a:off x="6416024" y="24532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3983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El ruido por debajo del margen de ruido </a:t>
            </a:r>
            <a:r>
              <a:rPr sz="1150" b="1">
                <a:solidFill>
                  <a:srgbClr val="2C3E56"/>
                </a:solidFill>
                <a:latin typeface="Segoe UI Semibold"/>
              </a:rPr>
              <a:t>no altera</a:t>
            </a:r>
            <a:r>
              <a:rPr sz="1150" b="0">
                <a:solidFill>
                  <a:srgbClr val="2C3E56"/>
                </a:solidFill>
                <a:latin typeface="Segoe UI"/>
              </a:rPr>
              <a:t> el dato transmitido.</a:t>
            </a:r>
          </a:p>
        </p:txBody>
      </p:sp>
      <p:sp>
        <p:nvSpPr>
          <p:cNvPr id="38" name="Oval 37"/>
          <p:cNvSpPr/>
          <p:nvPr/>
        </p:nvSpPr>
        <p:spPr>
          <a:xfrm>
            <a:off x="6416024" y="29314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8765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procesa directamente con compuertas y se </a:t>
            </a:r>
            <a:r>
              <a:rPr sz="1150" b="1">
                <a:solidFill>
                  <a:srgbClr val="2C3E56"/>
                </a:solidFill>
                <a:latin typeface="Segoe UI Semibold"/>
              </a:rPr>
              <a:t>almacena</a:t>
            </a:r>
            <a:r>
              <a:rPr sz="1150" b="0">
                <a:solidFill>
                  <a:srgbClr val="2C3E56"/>
                </a:solidFill>
                <a:latin typeface="Segoe UI"/>
              </a:rPr>
              <a:t> en biestables.</a:t>
            </a:r>
          </a:p>
        </p:txBody>
      </p:sp>
      <p:sp>
        <p:nvSpPr>
          <p:cNvPr id="40" name="Oval 39"/>
          <p:cNvSpPr/>
          <p:nvPr/>
        </p:nvSpPr>
        <p:spPr>
          <a:xfrm>
            <a:off x="6416024" y="34095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3546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Ejemplos: salida de una compuerta, bit de memoria, dato de un bus, estado de un contador.</a:t>
            </a:r>
          </a:p>
        </p:txBody>
      </p:sp>
      <p:sp>
        <p:nvSpPr>
          <p:cNvPr id="42" name="Oval 41"/>
          <p:cNvSpPr/>
          <p:nvPr/>
        </p:nvSpPr>
        <p:spPr>
          <a:xfrm>
            <a:off x="6416024" y="38877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83283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La exactitud se define por </a:t>
            </a:r>
            <a:r>
              <a:rPr sz="1150" b="1">
                <a:solidFill>
                  <a:srgbClr val="2C3E56"/>
                </a:solidFill>
                <a:latin typeface="Segoe UI Semibold"/>
              </a:rPr>
              <a:t>niveles garantizados</a:t>
            </a:r>
            <a:r>
              <a:rPr sz="1150" b="0">
                <a:solidFill>
                  <a:srgbClr val="2C3E56"/>
                </a:solidFill>
                <a:latin typeface="Segoe UI"/>
              </a:rPr>
              <a:t> en la hoja de datos (VIL, VIH).</a:t>
            </a:r>
          </a:p>
        </p:txBody>
      </p:sp>
      <p:sp>
        <p:nvSpPr>
          <p:cNvPr id="44" name="Oval 43"/>
          <p:cNvSpPr/>
          <p:nvPr/>
        </p:nvSpPr>
        <p:spPr>
          <a:xfrm>
            <a:off x="6416024" y="436585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4310989"/>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vuelve a convertir a analógico con un </a:t>
            </a:r>
            <a:r>
              <a:rPr sz="1150" b="1">
                <a:solidFill>
                  <a:srgbClr val="2C3E56"/>
                </a:solidFill>
                <a:latin typeface="Segoe UI Semibold"/>
              </a:rPr>
              <a:t>DAC</a:t>
            </a:r>
            <a:r>
              <a:rPr sz="1150" b="0">
                <a:solidFill>
                  <a:srgbClr val="2C3E56"/>
                </a:solidFill>
                <a:latin typeface="Segoe UI"/>
              </a:rPr>
              <a:t> cuando hay que mover un parlante o un motor.</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práctica: el mundo físico es analógico y el mundo de los datos es digital; los chips de la Serie 74XX son el puente entre ambos cuando se combinan con sensores y convertidores.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Señales, variables y funciones lógicas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Vocabulario mínimo indispensable antes de tocar una compuerta.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06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2481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A/B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Variable de entrada</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Símbolo cuyo valor puede ser 0 o 1. Se nombran con letras (A, B, Cin, CLK, OE) y representan el estado de un pin físico del integrado.</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Y</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Función lógica</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Combinación booleana de las entradas que define la salida. Se escribe como ecuación (Y = A·B) o como tabla de verdad con todas las combinaciones.</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Tabla de verdad</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Lista exhaustiva de entradas y salida. Con n entradas hay 2^n filas: 2, 4, 8, 16… Es la descripción más honesta del comportamiento del circuito.</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HI/LO</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Nivel activo</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Indica el estado que 'activa' la función. Un pin con línea superior (OE) o asterisco es activo en bajo: hace su función con '0' lógico.</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ns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Retardo (tPD)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Tiempo entre el cambio de entrada y el cambio efectivo de salida. En 74LS ronda 8–15 ns; determina la frecuencia máxima de trabajo.</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900" b="1">
                <a:solidFill>
                  <a:srgbClr val="1E5FD0"/>
                </a:solidFill>
                <a:latin typeface="Consolas"/>
              </a:rPr>
              <a:t>10</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Fan-out</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Número de entradas de la misma familia que puede gobernar una sola salida sin degradar los niveles garantizados (10 en TTL estándar).</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estos seis conceptos se puede leer cualquier hoja de datos de la familia 74XX, desde un 7400 hasta un 74181 (ALU de 4 bits).</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Sistema de numeración binario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Base 2: solo dos dígitos, pero infinitas combinaciones.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07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6228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5352257" cy="640412"/>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El </a:t>
            </a:r>
            <a:r>
              <a:rPr sz="1225" b="1">
                <a:solidFill>
                  <a:srgbClr val="2C3E56"/>
                </a:solidFill>
                <a:latin typeface="Segoe UI Semibold"/>
              </a:rPr>
              <a:t>sistema binario</a:t>
            </a:r>
            <a:r>
              <a:rPr sz="1225" b="0">
                <a:solidFill>
                  <a:srgbClr val="2C3E56"/>
                </a:solidFill>
                <a:latin typeface="Segoe UI"/>
              </a:rPr>
              <a:t> es posicional en base 2: cada posición pesa una potencia de dos (1, 2, 4, 8, 16, 32, 64, 128…) en lugar de potencia de diez.</a:t>
            </a:r>
          </a:p>
        </p:txBody>
      </p:sp>
      <p:sp>
        <p:nvSpPr>
          <p:cNvPr id="18" name="Oval 17"/>
          <p:cNvSpPr/>
          <p:nvPr/>
        </p:nvSpPr>
        <p:spPr>
          <a:xfrm>
            <a:off x="502919" y="217294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2118082"/>
            <a:ext cx="5352257" cy="426941"/>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Bit menos significativo (LSB):</a:t>
            </a:r>
            <a:r>
              <a:rPr sz="1225" b="0">
                <a:solidFill>
                  <a:srgbClr val="2C3E56"/>
                </a:solidFill>
                <a:latin typeface="Segoe UI"/>
              </a:rPr>
              <a:t> la posición de peso 1; </a:t>
            </a:r>
            <a:r>
              <a:rPr sz="1225" b="1">
                <a:solidFill>
                  <a:srgbClr val="2C3E56"/>
                </a:solidFill>
                <a:latin typeface="Segoe UI Semibold"/>
              </a:rPr>
              <a:t>bit más significativo (MSB):</a:t>
            </a:r>
            <a:r>
              <a:rPr sz="1225" b="0">
                <a:solidFill>
                  <a:srgbClr val="2C3E56"/>
                </a:solidFill>
                <a:latin typeface="Segoe UI"/>
              </a:rPr>
              <a:t> la de mayor peso de la palabra.</a:t>
            </a:r>
          </a:p>
        </p:txBody>
      </p:sp>
      <p:sp>
        <p:nvSpPr>
          <p:cNvPr id="20" name="Oval 19"/>
          <p:cNvSpPr/>
          <p:nvPr/>
        </p:nvSpPr>
        <p:spPr>
          <a:xfrm>
            <a:off x="502919" y="270595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51094"/>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Conversión </a:t>
            </a:r>
            <a:r>
              <a:rPr sz="1225" b="1">
                <a:solidFill>
                  <a:srgbClr val="2C3E56"/>
                </a:solidFill>
                <a:latin typeface="Segoe UI Semibold"/>
              </a:rPr>
              <a:t>binario → decimal</a:t>
            </a:r>
            <a:r>
              <a:rPr sz="1225" b="0">
                <a:solidFill>
                  <a:srgbClr val="2C3E56"/>
                </a:solidFill>
                <a:latin typeface="Segoe UI"/>
              </a:rPr>
              <a:t>: se multiplica cada bit por su peso y se suma. Ejemplo: 1011₂ = 8 + 2 + 1 = 11₁₀.</a:t>
            </a:r>
          </a:p>
        </p:txBody>
      </p:sp>
      <p:sp>
        <p:nvSpPr>
          <p:cNvPr id="22" name="Oval 21"/>
          <p:cNvSpPr/>
          <p:nvPr/>
        </p:nvSpPr>
        <p:spPr>
          <a:xfrm>
            <a:off x="502919" y="323896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184105"/>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Conversión </a:t>
            </a:r>
            <a:r>
              <a:rPr sz="1225" b="1">
                <a:solidFill>
                  <a:srgbClr val="2C3E56"/>
                </a:solidFill>
                <a:latin typeface="Segoe UI Semibold"/>
              </a:rPr>
              <a:t>decimal → binario</a:t>
            </a:r>
            <a:r>
              <a:rPr sz="1225" b="0">
                <a:solidFill>
                  <a:srgbClr val="2C3E56"/>
                </a:solidFill>
                <a:latin typeface="Segoe UI"/>
              </a:rPr>
              <a:t>: se divide sucesivamente entre 2 y se leen los residuos en orden inverso (método de divisiones sucesivas).</a:t>
            </a:r>
          </a:p>
        </p:txBody>
      </p:sp>
      <p:sp>
        <p:nvSpPr>
          <p:cNvPr id="24" name="Oval 23"/>
          <p:cNvSpPr/>
          <p:nvPr/>
        </p:nvSpPr>
        <p:spPr>
          <a:xfrm>
            <a:off x="502919" y="377198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17117"/>
            <a:ext cx="5352257" cy="640412"/>
          </a:xfrm>
          <a:prstGeom prst="rect">
            <a:avLst/>
          </a:prstGeom>
          <a:noFill/>
        </p:spPr>
        <p:txBody>
          <a:bodyPr wrap="square" lIns="0" rIns="0" tIns="0" bIns="0" anchor="t">
            <a:spAutoFit/>
          </a:bodyPr>
          <a:lstStyle/>
          <a:p>
            <a:pPr algn="l">
              <a:lnSpc>
                <a:spcPct val="113400"/>
              </a:lnSpc>
            </a:pPr>
            <a:r>
              <a:rPr sz="1225" b="1">
                <a:solidFill>
                  <a:srgbClr val="2C3E56"/>
                </a:solidFill>
                <a:latin typeface="Segoe UI Semibold"/>
              </a:rPr>
              <a:t>Hexadecimal (base 16)</a:t>
            </a:r>
            <a:r>
              <a:rPr sz="1225" b="0">
                <a:solidFill>
                  <a:srgbClr val="2C3E56"/>
                </a:solidFill>
                <a:latin typeface="Segoe UI"/>
              </a:rPr>
              <a:t> se usa como abreviatura del binario: cada dígito hex equivale a 4 bits (un nibble) y simplifica mucho la lectura de buses y memorias.</a:t>
            </a:r>
          </a:p>
        </p:txBody>
      </p:sp>
      <p:sp>
        <p:nvSpPr>
          <p:cNvPr id="26" name="Oval 25"/>
          <p:cNvSpPr/>
          <p:nvPr/>
        </p:nvSpPr>
        <p:spPr>
          <a:xfrm>
            <a:off x="502919" y="4518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463600"/>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Con </a:t>
            </a:r>
            <a:r>
              <a:rPr sz="1225" b="1">
                <a:solidFill>
                  <a:srgbClr val="2C3E56"/>
                </a:solidFill>
                <a:latin typeface="Segoe UI Semibold"/>
              </a:rPr>
              <a:t>n bits</a:t>
            </a:r>
            <a:r>
              <a:rPr sz="1225" b="0">
                <a:solidFill>
                  <a:srgbClr val="2C3E56"/>
                </a:solidFill>
                <a:latin typeface="Segoe UI"/>
              </a:rPr>
              <a:t> se representan 2^n combinaciones distintas: 4 bits → 16 valores, 8 bits → 256 valores, 10 bits → 1024, 16 bits → 65 536.</a:t>
            </a:r>
          </a:p>
        </p:txBody>
      </p:sp>
      <p:sp>
        <p:nvSpPr>
          <p:cNvPr id="28" name="Oval 27"/>
          <p:cNvSpPr/>
          <p:nvPr/>
        </p:nvSpPr>
        <p:spPr>
          <a:xfrm>
            <a:off x="502919" y="505147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996611"/>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Un byte admite dos lecturas: sin signo (0 … 255) o con signo en complemento a dos (–128 … +127).</a:t>
            </a:r>
          </a:p>
        </p:txBody>
      </p:sp>
      <p:sp>
        <p:nvSpPr>
          <p:cNvPr id="30" name="Oval 29"/>
          <p:cNvSpPr/>
          <p:nvPr/>
        </p:nvSpPr>
        <p:spPr>
          <a:xfrm>
            <a:off x="502919" y="558448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529623"/>
            <a:ext cx="5352257" cy="426941"/>
          </a:xfrm>
          <a:prstGeom prst="rect">
            <a:avLst/>
          </a:prstGeom>
          <a:noFill/>
        </p:spPr>
        <p:txBody>
          <a:bodyPr wrap="square" lIns="0" rIns="0" tIns="0" bIns="0" anchor="t">
            <a:spAutoFit/>
          </a:bodyPr>
          <a:lstStyle/>
          <a:p>
            <a:pPr algn="l">
              <a:lnSpc>
                <a:spcPct val="113400"/>
              </a:lnSpc>
            </a:pPr>
            <a:r>
              <a:rPr sz="1225" b="0">
                <a:solidFill>
                  <a:srgbClr val="2C3E56"/>
                </a:solidFill>
                <a:latin typeface="Segoe UI"/>
              </a:rPr>
              <a:t>El complemento a dos se obtiene invirtiendo todos los bits y sumando 1; es la forma en que los procesadores restan sumando.</a:t>
            </a:r>
          </a:p>
        </p:txBody>
      </p:sp>
      <p:sp>
        <p:nvSpPr>
          <p:cNvPr id="32" name="Rounded Rectangle 31"/>
          <p:cNvSpPr/>
          <p:nvPr/>
        </p:nvSpPr>
        <p:spPr>
          <a:xfrm>
            <a:off x="6266657" y="1316736"/>
            <a:ext cx="5504688" cy="4937760"/>
          </a:xfrm>
          <a:prstGeom prst="roundRect">
            <a:avLst>
              <a:gd name="adj" fmla="val 1661"/>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binary_weights.png"/>
          <p:cNvPicPr>
            <a:picLocks noChangeAspect="1"/>
          </p:cNvPicPr>
          <p:nvPr/>
        </p:nvPicPr>
        <p:blipFill>
          <a:blip r:embed="rId2"/>
          <a:stretch>
            <a:fillRect/>
          </a:stretch>
        </p:blipFill>
        <p:spPr>
          <a:xfrm>
            <a:off x="6321521" y="2762707"/>
            <a:ext cx="5285232" cy="1533753"/>
          </a:xfrm>
          <a:prstGeom prst="roundRect">
            <a:avLst>
              <a:gd name="adj" fmla="val 1384"/>
            </a:avLst>
          </a:prstGeom>
        </p:spPr>
      </p:pic>
      <p:sp>
        <p:nvSpPr>
          <p:cNvPr id="34" name="TextBox 33"/>
          <p:cNvSpPr txBox="1"/>
          <p:nvPr/>
        </p:nvSpPr>
        <p:spPr>
          <a:xfrm>
            <a:off x="6321521" y="5742432"/>
            <a:ext cx="5285232" cy="420624"/>
          </a:xfrm>
          <a:prstGeom prst="rect">
            <a:avLst/>
          </a:prstGeom>
          <a:noFill/>
        </p:spPr>
        <p:txBody>
          <a:bodyPr wrap="square" lIns="0" rIns="0" tIns="0" bIns="0" anchor="t">
            <a:spAutoFit/>
          </a:bodyPr>
          <a:lstStyle/>
          <a:p>
            <a:pPr algn="l">
              <a:lnSpc>
                <a:spcPct val="102000"/>
              </a:lnSpc>
            </a:pPr>
            <a:r>
              <a:rPr sz="900" b="0">
                <a:solidFill>
                  <a:srgbClr val="61738C"/>
                </a:solidFill>
                <a:latin typeface="Segoe UI"/>
              </a:rPr>
              <a:t>Pesos binarios de una palabra de 8 bits.</a:t>
            </a:r>
          </a:p>
        </p:txBody>
      </p:sp>
      <p:sp>
        <p:nvSpPr>
          <p:cNvPr id="35" name="Rounded Rectangle 34"/>
          <p:cNvSpPr/>
          <p:nvPr/>
        </p:nvSpPr>
        <p:spPr>
          <a:xfrm>
            <a:off x="475488" y="5358384"/>
            <a:ext cx="11240993" cy="84124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49824"/>
            <a:ext cx="32004" cy="65836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49824"/>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a:t>
            </a:r>
          </a:p>
        </p:txBody>
      </p:sp>
      <p:sp>
        <p:nvSpPr>
          <p:cNvPr id="38" name="TextBox 37"/>
          <p:cNvSpPr txBox="1"/>
          <p:nvPr/>
        </p:nvSpPr>
        <p:spPr>
          <a:xfrm>
            <a:off x="640080" y="5632704"/>
            <a:ext cx="10911809" cy="457200"/>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Aritmética de bits: sumar 1 a 1111₂ produce 0000₂ y un acarreo (overflow del nibble). Ese acarreo es exactamente lo que maneja la compuerta AND en un medio sumador.</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66" fill="hold">
                      <p:stCondLst>
                        <p:cond delay="indefinite"/>
                      </p:stCondLst>
                      <p:childTnLst>
                        <p:par>
                          <p:cTn id="67" fill="hold">
                            <p:stCondLst>
                              <p:cond delay="0"/>
                            </p:stCondLst>
                            <p:childTnLst>
                              <p:par>
                                <p:cTn id="65"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childTnLst>
                                </p:cTn>
                              </p:par>
                            </p:childTnLst>
                          </p:cTn>
                        </p:par>
                      </p:childTnLst>
                    </p:cTn>
                  </p:par>
                  <p:par>
                    <p:cTn id="86" fill="hold">
                      <p:stCondLst>
                        <p:cond delay="indefinite"/>
                      </p:stCondLst>
                      <p:childTnLst>
                        <p:par>
                          <p:cTn id="87" fill="hold">
                            <p:stCondLst>
                              <p:cond delay="0"/>
                            </p:stCondLst>
                            <p:childTnLst>
                              <p:par>
                                <p:cTn id="70" fill="hold">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68" dur="420"/>
                                        <p:tgtEl>
                                          <p:spTgt spid="33"/>
                                        </p:tgtEl>
                                      </p:cBhvr>
                                    </p:animEffect>
                                  </p:childTnLst>
                                </p:cTn>
                              </p:par>
                              <p:par>
                                <p:cTn id="73" fill="hold">
                                  <p:stCondLst>
                                    <p:cond delay="11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childTnLst>
                                </p:cTn>
                              </p:par>
                              <p:par>
                                <p:cTn id="76" fill="hold">
                                  <p:stCondLst>
                                    <p:cond delay="2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33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44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55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350" b="1">
                <a:solidFill>
                  <a:srgbClr val="0D1A2B"/>
                </a:solidFill>
                <a:latin typeface="Segoe UI Semibold"/>
              </a:rPr>
              <a:t>Tabla de conversiones: decimal, binario, hexadecimal y BCD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Referencia rápida con los valores que más se usan en el laboratorio y en la lectura de buses.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08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29975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1315025"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Decimal</a:t>
            </a:r>
          </a:p>
        </p:txBody>
      </p:sp>
      <p:sp>
        <p:nvSpPr>
          <p:cNvPr id="18" name="TextBox 17"/>
          <p:cNvSpPr txBox="1"/>
          <p:nvPr/>
        </p:nvSpPr>
        <p:spPr>
          <a:xfrm>
            <a:off x="2009969" y="1371600"/>
            <a:ext cx="21018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Binario (4 bits)</a:t>
            </a:r>
          </a:p>
        </p:txBody>
      </p:sp>
      <p:sp>
        <p:nvSpPr>
          <p:cNvPr id="19" name="TextBox 18"/>
          <p:cNvSpPr txBox="1"/>
          <p:nvPr/>
        </p:nvSpPr>
        <p:spPr>
          <a:xfrm>
            <a:off x="4258167" y="1371600"/>
            <a:ext cx="1539845"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Hexadecimal</a:t>
            </a:r>
          </a:p>
        </p:txBody>
      </p:sp>
      <p:sp>
        <p:nvSpPr>
          <p:cNvPr id="20" name="TextBox 19"/>
          <p:cNvSpPr txBox="1"/>
          <p:nvPr/>
        </p:nvSpPr>
        <p:spPr>
          <a:xfrm>
            <a:off x="5944316" y="1371600"/>
            <a:ext cx="232671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BCD (8421)</a:t>
            </a:r>
          </a:p>
        </p:txBody>
      </p:sp>
      <p:sp>
        <p:nvSpPr>
          <p:cNvPr id="21" name="TextBox 20"/>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Observación</a:t>
            </a:r>
          </a:p>
        </p:txBody>
      </p:sp>
      <p:sp>
        <p:nvSpPr>
          <p:cNvPr id="22" name="Rectangle 21"/>
          <p:cNvSpPr/>
          <p:nvPr/>
        </p:nvSpPr>
        <p:spPr>
          <a:xfrm>
            <a:off x="475488" y="1700784"/>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8640" y="1700784"/>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0</a:t>
            </a:r>
          </a:p>
        </p:txBody>
      </p:sp>
      <p:sp>
        <p:nvSpPr>
          <p:cNvPr id="24" name="TextBox 23"/>
          <p:cNvSpPr txBox="1"/>
          <p:nvPr/>
        </p:nvSpPr>
        <p:spPr>
          <a:xfrm>
            <a:off x="2009969" y="1700784"/>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a:t>
            </a:r>
          </a:p>
        </p:txBody>
      </p:sp>
      <p:sp>
        <p:nvSpPr>
          <p:cNvPr id="25" name="TextBox 24"/>
          <p:cNvSpPr txBox="1"/>
          <p:nvPr/>
        </p:nvSpPr>
        <p:spPr>
          <a:xfrm>
            <a:off x="4258167" y="1700784"/>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a:t>
            </a:r>
          </a:p>
        </p:txBody>
      </p:sp>
      <p:sp>
        <p:nvSpPr>
          <p:cNvPr id="26" name="TextBox 25"/>
          <p:cNvSpPr txBox="1"/>
          <p:nvPr/>
        </p:nvSpPr>
        <p:spPr>
          <a:xfrm>
            <a:off x="5944316" y="1700784"/>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0000 0000</a:t>
            </a:r>
          </a:p>
        </p:txBody>
      </p:sp>
      <p:sp>
        <p:nvSpPr>
          <p:cNvPr id="27" name="TextBox 26"/>
          <p:cNvSpPr txBox="1"/>
          <p:nvPr/>
        </p:nvSpPr>
        <p:spPr>
          <a:xfrm>
            <a:off x="8417335" y="1700784"/>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Estado inicial de contadores y registros</a:t>
            </a:r>
          </a:p>
        </p:txBody>
      </p:sp>
      <p:sp>
        <p:nvSpPr>
          <p:cNvPr id="28" name="TextBox 27"/>
          <p:cNvSpPr txBox="1"/>
          <p:nvPr/>
        </p:nvSpPr>
        <p:spPr>
          <a:xfrm>
            <a:off x="548640" y="1948978"/>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a:t>
            </a:r>
          </a:p>
        </p:txBody>
      </p:sp>
      <p:sp>
        <p:nvSpPr>
          <p:cNvPr id="29" name="TextBox 28"/>
          <p:cNvSpPr txBox="1"/>
          <p:nvPr/>
        </p:nvSpPr>
        <p:spPr>
          <a:xfrm>
            <a:off x="2009969" y="1948978"/>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a:t>
            </a:r>
          </a:p>
        </p:txBody>
      </p:sp>
      <p:sp>
        <p:nvSpPr>
          <p:cNvPr id="30" name="TextBox 29"/>
          <p:cNvSpPr txBox="1"/>
          <p:nvPr/>
        </p:nvSpPr>
        <p:spPr>
          <a:xfrm>
            <a:off x="4258167" y="1948978"/>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a:t>
            </a:r>
          </a:p>
        </p:txBody>
      </p:sp>
      <p:sp>
        <p:nvSpPr>
          <p:cNvPr id="31" name="TextBox 30"/>
          <p:cNvSpPr txBox="1"/>
          <p:nvPr/>
        </p:nvSpPr>
        <p:spPr>
          <a:xfrm>
            <a:off x="5944316" y="1948978"/>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0000 0001</a:t>
            </a:r>
          </a:p>
        </p:txBody>
      </p:sp>
      <p:sp>
        <p:nvSpPr>
          <p:cNvPr id="32" name="TextBox 31"/>
          <p:cNvSpPr txBox="1"/>
          <p:nvPr/>
        </p:nvSpPr>
        <p:spPr>
          <a:xfrm>
            <a:off x="8417335" y="1948978"/>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Primer peso binario</a:t>
            </a:r>
          </a:p>
        </p:txBody>
      </p:sp>
      <p:sp>
        <p:nvSpPr>
          <p:cNvPr id="33" name="Rectangle 32"/>
          <p:cNvSpPr/>
          <p:nvPr/>
        </p:nvSpPr>
        <p:spPr>
          <a:xfrm>
            <a:off x="475488" y="2197172"/>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2197172"/>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2</a:t>
            </a:r>
          </a:p>
        </p:txBody>
      </p:sp>
      <p:sp>
        <p:nvSpPr>
          <p:cNvPr id="35" name="TextBox 34"/>
          <p:cNvSpPr txBox="1"/>
          <p:nvPr/>
        </p:nvSpPr>
        <p:spPr>
          <a:xfrm>
            <a:off x="2009969" y="2197172"/>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0010</a:t>
            </a:r>
          </a:p>
        </p:txBody>
      </p:sp>
      <p:sp>
        <p:nvSpPr>
          <p:cNvPr id="36" name="TextBox 35"/>
          <p:cNvSpPr txBox="1"/>
          <p:nvPr/>
        </p:nvSpPr>
        <p:spPr>
          <a:xfrm>
            <a:off x="4258167" y="2197172"/>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2</a:t>
            </a:r>
          </a:p>
        </p:txBody>
      </p:sp>
      <p:sp>
        <p:nvSpPr>
          <p:cNvPr id="37" name="TextBox 36"/>
          <p:cNvSpPr txBox="1"/>
          <p:nvPr/>
        </p:nvSpPr>
        <p:spPr>
          <a:xfrm>
            <a:off x="5944316" y="2197172"/>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0000 0010</a:t>
            </a:r>
          </a:p>
        </p:txBody>
      </p:sp>
      <p:sp>
        <p:nvSpPr>
          <p:cNvPr id="38" name="TextBox 37"/>
          <p:cNvSpPr txBox="1"/>
          <p:nvPr/>
        </p:nvSpPr>
        <p:spPr>
          <a:xfrm>
            <a:off x="8417335" y="2197172"/>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Dato del ejemplo del sumador de 2 bits</a:t>
            </a:r>
          </a:p>
        </p:txBody>
      </p:sp>
      <p:sp>
        <p:nvSpPr>
          <p:cNvPr id="39" name="TextBox 38"/>
          <p:cNvSpPr txBox="1"/>
          <p:nvPr/>
        </p:nvSpPr>
        <p:spPr>
          <a:xfrm>
            <a:off x="548640" y="2445366"/>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3</a:t>
            </a:r>
          </a:p>
        </p:txBody>
      </p:sp>
      <p:sp>
        <p:nvSpPr>
          <p:cNvPr id="40" name="TextBox 39"/>
          <p:cNvSpPr txBox="1"/>
          <p:nvPr/>
        </p:nvSpPr>
        <p:spPr>
          <a:xfrm>
            <a:off x="2009969" y="2445366"/>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0011</a:t>
            </a:r>
          </a:p>
        </p:txBody>
      </p:sp>
      <p:sp>
        <p:nvSpPr>
          <p:cNvPr id="41" name="TextBox 40"/>
          <p:cNvSpPr txBox="1"/>
          <p:nvPr/>
        </p:nvSpPr>
        <p:spPr>
          <a:xfrm>
            <a:off x="4258167" y="2445366"/>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3</a:t>
            </a:r>
          </a:p>
        </p:txBody>
      </p:sp>
      <p:sp>
        <p:nvSpPr>
          <p:cNvPr id="42" name="TextBox 41"/>
          <p:cNvSpPr txBox="1"/>
          <p:nvPr/>
        </p:nvSpPr>
        <p:spPr>
          <a:xfrm>
            <a:off x="5944316" y="2445366"/>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0000 0011</a:t>
            </a:r>
          </a:p>
        </p:txBody>
      </p:sp>
      <p:sp>
        <p:nvSpPr>
          <p:cNvPr id="43" name="TextBox 42"/>
          <p:cNvSpPr txBox="1"/>
          <p:nvPr/>
        </p:nvSpPr>
        <p:spPr>
          <a:xfrm>
            <a:off x="8417335" y="2445366"/>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Bits de paridad impar</a:t>
            </a:r>
          </a:p>
        </p:txBody>
      </p:sp>
      <p:sp>
        <p:nvSpPr>
          <p:cNvPr id="44" name="Rectangle 43"/>
          <p:cNvSpPr/>
          <p:nvPr/>
        </p:nvSpPr>
        <p:spPr>
          <a:xfrm>
            <a:off x="475488" y="2693561"/>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48640" y="2693561"/>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4</a:t>
            </a:r>
          </a:p>
        </p:txBody>
      </p:sp>
      <p:sp>
        <p:nvSpPr>
          <p:cNvPr id="46" name="TextBox 45"/>
          <p:cNvSpPr txBox="1"/>
          <p:nvPr/>
        </p:nvSpPr>
        <p:spPr>
          <a:xfrm>
            <a:off x="2009969" y="2693561"/>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0100</a:t>
            </a:r>
          </a:p>
        </p:txBody>
      </p:sp>
      <p:sp>
        <p:nvSpPr>
          <p:cNvPr id="47" name="TextBox 46"/>
          <p:cNvSpPr txBox="1"/>
          <p:nvPr/>
        </p:nvSpPr>
        <p:spPr>
          <a:xfrm>
            <a:off x="4258167" y="2693561"/>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4</a:t>
            </a:r>
          </a:p>
        </p:txBody>
      </p:sp>
      <p:sp>
        <p:nvSpPr>
          <p:cNvPr id="48" name="TextBox 47"/>
          <p:cNvSpPr txBox="1"/>
          <p:nvPr/>
        </p:nvSpPr>
        <p:spPr>
          <a:xfrm>
            <a:off x="5944316" y="2693561"/>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0000 0100</a:t>
            </a:r>
          </a:p>
        </p:txBody>
      </p:sp>
      <p:sp>
        <p:nvSpPr>
          <p:cNvPr id="49" name="TextBox 48"/>
          <p:cNvSpPr txBox="1"/>
          <p:nvPr/>
        </p:nvSpPr>
        <p:spPr>
          <a:xfrm>
            <a:off x="8417335" y="2693561"/>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Nibble alto del BCD</a:t>
            </a:r>
          </a:p>
        </p:txBody>
      </p:sp>
      <p:sp>
        <p:nvSpPr>
          <p:cNvPr id="50" name="TextBox 49"/>
          <p:cNvSpPr txBox="1"/>
          <p:nvPr/>
        </p:nvSpPr>
        <p:spPr>
          <a:xfrm>
            <a:off x="548640" y="2941755"/>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5</a:t>
            </a:r>
          </a:p>
        </p:txBody>
      </p:sp>
      <p:sp>
        <p:nvSpPr>
          <p:cNvPr id="51" name="TextBox 50"/>
          <p:cNvSpPr txBox="1"/>
          <p:nvPr/>
        </p:nvSpPr>
        <p:spPr>
          <a:xfrm>
            <a:off x="2009969" y="2941755"/>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0101</a:t>
            </a:r>
          </a:p>
        </p:txBody>
      </p:sp>
      <p:sp>
        <p:nvSpPr>
          <p:cNvPr id="52" name="TextBox 51"/>
          <p:cNvSpPr txBox="1"/>
          <p:nvPr/>
        </p:nvSpPr>
        <p:spPr>
          <a:xfrm>
            <a:off x="4258167" y="2941755"/>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5</a:t>
            </a:r>
          </a:p>
        </p:txBody>
      </p:sp>
      <p:sp>
        <p:nvSpPr>
          <p:cNvPr id="53" name="TextBox 52"/>
          <p:cNvSpPr txBox="1"/>
          <p:nvPr/>
        </p:nvSpPr>
        <p:spPr>
          <a:xfrm>
            <a:off x="5944316" y="2941755"/>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0000 0101</a:t>
            </a:r>
          </a:p>
        </p:txBody>
      </p:sp>
      <p:sp>
        <p:nvSpPr>
          <p:cNvPr id="54" name="TextBox 53"/>
          <p:cNvSpPr txBox="1"/>
          <p:nvPr/>
        </p:nvSpPr>
        <p:spPr>
          <a:xfrm>
            <a:off x="8417335" y="2941755"/>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Peso hexadecimal</a:t>
            </a:r>
          </a:p>
        </p:txBody>
      </p:sp>
      <p:sp>
        <p:nvSpPr>
          <p:cNvPr id="55" name="Rectangle 54"/>
          <p:cNvSpPr/>
          <p:nvPr/>
        </p:nvSpPr>
        <p:spPr>
          <a:xfrm>
            <a:off x="475488" y="3189949"/>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48640" y="3189949"/>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7</a:t>
            </a:r>
          </a:p>
        </p:txBody>
      </p:sp>
      <p:sp>
        <p:nvSpPr>
          <p:cNvPr id="57" name="TextBox 56"/>
          <p:cNvSpPr txBox="1"/>
          <p:nvPr/>
        </p:nvSpPr>
        <p:spPr>
          <a:xfrm>
            <a:off x="2009969" y="3189949"/>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0111</a:t>
            </a:r>
          </a:p>
        </p:txBody>
      </p:sp>
      <p:sp>
        <p:nvSpPr>
          <p:cNvPr id="58" name="TextBox 57"/>
          <p:cNvSpPr txBox="1"/>
          <p:nvPr/>
        </p:nvSpPr>
        <p:spPr>
          <a:xfrm>
            <a:off x="4258167" y="3189949"/>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7</a:t>
            </a:r>
          </a:p>
        </p:txBody>
      </p:sp>
      <p:sp>
        <p:nvSpPr>
          <p:cNvPr id="59" name="TextBox 58"/>
          <p:cNvSpPr txBox="1"/>
          <p:nvPr/>
        </p:nvSpPr>
        <p:spPr>
          <a:xfrm>
            <a:off x="5944316" y="3189949"/>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0000 0111</a:t>
            </a:r>
          </a:p>
        </p:txBody>
      </p:sp>
      <p:sp>
        <p:nvSpPr>
          <p:cNvPr id="60" name="TextBox 59"/>
          <p:cNvSpPr txBox="1"/>
          <p:nvPr/>
        </p:nvSpPr>
        <p:spPr>
          <a:xfrm>
            <a:off x="8417335" y="3189949"/>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Dirección de memoria del 74LS189</a:t>
            </a:r>
          </a:p>
        </p:txBody>
      </p:sp>
      <p:sp>
        <p:nvSpPr>
          <p:cNvPr id="61" name="TextBox 60"/>
          <p:cNvSpPr txBox="1"/>
          <p:nvPr/>
        </p:nvSpPr>
        <p:spPr>
          <a:xfrm>
            <a:off x="548640" y="3438143"/>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8</a:t>
            </a:r>
          </a:p>
        </p:txBody>
      </p:sp>
      <p:sp>
        <p:nvSpPr>
          <p:cNvPr id="62" name="TextBox 61"/>
          <p:cNvSpPr txBox="1"/>
          <p:nvPr/>
        </p:nvSpPr>
        <p:spPr>
          <a:xfrm>
            <a:off x="2009969" y="3438143"/>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1000</a:t>
            </a:r>
          </a:p>
        </p:txBody>
      </p:sp>
      <p:sp>
        <p:nvSpPr>
          <p:cNvPr id="63" name="TextBox 62"/>
          <p:cNvSpPr txBox="1"/>
          <p:nvPr/>
        </p:nvSpPr>
        <p:spPr>
          <a:xfrm>
            <a:off x="4258167" y="3438143"/>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8</a:t>
            </a:r>
          </a:p>
        </p:txBody>
      </p:sp>
      <p:sp>
        <p:nvSpPr>
          <p:cNvPr id="64" name="TextBox 63"/>
          <p:cNvSpPr txBox="1"/>
          <p:nvPr/>
        </p:nvSpPr>
        <p:spPr>
          <a:xfrm>
            <a:off x="5944316" y="3438143"/>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0000 1000</a:t>
            </a:r>
          </a:p>
        </p:txBody>
      </p:sp>
      <p:sp>
        <p:nvSpPr>
          <p:cNvPr id="65" name="TextBox 64"/>
          <p:cNvSpPr txBox="1"/>
          <p:nvPr/>
        </p:nvSpPr>
        <p:spPr>
          <a:xfrm>
            <a:off x="8417335" y="3438143"/>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Primer bit más significativo</a:t>
            </a:r>
          </a:p>
        </p:txBody>
      </p:sp>
      <p:sp>
        <p:nvSpPr>
          <p:cNvPr id="66" name="Rectangle 65"/>
          <p:cNvSpPr/>
          <p:nvPr/>
        </p:nvSpPr>
        <p:spPr>
          <a:xfrm>
            <a:off x="475488" y="3686338"/>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3686338"/>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9</a:t>
            </a:r>
          </a:p>
        </p:txBody>
      </p:sp>
      <p:sp>
        <p:nvSpPr>
          <p:cNvPr id="68" name="TextBox 67"/>
          <p:cNvSpPr txBox="1"/>
          <p:nvPr/>
        </p:nvSpPr>
        <p:spPr>
          <a:xfrm>
            <a:off x="2009969" y="3686338"/>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1001</a:t>
            </a:r>
          </a:p>
        </p:txBody>
      </p:sp>
      <p:sp>
        <p:nvSpPr>
          <p:cNvPr id="69" name="TextBox 68"/>
          <p:cNvSpPr txBox="1"/>
          <p:nvPr/>
        </p:nvSpPr>
        <p:spPr>
          <a:xfrm>
            <a:off x="4258167" y="3686338"/>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9</a:t>
            </a:r>
          </a:p>
        </p:txBody>
      </p:sp>
      <p:sp>
        <p:nvSpPr>
          <p:cNvPr id="70" name="TextBox 69"/>
          <p:cNvSpPr txBox="1"/>
          <p:nvPr/>
        </p:nvSpPr>
        <p:spPr>
          <a:xfrm>
            <a:off x="5944316" y="3686338"/>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0000 1001</a:t>
            </a:r>
          </a:p>
        </p:txBody>
      </p:sp>
      <p:sp>
        <p:nvSpPr>
          <p:cNvPr id="71" name="TextBox 70"/>
          <p:cNvSpPr txBox="1"/>
          <p:nvPr/>
        </p:nvSpPr>
        <p:spPr>
          <a:xfrm>
            <a:off x="8417335" y="3686338"/>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Último dígito válido en BCD</a:t>
            </a:r>
          </a:p>
        </p:txBody>
      </p:sp>
      <p:sp>
        <p:nvSpPr>
          <p:cNvPr id="72" name="TextBox 71"/>
          <p:cNvSpPr txBox="1"/>
          <p:nvPr/>
        </p:nvSpPr>
        <p:spPr>
          <a:xfrm>
            <a:off x="548640" y="3934532"/>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10</a:t>
            </a:r>
          </a:p>
        </p:txBody>
      </p:sp>
      <p:sp>
        <p:nvSpPr>
          <p:cNvPr id="73" name="TextBox 72"/>
          <p:cNvSpPr txBox="1"/>
          <p:nvPr/>
        </p:nvSpPr>
        <p:spPr>
          <a:xfrm>
            <a:off x="2009969" y="3934532"/>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1010</a:t>
            </a:r>
          </a:p>
        </p:txBody>
      </p:sp>
      <p:sp>
        <p:nvSpPr>
          <p:cNvPr id="74" name="TextBox 73"/>
          <p:cNvSpPr txBox="1"/>
          <p:nvPr/>
        </p:nvSpPr>
        <p:spPr>
          <a:xfrm>
            <a:off x="4258167" y="3934532"/>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t>
            </a:r>
          </a:p>
        </p:txBody>
      </p:sp>
      <p:sp>
        <p:nvSpPr>
          <p:cNvPr id="75" name="TextBox 74"/>
          <p:cNvSpPr txBox="1"/>
          <p:nvPr/>
        </p:nvSpPr>
        <p:spPr>
          <a:xfrm>
            <a:off x="5944316" y="3934532"/>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0001 0000</a:t>
            </a:r>
          </a:p>
        </p:txBody>
      </p:sp>
      <p:sp>
        <p:nvSpPr>
          <p:cNvPr id="76" name="TextBox 75"/>
          <p:cNvSpPr txBox="1"/>
          <p:nvPr/>
        </p:nvSpPr>
        <p:spPr>
          <a:xfrm>
            <a:off x="8417335" y="3934532"/>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En BCD se codifican dos nibbles</a:t>
            </a:r>
          </a:p>
        </p:txBody>
      </p:sp>
      <p:sp>
        <p:nvSpPr>
          <p:cNvPr id="77" name="Rectangle 76"/>
          <p:cNvSpPr/>
          <p:nvPr/>
        </p:nvSpPr>
        <p:spPr>
          <a:xfrm>
            <a:off x="475488" y="4182726"/>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548640" y="4182726"/>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15</a:t>
            </a:r>
          </a:p>
        </p:txBody>
      </p:sp>
      <p:sp>
        <p:nvSpPr>
          <p:cNvPr id="79" name="TextBox 78"/>
          <p:cNvSpPr txBox="1"/>
          <p:nvPr/>
        </p:nvSpPr>
        <p:spPr>
          <a:xfrm>
            <a:off x="2009969" y="4182726"/>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1111</a:t>
            </a:r>
          </a:p>
        </p:txBody>
      </p:sp>
      <p:sp>
        <p:nvSpPr>
          <p:cNvPr id="80" name="TextBox 79"/>
          <p:cNvSpPr txBox="1"/>
          <p:nvPr/>
        </p:nvSpPr>
        <p:spPr>
          <a:xfrm>
            <a:off x="4258167" y="4182726"/>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a:t>
            </a:r>
          </a:p>
        </p:txBody>
      </p:sp>
      <p:sp>
        <p:nvSpPr>
          <p:cNvPr id="81" name="TextBox 80"/>
          <p:cNvSpPr txBox="1"/>
          <p:nvPr/>
        </p:nvSpPr>
        <p:spPr>
          <a:xfrm>
            <a:off x="5944316" y="4182726"/>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0001 0101</a:t>
            </a:r>
          </a:p>
        </p:txBody>
      </p:sp>
      <p:sp>
        <p:nvSpPr>
          <p:cNvPr id="82" name="TextBox 81"/>
          <p:cNvSpPr txBox="1"/>
          <p:nvPr/>
        </p:nvSpPr>
        <p:spPr>
          <a:xfrm>
            <a:off x="8417335" y="4182726"/>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Nibble completo: fin de contador</a:t>
            </a:r>
          </a:p>
        </p:txBody>
      </p:sp>
      <p:sp>
        <p:nvSpPr>
          <p:cNvPr id="83" name="TextBox 82"/>
          <p:cNvSpPr txBox="1"/>
          <p:nvPr/>
        </p:nvSpPr>
        <p:spPr>
          <a:xfrm>
            <a:off x="548640" y="4430921"/>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16</a:t>
            </a:r>
          </a:p>
        </p:txBody>
      </p:sp>
      <p:sp>
        <p:nvSpPr>
          <p:cNvPr id="84" name="TextBox 83"/>
          <p:cNvSpPr txBox="1"/>
          <p:nvPr/>
        </p:nvSpPr>
        <p:spPr>
          <a:xfrm>
            <a:off x="2009969" y="4430921"/>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1 0000</a:t>
            </a:r>
          </a:p>
        </p:txBody>
      </p:sp>
      <p:sp>
        <p:nvSpPr>
          <p:cNvPr id="85" name="TextBox 84"/>
          <p:cNvSpPr txBox="1"/>
          <p:nvPr/>
        </p:nvSpPr>
        <p:spPr>
          <a:xfrm>
            <a:off x="4258167" y="4430921"/>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10</a:t>
            </a:r>
          </a:p>
        </p:txBody>
      </p:sp>
      <p:sp>
        <p:nvSpPr>
          <p:cNvPr id="86" name="TextBox 85"/>
          <p:cNvSpPr txBox="1"/>
          <p:nvPr/>
        </p:nvSpPr>
        <p:spPr>
          <a:xfrm>
            <a:off x="5944316" y="4430921"/>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0001 0110</a:t>
            </a:r>
          </a:p>
        </p:txBody>
      </p:sp>
      <p:sp>
        <p:nvSpPr>
          <p:cNvPr id="87" name="TextBox 86"/>
          <p:cNvSpPr txBox="1"/>
          <p:nvPr/>
        </p:nvSpPr>
        <p:spPr>
          <a:xfrm>
            <a:off x="8417335" y="4430921"/>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Quinto bit = acarreo</a:t>
            </a:r>
          </a:p>
        </p:txBody>
      </p:sp>
      <p:sp>
        <p:nvSpPr>
          <p:cNvPr id="88" name="Rectangle 87"/>
          <p:cNvSpPr/>
          <p:nvPr/>
        </p:nvSpPr>
        <p:spPr>
          <a:xfrm>
            <a:off x="475488" y="4679115"/>
            <a:ext cx="11240993" cy="248194"/>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548640" y="4679115"/>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255</a:t>
            </a:r>
          </a:p>
        </p:txBody>
      </p:sp>
      <p:sp>
        <p:nvSpPr>
          <p:cNvPr id="90" name="TextBox 89"/>
          <p:cNvSpPr txBox="1"/>
          <p:nvPr/>
        </p:nvSpPr>
        <p:spPr>
          <a:xfrm>
            <a:off x="2009969" y="4679115"/>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1111 1111</a:t>
            </a:r>
          </a:p>
        </p:txBody>
      </p:sp>
      <p:sp>
        <p:nvSpPr>
          <p:cNvPr id="91" name="TextBox 90"/>
          <p:cNvSpPr txBox="1"/>
          <p:nvPr/>
        </p:nvSpPr>
        <p:spPr>
          <a:xfrm>
            <a:off x="4258167" y="4679115"/>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FF</a:t>
            </a:r>
          </a:p>
        </p:txBody>
      </p:sp>
      <p:sp>
        <p:nvSpPr>
          <p:cNvPr id="92" name="TextBox 91"/>
          <p:cNvSpPr txBox="1"/>
          <p:nvPr/>
        </p:nvSpPr>
        <p:spPr>
          <a:xfrm>
            <a:off x="5944316" y="4679115"/>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93" name="TextBox 92"/>
          <p:cNvSpPr txBox="1"/>
          <p:nvPr/>
        </p:nvSpPr>
        <p:spPr>
          <a:xfrm>
            <a:off x="8417335" y="4679115"/>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Byte completo sin signo</a:t>
            </a:r>
          </a:p>
        </p:txBody>
      </p:sp>
      <p:sp>
        <p:nvSpPr>
          <p:cNvPr id="94" name="TextBox 93"/>
          <p:cNvSpPr txBox="1"/>
          <p:nvPr/>
        </p:nvSpPr>
        <p:spPr>
          <a:xfrm>
            <a:off x="548640" y="4927309"/>
            <a:ext cx="1315025" cy="248194"/>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1000</a:t>
            </a:r>
          </a:p>
        </p:txBody>
      </p:sp>
      <p:sp>
        <p:nvSpPr>
          <p:cNvPr id="95" name="TextBox 94"/>
          <p:cNvSpPr txBox="1"/>
          <p:nvPr/>
        </p:nvSpPr>
        <p:spPr>
          <a:xfrm>
            <a:off x="2009969" y="4927309"/>
            <a:ext cx="21018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11 1110 1000</a:t>
            </a:r>
          </a:p>
        </p:txBody>
      </p:sp>
      <p:sp>
        <p:nvSpPr>
          <p:cNvPr id="96" name="TextBox 95"/>
          <p:cNvSpPr txBox="1"/>
          <p:nvPr/>
        </p:nvSpPr>
        <p:spPr>
          <a:xfrm>
            <a:off x="4258167" y="4927309"/>
            <a:ext cx="1539845"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3E8</a:t>
            </a:r>
          </a:p>
        </p:txBody>
      </p:sp>
      <p:sp>
        <p:nvSpPr>
          <p:cNvPr id="97" name="TextBox 96"/>
          <p:cNvSpPr txBox="1"/>
          <p:nvPr/>
        </p:nvSpPr>
        <p:spPr>
          <a:xfrm>
            <a:off x="5944316" y="4927309"/>
            <a:ext cx="232671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98" name="TextBox 97"/>
          <p:cNvSpPr txBox="1"/>
          <p:nvPr/>
        </p:nvSpPr>
        <p:spPr>
          <a:xfrm>
            <a:off x="8417335" y="4927309"/>
            <a:ext cx="3225994" cy="248194"/>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10 bits, requiere contador de 10 bits</a:t>
            </a:r>
          </a:p>
        </p:txBody>
      </p:sp>
      <p:sp>
        <p:nvSpPr>
          <p:cNvPr id="99" name="Rounded Rectangle 98"/>
          <p:cNvSpPr/>
          <p:nvPr/>
        </p:nvSpPr>
        <p:spPr>
          <a:xfrm>
            <a:off x="475488" y="1371600"/>
            <a:ext cx="11240993" cy="3803903"/>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DETALLE IMPORTANTE</a:t>
            </a:r>
          </a:p>
        </p:txBody>
      </p:sp>
      <p:sp>
        <p:nvSpPr>
          <p:cNvPr id="103" name="TextBox 102"/>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Aviso didáctico: en BCD el valor 1010₂ nunca aparece, porque los nibbles válidos son 0000 a 1001. Un decodificador BCD a 7 segmentos (74LS47) marca error o 'parpadeo' ante un código BCD inválido.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94" fill="hold">
                      <p:stCondLst>
                        <p:cond delay="0"/>
                      </p:stCondLst>
                      <p:childTnLst>
                        <p:par>
                          <p:cTn id="295"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48" dur="420"/>
                                        <p:tgtEl>
                                          <p:spTgt spid="21"/>
                                        </p:tgtEl>
                                      </p:cBhvr>
                                    </p:animEffec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1" dur="420"/>
                                        <p:tgtEl>
                                          <p:spTgt spid="22"/>
                                        </p:tgtEl>
                                      </p:cBhvr>
                                    </p:animEffec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4" dur="420"/>
                                        <p:tgtEl>
                                          <p:spTgt spid="23"/>
                                        </p:tgtEl>
                                      </p:cBhvr>
                                    </p:animEffec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7" dur="420"/>
                                        <p:tgtEl>
                                          <p:spTgt spid="24"/>
                                        </p:tgtEl>
                                      </p:cBhvr>
                                    </p:animEffec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0" dur="420"/>
                                        <p:tgtEl>
                                          <p:spTgt spid="25"/>
                                        </p:tgtEl>
                                      </p:cBhvr>
                                    </p:animEffec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3" dur="420"/>
                                        <p:tgtEl>
                                          <p:spTgt spid="26"/>
                                        </p:tgtEl>
                                      </p:cBhvr>
                                    </p:animEffec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6" dur="420"/>
                                        <p:tgtEl>
                                          <p:spTgt spid="27"/>
                                        </p:tgtEl>
                                      </p:cBhvr>
                                    </p:animEffec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69" dur="420"/>
                                        <p:tgtEl>
                                          <p:spTgt spid="28"/>
                                        </p:tgtEl>
                                      </p:cBhvr>
                                    </p:animEffec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2" dur="420"/>
                                        <p:tgtEl>
                                          <p:spTgt spid="29"/>
                                        </p:tgtEl>
                                      </p:cBhvr>
                                    </p:animEffec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5" dur="420"/>
                                        <p:tgtEl>
                                          <p:spTgt spid="30"/>
                                        </p:tgtEl>
                                      </p:cBhvr>
                                    </p:animEffec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78" dur="420"/>
                                        <p:tgtEl>
                                          <p:spTgt spid="31"/>
                                        </p:tgtEl>
                                      </p:cBhvr>
                                    </p:animEffec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1" dur="420"/>
                                        <p:tgtEl>
                                          <p:spTgt spid="32"/>
                                        </p:tgtEl>
                                      </p:cBhvr>
                                    </p:animEffec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wipe(left)">
                                      <p:cBhvr>
                                        <p:cTn id="84" dur="420"/>
                                        <p:tgtEl>
                                          <p:spTgt spid="33"/>
                                        </p:tgtEl>
                                      </p:cBhvr>
                                    </p:animEffec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wipe(left)">
                                      <p:cBhvr>
                                        <p:cTn id="87" dur="420"/>
                                        <p:tgtEl>
                                          <p:spTgt spid="34"/>
                                        </p:tgtEl>
                                      </p:cBhvr>
                                    </p:animEffec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0" dur="420"/>
                                        <p:tgtEl>
                                          <p:spTgt spid="35"/>
                                        </p:tgtEl>
                                      </p:cBhvr>
                                    </p:animEffec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wipe(left)">
                                      <p:cBhvr>
                                        <p:cTn id="93" dur="420"/>
                                        <p:tgtEl>
                                          <p:spTgt spid="36"/>
                                        </p:tgtEl>
                                      </p:cBhvr>
                                    </p:animEffec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6" dur="420"/>
                                        <p:tgtEl>
                                          <p:spTgt spid="37"/>
                                        </p:tgtEl>
                                      </p:cBhvr>
                                    </p:animEffec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wipe(left)">
                                      <p:cBhvr>
                                        <p:cTn id="99" dur="420"/>
                                        <p:tgtEl>
                                          <p:spTgt spid="38"/>
                                        </p:tgtEl>
                                      </p:cBhvr>
                                    </p:animEffec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2" dur="420"/>
                                        <p:tgtEl>
                                          <p:spTgt spid="39"/>
                                        </p:tgtEl>
                                      </p:cBhvr>
                                    </p:animEffec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wipe(left)">
                                      <p:cBhvr>
                                        <p:cTn id="105" dur="420"/>
                                        <p:tgtEl>
                                          <p:spTgt spid="40"/>
                                        </p:tgtEl>
                                      </p:cBhvr>
                                    </p:animEffec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wipe(left)">
                                      <p:cBhvr>
                                        <p:cTn id="108" dur="420"/>
                                        <p:tgtEl>
                                          <p:spTgt spid="41"/>
                                        </p:tgtEl>
                                      </p:cBhvr>
                                    </p:animEffec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1" dur="420"/>
                                        <p:tgtEl>
                                          <p:spTgt spid="42"/>
                                        </p:tgtEl>
                                      </p:cBhvr>
                                    </p:animEffec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4" dur="420"/>
                                        <p:tgtEl>
                                          <p:spTgt spid="43"/>
                                        </p:tgtEl>
                                      </p:cBhvr>
                                    </p:animEffec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7" dur="420"/>
                                        <p:tgtEl>
                                          <p:spTgt spid="44"/>
                                        </p:tgtEl>
                                      </p:cBhvr>
                                    </p:animEffec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wipe(left)">
                                      <p:cBhvr>
                                        <p:cTn id="120" dur="420"/>
                                        <p:tgtEl>
                                          <p:spTgt spid="45"/>
                                        </p:tgtEl>
                                      </p:cBhvr>
                                    </p:animEffec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wipe(left)">
                                      <p:cBhvr>
                                        <p:cTn id="123" dur="420"/>
                                        <p:tgtEl>
                                          <p:spTgt spid="46"/>
                                        </p:tgtEl>
                                      </p:cBhvr>
                                    </p:animEffec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wipe(left)">
                                      <p:cBhvr>
                                        <p:cTn id="126" dur="420"/>
                                        <p:tgtEl>
                                          <p:spTgt spid="47"/>
                                        </p:tgtEl>
                                      </p:cBhvr>
                                    </p:animEffec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wipe(left)">
                                      <p:cBhvr>
                                        <p:cTn id="129" dur="420"/>
                                        <p:tgtEl>
                                          <p:spTgt spid="48"/>
                                        </p:tgtEl>
                                      </p:cBhvr>
                                    </p:animEffec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wipe(left)">
                                      <p:cBhvr>
                                        <p:cTn id="132" dur="420"/>
                                        <p:tgtEl>
                                          <p:spTgt spid="49"/>
                                        </p:tgtEl>
                                      </p:cBhvr>
                                    </p:animEffec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wipe(left)">
                                      <p:cBhvr>
                                        <p:cTn id="135" dur="420"/>
                                        <p:tgtEl>
                                          <p:spTgt spid="50"/>
                                        </p:tgtEl>
                                      </p:cBhvr>
                                    </p:animEffec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wipe(left)">
                                      <p:cBhvr>
                                        <p:cTn id="138" dur="420"/>
                                        <p:tgtEl>
                                          <p:spTgt spid="51"/>
                                        </p:tgtEl>
                                      </p:cBhvr>
                                    </p:animEffec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wipe(left)">
                                      <p:cBhvr>
                                        <p:cTn id="141" dur="420"/>
                                        <p:tgtEl>
                                          <p:spTgt spid="52"/>
                                        </p:tgtEl>
                                      </p:cBhvr>
                                    </p:animEffec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wipe(left)">
                                      <p:cBhvr>
                                        <p:cTn id="144" dur="420"/>
                                        <p:tgtEl>
                                          <p:spTgt spid="53"/>
                                        </p:tgtEl>
                                      </p:cBhvr>
                                    </p:animEffec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wipe(left)">
                                      <p:cBhvr>
                                        <p:cTn id="147" dur="420"/>
                                        <p:tgtEl>
                                          <p:spTgt spid="54"/>
                                        </p:tgtEl>
                                      </p:cBhvr>
                                    </p:animEffec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wipe(left)">
                                      <p:cBhvr>
                                        <p:cTn id="150" dur="420"/>
                                        <p:tgtEl>
                                          <p:spTgt spid="55"/>
                                        </p:tgtEl>
                                      </p:cBhvr>
                                    </p:animEffec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wipe(left)">
                                      <p:cBhvr>
                                        <p:cTn id="153" dur="420"/>
                                        <p:tgtEl>
                                          <p:spTgt spid="56"/>
                                        </p:tgtEl>
                                      </p:cBhvr>
                                    </p:animEffec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wipe(left)">
                                      <p:cBhvr>
                                        <p:cTn id="156" dur="420"/>
                                        <p:tgtEl>
                                          <p:spTgt spid="57"/>
                                        </p:tgtEl>
                                      </p:cBhvr>
                                    </p:animEffec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wipe(left)">
                                      <p:cBhvr>
                                        <p:cTn id="159" dur="420"/>
                                        <p:tgtEl>
                                          <p:spTgt spid="58"/>
                                        </p:tgtEl>
                                      </p:cBhvr>
                                    </p:animEffec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wipe(left)">
                                      <p:cBhvr>
                                        <p:cTn id="162" dur="420"/>
                                        <p:tgtEl>
                                          <p:spTgt spid="59"/>
                                        </p:tgtEl>
                                      </p:cBhvr>
                                    </p:animEffec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wipe(left)">
                                      <p:cBhvr>
                                        <p:cTn id="165" dur="420"/>
                                        <p:tgtEl>
                                          <p:spTgt spid="60"/>
                                        </p:tgtEl>
                                      </p:cBhvr>
                                    </p:animEffec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wipe(left)">
                                      <p:cBhvr>
                                        <p:cTn id="168" dur="420"/>
                                        <p:tgtEl>
                                          <p:spTgt spid="61"/>
                                        </p:tgtEl>
                                      </p:cBhvr>
                                    </p:animEffec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wipe(left)">
                                      <p:cBhvr>
                                        <p:cTn id="171" dur="420"/>
                                        <p:tgtEl>
                                          <p:spTgt spid="62"/>
                                        </p:tgtEl>
                                      </p:cBhvr>
                                    </p:animEffec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wipe(left)">
                                      <p:cBhvr>
                                        <p:cTn id="174" dur="420"/>
                                        <p:tgtEl>
                                          <p:spTgt spid="63"/>
                                        </p:tgtEl>
                                      </p:cBhvr>
                                    </p:animEffec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wipe(left)">
                                      <p:cBhvr>
                                        <p:cTn id="177" dur="420"/>
                                        <p:tgtEl>
                                          <p:spTgt spid="64"/>
                                        </p:tgtEl>
                                      </p:cBhvr>
                                    </p:animEffec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0" dur="420"/>
                                        <p:tgtEl>
                                          <p:spTgt spid="65"/>
                                        </p:tgtEl>
                                      </p:cBhvr>
                                    </p:animEffec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wipe(left)">
                                      <p:cBhvr>
                                        <p:cTn id="183" dur="420"/>
                                        <p:tgtEl>
                                          <p:spTgt spid="66"/>
                                        </p:tgtEl>
                                      </p:cBhvr>
                                    </p:animEffec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wipe(left)">
                                      <p:cBhvr>
                                        <p:cTn id="186" dur="420"/>
                                        <p:tgtEl>
                                          <p:spTgt spid="67"/>
                                        </p:tgtEl>
                                      </p:cBhvr>
                                    </p:animEffec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wipe(left)">
                                      <p:cBhvr>
                                        <p:cTn id="189" dur="420"/>
                                        <p:tgtEl>
                                          <p:spTgt spid="68"/>
                                        </p:tgtEl>
                                      </p:cBhvr>
                                    </p:animEffec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wipe(left)">
                                      <p:cBhvr>
                                        <p:cTn id="192" dur="420"/>
                                        <p:tgtEl>
                                          <p:spTgt spid="69"/>
                                        </p:tgtEl>
                                      </p:cBhvr>
                                    </p:animEffec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wipe(left)">
                                      <p:cBhvr>
                                        <p:cTn id="195" dur="420"/>
                                        <p:tgtEl>
                                          <p:spTgt spid="70"/>
                                        </p:tgtEl>
                                      </p:cBhvr>
                                    </p:animEffec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wipe(left)">
                                      <p:cBhvr>
                                        <p:cTn id="198" dur="420"/>
                                        <p:tgtEl>
                                          <p:spTgt spid="71"/>
                                        </p:tgtEl>
                                      </p:cBhvr>
                                    </p:animEffec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wipe(left)">
                                      <p:cBhvr>
                                        <p:cTn id="201" dur="420"/>
                                        <p:tgtEl>
                                          <p:spTgt spid="72"/>
                                        </p:tgtEl>
                                      </p:cBhvr>
                                    </p:animEffec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wipe(left)">
                                      <p:cBhvr>
                                        <p:cTn id="204" dur="420"/>
                                        <p:tgtEl>
                                          <p:spTgt spid="73"/>
                                        </p:tgtEl>
                                      </p:cBhvr>
                                    </p:animEffec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wipe(left)">
                                      <p:cBhvr>
                                        <p:cTn id="207" dur="420"/>
                                        <p:tgtEl>
                                          <p:spTgt spid="74"/>
                                        </p:tgtEl>
                                      </p:cBhvr>
                                    </p:animEffec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5"/>
                                        </p:tgtEl>
                                        <p:attrNameLst>
                                          <p:attrName>style.visibility</p:attrName>
                                        </p:attrNameLst>
                                      </p:cBhvr>
                                      <p:to>
                                        <p:strVal val="visible"/>
                                      </p:to>
                                    </p:set>
                                    <p:animEffect transition="in" filter="wipe(left)">
                                      <p:cBhvr>
                                        <p:cTn id="210" dur="420"/>
                                        <p:tgtEl>
                                          <p:spTgt spid="75"/>
                                        </p:tgtEl>
                                      </p:cBhvr>
                                    </p:animEffect>
                                    <p:animEffect transition="in" filter="fade">
                                      <p:cBhvr>
                                        <p:cTn id="210" dur="420"/>
                                        <p:tgtEl>
                                          <p:spTgt spid="75"/>
                                        </p:tgtEl>
                                      </p:cBhvr>
                                    </p:animEffect>
                                  </p:childTnLst>
                                </p:cTn>
                              </p:par>
                              <p:par>
                                <p:cTn id="215" fill="hold">
                                  <p:stCondLst>
                                    <p:cond delay="6050"/>
                                  </p:stCondLst>
                                  <p:childTnLst>
                                    <p:set>
                                      <p:cBhvr>
                                        <p:cTn id="214" dur="1" fill="hold">
                                          <p:stCondLst>
                                            <p:cond delay="0"/>
                                          </p:stCondLst>
                                        </p:cTn>
                                        <p:tgtEl>
                                          <p:spTgt spid="76"/>
                                        </p:tgtEl>
                                        <p:attrNameLst>
                                          <p:attrName>style.visibility</p:attrName>
                                        </p:attrNameLst>
                                      </p:cBhvr>
                                      <p:to>
                                        <p:strVal val="visible"/>
                                      </p:to>
                                    </p:set>
                                    <p:animEffect transition="in" filter="wipe(left)">
                                      <p:cBhvr>
                                        <p:cTn id="213" dur="420"/>
                                        <p:tgtEl>
                                          <p:spTgt spid="76"/>
                                        </p:tgtEl>
                                      </p:cBhvr>
                                    </p:animEffect>
                                    <p:animEffect transition="in" filter="fade">
                                      <p:cBhvr>
                                        <p:cTn id="213" dur="420"/>
                                        <p:tgtEl>
                                          <p:spTgt spid="76"/>
                                        </p:tgtEl>
                                      </p:cBhvr>
                                    </p:animEffect>
                                  </p:childTnLst>
                                </p:cTn>
                              </p:par>
                              <p:par>
                                <p:cTn id="218" fill="hold">
                                  <p:stCondLst>
                                    <p:cond delay="6160"/>
                                  </p:stCondLst>
                                  <p:childTnLst>
                                    <p:set>
                                      <p:cBhvr>
                                        <p:cTn id="217" dur="1" fill="hold">
                                          <p:stCondLst>
                                            <p:cond delay="0"/>
                                          </p:stCondLst>
                                        </p:cTn>
                                        <p:tgtEl>
                                          <p:spTgt spid="77"/>
                                        </p:tgtEl>
                                        <p:attrNameLst>
                                          <p:attrName>style.visibility</p:attrName>
                                        </p:attrNameLst>
                                      </p:cBhvr>
                                      <p:to>
                                        <p:strVal val="visible"/>
                                      </p:to>
                                    </p:set>
                                    <p:animEffect transition="in" filter="wipe(left)">
                                      <p:cBhvr>
                                        <p:cTn id="216" dur="420"/>
                                        <p:tgtEl>
                                          <p:spTgt spid="77"/>
                                        </p:tgtEl>
                                      </p:cBhvr>
                                    </p:animEffect>
                                    <p:animEffect transition="in" filter="fade">
                                      <p:cBhvr>
                                        <p:cTn id="216" dur="420"/>
                                        <p:tgtEl>
                                          <p:spTgt spid="77"/>
                                        </p:tgtEl>
                                      </p:cBhvr>
                                    </p:animEffect>
                                  </p:childTnLst>
                                </p:cTn>
                              </p:par>
                              <p:par>
                                <p:cTn id="221" fill="hold">
                                  <p:stCondLst>
                                    <p:cond delay="6270"/>
                                  </p:stCondLst>
                                  <p:childTnLst>
                                    <p:set>
                                      <p:cBhvr>
                                        <p:cTn id="220" dur="1" fill="hold">
                                          <p:stCondLst>
                                            <p:cond delay="0"/>
                                          </p:stCondLst>
                                        </p:cTn>
                                        <p:tgtEl>
                                          <p:spTgt spid="78"/>
                                        </p:tgtEl>
                                        <p:attrNameLst>
                                          <p:attrName>style.visibility</p:attrName>
                                        </p:attrNameLst>
                                      </p:cBhvr>
                                      <p:to>
                                        <p:strVal val="visible"/>
                                      </p:to>
                                    </p:set>
                                    <p:animEffect transition="in" filter="wipe(left)">
                                      <p:cBhvr>
                                        <p:cTn id="219" dur="420"/>
                                        <p:tgtEl>
                                          <p:spTgt spid="78"/>
                                        </p:tgtEl>
                                      </p:cBhvr>
                                    </p:animEffect>
                                    <p:animEffect transition="in" filter="fade">
                                      <p:cBhvr>
                                        <p:cTn id="219" dur="420"/>
                                        <p:tgtEl>
                                          <p:spTgt spid="78"/>
                                        </p:tgtEl>
                                      </p:cBhvr>
                                    </p:animEffect>
                                  </p:childTnLst>
                                </p:cTn>
                              </p:par>
                              <p:par>
                                <p:cTn id="224" fill="hold">
                                  <p:stCondLst>
                                    <p:cond delay="6380"/>
                                  </p:stCondLst>
                                  <p:childTnLst>
                                    <p:set>
                                      <p:cBhvr>
                                        <p:cTn id="223" dur="1" fill="hold">
                                          <p:stCondLst>
                                            <p:cond delay="0"/>
                                          </p:stCondLst>
                                        </p:cTn>
                                        <p:tgtEl>
                                          <p:spTgt spid="79"/>
                                        </p:tgtEl>
                                        <p:attrNameLst>
                                          <p:attrName>style.visibility</p:attrName>
                                        </p:attrNameLst>
                                      </p:cBhvr>
                                      <p:to>
                                        <p:strVal val="visible"/>
                                      </p:to>
                                    </p:set>
                                    <p:animEffect transition="in" filter="wipe(left)">
                                      <p:cBhvr>
                                        <p:cTn id="222" dur="420"/>
                                        <p:tgtEl>
                                          <p:spTgt spid="79"/>
                                        </p:tgtEl>
                                      </p:cBhvr>
                                    </p:animEffect>
                                    <p:animEffect transition="in" filter="fade">
                                      <p:cBhvr>
                                        <p:cTn id="222" dur="420"/>
                                        <p:tgtEl>
                                          <p:spTgt spid="79"/>
                                        </p:tgtEl>
                                      </p:cBhvr>
                                    </p:animEffect>
                                  </p:childTnLst>
                                </p:cTn>
                              </p:par>
                              <p:par>
                                <p:cTn id="227" fill="hold">
                                  <p:stCondLst>
                                    <p:cond delay="6490"/>
                                  </p:stCondLst>
                                  <p:childTnLst>
                                    <p:set>
                                      <p:cBhvr>
                                        <p:cTn id="226" dur="1" fill="hold">
                                          <p:stCondLst>
                                            <p:cond delay="0"/>
                                          </p:stCondLst>
                                        </p:cTn>
                                        <p:tgtEl>
                                          <p:spTgt spid="80"/>
                                        </p:tgtEl>
                                        <p:attrNameLst>
                                          <p:attrName>style.visibility</p:attrName>
                                        </p:attrNameLst>
                                      </p:cBhvr>
                                      <p:to>
                                        <p:strVal val="visible"/>
                                      </p:to>
                                    </p:set>
                                    <p:animEffect transition="in" filter="wipe(left)">
                                      <p:cBhvr>
                                        <p:cTn id="225" dur="420"/>
                                        <p:tgtEl>
                                          <p:spTgt spid="80"/>
                                        </p:tgtEl>
                                      </p:cBhvr>
                                    </p:animEffect>
                                    <p:animEffect transition="in" filter="fade">
                                      <p:cBhvr>
                                        <p:cTn id="225" dur="420"/>
                                        <p:tgtEl>
                                          <p:spTgt spid="80"/>
                                        </p:tgtEl>
                                      </p:cBhvr>
                                    </p:animEffect>
                                  </p:childTnLst>
                                </p:cTn>
                              </p:par>
                              <p:par>
                                <p:cTn id="230" fill="hold">
                                  <p:stCondLst>
                                    <p:cond delay="6600"/>
                                  </p:stCondLst>
                                  <p:childTnLst>
                                    <p:set>
                                      <p:cBhvr>
                                        <p:cTn id="229" dur="1" fill="hold">
                                          <p:stCondLst>
                                            <p:cond delay="0"/>
                                          </p:stCondLst>
                                        </p:cTn>
                                        <p:tgtEl>
                                          <p:spTgt spid="81"/>
                                        </p:tgtEl>
                                        <p:attrNameLst>
                                          <p:attrName>style.visibility</p:attrName>
                                        </p:attrNameLst>
                                      </p:cBhvr>
                                      <p:to>
                                        <p:strVal val="visible"/>
                                      </p:to>
                                    </p:set>
                                    <p:animEffect transition="in" filter="wipe(left)">
                                      <p:cBhvr>
                                        <p:cTn id="228" dur="420"/>
                                        <p:tgtEl>
                                          <p:spTgt spid="81"/>
                                        </p:tgtEl>
                                      </p:cBhvr>
                                    </p:animEffect>
                                    <p:animEffect transition="in" filter="fade">
                                      <p:cBhvr>
                                        <p:cTn id="228" dur="420"/>
                                        <p:tgtEl>
                                          <p:spTgt spid="81"/>
                                        </p:tgtEl>
                                      </p:cBhvr>
                                    </p:animEffect>
                                  </p:childTnLst>
                                </p:cTn>
                              </p:par>
                              <p:par>
                                <p:cTn id="233" fill="hold">
                                  <p:stCondLst>
                                    <p:cond delay="6710"/>
                                  </p:stCondLst>
                                  <p:childTnLst>
                                    <p:set>
                                      <p:cBhvr>
                                        <p:cTn id="232" dur="1" fill="hold">
                                          <p:stCondLst>
                                            <p:cond delay="0"/>
                                          </p:stCondLst>
                                        </p:cTn>
                                        <p:tgtEl>
                                          <p:spTgt spid="82"/>
                                        </p:tgtEl>
                                        <p:attrNameLst>
                                          <p:attrName>style.visibility</p:attrName>
                                        </p:attrNameLst>
                                      </p:cBhvr>
                                      <p:to>
                                        <p:strVal val="visible"/>
                                      </p:to>
                                    </p:set>
                                    <p:animEffect transition="in" filter="wipe(left)">
                                      <p:cBhvr>
                                        <p:cTn id="231" dur="420"/>
                                        <p:tgtEl>
                                          <p:spTgt spid="82"/>
                                        </p:tgtEl>
                                      </p:cBhvr>
                                    </p:animEffect>
                                    <p:animEffect transition="in" filter="fade">
                                      <p:cBhvr>
                                        <p:cTn id="231" dur="420"/>
                                        <p:tgtEl>
                                          <p:spTgt spid="82"/>
                                        </p:tgtEl>
                                      </p:cBhvr>
                                    </p:animEffect>
                                  </p:childTnLst>
                                </p:cTn>
                              </p:par>
                              <p:par>
                                <p:cTn id="236" fill="hold">
                                  <p:stCondLst>
                                    <p:cond delay="6820"/>
                                  </p:stCondLst>
                                  <p:childTnLst>
                                    <p:set>
                                      <p:cBhvr>
                                        <p:cTn id="235" dur="1" fill="hold">
                                          <p:stCondLst>
                                            <p:cond delay="0"/>
                                          </p:stCondLst>
                                        </p:cTn>
                                        <p:tgtEl>
                                          <p:spTgt spid="83"/>
                                        </p:tgtEl>
                                        <p:attrNameLst>
                                          <p:attrName>style.visibility</p:attrName>
                                        </p:attrNameLst>
                                      </p:cBhvr>
                                      <p:to>
                                        <p:strVal val="visible"/>
                                      </p:to>
                                    </p:set>
                                    <p:animEffect transition="in" filter="wipe(left)">
                                      <p:cBhvr>
                                        <p:cTn id="234" dur="420"/>
                                        <p:tgtEl>
                                          <p:spTgt spid="83"/>
                                        </p:tgtEl>
                                      </p:cBhvr>
                                    </p:animEffect>
                                    <p:animEffect transition="in" filter="fade">
                                      <p:cBhvr>
                                        <p:cTn id="234" dur="420"/>
                                        <p:tgtEl>
                                          <p:spTgt spid="83"/>
                                        </p:tgtEl>
                                      </p:cBhvr>
                                    </p:animEffect>
                                  </p:childTnLst>
                                </p:cTn>
                              </p:par>
                              <p:par>
                                <p:cTn id="239" fill="hold">
                                  <p:stCondLst>
                                    <p:cond delay="6930"/>
                                  </p:stCondLst>
                                  <p:childTnLst>
                                    <p:set>
                                      <p:cBhvr>
                                        <p:cTn id="238" dur="1" fill="hold">
                                          <p:stCondLst>
                                            <p:cond delay="0"/>
                                          </p:stCondLst>
                                        </p:cTn>
                                        <p:tgtEl>
                                          <p:spTgt spid="84"/>
                                        </p:tgtEl>
                                        <p:attrNameLst>
                                          <p:attrName>style.visibility</p:attrName>
                                        </p:attrNameLst>
                                      </p:cBhvr>
                                      <p:to>
                                        <p:strVal val="visible"/>
                                      </p:to>
                                    </p:set>
                                    <p:animEffect transition="in" filter="wipe(left)">
                                      <p:cBhvr>
                                        <p:cTn id="237" dur="420"/>
                                        <p:tgtEl>
                                          <p:spTgt spid="84"/>
                                        </p:tgtEl>
                                      </p:cBhvr>
                                    </p:animEffect>
                                    <p:animEffect transition="in" filter="fade">
                                      <p:cBhvr>
                                        <p:cTn id="237" dur="420"/>
                                        <p:tgtEl>
                                          <p:spTgt spid="84"/>
                                        </p:tgtEl>
                                      </p:cBhvr>
                                    </p:animEffect>
                                  </p:childTnLst>
                                </p:cTn>
                              </p:par>
                              <p:par>
                                <p:cTn id="242" fill="hold">
                                  <p:stCondLst>
                                    <p:cond delay="7040"/>
                                  </p:stCondLst>
                                  <p:childTnLst>
                                    <p:set>
                                      <p:cBhvr>
                                        <p:cTn id="241" dur="1" fill="hold">
                                          <p:stCondLst>
                                            <p:cond delay="0"/>
                                          </p:stCondLst>
                                        </p:cTn>
                                        <p:tgtEl>
                                          <p:spTgt spid="85"/>
                                        </p:tgtEl>
                                        <p:attrNameLst>
                                          <p:attrName>style.visibility</p:attrName>
                                        </p:attrNameLst>
                                      </p:cBhvr>
                                      <p:to>
                                        <p:strVal val="visible"/>
                                      </p:to>
                                    </p:set>
                                    <p:animEffect transition="in" filter="wipe(left)">
                                      <p:cBhvr>
                                        <p:cTn id="240" dur="420"/>
                                        <p:tgtEl>
                                          <p:spTgt spid="85"/>
                                        </p:tgtEl>
                                      </p:cBhvr>
                                    </p:animEffect>
                                    <p:animEffect transition="in" filter="fade">
                                      <p:cBhvr>
                                        <p:cTn id="240" dur="420"/>
                                        <p:tgtEl>
                                          <p:spTgt spid="85"/>
                                        </p:tgtEl>
                                      </p:cBhvr>
                                    </p:animEffect>
                                  </p:childTnLst>
                                </p:cTn>
                              </p:par>
                              <p:par>
                                <p:cTn id="245" fill="hold">
                                  <p:stCondLst>
                                    <p:cond delay="7150"/>
                                  </p:stCondLst>
                                  <p:childTnLst>
                                    <p:set>
                                      <p:cBhvr>
                                        <p:cTn id="244" dur="1" fill="hold">
                                          <p:stCondLst>
                                            <p:cond delay="0"/>
                                          </p:stCondLst>
                                        </p:cTn>
                                        <p:tgtEl>
                                          <p:spTgt spid="86"/>
                                        </p:tgtEl>
                                        <p:attrNameLst>
                                          <p:attrName>style.visibility</p:attrName>
                                        </p:attrNameLst>
                                      </p:cBhvr>
                                      <p:to>
                                        <p:strVal val="visible"/>
                                      </p:to>
                                    </p:set>
                                    <p:animEffect transition="in" filter="wipe(left)">
                                      <p:cBhvr>
                                        <p:cTn id="243" dur="420"/>
                                        <p:tgtEl>
                                          <p:spTgt spid="86"/>
                                        </p:tgtEl>
                                      </p:cBhvr>
                                    </p:animEffect>
                                    <p:animEffect transition="in" filter="fade">
                                      <p:cBhvr>
                                        <p:cTn id="243" dur="420"/>
                                        <p:tgtEl>
                                          <p:spTgt spid="86"/>
                                        </p:tgtEl>
                                      </p:cBhvr>
                                    </p:animEffect>
                                  </p:childTnLst>
                                </p:cTn>
                              </p:par>
                              <p:par>
                                <p:cTn id="248" fill="hold">
                                  <p:stCondLst>
                                    <p:cond delay="7260"/>
                                  </p:stCondLst>
                                  <p:childTnLst>
                                    <p:set>
                                      <p:cBhvr>
                                        <p:cTn id="247" dur="1" fill="hold">
                                          <p:stCondLst>
                                            <p:cond delay="0"/>
                                          </p:stCondLst>
                                        </p:cTn>
                                        <p:tgtEl>
                                          <p:spTgt spid="87"/>
                                        </p:tgtEl>
                                        <p:attrNameLst>
                                          <p:attrName>style.visibility</p:attrName>
                                        </p:attrNameLst>
                                      </p:cBhvr>
                                      <p:to>
                                        <p:strVal val="visible"/>
                                      </p:to>
                                    </p:set>
                                    <p:animEffect transition="in" filter="wipe(left)">
                                      <p:cBhvr>
                                        <p:cTn id="246" dur="420"/>
                                        <p:tgtEl>
                                          <p:spTgt spid="87"/>
                                        </p:tgtEl>
                                      </p:cBhvr>
                                    </p:animEffect>
                                    <p:animEffect transition="in" filter="fade">
                                      <p:cBhvr>
                                        <p:cTn id="246" dur="420"/>
                                        <p:tgtEl>
                                          <p:spTgt spid="87"/>
                                        </p:tgtEl>
                                      </p:cBhvr>
                                    </p:animEffect>
                                  </p:childTnLst>
                                </p:cTn>
                              </p:par>
                              <p:par>
                                <p:cTn id="251" fill="hold">
                                  <p:stCondLst>
                                    <p:cond delay="7370"/>
                                  </p:stCondLst>
                                  <p:childTnLst>
                                    <p:set>
                                      <p:cBhvr>
                                        <p:cTn id="250" dur="1" fill="hold">
                                          <p:stCondLst>
                                            <p:cond delay="0"/>
                                          </p:stCondLst>
                                        </p:cTn>
                                        <p:tgtEl>
                                          <p:spTgt spid="88"/>
                                        </p:tgtEl>
                                        <p:attrNameLst>
                                          <p:attrName>style.visibility</p:attrName>
                                        </p:attrNameLst>
                                      </p:cBhvr>
                                      <p:to>
                                        <p:strVal val="visible"/>
                                      </p:to>
                                    </p:set>
                                    <p:animEffect transition="in" filter="wipe(left)">
                                      <p:cBhvr>
                                        <p:cTn id="249" dur="420"/>
                                        <p:tgtEl>
                                          <p:spTgt spid="88"/>
                                        </p:tgtEl>
                                      </p:cBhvr>
                                    </p:animEffect>
                                    <p:animEffect transition="in" filter="fade">
                                      <p:cBhvr>
                                        <p:cTn id="249" dur="420"/>
                                        <p:tgtEl>
                                          <p:spTgt spid="88"/>
                                        </p:tgtEl>
                                      </p:cBhvr>
                                    </p:animEffect>
                                  </p:childTnLst>
                                </p:cTn>
                              </p:par>
                              <p:par>
                                <p:cTn id="254" fill="hold">
                                  <p:stCondLst>
                                    <p:cond delay="7480"/>
                                  </p:stCondLst>
                                  <p:childTnLst>
                                    <p:set>
                                      <p:cBhvr>
                                        <p:cTn id="253" dur="1" fill="hold">
                                          <p:stCondLst>
                                            <p:cond delay="0"/>
                                          </p:stCondLst>
                                        </p:cTn>
                                        <p:tgtEl>
                                          <p:spTgt spid="89"/>
                                        </p:tgtEl>
                                        <p:attrNameLst>
                                          <p:attrName>style.visibility</p:attrName>
                                        </p:attrNameLst>
                                      </p:cBhvr>
                                      <p:to>
                                        <p:strVal val="visible"/>
                                      </p:to>
                                    </p:set>
                                    <p:animEffect transition="in" filter="wipe(left)">
                                      <p:cBhvr>
                                        <p:cTn id="252" dur="420"/>
                                        <p:tgtEl>
                                          <p:spTgt spid="89"/>
                                        </p:tgtEl>
                                      </p:cBhvr>
                                    </p:animEffect>
                                    <p:animEffect transition="in" filter="fade">
                                      <p:cBhvr>
                                        <p:cTn id="252" dur="420"/>
                                        <p:tgtEl>
                                          <p:spTgt spid="89"/>
                                        </p:tgtEl>
                                      </p:cBhvr>
                                    </p:animEffect>
                                  </p:childTnLst>
                                </p:cTn>
                              </p:par>
                              <p:par>
                                <p:cTn id="257" fill="hold">
                                  <p:stCondLst>
                                    <p:cond delay="7590"/>
                                  </p:stCondLst>
                                  <p:childTnLst>
                                    <p:set>
                                      <p:cBhvr>
                                        <p:cTn id="256" dur="1" fill="hold">
                                          <p:stCondLst>
                                            <p:cond delay="0"/>
                                          </p:stCondLst>
                                        </p:cTn>
                                        <p:tgtEl>
                                          <p:spTgt spid="90"/>
                                        </p:tgtEl>
                                        <p:attrNameLst>
                                          <p:attrName>style.visibility</p:attrName>
                                        </p:attrNameLst>
                                      </p:cBhvr>
                                      <p:to>
                                        <p:strVal val="visible"/>
                                      </p:to>
                                    </p:set>
                                    <p:animEffect transition="in" filter="wipe(left)">
                                      <p:cBhvr>
                                        <p:cTn id="255" dur="420"/>
                                        <p:tgtEl>
                                          <p:spTgt spid="90"/>
                                        </p:tgtEl>
                                      </p:cBhvr>
                                    </p:animEffect>
                                    <p:animEffect transition="in" filter="fade">
                                      <p:cBhvr>
                                        <p:cTn id="255" dur="420"/>
                                        <p:tgtEl>
                                          <p:spTgt spid="90"/>
                                        </p:tgtEl>
                                      </p:cBhvr>
                                    </p:animEffect>
                                  </p:childTnLst>
                                </p:cTn>
                              </p:par>
                              <p:par>
                                <p:cTn id="260" fill="hold">
                                  <p:stCondLst>
                                    <p:cond delay="7700"/>
                                  </p:stCondLst>
                                  <p:childTnLst>
                                    <p:set>
                                      <p:cBhvr>
                                        <p:cTn id="259" dur="1" fill="hold">
                                          <p:stCondLst>
                                            <p:cond delay="0"/>
                                          </p:stCondLst>
                                        </p:cTn>
                                        <p:tgtEl>
                                          <p:spTgt spid="91"/>
                                        </p:tgtEl>
                                        <p:attrNameLst>
                                          <p:attrName>style.visibility</p:attrName>
                                        </p:attrNameLst>
                                      </p:cBhvr>
                                      <p:to>
                                        <p:strVal val="visible"/>
                                      </p:to>
                                    </p:set>
                                    <p:animEffect transition="in" filter="wipe(left)">
                                      <p:cBhvr>
                                        <p:cTn id="258" dur="420"/>
                                        <p:tgtEl>
                                          <p:spTgt spid="91"/>
                                        </p:tgtEl>
                                      </p:cBhvr>
                                    </p:animEffect>
                                    <p:animEffect transition="in" filter="fade">
                                      <p:cBhvr>
                                        <p:cTn id="258" dur="420"/>
                                        <p:tgtEl>
                                          <p:spTgt spid="91"/>
                                        </p:tgtEl>
                                      </p:cBhvr>
                                    </p:animEffect>
                                  </p:childTnLst>
                                </p:cTn>
                              </p:par>
                              <p:par>
                                <p:cTn id="263" fill="hold">
                                  <p:stCondLst>
                                    <p:cond delay="7810"/>
                                  </p:stCondLst>
                                  <p:childTnLst>
                                    <p:set>
                                      <p:cBhvr>
                                        <p:cTn id="262" dur="1" fill="hold">
                                          <p:stCondLst>
                                            <p:cond delay="0"/>
                                          </p:stCondLst>
                                        </p:cTn>
                                        <p:tgtEl>
                                          <p:spTgt spid="92"/>
                                        </p:tgtEl>
                                        <p:attrNameLst>
                                          <p:attrName>style.visibility</p:attrName>
                                        </p:attrNameLst>
                                      </p:cBhvr>
                                      <p:to>
                                        <p:strVal val="visible"/>
                                      </p:to>
                                    </p:set>
                                    <p:animEffect transition="in" filter="wipe(left)">
                                      <p:cBhvr>
                                        <p:cTn id="261" dur="420"/>
                                        <p:tgtEl>
                                          <p:spTgt spid="92"/>
                                        </p:tgtEl>
                                      </p:cBhvr>
                                    </p:animEffect>
                                    <p:animEffect transition="in" filter="fade">
                                      <p:cBhvr>
                                        <p:cTn id="261" dur="420"/>
                                        <p:tgtEl>
                                          <p:spTgt spid="92"/>
                                        </p:tgtEl>
                                      </p:cBhvr>
                                    </p:animEffect>
                                  </p:childTnLst>
                                </p:cTn>
                              </p:par>
                              <p:par>
                                <p:cTn id="266" fill="hold">
                                  <p:stCondLst>
                                    <p:cond delay="7920"/>
                                  </p:stCondLst>
                                  <p:childTnLst>
                                    <p:set>
                                      <p:cBhvr>
                                        <p:cTn id="265" dur="1" fill="hold">
                                          <p:stCondLst>
                                            <p:cond delay="0"/>
                                          </p:stCondLst>
                                        </p:cTn>
                                        <p:tgtEl>
                                          <p:spTgt spid="93"/>
                                        </p:tgtEl>
                                        <p:attrNameLst>
                                          <p:attrName>style.visibility</p:attrName>
                                        </p:attrNameLst>
                                      </p:cBhvr>
                                      <p:to>
                                        <p:strVal val="visible"/>
                                      </p:to>
                                    </p:set>
                                    <p:animEffect transition="in" filter="wipe(left)">
                                      <p:cBhvr>
                                        <p:cTn id="264" dur="420"/>
                                        <p:tgtEl>
                                          <p:spTgt spid="93"/>
                                        </p:tgtEl>
                                      </p:cBhvr>
                                    </p:animEffect>
                                    <p:animEffect transition="in" filter="fade">
                                      <p:cBhvr>
                                        <p:cTn id="264" dur="420"/>
                                        <p:tgtEl>
                                          <p:spTgt spid="93"/>
                                        </p:tgtEl>
                                      </p:cBhvr>
                                    </p:animEffect>
                                  </p:childTnLst>
                                </p:cTn>
                              </p:par>
                              <p:par>
                                <p:cTn id="269" fill="hold">
                                  <p:stCondLst>
                                    <p:cond delay="8030"/>
                                  </p:stCondLst>
                                  <p:childTnLst>
                                    <p:set>
                                      <p:cBhvr>
                                        <p:cTn id="268" dur="1" fill="hold">
                                          <p:stCondLst>
                                            <p:cond delay="0"/>
                                          </p:stCondLst>
                                        </p:cTn>
                                        <p:tgtEl>
                                          <p:spTgt spid="94"/>
                                        </p:tgtEl>
                                        <p:attrNameLst>
                                          <p:attrName>style.visibility</p:attrName>
                                        </p:attrNameLst>
                                      </p:cBhvr>
                                      <p:to>
                                        <p:strVal val="visible"/>
                                      </p:to>
                                    </p:set>
                                    <p:animEffect transition="in" filter="wipe(left)">
                                      <p:cBhvr>
                                        <p:cTn id="267" dur="420"/>
                                        <p:tgtEl>
                                          <p:spTgt spid="94"/>
                                        </p:tgtEl>
                                      </p:cBhvr>
                                    </p:animEffect>
                                    <p:animEffect transition="in" filter="fade">
                                      <p:cBhvr>
                                        <p:cTn id="267" dur="420"/>
                                        <p:tgtEl>
                                          <p:spTgt spid="94"/>
                                        </p:tgtEl>
                                      </p:cBhvr>
                                    </p:animEffect>
                                  </p:childTnLst>
                                </p:cTn>
                              </p:par>
                              <p:par>
                                <p:cTn id="272" fill="hold">
                                  <p:stCondLst>
                                    <p:cond delay="8140"/>
                                  </p:stCondLst>
                                  <p:childTnLst>
                                    <p:set>
                                      <p:cBhvr>
                                        <p:cTn id="271" dur="1" fill="hold">
                                          <p:stCondLst>
                                            <p:cond delay="0"/>
                                          </p:stCondLst>
                                        </p:cTn>
                                        <p:tgtEl>
                                          <p:spTgt spid="95"/>
                                        </p:tgtEl>
                                        <p:attrNameLst>
                                          <p:attrName>style.visibility</p:attrName>
                                        </p:attrNameLst>
                                      </p:cBhvr>
                                      <p:to>
                                        <p:strVal val="visible"/>
                                      </p:to>
                                    </p:set>
                                    <p:animEffect transition="in" filter="wipe(left)">
                                      <p:cBhvr>
                                        <p:cTn id="270" dur="420"/>
                                        <p:tgtEl>
                                          <p:spTgt spid="95"/>
                                        </p:tgtEl>
                                      </p:cBhvr>
                                    </p:animEffect>
                                    <p:animEffect transition="in" filter="fade">
                                      <p:cBhvr>
                                        <p:cTn id="270" dur="420"/>
                                        <p:tgtEl>
                                          <p:spTgt spid="95"/>
                                        </p:tgtEl>
                                      </p:cBhvr>
                                    </p:animEffect>
                                  </p:childTnLst>
                                </p:cTn>
                              </p:par>
                              <p:par>
                                <p:cTn id="275" fill="hold">
                                  <p:stCondLst>
                                    <p:cond delay="8250"/>
                                  </p:stCondLst>
                                  <p:childTnLst>
                                    <p:set>
                                      <p:cBhvr>
                                        <p:cTn id="274" dur="1" fill="hold">
                                          <p:stCondLst>
                                            <p:cond delay="0"/>
                                          </p:stCondLst>
                                        </p:cTn>
                                        <p:tgtEl>
                                          <p:spTgt spid="96"/>
                                        </p:tgtEl>
                                        <p:attrNameLst>
                                          <p:attrName>style.visibility</p:attrName>
                                        </p:attrNameLst>
                                      </p:cBhvr>
                                      <p:to>
                                        <p:strVal val="visible"/>
                                      </p:to>
                                    </p:set>
                                    <p:animEffect transition="in" filter="wipe(left)">
                                      <p:cBhvr>
                                        <p:cTn id="273" dur="420"/>
                                        <p:tgtEl>
                                          <p:spTgt spid="96"/>
                                        </p:tgtEl>
                                      </p:cBhvr>
                                    </p:animEffect>
                                    <p:animEffect transition="in" filter="fade">
                                      <p:cBhvr>
                                        <p:cTn id="273" dur="420"/>
                                        <p:tgtEl>
                                          <p:spTgt spid="96"/>
                                        </p:tgtEl>
                                      </p:cBhvr>
                                    </p:animEffect>
                                  </p:childTnLst>
                                </p:cTn>
                              </p:par>
                              <p:par>
                                <p:cTn id="278" fill="hold">
                                  <p:stCondLst>
                                    <p:cond delay="8360"/>
                                  </p:stCondLst>
                                  <p:childTnLst>
                                    <p:set>
                                      <p:cBhvr>
                                        <p:cTn id="277" dur="1" fill="hold">
                                          <p:stCondLst>
                                            <p:cond delay="0"/>
                                          </p:stCondLst>
                                        </p:cTn>
                                        <p:tgtEl>
                                          <p:spTgt spid="97"/>
                                        </p:tgtEl>
                                        <p:attrNameLst>
                                          <p:attrName>style.visibility</p:attrName>
                                        </p:attrNameLst>
                                      </p:cBhvr>
                                      <p:to>
                                        <p:strVal val="visible"/>
                                      </p:to>
                                    </p:set>
                                    <p:animEffect transition="in" filter="wipe(left)">
                                      <p:cBhvr>
                                        <p:cTn id="276" dur="420"/>
                                        <p:tgtEl>
                                          <p:spTgt spid="97"/>
                                        </p:tgtEl>
                                      </p:cBhvr>
                                    </p:animEffect>
                                    <p:animEffect transition="in" filter="fade">
                                      <p:cBhvr>
                                        <p:cTn id="276" dur="420"/>
                                        <p:tgtEl>
                                          <p:spTgt spid="97"/>
                                        </p:tgtEl>
                                      </p:cBhvr>
                                    </p:animEffect>
                                  </p:childTnLst>
                                </p:cTn>
                              </p:par>
                              <p:par>
                                <p:cTn id="281" fill="hold">
                                  <p:stCondLst>
                                    <p:cond delay="8470"/>
                                  </p:stCondLst>
                                  <p:childTnLst>
                                    <p:set>
                                      <p:cBhvr>
                                        <p:cTn id="280" dur="1" fill="hold">
                                          <p:stCondLst>
                                            <p:cond delay="0"/>
                                          </p:stCondLst>
                                        </p:cTn>
                                        <p:tgtEl>
                                          <p:spTgt spid="98"/>
                                        </p:tgtEl>
                                        <p:attrNameLst>
                                          <p:attrName>style.visibility</p:attrName>
                                        </p:attrNameLst>
                                      </p:cBhvr>
                                      <p:to>
                                        <p:strVal val="visible"/>
                                      </p:to>
                                    </p:set>
                                    <p:animEffect transition="in" filter="wipe(left)">
                                      <p:cBhvr>
                                        <p:cTn id="279" dur="420"/>
                                        <p:tgtEl>
                                          <p:spTgt spid="98"/>
                                        </p:tgtEl>
                                      </p:cBhvr>
                                    </p:animEffect>
                                    <p:animEffect transition="in" filter="fade">
                                      <p:cBhvr>
                                        <p:cTn id="279" dur="420"/>
                                        <p:tgtEl>
                                          <p:spTgt spid="98"/>
                                        </p:tgtEl>
                                      </p:cBhvr>
                                    </p:animEffect>
                                  </p:childTnLst>
                                </p:cTn>
                              </p:par>
                              <p:par>
                                <p:cTn id="284" fill="hold">
                                  <p:stCondLst>
                                    <p:cond delay="8580"/>
                                  </p:stCondLst>
                                  <p:childTnLst>
                                    <p:set>
                                      <p:cBhvr>
                                        <p:cTn id="283" dur="1" fill="hold">
                                          <p:stCondLst>
                                            <p:cond delay="0"/>
                                          </p:stCondLst>
                                        </p:cTn>
                                        <p:tgtEl>
                                          <p:spTgt spid="100"/>
                                        </p:tgtEl>
                                        <p:attrNameLst>
                                          <p:attrName>style.visibility</p:attrName>
                                        </p:attrNameLst>
                                      </p:cBhvr>
                                      <p:to>
                                        <p:strVal val="visible"/>
                                      </p:to>
                                    </p:set>
                                    <p:animEffect transition="in" filter="wipe(left)">
                                      <p:cBhvr>
                                        <p:cTn id="282" dur="420"/>
                                        <p:tgtEl>
                                          <p:spTgt spid="100"/>
                                        </p:tgtEl>
                                      </p:cBhvr>
                                    </p:animEffect>
                                    <p:animEffect transition="in" filter="fade">
                                      <p:cBhvr>
                                        <p:cTn id="282" dur="420"/>
                                        <p:tgtEl>
                                          <p:spTgt spid="100"/>
                                        </p:tgtEl>
                                      </p:cBhvr>
                                    </p:animEffect>
                                  </p:childTnLst>
                                </p:cTn>
                              </p:par>
                              <p:par>
                                <p:cTn id="287" fill="hold">
                                  <p:stCondLst>
                                    <p:cond delay="8690"/>
                                  </p:stCondLst>
                                  <p:childTnLst>
                                    <p:set>
                                      <p:cBhvr>
                                        <p:cTn id="286" dur="1" fill="hold">
                                          <p:stCondLst>
                                            <p:cond delay="0"/>
                                          </p:stCondLst>
                                        </p:cTn>
                                        <p:tgtEl>
                                          <p:spTgt spid="101"/>
                                        </p:tgtEl>
                                        <p:attrNameLst>
                                          <p:attrName>style.visibility</p:attrName>
                                        </p:attrNameLst>
                                      </p:cBhvr>
                                      <p:to>
                                        <p:strVal val="visible"/>
                                      </p:to>
                                    </p:set>
                                    <p:animEffect transition="in" filter="wipe(left)">
                                      <p:cBhvr>
                                        <p:cTn id="285" dur="420"/>
                                        <p:tgtEl>
                                          <p:spTgt spid="101"/>
                                        </p:tgtEl>
                                      </p:cBhvr>
                                    </p:animEffect>
                                    <p:animEffect transition="in" filter="fade">
                                      <p:cBhvr>
                                        <p:cTn id="285" dur="420"/>
                                        <p:tgtEl>
                                          <p:spTgt spid="101"/>
                                        </p:tgtEl>
                                      </p:cBhvr>
                                    </p:animEffect>
                                  </p:childTnLst>
                                </p:cTn>
                              </p:par>
                              <p:par>
                                <p:cTn id="290" fill="hold">
                                  <p:stCondLst>
                                    <p:cond delay="8800"/>
                                  </p:stCondLst>
                                  <p:childTnLst>
                                    <p:set>
                                      <p:cBhvr>
                                        <p:cTn id="289" dur="1" fill="hold">
                                          <p:stCondLst>
                                            <p:cond delay="0"/>
                                          </p:stCondLst>
                                        </p:cTn>
                                        <p:tgtEl>
                                          <p:spTgt spid="102"/>
                                        </p:tgtEl>
                                        <p:attrNameLst>
                                          <p:attrName>style.visibility</p:attrName>
                                        </p:attrNameLst>
                                      </p:cBhvr>
                                      <p:to>
                                        <p:strVal val="visible"/>
                                      </p:to>
                                    </p:set>
                                    <p:animEffect transition="in" filter="wipe(left)">
                                      <p:cBhvr>
                                        <p:cTn id="288" dur="420"/>
                                        <p:tgtEl>
                                          <p:spTgt spid="102"/>
                                        </p:tgtEl>
                                      </p:cBhvr>
                                    </p:animEffect>
                                    <p:animEffect transition="in" filter="fade">
                                      <p:cBhvr>
                                        <p:cTn id="288" dur="420"/>
                                        <p:tgtEl>
                                          <p:spTgt spid="102"/>
                                        </p:tgtEl>
                                      </p:cBhvr>
                                    </p:animEffect>
                                  </p:childTnLst>
                                </p:cTn>
                              </p:par>
                              <p:par>
                                <p:cTn id="293" fill="hold">
                                  <p:stCondLst>
                                    <p:cond delay="8910"/>
                                  </p:stCondLst>
                                  <p:childTnLst>
                                    <p:set>
                                      <p:cBhvr>
                                        <p:cTn id="292" dur="1" fill="hold">
                                          <p:stCondLst>
                                            <p:cond delay="0"/>
                                          </p:stCondLst>
                                        </p:cTn>
                                        <p:tgtEl>
                                          <p:spTgt spid="103"/>
                                        </p:tgtEl>
                                        <p:attrNameLst>
                                          <p:attrName>style.visibility</p:attrName>
                                        </p:attrNameLst>
                                      </p:cBhvr>
                                      <p:to>
                                        <p:strVal val="visible"/>
                                      </p:to>
                                    </p:set>
                                    <p:animEffect transition="in" filter="wipe(left)">
                                      <p:cBhvr>
                                        <p:cTn id="291" dur="420"/>
                                        <p:tgtEl>
                                          <p:spTgt spid="103"/>
                                        </p:tgtEl>
                                      </p:cBhvr>
                                    </p:animEffect>
                                    <p:animEffect transition="in" filter="fade">
                                      <p:cBhvr>
                                        <p:cTn id="291" dur="42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Unidades de información y su uso práctico</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bit es la unidad mínima; las agrupaciones explican los diagramas de pines y memorias.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09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372298"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1 b</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Bit</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estado lógico: '0' o '1'. Es la unidad de la tabla de verdad y equivale a una salida de compuerta.</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4 b</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Nibble</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Cuatro bits: la mitad de un byte y el tamaño de un dígito hexadecimal. Un decodificador BCD recibe exactamente un nibble.</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8 b</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Byte</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Ocho bits: 256 combinaciones. Es la anchura de los buses de datos de los integrados 74LS374, 74LS245 y 74LS688.</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16/32 b</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Palabra</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Ancho de datos del procesador. El 74LS181 (ALU) trabaja con palabras de 4 bits y se encadenan para formar palabras mayores.</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900" b="1">
                <a:solidFill>
                  <a:srgbClr val="C42B6B"/>
                </a:solidFill>
                <a:latin typeface="Consolas"/>
              </a:rPr>
              <a:t>A0…An</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Dirección</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Conjunto de bits que identifica una posición de memoria. Con n líneas se direccionan 2^n posiciones.</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n × bit</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Bus</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Grupo de líneas que viajan juntas: bus de datos, de direcciones y de control. Requieren transceptores como el 74LS245.</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Ejemplo real: el 74LS189 es una RAM de 64 bits organizada como 16 palabras × 4 bits, es decir, necesita 4 líneas de dirección (A0–A3) y 4 líneas de datos (D0–D3).</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Códigos digitales: BCD, Gray, ASCII y paridad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No todo lo que se transmite es binario natural: existen códigos con reglas propias.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10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3746997"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02919"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371600"/>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natural (8421):</a:t>
            </a:r>
            <a:r>
              <a:rPr sz="1250" b="0">
                <a:solidFill>
                  <a:srgbClr val="2C3E56"/>
                </a:solidFill>
                <a:latin typeface="Segoe UI"/>
              </a:rPr>
              <a:t> 47₁₀ se codifica como 0100 0111, dos nibbles independientes y no un binario único (47₁₀ = 101111₂).</a:t>
            </a:r>
          </a:p>
        </p:txBody>
      </p:sp>
      <p:sp>
        <p:nvSpPr>
          <p:cNvPr id="18" name="Oval 17"/>
          <p:cNvSpPr/>
          <p:nvPr/>
        </p:nvSpPr>
        <p:spPr>
          <a:xfrm>
            <a:off x="502919" y="197415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1919287"/>
            <a:ext cx="6723857" cy="65693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desempaquetado</a:t>
            </a:r>
            <a:r>
              <a:rPr sz="1250" b="0">
                <a:solidFill>
                  <a:srgbClr val="2C3E56"/>
                </a:solidFill>
                <a:latin typeface="Segoe UI"/>
              </a:rPr>
              <a:t> usa 8 bits por dígito (4 de relleno); </a:t>
            </a:r>
            <a:r>
              <a:rPr sz="1250" b="1">
                <a:solidFill>
                  <a:srgbClr val="2C3E56"/>
                </a:solidFill>
                <a:latin typeface="Segoe UI Semibold"/>
              </a:rPr>
              <a:t>empaquetado</a:t>
            </a:r>
            <a:r>
              <a:rPr sz="1250" b="0">
                <a:solidFill>
                  <a:srgbClr val="2C3E56"/>
                </a:solidFill>
                <a:latin typeface="Segoe UI"/>
              </a:rPr>
              <a:t> aprovecha las dos mitades del byte. Los contadores 74LS390 entregan BCD empaquetado.</a:t>
            </a:r>
          </a:p>
        </p:txBody>
      </p:sp>
      <p:sp>
        <p:nvSpPr>
          <p:cNvPr id="20" name="Oval 19"/>
          <p:cNvSpPr/>
          <p:nvPr/>
        </p:nvSpPr>
        <p:spPr>
          <a:xfrm>
            <a:off x="502919" y="274081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685954"/>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Exceso 3</a:t>
            </a:r>
            <a:r>
              <a:rPr sz="1250" b="0">
                <a:solidFill>
                  <a:srgbClr val="2C3E56"/>
                </a:solidFill>
                <a:latin typeface="Segoe UI"/>
              </a:rPr>
              <a:t> suma 3 al BCD y sirve para operaciones aritméticas sin acarreo explícito en algunos sumadores históricos.</a:t>
            </a:r>
          </a:p>
        </p:txBody>
      </p:sp>
      <p:sp>
        <p:nvSpPr>
          <p:cNvPr id="22" name="Oval 21"/>
          <p:cNvSpPr/>
          <p:nvPr/>
        </p:nvSpPr>
        <p:spPr>
          <a:xfrm>
            <a:off x="502919" y="328850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3233642"/>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Código Gray de 3 bits:</a:t>
            </a:r>
            <a:r>
              <a:rPr sz="1250" b="0">
                <a:solidFill>
                  <a:srgbClr val="2C3E56"/>
                </a:solidFill>
                <a:latin typeface="Segoe UI"/>
              </a:rPr>
              <a:t> 000, 001, 011, 010, 110, 111, 101, 100. La secuencia regresa al inicio cambiando un solo bit.</a:t>
            </a:r>
          </a:p>
        </p:txBody>
      </p:sp>
      <p:sp>
        <p:nvSpPr>
          <p:cNvPr id="24" name="Oval 23"/>
          <p:cNvSpPr/>
          <p:nvPr/>
        </p:nvSpPr>
        <p:spPr>
          <a:xfrm>
            <a:off x="502919" y="383619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81329"/>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Paridad par:</a:t>
            </a:r>
            <a:r>
              <a:rPr sz="1250" b="0">
                <a:solidFill>
                  <a:srgbClr val="2C3E56"/>
                </a:solidFill>
                <a:latin typeface="Segoe UI"/>
              </a:rPr>
              <a:t> se añade el bit necesario para que el número total de unos sea par. </a:t>
            </a:r>
            <a:r>
              <a:rPr sz="1250" b="1">
                <a:solidFill>
                  <a:srgbClr val="2C3E56"/>
                </a:solidFill>
                <a:latin typeface="Segoe UI Semibold"/>
              </a:rPr>
              <a:t>Paridad impar:</a:t>
            </a:r>
            <a:r>
              <a:rPr sz="1250" b="0">
                <a:solidFill>
                  <a:srgbClr val="2C3E56"/>
                </a:solidFill>
                <a:latin typeface="Segoe UI"/>
              </a:rPr>
              <a:t> se fuerza a impar. La compuerta XOR es el detector natural.</a:t>
            </a:r>
          </a:p>
        </p:txBody>
      </p:sp>
      <p:sp>
        <p:nvSpPr>
          <p:cNvPr id="26" name="Oval 25"/>
          <p:cNvSpPr/>
          <p:nvPr/>
        </p:nvSpPr>
        <p:spPr>
          <a:xfrm>
            <a:off x="502919" y="438388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4329017"/>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Detección vs. corrección:</a:t>
            </a:r>
            <a:r>
              <a:rPr sz="1250" b="0">
                <a:solidFill>
                  <a:srgbClr val="2C3E56"/>
                </a:solidFill>
                <a:latin typeface="Segoe UI"/>
              </a:rPr>
              <a:t> la paridad detecta errores simples; los códigos Hamming detectan y corrigen, usando varias compuertas XOR en cascada.</a:t>
            </a:r>
          </a:p>
        </p:txBody>
      </p:sp>
      <p:sp>
        <p:nvSpPr>
          <p:cNvPr id="28" name="Oval 27"/>
          <p:cNvSpPr/>
          <p:nvPr/>
        </p:nvSpPr>
        <p:spPr>
          <a:xfrm>
            <a:off x="502919" y="493156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4876704"/>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Display de 7 segmentos:</a:t>
            </a:r>
            <a:r>
              <a:rPr sz="1250" b="0">
                <a:solidFill>
                  <a:srgbClr val="2C3E56"/>
                </a:solidFill>
                <a:latin typeface="Segoe UI"/>
              </a:rPr>
              <a:t> cada segmento tiene una letra (a–g) y el 74LS47 convierte el BCD en esas siete señales.</a:t>
            </a:r>
          </a:p>
        </p:txBody>
      </p:sp>
      <p:sp>
        <p:nvSpPr>
          <p:cNvPr id="30" name="Oval 29"/>
          <p:cNvSpPr/>
          <p:nvPr/>
        </p:nvSpPr>
        <p:spPr>
          <a:xfrm>
            <a:off x="502919" y="547925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 y="5424392"/>
            <a:ext cx="6723857" cy="437959"/>
          </a:xfrm>
          <a:prstGeom prst="rect">
            <a:avLst/>
          </a:prstGeom>
          <a:noFill/>
        </p:spPr>
        <p:txBody>
          <a:bodyPr wrap="square" lIns="0" rIns="0" tIns="0" bIns="0" anchor="t">
            <a:spAutoFit/>
          </a:bodyPr>
          <a:lstStyle/>
          <a:p>
            <a:pPr algn="l">
              <a:lnSpc>
                <a:spcPct val="114000"/>
              </a:lnSpc>
            </a:pPr>
            <a:r>
              <a:rPr sz="1250" b="1">
                <a:solidFill>
                  <a:srgbClr val="2C3E56"/>
                </a:solidFill>
                <a:latin typeface="Segoe UI Semibold"/>
              </a:rPr>
              <a:t>BCD inválido:</a:t>
            </a:r>
            <a:r>
              <a:rPr sz="1250" b="0">
                <a:solidFill>
                  <a:srgbClr val="2C3E56"/>
                </a:solidFill>
                <a:latin typeface="Segoe UI"/>
              </a:rPr>
              <a:t> si un contador entrega 1010₂ a un decodificador 74LS47, la salida muestra un símbolo errático; hay que verificar el conteo.</a:t>
            </a:r>
          </a:p>
        </p:txBody>
      </p:sp>
      <p:sp>
        <p:nvSpPr>
          <p:cNvPr id="32" name="Rounded Rectangle 31"/>
          <p:cNvSpPr/>
          <p:nvPr/>
        </p:nvSpPr>
        <p:spPr>
          <a:xfrm>
            <a:off x="7693121" y="1371600"/>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693121"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76001" y="1517904"/>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BCD (8421)</a:t>
            </a:r>
          </a:p>
        </p:txBody>
      </p:sp>
      <p:sp>
        <p:nvSpPr>
          <p:cNvPr id="35" name="TextBox 34"/>
          <p:cNvSpPr txBox="1"/>
          <p:nvPr/>
        </p:nvSpPr>
        <p:spPr>
          <a:xfrm>
            <a:off x="7876001" y="1828800"/>
            <a:ext cx="3611879" cy="566927"/>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Cada dígito decimal se codifica por separado con 4 bits. Ventaja: conversión directa a displays de 7 segmentos. Desventaja: desperdicia 6 de cada 16 códigos.</a:t>
            </a:r>
          </a:p>
        </p:txBody>
      </p:sp>
      <p:sp>
        <p:nvSpPr>
          <p:cNvPr id="36" name="Rounded Rectangle 35"/>
          <p:cNvSpPr/>
          <p:nvPr/>
        </p:nvSpPr>
        <p:spPr>
          <a:xfrm>
            <a:off x="7693121" y="2624328"/>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93121" y="2734056"/>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76001" y="2770632"/>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Código Gray</a:t>
            </a:r>
          </a:p>
        </p:txBody>
      </p:sp>
      <p:sp>
        <p:nvSpPr>
          <p:cNvPr id="39" name="TextBox 38"/>
          <p:cNvSpPr txBox="1"/>
          <p:nvPr/>
        </p:nvSpPr>
        <p:spPr>
          <a:xfrm>
            <a:off x="7876001" y="3081528"/>
            <a:ext cx="3611879" cy="56692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Dos valores consecutivos difieren en un solo bit, lo que evita falsas lecturas en decodificadores rotativos y sensores de posición. Se usa en encoders y en tablas de Karnaugh.</a:t>
            </a:r>
          </a:p>
        </p:txBody>
      </p:sp>
      <p:sp>
        <p:nvSpPr>
          <p:cNvPr id="40" name="Rounded Rectangle 39"/>
          <p:cNvSpPr/>
          <p:nvPr/>
        </p:nvSpPr>
        <p:spPr>
          <a:xfrm>
            <a:off x="7693121" y="3877056"/>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93121" y="3986784"/>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76001" y="4023360"/>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ASCII</a:t>
            </a:r>
          </a:p>
        </p:txBody>
      </p:sp>
      <p:sp>
        <p:nvSpPr>
          <p:cNvPr id="43" name="TextBox 42"/>
          <p:cNvSpPr txBox="1"/>
          <p:nvPr/>
        </p:nvSpPr>
        <p:spPr>
          <a:xfrm>
            <a:off x="7876001" y="4334256"/>
            <a:ext cx="3611879" cy="566927"/>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Código de 7 bits para caracteres: '0' = 0110000, 'A' = 1000001. Es la base del texto que viaja por puertos serie y teclados.</a:t>
            </a:r>
          </a:p>
        </p:txBody>
      </p:sp>
      <p:sp>
        <p:nvSpPr>
          <p:cNvPr id="44" name="Rounded Rectangle 43"/>
          <p:cNvSpPr/>
          <p:nvPr/>
        </p:nvSpPr>
        <p:spPr>
          <a:xfrm>
            <a:off x="7693121" y="5129783"/>
            <a:ext cx="3977639" cy="1069848"/>
          </a:xfrm>
          <a:prstGeom prst="roundRect">
            <a:avLst>
              <a:gd name="adj" fmla="val 2298"/>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693121" y="5239512"/>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876001" y="5276088"/>
            <a:ext cx="3611879"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Bit de paridad</a:t>
            </a:r>
          </a:p>
        </p:txBody>
      </p:sp>
      <p:sp>
        <p:nvSpPr>
          <p:cNvPr id="47" name="TextBox 46"/>
          <p:cNvSpPr txBox="1"/>
          <p:nvPr/>
        </p:nvSpPr>
        <p:spPr>
          <a:xfrm>
            <a:off x="7876001" y="5586983"/>
            <a:ext cx="3611879" cy="566927"/>
          </a:xfrm>
          <a:prstGeom prst="rect">
            <a:avLst/>
          </a:prstGeom>
          <a:noFill/>
        </p:spPr>
        <p:txBody>
          <a:bodyPr wrap="square" lIns="0" rIns="0" tIns="0" bIns="0" anchor="t">
            <a:spAutoFit/>
          </a:bodyPr>
          <a:lstStyle/>
          <a:p>
            <a:pPr algn="l">
              <a:lnSpc>
                <a:spcPct val="110000"/>
              </a:lnSpc>
            </a:pPr>
            <a:r>
              <a:rPr sz="1100" b="0">
                <a:solidFill>
                  <a:srgbClr val="2C3E56"/>
                </a:solidFill>
                <a:latin typeface="Segoe UI"/>
              </a:rPr>
              <a:t>Bit adicional calculado con XOR que detecta un número impar de errores en la transmisión. Se genera con 7486 o 74180.</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3" dur="420"/>
                                        <p:tgtEl>
                                          <p:spTgt spid="17"/>
                                        </p:tgtEl>
                                      </p:cBhvr>
                                    </p:animEffect>
                                    <p:anim calcmode="lin" valueType="num">
                                      <p:cBhvr additive="base">
                                        <p:cTn id="25" dur="420" fill="hold"/>
                                        <p:tgtEl>
                                          <p:spTgt spid="17"/>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9"/>
                                        </p:tgtEl>
                                        <p:attrNameLst>
                                          <p:attrName>style.visibility</p:attrName>
                                        </p:attrNameLst>
                                      </p:cBhvr>
                                      <p:to>
                                        <p:strVal val="visible"/>
                                      </p:to>
                                    </p:set>
                                    <p:animEffect transition="in" filter="fade">
                                      <p:cBhvr>
                                        <p:cTn id="27" dur="420"/>
                                        <p:tgtEl>
                                          <p:spTgt spid="19"/>
                                        </p:tgtEl>
                                      </p:cBhvr>
                                    </p:animEffect>
                                    <p:anim calcmode="lin" valueType="num">
                                      <p:cBhvr additive="base">
                                        <p:cTn id="2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3" dur="420"/>
                                        <p:tgtEl>
                                          <p:spTgt spid="21"/>
                                        </p:tgtEl>
                                      </p:cBhvr>
                                    </p:animEffect>
                                    <p:anim calcmode="lin" valueType="num">
                                      <p:cBhvr additive="base">
                                        <p:cTn id="35" dur="420" fill="hold"/>
                                        <p:tgtEl>
                                          <p:spTgt spid="21"/>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23"/>
                                        </p:tgtEl>
                                        <p:attrNameLst>
                                          <p:attrName>style.visibility</p:attrName>
                                        </p:attrNameLst>
                                      </p:cBhvr>
                                      <p:to>
                                        <p:strVal val="visible"/>
                                      </p:to>
                                    </p:set>
                                    <p:animEffect transition="in" filter="fade">
                                      <p:cBhvr>
                                        <p:cTn id="37" dur="420"/>
                                        <p:tgtEl>
                                          <p:spTgt spid="23"/>
                                        </p:tgtEl>
                                      </p:cBhvr>
                                    </p:animEffect>
                                    <p:anim calcmode="lin" valueType="num">
                                      <p:cBhvr additive="base">
                                        <p:cTn id="3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3" dur="420"/>
                                        <p:tgtEl>
                                          <p:spTgt spid="25"/>
                                        </p:tgtEl>
                                      </p:cBhvr>
                                    </p:animEffect>
                                    <p:anim calcmode="lin" valueType="num">
                                      <p:cBhvr additive="base">
                                        <p:cTn id="45" dur="420" fill="hold"/>
                                        <p:tgtEl>
                                          <p:spTgt spid="25"/>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7"/>
                                        </p:tgtEl>
                                        <p:attrNameLst>
                                          <p:attrName>style.visibility</p:attrName>
                                        </p:attrNameLst>
                                      </p:cBhvr>
                                      <p:to>
                                        <p:strVal val="visible"/>
                                      </p:to>
                                    </p:set>
                                    <p:animEffect transition="in" filter="fade">
                                      <p:cBhvr>
                                        <p:cTn id="47" dur="420"/>
                                        <p:tgtEl>
                                          <p:spTgt spid="27"/>
                                        </p:tgtEl>
                                      </p:cBhvr>
                                    </p:animEffect>
                                    <p:anim calcmode="lin" valueType="num">
                                      <p:cBhvr additive="base">
                                        <p:cTn id="4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3" dur="420"/>
                                        <p:tgtEl>
                                          <p:spTgt spid="29"/>
                                        </p:tgtEl>
                                      </p:cBhvr>
                                    </p:animEffect>
                                    <p:anim calcmode="lin" valueType="num">
                                      <p:cBhvr additive="base">
                                        <p:cTn id="55" dur="420" fill="hold"/>
                                        <p:tgtEl>
                                          <p:spTgt spid="29"/>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31"/>
                                        </p:tgtEl>
                                        <p:attrNameLst>
                                          <p:attrName>style.visibility</p:attrName>
                                        </p:attrNameLst>
                                      </p:cBhvr>
                                      <p:to>
                                        <p:strVal val="visible"/>
                                      </p:to>
                                    </p:set>
                                    <p:animEffect transition="in" filter="fade">
                                      <p:cBhvr>
                                        <p:cTn id="57" dur="420"/>
                                        <p:tgtEl>
                                          <p:spTgt spid="31"/>
                                        </p:tgtEl>
                                      </p:cBhvr>
                                    </p:animEffect>
                                    <p:anim calcmode="lin" valueType="num">
                                      <p:cBhvr additive="base">
                                        <p:cTn id="59"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66" fill="hold">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3" dur="420"/>
                                        <p:tgtEl>
                                          <p:spTgt spid="32"/>
                                        </p:tgtEl>
                                      </p:cBhvr>
                                    </p:animEffect>
                                    <p:anim calcmode="lin" valueType="num">
                                      <p:cBhvr additive="base">
                                        <p:cTn id="65" dur="420" fill="hold"/>
                                        <p:tgtEl>
                                          <p:spTgt spid="32"/>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7" dur="420"/>
                                        <p:tgtEl>
                                          <p:spTgt spid="33"/>
                                        </p:tgtEl>
                                      </p:cBhvr>
                                    </p:animEffect>
                                    <p:anim calcmode="lin" valueType="num">
                                      <p:cBhvr additive="base">
                                        <p:cTn id="69" dur="420" fill="hold"/>
                                        <p:tgtEl>
                                          <p:spTgt spid="33"/>
                                        </p:tgtEl>
                                        <p:attrNameLst>
                                          <p:attrName>ppt_y</p:attrName>
                                        </p:attrNameLst>
                                      </p:cBhvr>
                                      <p:tavLst>
                                        <p:tav tm="0">
                                          <p:val>
                                            <p:strVal val="0.06"/>
                                          </p:val>
                                        </p:tav>
                                        <p:tav tm="100000">
                                          <p:val>
                                            <p:strVal val="0"/>
                                          </p:val>
                                        </p:tav>
                                      </p:tavLst>
                                    </p:anim>
                                  </p:childTnLst>
                                </p:cTn>
                              </p:par>
                              <p:par>
                                <p:cTn id="74" fill="hold">
                                  <p:stCondLst>
                                    <p:cond delay="220"/>
                                  </p:stCondLst>
                                  <p:childTnLst>
                                    <p:set>
                                      <p:cBhvr>
                                        <p:cTn id="72" dur="1" fill="hold">
                                          <p:stCondLst>
                                            <p:cond delay="0"/>
                                          </p:stCondLst>
                                        </p:cTn>
                                        <p:tgtEl>
                                          <p:spTgt spid="34"/>
                                        </p:tgtEl>
                                        <p:attrNameLst>
                                          <p:attrName>style.visibility</p:attrName>
                                        </p:attrNameLst>
                                      </p:cBhvr>
                                      <p:to>
                                        <p:strVal val="visible"/>
                                      </p:to>
                                    </p:set>
                                    <p:animEffect transition="in" filter="fade">
                                      <p:cBhvr>
                                        <p:cTn id="71" dur="420"/>
                                        <p:tgtEl>
                                          <p:spTgt spid="34"/>
                                        </p:tgtEl>
                                      </p:cBhvr>
                                    </p:animEffect>
                                    <p:anim calcmode="lin" valueType="num">
                                      <p:cBhvr additive="base">
                                        <p:cTn id="73" dur="420" fill="hold"/>
                                        <p:tgtEl>
                                          <p:spTgt spid="34"/>
                                        </p:tgtEl>
                                        <p:attrNameLst>
                                          <p:attrName>ppt_y</p:attrName>
                                        </p:attrNameLst>
                                      </p:cBhvr>
                                      <p:tavLst>
                                        <p:tav tm="0">
                                          <p:val>
                                            <p:strVal val="0.06"/>
                                          </p:val>
                                        </p:tav>
                                        <p:tav tm="100000">
                                          <p:val>
                                            <p:strVal val="0"/>
                                          </p:val>
                                        </p:tav>
                                      </p:tavLst>
                                    </p:anim>
                                  </p:childTnLst>
                                </p:cTn>
                              </p:par>
                              <p:par>
                                <p:cTn id="78" fill="hold">
                                  <p:stCondLst>
                                    <p:cond delay="3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5" dur="420"/>
                                        <p:tgtEl>
                                          <p:spTgt spid="35"/>
                                        </p:tgtEl>
                                      </p:cBhvr>
                                    </p:animEffect>
                                    <p:anim calcmode="lin" valueType="num">
                                      <p:cBhvr additive="base">
                                        <p:cTn id="77" dur="420" fill="hold"/>
                                        <p:tgtEl>
                                          <p:spTgt spid="35"/>
                                        </p:tgtEl>
                                        <p:attrNameLst>
                                          <p:attrName>ppt_y</p:attrName>
                                        </p:attrNameLst>
                                      </p:cBhvr>
                                      <p:tavLst>
                                        <p:tav tm="0">
                                          <p:val>
                                            <p:strVal val="0.06"/>
                                          </p:val>
                                        </p:tav>
                                        <p:tav tm="100000">
                                          <p:val>
                                            <p:strVal val="0"/>
                                          </p:val>
                                        </p:tav>
                                      </p:tavLst>
                                    </p:anim>
                                  </p:childTnLst>
                                </p:cTn>
                              </p:par>
                              <p:par>
                                <p:cTn id="82" fill="hold">
                                  <p:stCondLst>
                                    <p:cond delay="440"/>
                                  </p:stCondLst>
                                  <p:childTnLst>
                                    <p:set>
                                      <p:cBhvr>
                                        <p:cTn id="80" dur="1" fill="hold">
                                          <p:stCondLst>
                                            <p:cond delay="0"/>
                                          </p:stCondLst>
                                        </p:cTn>
                                        <p:tgtEl>
                                          <p:spTgt spid="36"/>
                                        </p:tgtEl>
                                        <p:attrNameLst>
                                          <p:attrName>style.visibility</p:attrName>
                                        </p:attrNameLst>
                                      </p:cBhvr>
                                      <p:to>
                                        <p:strVal val="visible"/>
                                      </p:to>
                                    </p:set>
                                    <p:animEffect transition="in" filter="fade">
                                      <p:cBhvr>
                                        <p:cTn id="79" dur="420"/>
                                        <p:tgtEl>
                                          <p:spTgt spid="36"/>
                                        </p:tgtEl>
                                      </p:cBhvr>
                                    </p:animEffect>
                                    <p:anim calcmode="lin" valueType="num">
                                      <p:cBhvr additive="base">
                                        <p:cTn id="81" dur="420" fill="hold"/>
                                        <p:tgtEl>
                                          <p:spTgt spid="36"/>
                                        </p:tgtEl>
                                        <p:attrNameLst>
                                          <p:attrName>ppt_y</p:attrName>
                                        </p:attrNameLst>
                                      </p:cBhvr>
                                      <p:tavLst>
                                        <p:tav tm="0">
                                          <p:val>
                                            <p:strVal val="0.06"/>
                                          </p:val>
                                        </p:tav>
                                        <p:tav tm="100000">
                                          <p:val>
                                            <p:strVal val="0"/>
                                          </p:val>
                                        </p:tav>
                                      </p:tavLst>
                                    </p:anim>
                                  </p:childTnLst>
                                </p:cTn>
                              </p:par>
                              <p:par>
                                <p:cTn id="86" fill="hold">
                                  <p:stCondLst>
                                    <p:cond delay="55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childTnLst>
                          </p:cTn>
                        </p:par>
                      </p:childTnLst>
                    </p:cTn>
                  </p:par>
                  <p:par>
                    <p:cTn id="129" fill="hold">
                      <p:stCondLst>
                        <p:cond delay="indefinite"/>
                      </p:stCondLst>
                      <p:childTnLst>
                        <p:par>
                          <p:cTn id="130" fill="hold">
                            <p:stCondLst>
                              <p:cond delay="0"/>
                            </p:stCondLst>
                            <p:childTnLst>
                              <p:par>
                                <p:cTn id="92" fill="hold">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89" dur="420"/>
                                        <p:tgtEl>
                                          <p:spTgt spid="38"/>
                                        </p:tgtEl>
                                      </p:cBhvr>
                                    </p:animEffect>
                                    <p:anim calcmode="lin" valueType="num">
                                      <p:cBhvr additive="base">
                                        <p:cTn id="91" dur="420" fill="hold"/>
                                        <p:tgtEl>
                                          <p:spTgt spid="38"/>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9"/>
                                        </p:tgtEl>
                                        <p:attrNameLst>
                                          <p:attrName>style.visibility</p:attrName>
                                        </p:attrNameLst>
                                      </p:cBhvr>
                                      <p:to>
                                        <p:strVal val="visible"/>
                                      </p:to>
                                    </p:set>
                                    <p:animEffect transition="in" filter="fade">
                                      <p:cBhvr>
                                        <p:cTn id="93" dur="420"/>
                                        <p:tgtEl>
                                          <p:spTgt spid="39"/>
                                        </p:tgtEl>
                                      </p:cBhvr>
                                    </p:animEffect>
                                    <p:anim calcmode="lin" valueType="num">
                                      <p:cBhvr additive="base">
                                        <p:cTn id="95" dur="420" fill="hold"/>
                                        <p:tgtEl>
                                          <p:spTgt spid="39"/>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40"/>
                                        </p:tgtEl>
                                        <p:attrNameLst>
                                          <p:attrName>style.visibility</p:attrName>
                                        </p:attrNameLst>
                                      </p:cBhvr>
                                      <p:to>
                                        <p:strVal val="visible"/>
                                      </p:to>
                                    </p:set>
                                    <p:animEffect transition="in" filter="fade">
                                      <p:cBhvr>
                                        <p:cTn id="97" dur="420"/>
                                        <p:tgtEl>
                                          <p:spTgt spid="40"/>
                                        </p:tgtEl>
                                      </p:cBhvr>
                                    </p:animEffect>
                                    <p:anim calcmode="lin" valueType="num">
                                      <p:cBhvr additive="base">
                                        <p:cTn id="99" dur="420" fill="hold"/>
                                        <p:tgtEl>
                                          <p:spTgt spid="40"/>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1" dur="420"/>
                                        <p:tgtEl>
                                          <p:spTgt spid="41"/>
                                        </p:tgtEl>
                                      </p:cBhvr>
                                    </p:animEffect>
                                    <p:anim calcmode="lin" valueType="num">
                                      <p:cBhvr additive="base">
                                        <p:cTn id="103" dur="420" fill="hold"/>
                                        <p:tgtEl>
                                          <p:spTgt spid="41"/>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5" dur="420"/>
                                        <p:tgtEl>
                                          <p:spTgt spid="42"/>
                                        </p:tgtEl>
                                      </p:cBhvr>
                                    </p:animEffect>
                                    <p:anim calcmode="lin" valueType="num">
                                      <p:cBhvr additive="base">
                                        <p:cTn id="107" dur="420" fill="hold"/>
                                        <p:tgtEl>
                                          <p:spTgt spid="42"/>
                                        </p:tgtEl>
                                        <p:attrNameLst>
                                          <p:attrName>ppt_y</p:attrName>
                                        </p:attrNameLst>
                                      </p:cBhvr>
                                      <p:tavLst>
                                        <p:tav tm="0">
                                          <p:val>
                                            <p:strVal val="0.06"/>
                                          </p:val>
                                        </p:tav>
                                        <p:tav tm="100000">
                                          <p:val>
                                            <p:strVal val="0"/>
                                          </p:val>
                                        </p:tav>
                                      </p:tavLst>
                                    </p:anim>
                                  </p:childTnLst>
                                </p:cTn>
                              </p:par>
                              <p:par>
                                <p:cTn id="112" fill="hold">
                                  <p:stCondLst>
                                    <p:cond delay="55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09" dur="420"/>
                                        <p:tgtEl>
                                          <p:spTgt spid="43"/>
                                        </p:tgtEl>
                                      </p:cBhvr>
                                    </p:animEffect>
                                    <p:anim calcmode="lin" valueType="num">
                                      <p:cBhvr additive="base">
                                        <p:cTn id="111" dur="420" fill="hold"/>
                                        <p:tgtEl>
                                          <p:spTgt spid="43"/>
                                        </p:tgtEl>
                                        <p:attrNameLst>
                                          <p:attrName>ppt_y</p:attrName>
                                        </p:attrNameLst>
                                      </p:cBhvr>
                                      <p:tavLst>
                                        <p:tav tm="0">
                                          <p:val>
                                            <p:strVal val="0.06"/>
                                          </p:val>
                                        </p:tav>
                                        <p:tav tm="100000">
                                          <p:val>
                                            <p:strVal val="0"/>
                                          </p:val>
                                        </p:tav>
                                      </p:tavLst>
                                    </p:anim>
                                  </p:childTnLst>
                                </p:cTn>
                              </p:par>
                              <p:par>
                                <p:cTn id="116" fill="hold">
                                  <p:stCondLst>
                                    <p:cond delay="66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3" dur="420"/>
                                        <p:tgtEl>
                                          <p:spTgt spid="44"/>
                                        </p:tgtEl>
                                      </p:cBhvr>
                                    </p:animEffect>
                                    <p:anim calcmode="lin" valueType="num">
                                      <p:cBhvr additive="base">
                                        <p:cTn id="115" dur="420" fill="hold"/>
                                        <p:tgtEl>
                                          <p:spTgt spid="44"/>
                                        </p:tgtEl>
                                        <p:attrNameLst>
                                          <p:attrName>ppt_y</p:attrName>
                                        </p:attrNameLst>
                                      </p:cBhvr>
                                      <p:tavLst>
                                        <p:tav tm="0">
                                          <p:val>
                                            <p:strVal val="0.06"/>
                                          </p:val>
                                        </p:tav>
                                        <p:tav tm="100000">
                                          <p:val>
                                            <p:strVal val="0"/>
                                          </p:val>
                                        </p:tav>
                                      </p:tavLst>
                                    </p:anim>
                                  </p:childTnLst>
                                </p:cTn>
                              </p:par>
                              <p:par>
                                <p:cTn id="120" fill="hold">
                                  <p:stCondLst>
                                    <p:cond delay="77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7" dur="420"/>
                                        <p:tgtEl>
                                          <p:spTgt spid="45"/>
                                        </p:tgtEl>
                                      </p:cBhvr>
                                    </p:animEffect>
                                    <p:anim calcmode="lin" valueType="num">
                                      <p:cBhvr additive="base">
                                        <p:cTn id="119" dur="420" fill="hold"/>
                                        <p:tgtEl>
                                          <p:spTgt spid="45"/>
                                        </p:tgtEl>
                                        <p:attrNameLst>
                                          <p:attrName>ppt_y</p:attrName>
                                        </p:attrNameLst>
                                      </p:cBhvr>
                                      <p:tavLst>
                                        <p:tav tm="0">
                                          <p:val>
                                            <p:strVal val="0.06"/>
                                          </p:val>
                                        </p:tav>
                                        <p:tav tm="100000">
                                          <p:val>
                                            <p:strVal val="0"/>
                                          </p:val>
                                        </p:tav>
                                      </p:tavLst>
                                    </p:anim>
                                  </p:childTnLst>
                                </p:cTn>
                              </p:par>
                              <p:par>
                                <p:cTn id="124" fill="hold">
                                  <p:stCondLst>
                                    <p:cond delay="88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anim calcmode="lin" valueType="num">
                                      <p:cBhvr additive="base">
                                        <p:cTn id="123" dur="420" fill="hold"/>
                                        <p:tgtEl>
                                          <p:spTgt spid="46"/>
                                        </p:tgtEl>
                                        <p:attrNameLst>
                                          <p:attrName>ppt_y</p:attrName>
                                        </p:attrNameLst>
                                      </p:cBhvr>
                                      <p:tavLst>
                                        <p:tav tm="0">
                                          <p:val>
                                            <p:strVal val="0.06"/>
                                          </p:val>
                                        </p:tav>
                                        <p:tav tm="100000">
                                          <p:val>
                                            <p:strVal val="0"/>
                                          </p:val>
                                        </p:tav>
                                      </p:tavLst>
                                    </p:anim>
                                  </p:childTnLst>
                                </p:cTn>
                              </p:par>
                              <p:par>
                                <p:cTn id="128" fill="hold">
                                  <p:stCondLst>
                                    <p:cond delay="99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5" dur="420"/>
                                        <p:tgtEl>
                                          <p:spTgt spid="47"/>
                                        </p:tgtEl>
                                      </p:cBhvr>
                                    </p:animEffect>
                                    <p:anim calcmode="lin" valueType="num">
                                      <p:cBhvr additive="base">
                                        <p:cTn id="127" dur="420" fill="hold"/>
                                        <p:tgtEl>
                                          <p:spTgt spid="47"/>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650" b="1">
                <a:solidFill>
                  <a:srgbClr val="0D1A2B"/>
                </a:solidFill>
                <a:latin typeface="Segoe UI Semibold"/>
              </a:rPr>
              <a:t>Niveles lógicos y márgenes de ruido del estándar TTL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Los fabricantes garantizan un nivel, no un valor exacto: de ahí nace el margen de ruido.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11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121697"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oise_margin.png"/>
          <p:cNvPicPr>
            <a:picLocks noChangeAspect="1"/>
          </p:cNvPicPr>
          <p:nvPr/>
        </p:nvPicPr>
        <p:blipFill>
          <a:blip r:embed="rId2"/>
          <a:srcRect l="5208" r="5208"/>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Bandas garantizadas de tensión para la familia TTL con alimentación de 5 V: VOL máx 0.4 V, VOH mín 2.4 V, VIL máx 0.8 V y VIH mín 2.0 V.</a:t>
            </a:r>
          </a:p>
        </p:txBody>
      </p:sp>
      <p:sp>
        <p:nvSpPr>
          <p:cNvPr id="19" name="Oval 18"/>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VIL (Voltage Input Low):</a:t>
            </a:r>
            <a:r>
              <a:rPr sz="925" b="0">
                <a:solidFill>
                  <a:srgbClr val="2C3E56"/>
                </a:solidFill>
                <a:latin typeface="Segoe UI"/>
              </a:rPr>
              <a:t> máxima tensión que el integrado reconoce como '0'. En TTL: 0.8 V. Todo valor por debajo es un '0' garantizado.</a:t>
            </a:r>
          </a:p>
        </p:txBody>
      </p:sp>
      <p:sp>
        <p:nvSpPr>
          <p:cNvPr id="21" name="Oval 20"/>
          <p:cNvSpPr/>
          <p:nvPr/>
        </p:nvSpPr>
        <p:spPr>
          <a:xfrm>
            <a:off x="7793705" y="192908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874219"/>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VIH (Voltage Input High):</a:t>
            </a:r>
            <a:r>
              <a:rPr sz="925" b="0">
                <a:solidFill>
                  <a:srgbClr val="2C3E56"/>
                </a:solidFill>
                <a:latin typeface="Segoe UI"/>
              </a:rPr>
              <a:t> mínima tensión que el integrado reconoce como '1'. En TTL: 2.0 V. Todo valor por encima es un '1' garantizado.</a:t>
            </a:r>
          </a:p>
        </p:txBody>
      </p:sp>
      <p:sp>
        <p:nvSpPr>
          <p:cNvPr id="23" name="Oval 22"/>
          <p:cNvSpPr/>
          <p:nvPr/>
        </p:nvSpPr>
        <p:spPr>
          <a:xfrm>
            <a:off x="7793705" y="24317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76839"/>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VOL (Voltage Output Low):</a:t>
            </a:r>
            <a:r>
              <a:rPr sz="925" b="0">
                <a:solidFill>
                  <a:srgbClr val="2C3E56"/>
                </a:solidFill>
                <a:latin typeface="Segoe UI"/>
              </a:rPr>
              <a:t> máxima tensión que el chip entrega como '0' cuando la salida está cargada: 0.4 V.</a:t>
            </a:r>
          </a:p>
        </p:txBody>
      </p:sp>
      <p:sp>
        <p:nvSpPr>
          <p:cNvPr id="25" name="Oval 24"/>
          <p:cNvSpPr/>
          <p:nvPr/>
        </p:nvSpPr>
        <p:spPr>
          <a:xfrm>
            <a:off x="7793705" y="2785071"/>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730207"/>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VOH (Voltage Output High):</a:t>
            </a:r>
            <a:r>
              <a:rPr sz="925" b="0">
                <a:solidFill>
                  <a:srgbClr val="2C3E56"/>
                </a:solidFill>
                <a:latin typeface="Segoe UI"/>
              </a:rPr>
              <a:t> mínima tensión que entrega como '1' con carga nominal: 2.4 V (típicamente 3.4 V en vacío).</a:t>
            </a:r>
          </a:p>
        </p:txBody>
      </p:sp>
      <p:sp>
        <p:nvSpPr>
          <p:cNvPr id="27" name="Oval 26"/>
          <p:cNvSpPr/>
          <p:nvPr/>
        </p:nvSpPr>
        <p:spPr>
          <a:xfrm>
            <a:off x="7793705" y="31384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083575"/>
            <a:ext cx="3712463" cy="298503"/>
          </a:xfrm>
          <a:prstGeom prst="rect">
            <a:avLst/>
          </a:prstGeom>
          <a:noFill/>
        </p:spPr>
        <p:txBody>
          <a:bodyPr wrap="square" lIns="0" rIns="0" tIns="0" bIns="0" anchor="t">
            <a:spAutoFit/>
          </a:bodyPr>
          <a:lstStyle/>
          <a:p>
            <a:pPr algn="l">
              <a:lnSpc>
                <a:spcPct val="105000"/>
              </a:lnSpc>
            </a:pPr>
            <a:r>
              <a:rPr sz="825" b="1">
                <a:solidFill>
                  <a:srgbClr val="2C3E56"/>
                </a:solidFill>
                <a:latin typeface="Segoe UI Semibold"/>
              </a:rPr>
              <a:t>Margen de ruido a nivel bajo:</a:t>
            </a:r>
            <a:r>
              <a:rPr sz="825" b="0">
                <a:solidFill>
                  <a:srgbClr val="2C3E56"/>
                </a:solidFill>
                <a:latin typeface="Segoe UI"/>
              </a:rPr>
              <a:t> NM(0) = VIL – VOL = 0.8 – 0.4 = 0.4 V. El circuito tolera hasta 400 mV de interferencia sobre un '0'.</a:t>
            </a:r>
          </a:p>
        </p:txBody>
      </p:sp>
      <p:sp>
        <p:nvSpPr>
          <p:cNvPr id="29" name="Oval 28"/>
          <p:cNvSpPr/>
          <p:nvPr/>
        </p:nvSpPr>
        <p:spPr>
          <a:xfrm>
            <a:off x="7793705" y="3491807"/>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436943"/>
            <a:ext cx="3712463" cy="298503"/>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Margen de ruido a nivel alto:</a:t>
            </a:r>
            <a:r>
              <a:rPr sz="925" b="0">
                <a:solidFill>
                  <a:srgbClr val="2C3E56"/>
                </a:solidFill>
                <a:latin typeface="Segoe UI"/>
              </a:rPr>
              <a:t> NM(1) = VOH – VIH = 2.4 – 2.0 = 0.4 V. Igual tolerancia a la interferencia sobre un '1'.</a:t>
            </a:r>
          </a:p>
        </p:txBody>
      </p:sp>
      <p:sp>
        <p:nvSpPr>
          <p:cNvPr id="31" name="Oval 30"/>
          <p:cNvSpPr/>
          <p:nvPr/>
        </p:nvSpPr>
        <p:spPr>
          <a:xfrm>
            <a:off x="7793705" y="384517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379031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Zona indeterminada (0.8 V – 2.0 V):</a:t>
            </a:r>
            <a:r>
              <a:rPr sz="925" b="0">
                <a:solidFill>
                  <a:srgbClr val="2C3E56"/>
                </a:solidFill>
                <a:latin typeface="Segoe UI"/>
              </a:rPr>
              <a:t> el chip puede leer cualquiera de los dos valores, y si la señal oscila produce corrientes internas, calentamiento y consumo excesivo.</a:t>
            </a:r>
          </a:p>
        </p:txBody>
      </p:sp>
      <p:sp>
        <p:nvSpPr>
          <p:cNvPr id="33" name="Oval 32"/>
          <p:cNvSpPr/>
          <p:nvPr/>
        </p:nvSpPr>
        <p:spPr>
          <a:xfrm>
            <a:off x="7793705" y="434779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292931"/>
            <a:ext cx="3712463" cy="447755"/>
          </a:xfrm>
          <a:prstGeom prst="rect">
            <a:avLst/>
          </a:prstGeom>
          <a:noFill/>
        </p:spPr>
        <p:txBody>
          <a:bodyPr wrap="square" lIns="0" rIns="0" tIns="0" bIns="0" anchor="t">
            <a:spAutoFit/>
          </a:bodyPr>
          <a:lstStyle/>
          <a:p>
            <a:pPr algn="l">
              <a:lnSpc>
                <a:spcPct val="105000"/>
              </a:lnSpc>
            </a:pPr>
            <a:r>
              <a:rPr sz="925" b="1">
                <a:solidFill>
                  <a:srgbClr val="2C3E56"/>
                </a:solidFill>
                <a:latin typeface="Segoe UI Semibold"/>
              </a:rPr>
              <a:t>Entradas flotantes:</a:t>
            </a:r>
            <a:r>
              <a:rPr sz="925" b="0">
                <a:solidFill>
                  <a:srgbClr val="2C3E56"/>
                </a:solidFill>
                <a:latin typeface="Segoe UI"/>
              </a:rPr>
              <a:t> un pin TTL al aire se comporta como '1' por la estructura interna; en CMOS provoca oscilación y debe conectarse siempre a VCC o GND.</a:t>
            </a:r>
          </a:p>
        </p:txBody>
      </p:sp>
      <p:sp>
        <p:nvSpPr>
          <p:cNvPr id="35" name="Rounded Rectangle 34"/>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Verificación práctica: con el multímetro digital sobre un pin de salida, un '0' real debe medir por debajo de 0.4 V y un '1' por encima de 2.7 V. Valores intermedios indican carga excesiva, pin flotante o chip dañado.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Inmunidad al ruido y calidad de la señal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Por qué el mismo dato puede leerse bien o mal según el montaje físico.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12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496397"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1</a:t>
            </a:r>
          </a:p>
        </p:txBody>
      </p:sp>
      <p:sp>
        <p:nvSpPr>
          <p:cNvPr id="19" name="TextBox 18"/>
          <p:cNvSpPr txBox="1"/>
          <p:nvPr/>
        </p:nvSpPr>
        <p:spPr>
          <a:xfrm>
            <a:off x="65836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Fuentes de ruido</a:t>
            </a:r>
          </a:p>
        </p:txBody>
      </p:sp>
      <p:sp>
        <p:nvSpPr>
          <p:cNvPr id="20" name="TextBox 19"/>
          <p:cNvSpPr txBox="1"/>
          <p:nvPr/>
        </p:nvSpPr>
        <p:spPr>
          <a:xfrm>
            <a:off x="65836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Conmutación de cargas inductivas, cables largos que captan campos, rebotes mecánicos del interruptor, rizado de la fuente y acoplamiento entre pistas paralelas del protoboard.</a:t>
            </a:r>
          </a:p>
        </p:txBody>
      </p:sp>
      <p:sp>
        <p:nvSpPr>
          <p:cNvPr id="21" name="Rounded Rectangle 20"/>
          <p:cNvSpPr/>
          <p:nvPr/>
        </p:nvSpPr>
        <p:spPr>
          <a:xfrm>
            <a:off x="6196568" y="1371600"/>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96568"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872"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2</a:t>
            </a:r>
          </a:p>
        </p:txBody>
      </p:sp>
      <p:sp>
        <p:nvSpPr>
          <p:cNvPr id="24" name="TextBox 23"/>
          <p:cNvSpPr txBox="1"/>
          <p:nvPr/>
        </p:nvSpPr>
        <p:spPr>
          <a:xfrm>
            <a:off x="6379448" y="1517904"/>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Cómo se combate</a:t>
            </a:r>
          </a:p>
        </p:txBody>
      </p:sp>
      <p:sp>
        <p:nvSpPr>
          <p:cNvPr id="25" name="TextBox 24"/>
          <p:cNvSpPr txBox="1"/>
          <p:nvPr/>
        </p:nvSpPr>
        <p:spPr>
          <a:xfrm>
            <a:off x="6379448" y="1828800"/>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Capacitor de desacople de 100 nF junto a cada chip, cables cortos, planos de masa, resistencia pull-up en entradas lentas y separación entre señales de reloj y datos.</a:t>
            </a:r>
          </a:p>
        </p:txBody>
      </p:sp>
      <p:sp>
        <p:nvSpPr>
          <p:cNvPr id="26" name="Rounded Rectangle 25"/>
          <p:cNvSpPr/>
          <p:nvPr/>
        </p:nvSpPr>
        <p:spPr>
          <a:xfrm>
            <a:off x="47548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75488" y="3488436"/>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3</a:t>
            </a:r>
          </a:p>
        </p:txBody>
      </p:sp>
      <p:sp>
        <p:nvSpPr>
          <p:cNvPr id="29" name="TextBox 28"/>
          <p:cNvSpPr txBox="1"/>
          <p:nvPr/>
        </p:nvSpPr>
        <p:spPr>
          <a:xfrm>
            <a:off x="65836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Rebote de interruptor</a:t>
            </a:r>
          </a:p>
        </p:txBody>
      </p:sp>
      <p:sp>
        <p:nvSpPr>
          <p:cNvPr id="30" name="TextBox 29"/>
          <p:cNvSpPr txBox="1"/>
          <p:nvPr/>
        </p:nvSpPr>
        <p:spPr>
          <a:xfrm>
            <a:off x="65836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Un pulsador mecánico genera decenas de pulsos en pocos milisegundos. Se elimina con un latch SR (7400), un filtro RC o un circuito antirrebote con 74LS14 (Schmitt trigger).</a:t>
            </a:r>
          </a:p>
        </p:txBody>
      </p:sp>
      <p:sp>
        <p:nvSpPr>
          <p:cNvPr id="31" name="Rounded Rectangle 30"/>
          <p:cNvSpPr/>
          <p:nvPr/>
        </p:nvSpPr>
        <p:spPr>
          <a:xfrm>
            <a:off x="6196568" y="3378708"/>
            <a:ext cx="5519912" cy="1805939"/>
          </a:xfrm>
          <a:prstGeom prst="roundRect">
            <a:avLst>
              <a:gd name="adj" fmla="val 165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19656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4287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4</a:t>
            </a:r>
          </a:p>
        </p:txBody>
      </p:sp>
      <p:sp>
        <p:nvSpPr>
          <p:cNvPr id="34" name="TextBox 33"/>
          <p:cNvSpPr txBox="1"/>
          <p:nvPr/>
        </p:nvSpPr>
        <p:spPr>
          <a:xfrm>
            <a:off x="6379448" y="3525012"/>
            <a:ext cx="5154152"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Capacidad de entrada</a:t>
            </a:r>
          </a:p>
        </p:txBody>
      </p:sp>
      <p:sp>
        <p:nvSpPr>
          <p:cNvPr id="35" name="TextBox 34"/>
          <p:cNvSpPr txBox="1"/>
          <p:nvPr/>
        </p:nvSpPr>
        <p:spPr>
          <a:xfrm>
            <a:off x="6379448" y="3835908"/>
            <a:ext cx="5154152"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Cada entrada TTL presenta unos pocos picofaradios; en cargas grandes la suma de capacidades redondea los flancos y aumenta el tiempo de conmutación real.</a:t>
            </a:r>
          </a:p>
        </p:txBody>
      </p:sp>
      <p:sp>
        <p:nvSpPr>
          <p:cNvPr id="36" name="Rounded Rectangle 3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39" name="TextBox 3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Cuando una salida debe atacar muchas entradas, el nivel '1' se degrada más que el '0' porque TTL entrega muy poca corriente en alto (IOH ≈ 0.4 mA). Es la razón técnica por la que existe el fan-out.</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14" fill="hold">
                      <p:stCondLst>
                        <p:cond delay="indefinite"/>
                      </p:stCondLst>
                      <p:childTnLst>
                        <p:par>
                          <p:cTn id="115" fill="hold">
                            <p:stCondLst>
                              <p:cond delay="0"/>
                            </p:stCondLst>
                            <p:childTnLst>
                              <p:par>
                                <p:cTn id="113"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childTnLst>
                                </p:cTn>
                              </p:par>
                            </p:childTnLst>
                          </p:cTn>
                        </p:par>
                      </p:childTnLst>
                    </p:cTn>
                  </p:par>
                  <p:par>
                    <p:cTn id="125" fill="hold">
                      <p:stCondLst>
                        <p:cond delay="indefinite"/>
                      </p:stCondLst>
                      <p:childTnLst>
                        <p:par>
                          <p:cTn id="126" fill="hold">
                            <p:stCondLst>
                              <p:cond delay="0"/>
                            </p:stCondLst>
                            <p:childTnLst>
                              <p:par>
                                <p:cTn id="118" fill="hold">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6" dur="420"/>
                                        <p:tgtEl>
                                          <p:spTgt spid="37"/>
                                        </p:tgtEl>
                                      </p:cBhvr>
                                    </p:animEffect>
                                  </p:childTnLst>
                                </p:cTn>
                              </p:par>
                              <p:par>
                                <p:cTn id="121" fill="hold">
                                  <p:stCondLst>
                                    <p:cond delay="11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childTnLst>
                                </p:cTn>
                              </p:par>
                              <p:par>
                                <p:cTn id="124" fill="hold">
                                  <p:stCondLst>
                                    <p:cond delay="22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2" dur="42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AND (Chip 7408)</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coincidencia total: solo se activa cuando todas sus entradas lo están.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13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4871097"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0E7C94"/>
                </a:solidFill>
                <a:latin typeface="Consolas"/>
              </a:rPr>
              <a:t>74LS08 / 7408</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Positive-AND Gate</a:t>
            </a:r>
          </a:p>
        </p:txBody>
      </p:sp>
      <p:sp>
        <p:nvSpPr>
          <p:cNvPr id="20" name="Oval 19"/>
          <p:cNvSpPr/>
          <p:nvPr/>
        </p:nvSpPr>
        <p:spPr>
          <a:xfrm>
            <a:off x="3959352" y="224942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AND independientes en un DIP-14</a:t>
            </a:r>
          </a:p>
        </p:txBody>
      </p:sp>
      <p:sp>
        <p:nvSpPr>
          <p:cNvPr id="22" name="Oval 21"/>
          <p:cNvSpPr/>
          <p:nvPr/>
        </p:nvSpPr>
        <p:spPr>
          <a:xfrm>
            <a:off x="3959352" y="256526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solo si TODAS las entradas = 1</a:t>
            </a:r>
          </a:p>
        </p:txBody>
      </p:sp>
      <p:sp>
        <p:nvSpPr>
          <p:cNvPr id="24" name="Oval 23"/>
          <p:cNvSpPr/>
          <p:nvPr/>
        </p:nvSpPr>
        <p:spPr>
          <a:xfrm>
            <a:off x="3959352" y="28811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tPD típico 8 ns (74LS) · 10 ns (7400)</a:t>
            </a:r>
          </a:p>
        </p:txBody>
      </p:sp>
      <p:sp>
        <p:nvSpPr>
          <p:cNvPr id="26" name="Oval 25"/>
          <p:cNvSpPr/>
          <p:nvPr/>
        </p:nvSpPr>
        <p:spPr>
          <a:xfrm>
            <a:off x="3959352" y="319694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Aplicación clásica: habilitación de señal</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0E7C9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0E7C94"/>
                </a:solidFill>
                <a:latin typeface="Consolas"/>
              </a:rPr>
              <a:t>Y = A · B   (se lee: A y 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0E7C94"/>
                </a:solidFill>
                <a:latin typeface="Consolas"/>
              </a:rPr>
              <a:t>TABLA DE VERDAD · 7408</a:t>
            </a:r>
          </a:p>
        </p:txBody>
      </p:sp>
      <p:sp>
        <p:nvSpPr>
          <p:cNvPr id="32" name="Rectangle 31"/>
          <p:cNvSpPr/>
          <p:nvPr/>
        </p:nvSpPr>
        <p:spPr>
          <a:xfrm>
            <a:off x="6428232" y="1792224"/>
            <a:ext cx="5129784" cy="292608"/>
          </a:xfrm>
          <a:prstGeom prst="rect">
            <a:avLst/>
          </a:prstGeom>
          <a:solidFill>
            <a:srgbClr val="0E7C94">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La salida permanece en '0' mientras cualquier entrada esté en '0'. Solo la combinación A = 1 con B = 1 eleva la salida a '1'. En la práctica funciona como una compuerta de habilitación: la señal presente en B solo pasa si la entrada de control A está en alto. Equivale a multiplicar bits y a la intersección de condiciones: 'si llueve Y hace frío, enciende la calefacción'.</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Sistemas de seguridad con doble confirmación, habilitadores de reloj (gating), máscaras de bits, inicio de un medio sumador (acarreo), validación de contraseñas y condiciones lógicas múltiples en automatización.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Hoja de pines del 7408 y variantes de AND</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Mapa de pines, descripción funcional y datos de la hoja de datos del Quad AND de 2 entradas.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14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245796"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8.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El 7408 contiene cuatro compuertas AND de dos entradas en un encapsulado DIP-14. Los pines 7 y 14 son siempre GND y VCC en los integrados TTL de 14 pines; las cuatro compuertas se distribuyen simétricamente a ambos lados del cuerpo.</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Nota: la salida 3Y sale en el pin 8 y 4Y en el 11, patrón invertido respecto a las salidas 1Y y 2Y.</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2.7 V (a 0.4 mA) · VOL máx 0.5 V (a 8 mA) · IOH −0.8 mA · IOL 8 mA · tPLH/tPHL 8/12 ns (74LS08) · consumo 11 mW por compuerta · temperatura 0–70 °C.</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Equivalentes en otras subfamilias con el MISMO pinout: 74LS08, 74ALS08, 74F08, 74HC08, 74HCT08. El chip cuádruple puede sustituirse directamente sin rediseñar el circuito; solo cambian velocidad y consumo.</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AND en operación: tiempos y montaje</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ve el comportamiento de la compuerta AND en el osciloscopio y en la placa.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15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620496"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and.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7408: la salida Y solo sube cuando A y B están simultáneamente en alto; se aprecia el retardo de propagación tPD.</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6.png"/>
          <p:cNvPicPr>
            <a:picLocks noChangeAspect="1"/>
          </p:cNvPicPr>
          <p:nvPr/>
        </p:nvPicPr>
        <p:blipFill>
          <a:blip r:embed="rId3"/>
          <a:stretch>
            <a:fillRect/>
          </a:stretch>
        </p:blipFill>
        <p:spPr>
          <a:xfrm>
            <a:off x="4139168" y="2057119"/>
            <a:ext cx="3307064" cy="2249985"/>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Encapsulados DIP reales de la familia HCMOS (74HC), la variante CMOS compatible con TTL que hereda la pinout de la serie 74XX.</a:t>
            </a:r>
          </a:p>
        </p:txBody>
      </p:sp>
      <p:sp>
        <p:nvSpPr>
          <p:cNvPr id="22" name="Oval 21"/>
          <p:cNvSpPr/>
          <p:nvPr/>
        </p:nvSpPr>
        <p:spPr>
          <a:xfrm>
            <a:off x="7793705" y="142646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00" b="1">
                <a:solidFill>
                  <a:srgbClr val="2C3E56"/>
                </a:solidFill>
                <a:latin typeface="Segoe UI Semibold"/>
              </a:rPr>
              <a:t>Diagrama de tiempos:</a:t>
            </a:r>
            <a:r>
              <a:rPr sz="1000" b="0">
                <a:solidFill>
                  <a:srgbClr val="2C3E56"/>
                </a:solidFill>
                <a:latin typeface="Segoe UI"/>
              </a:rPr>
              <a:t> A conmuta primero y B después; Y refleja la operación lógica con el retardo tPD.</a:t>
            </a:r>
          </a:p>
        </p:txBody>
      </p:sp>
      <p:sp>
        <p:nvSpPr>
          <p:cNvPr id="24" name="Oval 23"/>
          <p:cNvSpPr/>
          <p:nvPr/>
        </p:nvSpPr>
        <p:spPr>
          <a:xfrm>
            <a:off x="7793705" y="184813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tPLH y tPHL:</a:t>
            </a:r>
            <a:r>
              <a:rPr sz="1050" b="0">
                <a:solidFill>
                  <a:srgbClr val="2C3E56"/>
                </a:solidFill>
                <a:latin typeface="Segoe UI"/>
              </a:rPr>
              <a:t> subida y bajada tienen tiempos ligeramente distintos; en 74LS08 rondan 8 ns y 12 ns.</a:t>
            </a:r>
          </a:p>
        </p:txBody>
      </p:sp>
      <p:sp>
        <p:nvSpPr>
          <p:cNvPr id="26" name="Oval 25"/>
          <p:cNvSpPr/>
          <p:nvPr/>
        </p:nvSpPr>
        <p:spPr>
          <a:xfrm>
            <a:off x="7793705" y="226981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Glitch:</a:t>
            </a:r>
            <a:r>
              <a:rPr sz="1050" b="0">
                <a:solidFill>
                  <a:srgbClr val="2C3E56"/>
                </a:solidFill>
                <a:latin typeface="Segoe UI"/>
              </a:rPr>
              <a:t> si las entradas cambian con diferencia de nanosegundos, la salida puede mostrar un pulso breve no deseado (riesgo o hazard).</a:t>
            </a:r>
          </a:p>
        </p:txBody>
      </p:sp>
      <p:sp>
        <p:nvSpPr>
          <p:cNvPr id="28" name="Oval 27"/>
          <p:cNvSpPr/>
          <p:nvPr/>
        </p:nvSpPr>
        <p:spPr>
          <a:xfrm>
            <a:off x="7793705" y="286575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Montaje:</a:t>
            </a:r>
            <a:r>
              <a:rPr sz="1050" b="0">
                <a:solidFill>
                  <a:srgbClr val="2C3E56"/>
                </a:solidFill>
                <a:latin typeface="Segoe UI"/>
              </a:rPr>
              <a:t> alimentar VCC = 5 V y GND; nunca dejar un pin de entrada al aire.</a:t>
            </a:r>
          </a:p>
        </p:txBody>
      </p:sp>
      <p:sp>
        <p:nvSpPr>
          <p:cNvPr id="30" name="Oval 29"/>
          <p:cNvSpPr/>
          <p:nvPr/>
        </p:nvSpPr>
        <p:spPr>
          <a:xfrm>
            <a:off x="7793705" y="328742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Medición:</a:t>
            </a:r>
            <a:r>
              <a:rPr sz="1050" b="0">
                <a:solidFill>
                  <a:srgbClr val="2C3E56"/>
                </a:solidFill>
                <a:latin typeface="Segoe UI"/>
              </a:rPr>
              <a:t> con LED + resistencia de 330 Ω en la salida se observa el estado lógico sin osciloscopio.</a:t>
            </a:r>
          </a:p>
        </p:txBody>
      </p:sp>
      <p:sp>
        <p:nvSpPr>
          <p:cNvPr id="32" name="Oval 31"/>
          <p:cNvSpPr/>
          <p:nvPr/>
        </p:nvSpPr>
        <p:spPr>
          <a:xfrm>
            <a:off x="7793705" y="3709103"/>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654239"/>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aplicar las cuatro combinaciones de la tabla de verdad y comprobar que solo 1-1 produce salida alta.</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Un error frecuente en el laboratorio es confundir el orden de pines: verificar siempre la muesca (pin 1 a su izquierda) y la orientación del chip antes de interpretar cualquier medición.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Lógica positiva y lógica negativa</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mismo chip cambia de significado según cómo se defina el nivel activo.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16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5995196"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75488"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1371600"/>
            <a:ext cx="5181584" cy="402336"/>
          </a:xfrm>
          <a:prstGeom prst="rect">
            <a:avLst/>
          </a:prstGeom>
          <a:noFill/>
        </p:spPr>
        <p:txBody>
          <a:bodyPr wrap="square" lIns="0" rIns="0" tIns="0" bIns="0" anchor="ctr">
            <a:spAutoFit/>
          </a:bodyPr>
          <a:lstStyle/>
          <a:p>
            <a:pPr algn="l">
              <a:lnSpc>
                <a:spcPct val="100000"/>
              </a:lnSpc>
            </a:pPr>
            <a:r>
              <a:rPr sz="1300" b="1">
                <a:solidFill>
                  <a:srgbClr val="0E7C94"/>
                </a:solidFill>
                <a:latin typeface="Segoe UI Semibold"/>
              </a:rPr>
              <a:t>Lógica positiva (convención normal)</a:t>
            </a:r>
          </a:p>
        </p:txBody>
      </p:sp>
      <p:sp>
        <p:nvSpPr>
          <p:cNvPr id="19" name="Oval 18"/>
          <p:cNvSpPr/>
          <p:nvPr/>
        </p:nvSpPr>
        <p:spPr>
          <a:xfrm>
            <a:off x="685799" y="1975104"/>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Nivel alto = '1'</a:t>
            </a:r>
            <a:r>
              <a:rPr sz="1150" b="0">
                <a:solidFill>
                  <a:srgbClr val="2C3E56"/>
                </a:solidFill>
                <a:latin typeface="Segoe UI"/>
              </a:rPr>
              <a:t> (activo), nivel bajo = '0' (inactivo).</a:t>
            </a:r>
          </a:p>
        </p:txBody>
      </p:sp>
      <p:sp>
        <p:nvSpPr>
          <p:cNvPr id="21" name="Oval 20"/>
          <p:cNvSpPr/>
          <p:nvPr/>
        </p:nvSpPr>
        <p:spPr>
          <a:xfrm>
            <a:off x="685799" y="2255326"/>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22004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Todas las tablas de verdad de esta guía usan esta convención.</a:t>
            </a:r>
          </a:p>
        </p:txBody>
      </p:sp>
      <p:sp>
        <p:nvSpPr>
          <p:cNvPr id="23" name="Oval 22"/>
          <p:cNvSpPr/>
          <p:nvPr/>
        </p:nvSpPr>
        <p:spPr>
          <a:xfrm>
            <a:off x="685799" y="2535549"/>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2480685"/>
            <a:ext cx="4925552" cy="197926"/>
          </a:xfrm>
          <a:prstGeom prst="rect">
            <a:avLst/>
          </a:prstGeom>
          <a:noFill/>
        </p:spPr>
        <p:txBody>
          <a:bodyPr wrap="square" lIns="0" rIns="0" tIns="0" bIns="0" anchor="t">
            <a:spAutoFit/>
          </a:bodyPr>
          <a:lstStyle/>
          <a:p>
            <a:pPr algn="l">
              <a:lnSpc>
                <a:spcPct val="112000"/>
              </a:lnSpc>
            </a:pPr>
            <a:r>
              <a:rPr sz="1050" b="0">
                <a:solidFill>
                  <a:srgbClr val="2C3E56"/>
                </a:solidFill>
                <a:latin typeface="Segoe UI"/>
              </a:rPr>
              <a:t>Un LED conectado a la salida enciende cuando la función se cumple.</a:t>
            </a:r>
          </a:p>
        </p:txBody>
      </p:sp>
      <p:sp>
        <p:nvSpPr>
          <p:cNvPr id="25" name="Oval 24"/>
          <p:cNvSpPr/>
          <p:nvPr/>
        </p:nvSpPr>
        <p:spPr>
          <a:xfrm>
            <a:off x="685799" y="2815772"/>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2760908"/>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 lee como 'la salida está activa en alto' (active-high).</a:t>
            </a:r>
          </a:p>
        </p:txBody>
      </p:sp>
      <p:sp>
        <p:nvSpPr>
          <p:cNvPr id="27" name="Oval 26"/>
          <p:cNvSpPr/>
          <p:nvPr/>
        </p:nvSpPr>
        <p:spPr>
          <a:xfrm>
            <a:off x="685799" y="3095995"/>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 y="3041131"/>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Ejemplo: en el 7408, la salida es '1' cuando A·B = 1.</a:t>
            </a:r>
          </a:p>
        </p:txBody>
      </p:sp>
      <p:sp>
        <p:nvSpPr>
          <p:cNvPr id="29" name="Oval 28"/>
          <p:cNvSpPr/>
          <p:nvPr/>
        </p:nvSpPr>
        <p:spPr>
          <a:xfrm>
            <a:off x="685799" y="3376218"/>
            <a:ext cx="82296" cy="82296"/>
          </a:xfrm>
          <a:prstGeom prst="ellipse">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3321354"/>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Facilita el análisis booleano directo y el uso de álgebra de Boole.</a:t>
            </a:r>
          </a:p>
        </p:txBody>
      </p:sp>
      <p:sp>
        <p:nvSpPr>
          <p:cNvPr id="31" name="Rounded Rectangle 30"/>
          <p:cNvSpPr/>
          <p:nvPr/>
        </p:nvSpPr>
        <p:spPr>
          <a:xfrm>
            <a:off x="6205712" y="1371600"/>
            <a:ext cx="5510768" cy="3822191"/>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205712" y="1371600"/>
            <a:ext cx="5510768" cy="402336"/>
          </a:xfrm>
          <a:prstGeom prst="roundRect">
            <a:avLst>
              <a:gd name="adj" fmla="val 1659"/>
            </a:avLst>
          </a:prstGeom>
          <a:solidFill>
            <a:srgbClr val="E6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70304" y="1371600"/>
            <a:ext cx="5181584" cy="402336"/>
          </a:xfrm>
          <a:prstGeom prst="rect">
            <a:avLst/>
          </a:prstGeom>
          <a:noFill/>
        </p:spPr>
        <p:txBody>
          <a:bodyPr wrap="square" lIns="0" rIns="0" tIns="0" bIns="0" anchor="ctr">
            <a:spAutoFit/>
          </a:bodyPr>
          <a:lstStyle/>
          <a:p>
            <a:pPr algn="l">
              <a:lnSpc>
                <a:spcPct val="100000"/>
              </a:lnSpc>
            </a:pPr>
            <a:r>
              <a:rPr sz="1300" b="1">
                <a:solidFill>
                  <a:srgbClr val="C2690A"/>
                </a:solidFill>
                <a:latin typeface="Segoe UI Semibold"/>
              </a:rPr>
              <a:t>Lógica negativa (activo en bajo)</a:t>
            </a:r>
          </a:p>
        </p:txBody>
      </p:sp>
      <p:sp>
        <p:nvSpPr>
          <p:cNvPr id="34" name="Oval 33"/>
          <p:cNvSpPr/>
          <p:nvPr/>
        </p:nvSpPr>
        <p:spPr>
          <a:xfrm>
            <a:off x="6416024" y="19751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2328" y="1920240"/>
            <a:ext cx="4925552" cy="197926"/>
          </a:xfrm>
          <a:prstGeom prst="rect">
            <a:avLst/>
          </a:prstGeom>
          <a:noFill/>
        </p:spPr>
        <p:txBody>
          <a:bodyPr wrap="square" lIns="0" rIns="0" tIns="0" bIns="0" anchor="t">
            <a:spAutoFit/>
          </a:bodyPr>
          <a:lstStyle/>
          <a:p>
            <a:pPr algn="l">
              <a:lnSpc>
                <a:spcPct val="112000"/>
              </a:lnSpc>
            </a:pPr>
            <a:r>
              <a:rPr sz="1150" b="1">
                <a:solidFill>
                  <a:srgbClr val="2C3E56"/>
                </a:solidFill>
                <a:latin typeface="Segoe UI Semibold"/>
              </a:rPr>
              <a:t>Nivel bajo = '1' lógico</a:t>
            </a:r>
            <a:r>
              <a:rPr sz="1150" b="0">
                <a:solidFill>
                  <a:srgbClr val="2C3E56"/>
                </a:solidFill>
                <a:latin typeface="Segoe UI"/>
              </a:rPr>
              <a:t> (activo), convención que ahorra inversores.</a:t>
            </a:r>
          </a:p>
        </p:txBody>
      </p:sp>
      <p:sp>
        <p:nvSpPr>
          <p:cNvPr id="36" name="Oval 35"/>
          <p:cNvSpPr/>
          <p:nvPr/>
        </p:nvSpPr>
        <p:spPr>
          <a:xfrm>
            <a:off x="6416024" y="22553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2328" y="220046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Señales como OE (output enable), CS (chip select) o RESET son activas en bajo en casi todos los integrados.</a:t>
            </a:r>
          </a:p>
        </p:txBody>
      </p:sp>
      <p:sp>
        <p:nvSpPr>
          <p:cNvPr id="38" name="Oval 37"/>
          <p:cNvSpPr/>
          <p:nvPr/>
        </p:nvSpPr>
        <p:spPr>
          <a:xfrm>
            <a:off x="6416024" y="273347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2328" y="2678612"/>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Permite construir lógica más rápida: TTL 'sume' mejor que 'entrega' corriente.</a:t>
            </a:r>
          </a:p>
        </p:txBody>
      </p:sp>
      <p:sp>
        <p:nvSpPr>
          <p:cNvPr id="40" name="Oval 39"/>
          <p:cNvSpPr/>
          <p:nvPr/>
        </p:nvSpPr>
        <p:spPr>
          <a:xfrm>
            <a:off x="6416024" y="32116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2328" y="3156762"/>
            <a:ext cx="4925552" cy="197926"/>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El 74LS47 (display) maneja segmentos activos en bajo.</a:t>
            </a:r>
          </a:p>
        </p:txBody>
      </p:sp>
      <p:sp>
        <p:nvSpPr>
          <p:cNvPr id="42" name="Oval 41"/>
          <p:cNvSpPr/>
          <p:nvPr/>
        </p:nvSpPr>
        <p:spPr>
          <a:xfrm>
            <a:off x="6416024" y="349184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2328" y="3436985"/>
            <a:ext cx="4925552" cy="395853"/>
          </a:xfrm>
          <a:prstGeom prst="rect">
            <a:avLst/>
          </a:prstGeom>
          <a:noFill/>
        </p:spPr>
        <p:txBody>
          <a:bodyPr wrap="square" lIns="0" rIns="0" tIns="0" bIns="0" anchor="t">
            <a:spAutoFit/>
          </a:bodyPr>
          <a:lstStyle/>
          <a:p>
            <a:pPr algn="l">
              <a:lnSpc>
                <a:spcPct val="112000"/>
              </a:lnSpc>
            </a:pPr>
            <a:r>
              <a:rPr sz="1150" b="0">
                <a:solidFill>
                  <a:srgbClr val="2C3E56"/>
                </a:solidFill>
                <a:latin typeface="Segoe UI"/>
              </a:rPr>
              <a:t>Exige invertir mentalmente la tabla de verdad o usar un inversor (7404).</a:t>
            </a:r>
          </a:p>
        </p:txBody>
      </p:sp>
      <p:sp>
        <p:nvSpPr>
          <p:cNvPr id="44" name="Oval 43"/>
          <p:cNvSpPr/>
          <p:nvPr/>
        </p:nvSpPr>
        <p:spPr>
          <a:xfrm>
            <a:off x="6416024" y="396999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62328" y="3915135"/>
            <a:ext cx="4925552" cy="197926"/>
          </a:xfrm>
          <a:prstGeom prst="rect">
            <a:avLst/>
          </a:prstGeom>
          <a:noFill/>
        </p:spPr>
        <p:txBody>
          <a:bodyPr wrap="square" lIns="0" rIns="0" tIns="0" bIns="0" anchor="t">
            <a:spAutoFit/>
          </a:bodyPr>
          <a:lstStyle/>
          <a:p>
            <a:pPr algn="l">
              <a:lnSpc>
                <a:spcPct val="112000"/>
              </a:lnSpc>
            </a:pPr>
            <a:r>
              <a:rPr sz="1050" b="0">
                <a:solidFill>
                  <a:srgbClr val="2C3E56"/>
                </a:solidFill>
                <a:latin typeface="Segoe UI"/>
              </a:rPr>
              <a:t>Errores típicos: olvidar el asterisco o la barra sobre el nombre del pin.</a:t>
            </a:r>
          </a:p>
        </p:txBody>
      </p:sp>
      <p:sp>
        <p:nvSpPr>
          <p:cNvPr id="46" name="Rounded Rectangle 4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CONCLUSIÓN</a:t>
            </a:r>
          </a:p>
        </p:txBody>
      </p:sp>
      <p:sp>
        <p:nvSpPr>
          <p:cNvPr id="49" name="TextBox 4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Truco de taller: cuando un LED conectado a una salida enciende con la lógica invertida, casi siempre el pin es activo en bajo (barra superior en la hoja de datos). Verificar el nombre del pin antes de concluir que el chip está dañado.</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5" fill="hold">
                      <p:stCondLst>
                        <p:cond delay="indefinite"/>
                      </p:stCondLst>
                      <p:childTnLst>
                        <p:par>
                          <p:cTn id="36"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childTnLst>
                          </p:cTn>
                        </p:par>
                      </p:childTnLst>
                    </p:cTn>
                  </p:par>
                  <p:par>
                    <p:cTn id="49" fill="hold">
                      <p:stCondLst>
                        <p:cond delay="indefinite"/>
                      </p:stCondLst>
                      <p:childTnLst>
                        <p:par>
                          <p:cTn id="50" fill="hold">
                            <p:stCondLst>
                              <p:cond delay="0"/>
                            </p:stCondLst>
                            <p:childTnLst>
                              <p:par>
                                <p:cTn id="40" fill="hold">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anim calcmode="lin" valueType="num">
                                      <p:cBhvr additive="base">
                                        <p:cTn id="39" dur="420" fill="hold"/>
                                        <p:tgtEl>
                                          <p:spTgt spid="20"/>
                                        </p:tgtEl>
                                        <p:attrNameLst>
                                          <p:attrName>ppt_y</p:attrName>
                                        </p:attrNameLst>
                                      </p:cBhvr>
                                      <p:tavLst>
                                        <p:tav tm="0">
                                          <p:val>
                                            <p:strVal val="0.06"/>
                                          </p:val>
                                        </p:tav>
                                        <p:tav tm="100000">
                                          <p:val>
                                            <p:strVal val="0"/>
                                          </p:val>
                                        </p:tav>
                                      </p:tavLst>
                                    </p:anim>
                                  </p:childTnLst>
                                </p:cTn>
                              </p:par>
                              <p:par>
                                <p:cTn id="44" fill="hold">
                                  <p:stCondLst>
                                    <p:cond delay="1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1" dur="420"/>
                                        <p:tgtEl>
                                          <p:spTgt spid="22"/>
                                        </p:tgtEl>
                                      </p:cBhvr>
                                    </p:animEffect>
                                    <p:anim calcmode="lin" valueType="num">
                                      <p:cBhvr additive="base">
                                        <p:cTn id="43" dur="420" fill="hold"/>
                                        <p:tgtEl>
                                          <p:spTgt spid="22"/>
                                        </p:tgtEl>
                                        <p:attrNameLst>
                                          <p:attrName>ppt_y</p:attrName>
                                        </p:attrNameLst>
                                      </p:cBhvr>
                                      <p:tavLst>
                                        <p:tav tm="0">
                                          <p:val>
                                            <p:strVal val="0.06"/>
                                          </p:val>
                                        </p:tav>
                                        <p:tav tm="100000">
                                          <p:val>
                                            <p:strVal val="0"/>
                                          </p:val>
                                        </p:tav>
                                      </p:tavLst>
                                    </p:anim>
                                  </p:childTnLst>
                                </p:cTn>
                              </p:par>
                              <p:par>
                                <p:cTn id="48" fill="hold">
                                  <p:stCondLst>
                                    <p:cond delay="220"/>
                                  </p:stCondLst>
                                  <p:childTnLst>
                                    <p:set>
                                      <p:cBhvr>
                                        <p:cTn id="46" dur="1" fill="hold">
                                          <p:stCondLst>
                                            <p:cond delay="0"/>
                                          </p:stCondLst>
                                        </p:cTn>
                                        <p:tgtEl>
                                          <p:spTgt spid="24"/>
                                        </p:tgtEl>
                                        <p:attrNameLst>
                                          <p:attrName>style.visibility</p:attrName>
                                        </p:attrNameLst>
                                      </p:cBhvr>
                                      <p:to>
                                        <p:strVal val="visible"/>
                                      </p:to>
                                    </p:set>
                                    <p:animEffect transition="in" filter="fade">
                                      <p:cBhvr>
                                        <p:cTn id="45" dur="420"/>
                                        <p:tgtEl>
                                          <p:spTgt spid="24"/>
                                        </p:tgtEl>
                                      </p:cBhvr>
                                    </p:animEffect>
                                    <p:anim calcmode="lin" valueType="num">
                                      <p:cBhvr additive="base">
                                        <p:cTn id="47" dur="420" fill="hold"/>
                                        <p:tgtEl>
                                          <p:spTgt spid="24"/>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4" fill="hold">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1" dur="420"/>
                                        <p:tgtEl>
                                          <p:spTgt spid="26"/>
                                        </p:tgtEl>
                                      </p:cBhvr>
                                    </p:animEffect>
                                    <p:anim calcmode="lin" valueType="num">
                                      <p:cBhvr additive="base">
                                        <p:cTn id="53" dur="420" fill="hold"/>
                                        <p:tgtEl>
                                          <p:spTgt spid="26"/>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8"/>
                                        </p:tgtEl>
                                        <p:attrNameLst>
                                          <p:attrName>style.visibility</p:attrName>
                                        </p:attrNameLst>
                                      </p:cBhvr>
                                      <p:to>
                                        <p:strVal val="visible"/>
                                      </p:to>
                                    </p:set>
                                    <p:animEffect transition="in" filter="fade">
                                      <p:cBhvr>
                                        <p:cTn id="55" dur="420"/>
                                        <p:tgtEl>
                                          <p:spTgt spid="28"/>
                                        </p:tgtEl>
                                      </p:cBhvr>
                                    </p:animEffect>
                                    <p:anim calcmode="lin" valueType="num">
                                      <p:cBhvr additive="base">
                                        <p:cTn id="57" dur="420" fill="hold"/>
                                        <p:tgtEl>
                                          <p:spTgt spid="28"/>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30"/>
                                        </p:tgtEl>
                                        <p:attrNameLst>
                                          <p:attrName>style.visibility</p:attrName>
                                        </p:attrNameLst>
                                      </p:cBhvr>
                                      <p:to>
                                        <p:strVal val="visible"/>
                                      </p:to>
                                    </p:set>
                                    <p:animEffect transition="in" filter="fade">
                                      <p:cBhvr>
                                        <p:cTn id="59" dur="420"/>
                                        <p:tgtEl>
                                          <p:spTgt spid="30"/>
                                        </p:tgtEl>
                                      </p:cBhvr>
                                    </p:animEffect>
                                    <p:anim calcmode="lin" valueType="num">
                                      <p:cBhvr additive="base">
                                        <p:cTn id="61"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7" fill="hold">
                      <p:stCondLst>
                        <p:cond delay="indefinite"/>
                      </p:stCondLst>
                      <p:childTnLst>
                        <p:par>
                          <p:cTn id="78"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anim calcmode="lin" valueType="num">
                                      <p:cBhvr additive="base">
                                        <p:cTn id="71" dur="420" fill="hold"/>
                                        <p:tgtEl>
                                          <p:spTgt spid="32"/>
                                        </p:tgtEl>
                                        <p:attrNameLst>
                                          <p:attrName>ppt_y</p:attrName>
                                        </p:attrNameLst>
                                      </p:cBhvr>
                                      <p:tavLst>
                                        <p:tav tm="0">
                                          <p:val>
                                            <p:strVal val="0.06"/>
                                          </p:val>
                                        </p:tav>
                                        <p:tav tm="100000">
                                          <p:val>
                                            <p:strVal val="0"/>
                                          </p:val>
                                        </p:tav>
                                      </p:tavLst>
                                    </p:anim>
                                  </p:childTnLst>
                                </p:cTn>
                              </p:par>
                              <p:par>
                                <p:cTn id="76" fill="hold">
                                  <p:stCondLst>
                                    <p:cond delay="220"/>
                                  </p:stCondLst>
                                  <p:childTnLst>
                                    <p:set>
                                      <p:cBhvr>
                                        <p:cTn id="74" dur="1" fill="hold">
                                          <p:stCondLst>
                                            <p:cond delay="0"/>
                                          </p:stCondLst>
                                        </p:cTn>
                                        <p:tgtEl>
                                          <p:spTgt spid="33"/>
                                        </p:tgtEl>
                                        <p:attrNameLst>
                                          <p:attrName>style.visibility</p:attrName>
                                        </p:attrNameLst>
                                      </p:cBhvr>
                                      <p:to>
                                        <p:strVal val="visible"/>
                                      </p:to>
                                    </p:set>
                                    <p:animEffect transition="in" filter="fade">
                                      <p:cBhvr>
                                        <p:cTn id="73" dur="420"/>
                                        <p:tgtEl>
                                          <p:spTgt spid="33"/>
                                        </p:tgtEl>
                                      </p:cBhvr>
                                    </p:animEffect>
                                    <p:anim calcmode="lin" valueType="num">
                                      <p:cBhvr additive="base">
                                        <p:cTn id="75"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91" fill="hold">
                      <p:stCondLst>
                        <p:cond delay="indefinite"/>
                      </p:stCondLst>
                      <p:childTnLst>
                        <p:par>
                          <p:cTn id="92" fill="hold">
                            <p:stCondLst>
                              <p:cond delay="0"/>
                            </p:stCondLst>
                            <p:childTnLst>
                              <p:par>
                                <p:cTn id="82" fill="hold">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79" dur="420"/>
                                        <p:tgtEl>
                                          <p:spTgt spid="35"/>
                                        </p:tgtEl>
                                      </p:cBhvr>
                                    </p:animEffect>
                                    <p:anim calcmode="lin" valueType="num">
                                      <p:cBhvr additive="base">
                                        <p:cTn id="81" dur="420" fill="hold"/>
                                        <p:tgtEl>
                                          <p:spTgt spid="35"/>
                                        </p:tgtEl>
                                        <p:attrNameLst>
                                          <p:attrName>ppt_y</p:attrName>
                                        </p:attrNameLst>
                                      </p:cBhvr>
                                      <p:tavLst>
                                        <p:tav tm="0">
                                          <p:val>
                                            <p:strVal val="0.06"/>
                                          </p:val>
                                        </p:tav>
                                        <p:tav tm="100000">
                                          <p:val>
                                            <p:strVal val="0"/>
                                          </p:val>
                                        </p:tav>
                                      </p:tavLst>
                                    </p:anim>
                                  </p:childTnLst>
                                </p:cTn>
                              </p:par>
                              <p:par>
                                <p:cTn id="86" fill="hold">
                                  <p:stCondLst>
                                    <p:cond delay="110"/>
                                  </p:stCondLst>
                                  <p:childTnLst>
                                    <p:set>
                                      <p:cBhvr>
                                        <p:cTn id="84" dur="1" fill="hold">
                                          <p:stCondLst>
                                            <p:cond delay="0"/>
                                          </p:stCondLst>
                                        </p:cTn>
                                        <p:tgtEl>
                                          <p:spTgt spid="37"/>
                                        </p:tgtEl>
                                        <p:attrNameLst>
                                          <p:attrName>style.visibility</p:attrName>
                                        </p:attrNameLst>
                                      </p:cBhvr>
                                      <p:to>
                                        <p:strVal val="visible"/>
                                      </p:to>
                                    </p:set>
                                    <p:animEffect transition="in" filter="fade">
                                      <p:cBhvr>
                                        <p:cTn id="83" dur="420"/>
                                        <p:tgtEl>
                                          <p:spTgt spid="37"/>
                                        </p:tgtEl>
                                      </p:cBhvr>
                                    </p:animEffect>
                                    <p:anim calcmode="lin" valueType="num">
                                      <p:cBhvr additive="base">
                                        <p:cTn id="85" dur="420" fill="hold"/>
                                        <p:tgtEl>
                                          <p:spTgt spid="37"/>
                                        </p:tgtEl>
                                        <p:attrNameLst>
                                          <p:attrName>ppt_y</p:attrName>
                                        </p:attrNameLst>
                                      </p:cBhvr>
                                      <p:tavLst>
                                        <p:tav tm="0">
                                          <p:val>
                                            <p:strVal val="0.06"/>
                                          </p:val>
                                        </p:tav>
                                        <p:tav tm="100000">
                                          <p:val>
                                            <p:strVal val="0"/>
                                          </p:val>
                                        </p:tav>
                                      </p:tavLst>
                                    </p:anim>
                                  </p:childTnLst>
                                </p:cTn>
                              </p:par>
                              <p:par>
                                <p:cTn id="90" fill="hold">
                                  <p:stCondLst>
                                    <p:cond delay="220"/>
                                  </p:stCondLst>
                                  <p:childTnLst>
                                    <p:set>
                                      <p:cBhvr>
                                        <p:cTn id="88" dur="1" fill="hold">
                                          <p:stCondLst>
                                            <p:cond delay="0"/>
                                          </p:stCondLst>
                                        </p:cTn>
                                        <p:tgtEl>
                                          <p:spTgt spid="39"/>
                                        </p:tgtEl>
                                        <p:attrNameLst>
                                          <p:attrName>style.visibility</p:attrName>
                                        </p:attrNameLst>
                                      </p:cBhvr>
                                      <p:to>
                                        <p:strVal val="visible"/>
                                      </p:to>
                                    </p:set>
                                    <p:animEffect transition="in" filter="fade">
                                      <p:cBhvr>
                                        <p:cTn id="87" dur="420"/>
                                        <p:tgtEl>
                                          <p:spTgt spid="39"/>
                                        </p:tgtEl>
                                      </p:cBhvr>
                                    </p:animEffect>
                                    <p:anim calcmode="lin" valueType="num">
                                      <p:cBhvr additive="base">
                                        <p:cTn id="89" dur="420" fill="hold"/>
                                        <p:tgtEl>
                                          <p:spTgt spid="39"/>
                                        </p:tgtEl>
                                        <p:attrNameLst>
                                          <p:attrName>ppt_y</p:attrName>
                                        </p:attrNameLst>
                                      </p:cBhvr>
                                      <p:tavLst>
                                        <p:tav tm="0">
                                          <p:val>
                                            <p:strVal val="0.06"/>
                                          </p:val>
                                        </p:tav>
                                        <p:tav tm="100000">
                                          <p:val>
                                            <p:strVal val="0"/>
                                          </p:val>
                                        </p:tav>
                                      </p:tavLst>
                                    </p:anim>
                                  </p:childTnLst>
                                </p:cTn>
                              </p:par>
                            </p:childTnLst>
                          </p:cTn>
                        </p:par>
                      </p:childTnLst>
                    </p:cTn>
                  </p:par>
                  <p:par>
                    <p:cTn id="121" fill="hold">
                      <p:stCondLst>
                        <p:cond delay="indefinite"/>
                      </p:stCondLst>
                      <p:childTnLst>
                        <p:par>
                          <p:cTn id="122" fill="hold">
                            <p:stCondLst>
                              <p:cond delay="0"/>
                            </p:stCondLst>
                            <p:childTnLst>
                              <p:par>
                                <p:cTn id="96" fill="hold">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3" dur="420"/>
                                        <p:tgtEl>
                                          <p:spTgt spid="41"/>
                                        </p:tgtEl>
                                      </p:cBhvr>
                                    </p:animEffect>
                                    <p:anim calcmode="lin" valueType="num">
                                      <p:cBhvr additive="base">
                                        <p:cTn id="95" dur="420" fill="hold"/>
                                        <p:tgtEl>
                                          <p:spTgt spid="41"/>
                                        </p:tgtEl>
                                        <p:attrNameLst>
                                          <p:attrName>ppt_y</p:attrName>
                                        </p:attrNameLst>
                                      </p:cBhvr>
                                      <p:tavLst>
                                        <p:tav tm="0">
                                          <p:val>
                                            <p:strVal val="0.06"/>
                                          </p:val>
                                        </p:tav>
                                        <p:tav tm="100000">
                                          <p:val>
                                            <p:strVal val="0"/>
                                          </p:val>
                                        </p:tav>
                                      </p:tavLst>
                                    </p:anim>
                                  </p:childTnLst>
                                </p:cTn>
                              </p:par>
                              <p:par>
                                <p:cTn id="100" fill="hold">
                                  <p:stCondLst>
                                    <p:cond delay="110"/>
                                  </p:stCondLst>
                                  <p:childTnLst>
                                    <p:set>
                                      <p:cBhvr>
                                        <p:cTn id="98" dur="1" fill="hold">
                                          <p:stCondLst>
                                            <p:cond delay="0"/>
                                          </p:stCondLst>
                                        </p:cTn>
                                        <p:tgtEl>
                                          <p:spTgt spid="43"/>
                                        </p:tgtEl>
                                        <p:attrNameLst>
                                          <p:attrName>style.visibility</p:attrName>
                                        </p:attrNameLst>
                                      </p:cBhvr>
                                      <p:to>
                                        <p:strVal val="visible"/>
                                      </p:to>
                                    </p:set>
                                    <p:animEffect transition="in" filter="fade">
                                      <p:cBhvr>
                                        <p:cTn id="97" dur="420"/>
                                        <p:tgtEl>
                                          <p:spTgt spid="43"/>
                                        </p:tgtEl>
                                      </p:cBhvr>
                                    </p:animEffect>
                                    <p:anim calcmode="lin" valueType="num">
                                      <p:cBhvr additive="base">
                                        <p:cTn id="99" dur="420" fill="hold"/>
                                        <p:tgtEl>
                                          <p:spTgt spid="43"/>
                                        </p:tgtEl>
                                        <p:attrNameLst>
                                          <p:attrName>ppt_y</p:attrName>
                                        </p:attrNameLst>
                                      </p:cBhvr>
                                      <p:tavLst>
                                        <p:tav tm="0">
                                          <p:val>
                                            <p:strVal val="0.06"/>
                                          </p:val>
                                        </p:tav>
                                        <p:tav tm="100000">
                                          <p:val>
                                            <p:strVal val="0"/>
                                          </p:val>
                                        </p:tav>
                                      </p:tavLst>
                                    </p:anim>
                                  </p:childTnLst>
                                </p:cTn>
                              </p:par>
                              <p:par>
                                <p:cTn id="104" fill="hold">
                                  <p:stCondLst>
                                    <p:cond delay="22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1" dur="420"/>
                                        <p:tgtEl>
                                          <p:spTgt spid="45"/>
                                        </p:tgtEl>
                                      </p:cBhvr>
                                    </p:animEffect>
                                    <p:anim calcmode="lin" valueType="num">
                                      <p:cBhvr additive="base">
                                        <p:cTn id="103" dur="420" fill="hold"/>
                                        <p:tgtEl>
                                          <p:spTgt spid="45"/>
                                        </p:tgtEl>
                                        <p:attrNameLst>
                                          <p:attrName>ppt_y</p:attrName>
                                        </p:attrNameLst>
                                      </p:cBhvr>
                                      <p:tavLst>
                                        <p:tav tm="0">
                                          <p:val>
                                            <p:strVal val="0.06"/>
                                          </p:val>
                                        </p:tav>
                                        <p:tav tm="100000">
                                          <p:val>
                                            <p:strVal val="0"/>
                                          </p:val>
                                        </p:tav>
                                      </p:tavLst>
                                    </p:anim>
                                  </p:childTnLst>
                                </p:cTn>
                              </p:par>
                              <p:par>
                                <p:cTn id="108" fill="hold">
                                  <p:stCondLst>
                                    <p:cond delay="33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5" dur="420"/>
                                        <p:tgtEl>
                                          <p:spTgt spid="46"/>
                                        </p:tgtEl>
                                      </p:cBhvr>
                                    </p:animEffect>
                                    <p:anim calcmode="lin" valueType="num">
                                      <p:cBhvr additive="base">
                                        <p:cTn id="107" dur="420" fill="hold"/>
                                        <p:tgtEl>
                                          <p:spTgt spid="46"/>
                                        </p:tgtEl>
                                        <p:attrNameLst>
                                          <p:attrName>ppt_y</p:attrName>
                                        </p:attrNameLst>
                                      </p:cBhvr>
                                      <p:tavLst>
                                        <p:tav tm="0">
                                          <p:val>
                                            <p:strVal val="0.06"/>
                                          </p:val>
                                        </p:tav>
                                        <p:tav tm="100000">
                                          <p:val>
                                            <p:strVal val="0"/>
                                          </p:val>
                                        </p:tav>
                                      </p:tavLst>
                                    </p:anim>
                                  </p:childTnLst>
                                </p:cTn>
                              </p:par>
                              <p:par>
                                <p:cTn id="112" fill="hold">
                                  <p:stCondLst>
                                    <p:cond delay="44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09" dur="420"/>
                                        <p:tgtEl>
                                          <p:spTgt spid="47"/>
                                        </p:tgtEl>
                                      </p:cBhvr>
                                    </p:animEffect>
                                    <p:anim calcmode="lin" valueType="num">
                                      <p:cBhvr additive="base">
                                        <p:cTn id="111" dur="420" fill="hold"/>
                                        <p:tgtEl>
                                          <p:spTgt spid="47"/>
                                        </p:tgtEl>
                                        <p:attrNameLst>
                                          <p:attrName>ppt_y</p:attrName>
                                        </p:attrNameLst>
                                      </p:cBhvr>
                                      <p:tavLst>
                                        <p:tav tm="0">
                                          <p:val>
                                            <p:strVal val="0.06"/>
                                          </p:val>
                                        </p:tav>
                                        <p:tav tm="100000">
                                          <p:val>
                                            <p:strVal val="0"/>
                                          </p:val>
                                        </p:tav>
                                      </p:tavLst>
                                    </p:anim>
                                  </p:childTnLst>
                                </p:cTn>
                              </p:par>
                              <p:par>
                                <p:cTn id="116" fill="hold">
                                  <p:stCondLst>
                                    <p:cond delay="55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3" dur="420"/>
                                        <p:tgtEl>
                                          <p:spTgt spid="48"/>
                                        </p:tgtEl>
                                      </p:cBhvr>
                                    </p:animEffect>
                                    <p:anim calcmode="lin" valueType="num">
                                      <p:cBhvr additive="base">
                                        <p:cTn id="115" dur="420" fill="hold"/>
                                        <p:tgtEl>
                                          <p:spTgt spid="48"/>
                                        </p:tgtEl>
                                        <p:attrNameLst>
                                          <p:attrName>ppt_y</p:attrName>
                                        </p:attrNameLst>
                                      </p:cBhvr>
                                      <p:tavLst>
                                        <p:tav tm="0">
                                          <p:val>
                                            <p:strVal val="0.06"/>
                                          </p:val>
                                        </p:tav>
                                        <p:tav tm="100000">
                                          <p:val>
                                            <p:strVal val="0"/>
                                          </p:val>
                                        </p:tav>
                                      </p:tavLst>
                                    </p:anim>
                                  </p:childTnLst>
                                </p:cTn>
                              </p:par>
                              <p:par>
                                <p:cTn id="120" fill="hold">
                                  <p:stCondLst>
                                    <p:cond delay="66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7" dur="420"/>
                                        <p:tgtEl>
                                          <p:spTgt spid="49"/>
                                        </p:tgtEl>
                                      </p:cBhvr>
                                    </p:animEffect>
                                    <p:anim calcmode="lin" valueType="num">
                                      <p:cBhvr additive="base">
                                        <p:cTn id="119"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Álgebra de Boole: postulados y teoremas esenciales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Herramientas para simplificar funciones antes de cablear un circuito.</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17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369896"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5488" y="1371600"/>
            <a:ext cx="11240993" cy="329184"/>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1371600"/>
            <a:ext cx="232671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Nombre</a:t>
            </a:r>
          </a:p>
        </p:txBody>
      </p:sp>
      <p:sp>
        <p:nvSpPr>
          <p:cNvPr id="18" name="TextBox 17"/>
          <p:cNvSpPr txBox="1"/>
          <p:nvPr/>
        </p:nvSpPr>
        <p:spPr>
          <a:xfrm>
            <a:off x="3021658" y="1371600"/>
            <a:ext cx="255153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Forma con AND</a:t>
            </a:r>
          </a:p>
        </p:txBody>
      </p:sp>
      <p:sp>
        <p:nvSpPr>
          <p:cNvPr id="19" name="TextBox 18"/>
          <p:cNvSpPr txBox="1"/>
          <p:nvPr/>
        </p:nvSpPr>
        <p:spPr>
          <a:xfrm>
            <a:off x="5719497" y="1371600"/>
            <a:ext cx="255153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Forma con OR</a:t>
            </a:r>
          </a:p>
        </p:txBody>
      </p:sp>
      <p:sp>
        <p:nvSpPr>
          <p:cNvPr id="20" name="TextBox 19"/>
          <p:cNvSpPr txBox="1"/>
          <p:nvPr/>
        </p:nvSpPr>
        <p:spPr>
          <a:xfrm>
            <a:off x="8417335" y="1371600"/>
            <a:ext cx="3225994" cy="329184"/>
          </a:xfrm>
          <a:prstGeom prst="rect">
            <a:avLst/>
          </a:prstGeom>
          <a:noFill/>
        </p:spPr>
        <p:txBody>
          <a:bodyPr wrap="square" lIns="0" rIns="0" tIns="0" bIns="0" anchor="ctr">
            <a:spAutoFit/>
          </a:bodyPr>
          <a:lstStyle/>
          <a:p>
            <a:pPr algn="l">
              <a:lnSpc>
                <a:spcPct val="100000"/>
              </a:lnSpc>
            </a:pPr>
            <a:r>
              <a:rPr sz="1100" b="1">
                <a:solidFill>
                  <a:srgbClr val="F5F8FC"/>
                </a:solidFill>
                <a:latin typeface="Segoe UI Semibold"/>
              </a:rPr>
              <a:t>Utilidad práctica</a:t>
            </a:r>
          </a:p>
        </p:txBody>
      </p:sp>
      <p:sp>
        <p:nvSpPr>
          <p:cNvPr id="21" name="Rectangle 20"/>
          <p:cNvSpPr/>
          <p:nvPr/>
        </p:nvSpPr>
        <p:spPr>
          <a:xfrm>
            <a:off x="475488" y="170078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 y="17007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Identidad</a:t>
            </a:r>
          </a:p>
        </p:txBody>
      </p:sp>
      <p:sp>
        <p:nvSpPr>
          <p:cNvPr id="23" name="TextBox 22"/>
          <p:cNvSpPr txBox="1"/>
          <p:nvPr/>
        </p:nvSpPr>
        <p:spPr>
          <a:xfrm>
            <a:off x="3021658" y="17007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1 = A</a:t>
            </a:r>
          </a:p>
        </p:txBody>
      </p:sp>
      <p:sp>
        <p:nvSpPr>
          <p:cNvPr id="24" name="TextBox 23"/>
          <p:cNvSpPr txBox="1"/>
          <p:nvPr/>
        </p:nvSpPr>
        <p:spPr>
          <a:xfrm>
            <a:off x="5719497" y="17007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+ 0 = A</a:t>
            </a:r>
          </a:p>
        </p:txBody>
      </p:sp>
      <p:sp>
        <p:nvSpPr>
          <p:cNvPr id="25" name="TextBox 24"/>
          <p:cNvSpPr txBox="1"/>
          <p:nvPr/>
        </p:nvSpPr>
        <p:spPr>
          <a:xfrm>
            <a:off x="8417335" y="17007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triviales</a:t>
            </a:r>
          </a:p>
        </p:txBody>
      </p:sp>
      <p:sp>
        <p:nvSpPr>
          <p:cNvPr id="26" name="TextBox 25"/>
          <p:cNvSpPr txBox="1"/>
          <p:nvPr/>
        </p:nvSpPr>
        <p:spPr>
          <a:xfrm>
            <a:off x="548640" y="19903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Elemento nulo</a:t>
            </a:r>
          </a:p>
        </p:txBody>
      </p:sp>
      <p:sp>
        <p:nvSpPr>
          <p:cNvPr id="27" name="TextBox 26"/>
          <p:cNvSpPr txBox="1"/>
          <p:nvPr/>
        </p:nvSpPr>
        <p:spPr>
          <a:xfrm>
            <a:off x="3021658" y="19903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0 = 0</a:t>
            </a:r>
          </a:p>
        </p:txBody>
      </p:sp>
      <p:sp>
        <p:nvSpPr>
          <p:cNvPr id="28" name="TextBox 27"/>
          <p:cNvSpPr txBox="1"/>
          <p:nvPr/>
        </p:nvSpPr>
        <p:spPr>
          <a:xfrm>
            <a:off x="5719497" y="19903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+ 1 = 1</a:t>
            </a:r>
          </a:p>
        </p:txBody>
      </p:sp>
      <p:sp>
        <p:nvSpPr>
          <p:cNvPr id="29" name="TextBox 28"/>
          <p:cNvSpPr txBox="1"/>
          <p:nvPr/>
        </p:nvSpPr>
        <p:spPr>
          <a:xfrm>
            <a:off x="8417335" y="19903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Detecta condiciones imposibles</a:t>
            </a:r>
          </a:p>
        </p:txBody>
      </p:sp>
      <p:sp>
        <p:nvSpPr>
          <p:cNvPr id="30" name="Rectangle 29"/>
          <p:cNvSpPr/>
          <p:nvPr/>
        </p:nvSpPr>
        <p:spPr>
          <a:xfrm>
            <a:off x="475488" y="227990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227990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Idempotencia</a:t>
            </a:r>
          </a:p>
        </p:txBody>
      </p:sp>
      <p:sp>
        <p:nvSpPr>
          <p:cNvPr id="32" name="TextBox 31"/>
          <p:cNvSpPr txBox="1"/>
          <p:nvPr/>
        </p:nvSpPr>
        <p:spPr>
          <a:xfrm>
            <a:off x="3021658" y="22799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 = A</a:t>
            </a:r>
          </a:p>
        </p:txBody>
      </p:sp>
      <p:sp>
        <p:nvSpPr>
          <p:cNvPr id="33" name="TextBox 32"/>
          <p:cNvSpPr txBox="1"/>
          <p:nvPr/>
        </p:nvSpPr>
        <p:spPr>
          <a:xfrm>
            <a:off x="5719497" y="22799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 = A</a:t>
            </a:r>
          </a:p>
        </p:txBody>
      </p:sp>
      <p:sp>
        <p:nvSpPr>
          <p:cNvPr id="34" name="TextBox 33"/>
          <p:cNvSpPr txBox="1"/>
          <p:nvPr/>
        </p:nvSpPr>
        <p:spPr>
          <a:xfrm>
            <a:off x="8417335" y="227990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Reduce compuertas redundantes</a:t>
            </a:r>
          </a:p>
        </p:txBody>
      </p:sp>
      <p:sp>
        <p:nvSpPr>
          <p:cNvPr id="35" name="TextBox 34"/>
          <p:cNvSpPr txBox="1"/>
          <p:nvPr/>
        </p:nvSpPr>
        <p:spPr>
          <a:xfrm>
            <a:off x="548640" y="256946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Complementación</a:t>
            </a:r>
          </a:p>
        </p:txBody>
      </p:sp>
      <p:sp>
        <p:nvSpPr>
          <p:cNvPr id="36" name="TextBox 35"/>
          <p:cNvSpPr txBox="1"/>
          <p:nvPr/>
        </p:nvSpPr>
        <p:spPr>
          <a:xfrm>
            <a:off x="3021658" y="25694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A' = 0</a:t>
            </a:r>
          </a:p>
        </p:txBody>
      </p:sp>
      <p:sp>
        <p:nvSpPr>
          <p:cNvPr id="37" name="TextBox 36"/>
          <p:cNvSpPr txBox="1"/>
          <p:nvPr/>
        </p:nvSpPr>
        <p:spPr>
          <a:xfrm>
            <a:off x="5719497" y="25694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Consolas"/>
              </a:rPr>
              <a:t>A + A' = 1</a:t>
            </a:r>
          </a:p>
        </p:txBody>
      </p:sp>
      <p:sp>
        <p:nvSpPr>
          <p:cNvPr id="38" name="TextBox 37"/>
          <p:cNvSpPr txBox="1"/>
          <p:nvPr/>
        </p:nvSpPr>
        <p:spPr>
          <a:xfrm>
            <a:off x="8417335" y="256946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Base del biestable y del reloj</a:t>
            </a:r>
          </a:p>
        </p:txBody>
      </p:sp>
      <p:sp>
        <p:nvSpPr>
          <p:cNvPr id="39" name="Rectangle 38"/>
          <p:cNvSpPr/>
          <p:nvPr/>
        </p:nvSpPr>
        <p:spPr>
          <a:xfrm>
            <a:off x="475488" y="285902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8640" y="285902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Conmutativa</a:t>
            </a:r>
          </a:p>
        </p:txBody>
      </p:sp>
      <p:sp>
        <p:nvSpPr>
          <p:cNvPr id="41" name="TextBox 40"/>
          <p:cNvSpPr txBox="1"/>
          <p:nvPr/>
        </p:nvSpPr>
        <p:spPr>
          <a:xfrm>
            <a:off x="3021658" y="28590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B · A</a:t>
            </a:r>
          </a:p>
        </p:txBody>
      </p:sp>
      <p:sp>
        <p:nvSpPr>
          <p:cNvPr id="42" name="TextBox 41"/>
          <p:cNvSpPr txBox="1"/>
          <p:nvPr/>
        </p:nvSpPr>
        <p:spPr>
          <a:xfrm>
            <a:off x="5719497" y="28590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B + A</a:t>
            </a:r>
          </a:p>
        </p:txBody>
      </p:sp>
      <p:sp>
        <p:nvSpPr>
          <p:cNvPr id="43" name="TextBox 42"/>
          <p:cNvSpPr txBox="1"/>
          <p:nvPr/>
        </p:nvSpPr>
        <p:spPr>
          <a:xfrm>
            <a:off x="8417335" y="285902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Permite reordenar pines</a:t>
            </a:r>
          </a:p>
        </p:txBody>
      </p:sp>
      <p:sp>
        <p:nvSpPr>
          <p:cNvPr id="44" name="TextBox 43"/>
          <p:cNvSpPr txBox="1"/>
          <p:nvPr/>
        </p:nvSpPr>
        <p:spPr>
          <a:xfrm>
            <a:off x="548640" y="31485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Asociativa</a:t>
            </a:r>
          </a:p>
        </p:txBody>
      </p:sp>
      <p:sp>
        <p:nvSpPr>
          <p:cNvPr id="45" name="TextBox 44"/>
          <p:cNvSpPr txBox="1"/>
          <p:nvPr/>
        </p:nvSpPr>
        <p:spPr>
          <a:xfrm>
            <a:off x="3021658" y="31485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(AB)C = A(BC)</a:t>
            </a:r>
          </a:p>
        </p:txBody>
      </p:sp>
      <p:sp>
        <p:nvSpPr>
          <p:cNvPr id="46" name="TextBox 45"/>
          <p:cNvSpPr txBox="1"/>
          <p:nvPr/>
        </p:nvSpPr>
        <p:spPr>
          <a:xfrm>
            <a:off x="5719497" y="31485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(A+B)+C = A+(B+C)</a:t>
            </a:r>
          </a:p>
        </p:txBody>
      </p:sp>
      <p:sp>
        <p:nvSpPr>
          <p:cNvPr id="47" name="TextBox 46"/>
          <p:cNvSpPr txBox="1"/>
          <p:nvPr/>
        </p:nvSpPr>
        <p:spPr>
          <a:xfrm>
            <a:off x="8417335" y="31485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Encadenar y agrupar</a:t>
            </a:r>
          </a:p>
        </p:txBody>
      </p:sp>
      <p:sp>
        <p:nvSpPr>
          <p:cNvPr id="48" name="Rectangle 47"/>
          <p:cNvSpPr/>
          <p:nvPr/>
        </p:nvSpPr>
        <p:spPr>
          <a:xfrm>
            <a:off x="475488" y="343814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4381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Distributiva</a:t>
            </a:r>
          </a:p>
        </p:txBody>
      </p:sp>
      <p:sp>
        <p:nvSpPr>
          <p:cNvPr id="50" name="TextBox 49"/>
          <p:cNvSpPr txBox="1"/>
          <p:nvPr/>
        </p:nvSpPr>
        <p:spPr>
          <a:xfrm>
            <a:off x="3021658" y="34381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 + C) = AB + AC</a:t>
            </a:r>
          </a:p>
        </p:txBody>
      </p:sp>
      <p:sp>
        <p:nvSpPr>
          <p:cNvPr id="51" name="TextBox 50"/>
          <p:cNvSpPr txBox="1"/>
          <p:nvPr/>
        </p:nvSpPr>
        <p:spPr>
          <a:xfrm>
            <a:off x="5719497" y="34381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BC = (A+B)(A+C)</a:t>
            </a:r>
          </a:p>
        </p:txBody>
      </p:sp>
      <p:sp>
        <p:nvSpPr>
          <p:cNvPr id="52" name="TextBox 51"/>
          <p:cNvSpPr txBox="1"/>
          <p:nvPr/>
        </p:nvSpPr>
        <p:spPr>
          <a:xfrm>
            <a:off x="8417335" y="34381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Factoriza y ahorra chips</a:t>
            </a:r>
          </a:p>
        </p:txBody>
      </p:sp>
      <p:sp>
        <p:nvSpPr>
          <p:cNvPr id="53" name="TextBox 52"/>
          <p:cNvSpPr txBox="1"/>
          <p:nvPr/>
        </p:nvSpPr>
        <p:spPr>
          <a:xfrm>
            <a:off x="548640" y="372770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Absorción</a:t>
            </a:r>
          </a:p>
        </p:txBody>
      </p:sp>
      <p:sp>
        <p:nvSpPr>
          <p:cNvPr id="54" name="TextBox 53"/>
          <p:cNvSpPr txBox="1"/>
          <p:nvPr/>
        </p:nvSpPr>
        <p:spPr>
          <a:xfrm>
            <a:off x="3021658" y="37277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 + B) = A</a:t>
            </a:r>
          </a:p>
        </p:txBody>
      </p:sp>
      <p:sp>
        <p:nvSpPr>
          <p:cNvPr id="55" name="TextBox 54"/>
          <p:cNvSpPr txBox="1"/>
          <p:nvPr/>
        </p:nvSpPr>
        <p:spPr>
          <a:xfrm>
            <a:off x="5719497" y="372770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AB = A</a:t>
            </a:r>
          </a:p>
        </p:txBody>
      </p:sp>
      <p:sp>
        <p:nvSpPr>
          <p:cNvPr id="56" name="TextBox 55"/>
          <p:cNvSpPr txBox="1"/>
          <p:nvPr/>
        </p:nvSpPr>
        <p:spPr>
          <a:xfrm>
            <a:off x="8417335" y="372770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absorbidos</a:t>
            </a:r>
          </a:p>
        </p:txBody>
      </p:sp>
      <p:sp>
        <p:nvSpPr>
          <p:cNvPr id="57" name="Rectangle 56"/>
          <p:cNvSpPr/>
          <p:nvPr/>
        </p:nvSpPr>
        <p:spPr>
          <a:xfrm>
            <a:off x="475488" y="401726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8640" y="401726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Redundancia</a:t>
            </a:r>
          </a:p>
        </p:txBody>
      </p:sp>
      <p:sp>
        <p:nvSpPr>
          <p:cNvPr id="59" name="TextBox 58"/>
          <p:cNvSpPr txBox="1"/>
          <p:nvPr/>
        </p:nvSpPr>
        <p:spPr>
          <a:xfrm>
            <a:off x="3021658" y="40172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A'B = A + B</a:t>
            </a:r>
          </a:p>
        </p:txBody>
      </p:sp>
      <p:sp>
        <p:nvSpPr>
          <p:cNvPr id="60" name="TextBox 59"/>
          <p:cNvSpPr txBox="1"/>
          <p:nvPr/>
        </p:nvSpPr>
        <p:spPr>
          <a:xfrm>
            <a:off x="5719497" y="401726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A(A' + B) = AB</a:t>
            </a:r>
          </a:p>
        </p:txBody>
      </p:sp>
      <p:sp>
        <p:nvSpPr>
          <p:cNvPr id="61" name="TextBox 60"/>
          <p:cNvSpPr txBox="1"/>
          <p:nvPr/>
        </p:nvSpPr>
        <p:spPr>
          <a:xfrm>
            <a:off x="8417335" y="401726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Simplificación avanzada</a:t>
            </a:r>
          </a:p>
        </p:txBody>
      </p:sp>
      <p:sp>
        <p:nvSpPr>
          <p:cNvPr id="62" name="TextBox 61"/>
          <p:cNvSpPr txBox="1"/>
          <p:nvPr/>
        </p:nvSpPr>
        <p:spPr>
          <a:xfrm>
            <a:off x="548640" y="430682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Consenso</a:t>
            </a:r>
          </a:p>
        </p:txBody>
      </p:sp>
      <p:sp>
        <p:nvSpPr>
          <p:cNvPr id="63" name="TextBox 62"/>
          <p:cNvSpPr txBox="1"/>
          <p:nvPr/>
        </p:nvSpPr>
        <p:spPr>
          <a:xfrm>
            <a:off x="3021658" y="43068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AB + A'C + BC = AB + A'C</a:t>
            </a:r>
          </a:p>
        </p:txBody>
      </p:sp>
      <p:sp>
        <p:nvSpPr>
          <p:cNvPr id="64" name="TextBox 63"/>
          <p:cNvSpPr txBox="1"/>
          <p:nvPr/>
        </p:nvSpPr>
        <p:spPr>
          <a:xfrm>
            <a:off x="5719497" y="430682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65" name="TextBox 64"/>
          <p:cNvSpPr txBox="1"/>
          <p:nvPr/>
        </p:nvSpPr>
        <p:spPr>
          <a:xfrm>
            <a:off x="8417335" y="430682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Elimina términos de consenso</a:t>
            </a:r>
          </a:p>
        </p:txBody>
      </p:sp>
      <p:sp>
        <p:nvSpPr>
          <p:cNvPr id="66" name="Rectangle 65"/>
          <p:cNvSpPr/>
          <p:nvPr/>
        </p:nvSpPr>
        <p:spPr>
          <a:xfrm>
            <a:off x="475488" y="4596384"/>
            <a:ext cx="11240993" cy="289560"/>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459638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De Morgan 1</a:t>
            </a:r>
          </a:p>
        </p:txBody>
      </p:sp>
      <p:sp>
        <p:nvSpPr>
          <p:cNvPr id="68" name="TextBox 67"/>
          <p:cNvSpPr txBox="1"/>
          <p:nvPr/>
        </p:nvSpPr>
        <p:spPr>
          <a:xfrm>
            <a:off x="3021658" y="45963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A' + B'</a:t>
            </a:r>
          </a:p>
        </p:txBody>
      </p:sp>
      <p:sp>
        <p:nvSpPr>
          <p:cNvPr id="69" name="TextBox 68"/>
          <p:cNvSpPr txBox="1"/>
          <p:nvPr/>
        </p:nvSpPr>
        <p:spPr>
          <a:xfrm>
            <a:off x="5719497" y="459638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70" name="TextBox 69"/>
          <p:cNvSpPr txBox="1"/>
          <p:nvPr/>
        </p:nvSpPr>
        <p:spPr>
          <a:xfrm>
            <a:off x="8417335" y="459638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Convierte AND en OR con NAND</a:t>
            </a:r>
          </a:p>
        </p:txBody>
      </p:sp>
      <p:sp>
        <p:nvSpPr>
          <p:cNvPr id="71" name="TextBox 70"/>
          <p:cNvSpPr txBox="1"/>
          <p:nvPr/>
        </p:nvSpPr>
        <p:spPr>
          <a:xfrm>
            <a:off x="548640" y="4885944"/>
            <a:ext cx="2326714" cy="289560"/>
          </a:xfrm>
          <a:prstGeom prst="rect">
            <a:avLst/>
          </a:prstGeom>
          <a:noFill/>
        </p:spPr>
        <p:txBody>
          <a:bodyPr wrap="square" lIns="0" rIns="0" tIns="0" bIns="0" anchor="ctr">
            <a:spAutoFit/>
          </a:bodyPr>
          <a:lstStyle/>
          <a:p>
            <a:pPr algn="l">
              <a:lnSpc>
                <a:spcPct val="100000"/>
              </a:lnSpc>
            </a:pPr>
            <a:r>
              <a:rPr sz="1100" b="0">
                <a:solidFill>
                  <a:srgbClr val="0D1A2B"/>
                </a:solidFill>
                <a:latin typeface="Segoe UI"/>
              </a:rPr>
              <a:t>De Morgan 2</a:t>
            </a:r>
          </a:p>
        </p:txBody>
      </p:sp>
      <p:sp>
        <p:nvSpPr>
          <p:cNvPr id="72" name="TextBox 71"/>
          <p:cNvSpPr txBox="1"/>
          <p:nvPr/>
        </p:nvSpPr>
        <p:spPr>
          <a:xfrm>
            <a:off x="3021658" y="48859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 + B)' = A' · B'</a:t>
            </a:r>
          </a:p>
        </p:txBody>
      </p:sp>
      <p:sp>
        <p:nvSpPr>
          <p:cNvPr id="73" name="TextBox 72"/>
          <p:cNvSpPr txBox="1"/>
          <p:nvPr/>
        </p:nvSpPr>
        <p:spPr>
          <a:xfrm>
            <a:off x="5719497" y="4885944"/>
            <a:ext cx="255153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a:t>
            </a:r>
          </a:p>
        </p:txBody>
      </p:sp>
      <p:sp>
        <p:nvSpPr>
          <p:cNvPr id="74" name="TextBox 73"/>
          <p:cNvSpPr txBox="1"/>
          <p:nvPr/>
        </p:nvSpPr>
        <p:spPr>
          <a:xfrm>
            <a:off x="8417335" y="4885944"/>
            <a:ext cx="3225994" cy="289560"/>
          </a:xfrm>
          <a:prstGeom prst="rect">
            <a:avLst/>
          </a:prstGeom>
          <a:noFill/>
        </p:spPr>
        <p:txBody>
          <a:bodyPr wrap="square" lIns="0" rIns="0" tIns="0" bIns="0" anchor="ctr">
            <a:spAutoFit/>
          </a:bodyPr>
          <a:lstStyle/>
          <a:p>
            <a:pPr algn="l">
              <a:lnSpc>
                <a:spcPct val="100000"/>
              </a:lnSpc>
            </a:pPr>
            <a:r>
              <a:rPr sz="1100" b="0">
                <a:solidFill>
                  <a:srgbClr val="2C3E56"/>
                </a:solidFill>
                <a:latin typeface="Segoe UI"/>
              </a:rPr>
              <a:t>Convierte OR en NOR</a:t>
            </a:r>
          </a:p>
        </p:txBody>
      </p:sp>
      <p:sp>
        <p:nvSpPr>
          <p:cNvPr id="75" name="Rounded Rectangle 74"/>
          <p:cNvSpPr/>
          <p:nvPr/>
        </p:nvSpPr>
        <p:spPr>
          <a:xfrm>
            <a:off x="475488" y="1371600"/>
            <a:ext cx="11240993" cy="3803904"/>
          </a:xfrm>
          <a:prstGeom prst="roundRect">
            <a:avLst>
              <a:gd name="adj" fmla="val 488"/>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REGLA DE ORO</a:t>
            </a:r>
          </a:p>
        </p:txBody>
      </p:sp>
      <p:sp>
        <p:nvSpPr>
          <p:cNvPr id="79" name="TextBox 78"/>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Regla de oro: toda función lógica se puede implementar solo con NAND o solo con NOR. Simplificar con Boole no es un ejercicio teórico: cada término eliminado es un circuito integrado menos y menos posibilidades de falla.</a:t>
            </a:r>
          </a:p>
        </p:txBody>
      </p:sp>
    </p:spTree>
  </p:cSld>
  <p:clrMapOvr>
    <a:masterClrMapping/>
  </p:clrMapOvr>
  <p:transition spd="med" advClick="1">
    <p:wipe dir="l"/>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0"/>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3" dur="420"/>
                                        <p:tgtEl>
                                          <p:spTgt spid="16"/>
                                        </p:tgtEl>
                                      </p:cBhvr>
                                    </p:animEffect>
                                    <p:animEffect transition="in" filter="fade">
                                      <p:cBhvr>
                                        <p:cTn id="23" dur="420"/>
                                        <p:tgtEl>
                                          <p:spTgt spid="16"/>
                                        </p:tgtEl>
                                      </p:cBhvr>
                                    </p:animEffect>
                                  </p:childTnLst>
                                </p:cTn>
                              </p:par>
                            </p:childTnLst>
                          </p:cTn>
                        </p:par>
                      </p:childTnLst>
                    </p:cTn>
                  </p:par>
                  <p:par>
                    <p:cTn id="31" fill="hold">
                      <p:stCondLst>
                        <p:cond delay="0"/>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28" dur="420"/>
                                        <p:tgtEl>
                                          <p:spTgt spid="17"/>
                                        </p:tgtEl>
                                      </p:cBhvr>
                                    </p:animEffect>
                                    <p:animEffect transition="in" filter="fade">
                                      <p:cBhvr>
                                        <p:cTn id="28" dur="420"/>
                                        <p:tgtEl>
                                          <p:spTgt spid="17"/>
                                        </p:tgtEl>
                                      </p:cBhvr>
                                    </p:animEffect>
                                  </p:childTnLst>
                                </p:cTn>
                              </p:par>
                            </p:childTnLst>
                          </p:cTn>
                        </p:par>
                      </p:childTnLst>
                    </p:cTn>
                  </p:par>
                  <p:par>
                    <p:cTn id="36" fill="hold">
                      <p:stCondLst>
                        <p:cond delay="0"/>
                      </p:stCondLst>
                      <p:childTnLst>
                        <p:par>
                          <p:cTn id="37" fill="hold">
                            <p:stCondLst>
                              <p:cond delay="0"/>
                            </p:stCondLst>
                            <p:childTnLst>
                              <p:par>
                                <p:cTn id="35"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3" dur="420"/>
                                        <p:tgtEl>
                                          <p:spTgt spid="18"/>
                                        </p:tgtEl>
                                      </p:cBhvr>
                                    </p:animEffect>
                                    <p:animEffect transition="in" filter="fade">
                                      <p:cBhvr>
                                        <p:cTn id="33" dur="420"/>
                                        <p:tgtEl>
                                          <p:spTgt spid="18"/>
                                        </p:tgtEl>
                                      </p:cBhvr>
                                    </p:animEffect>
                                  </p:childTnLst>
                                </p:cTn>
                              </p:par>
                            </p:childTnLst>
                          </p:cTn>
                        </p:par>
                      </p:childTnLst>
                    </p:cTn>
                  </p:par>
                  <p:par>
                    <p:cTn id="41" fill="hold">
                      <p:stCondLst>
                        <p:cond delay="0"/>
                      </p:stCondLst>
                      <p:childTnLst>
                        <p:par>
                          <p:cTn id="42" fill="hold">
                            <p:stCondLst>
                              <p:cond delay="0"/>
                            </p:stCondLst>
                            <p:childTnLst>
                              <p:par>
                                <p:cTn id="40" fill="hold">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38" dur="420"/>
                                        <p:tgtEl>
                                          <p:spTgt spid="19"/>
                                        </p:tgtEl>
                                      </p:cBhvr>
                                    </p:animEffect>
                                    <p:animEffect transition="in" filter="fade">
                                      <p:cBhvr>
                                        <p:cTn id="38" dur="420"/>
                                        <p:tgtEl>
                                          <p:spTgt spid="19"/>
                                        </p:tgtEl>
                                      </p:cBhvr>
                                    </p:animEffect>
                                  </p:childTnLst>
                                </p:cTn>
                              </p:par>
                            </p:childTnLst>
                          </p:cTn>
                        </p:par>
                      </p:childTnLst>
                    </p:cTn>
                  </p:par>
                  <p:par>
                    <p:cTn id="46" fill="hold">
                      <p:stCondLst>
                        <p:cond delay="0"/>
                      </p:stCondLst>
                      <p:childTnLst>
                        <p:par>
                          <p:cTn id="47" fill="hold">
                            <p:stCondLst>
                              <p:cond delay="0"/>
                            </p:stCondLst>
                            <p:childTnLst>
                              <p:par>
                                <p:cTn id="45" fill="hold">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3" dur="420"/>
                                        <p:tgtEl>
                                          <p:spTgt spid="20"/>
                                        </p:tgtEl>
                                      </p:cBhvr>
                                    </p:animEffect>
                                    <p:animEffect transition="in" filter="fade">
                                      <p:cBhvr>
                                        <p:cTn id="43" dur="420"/>
                                        <p:tgtEl>
                                          <p:spTgt spid="20"/>
                                        </p:tgtEl>
                                      </p:cBhvr>
                                    </p:animEffect>
                                  </p:childTnLst>
                                </p:cTn>
                              </p:par>
                            </p:childTnLst>
                          </p:cTn>
                        </p:par>
                      </p:childTnLst>
                    </p:cTn>
                  </p:par>
                  <p:par>
                    <p:cTn id="222" fill="hold">
                      <p:stCondLst>
                        <p:cond delay="indefinite"/>
                      </p:stCondLst>
                      <p:childTnLst>
                        <p:par>
                          <p:cTn id="223" fill="hold">
                            <p:stCondLst>
                              <p:cond delay="0"/>
                            </p:stCondLst>
                            <p:childTnLst>
                              <p:par>
                                <p:cTn id="50" fill="hold">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48" dur="420"/>
                                        <p:tgtEl>
                                          <p:spTgt spid="21"/>
                                        </p:tgtEl>
                                      </p:cBhvr>
                                    </p:animEffect>
                                  </p:childTnLst>
                                </p:cTn>
                              </p:par>
                              <p:par>
                                <p:cTn id="53" fill="hold">
                                  <p:stCondLst>
                                    <p:cond delay="11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childTnLst>
                                </p:cTn>
                              </p:par>
                              <p:par>
                                <p:cTn id="56" fill="hold">
                                  <p:stCondLst>
                                    <p:cond delay="220"/>
                                  </p:stCondLst>
                                  <p:childTnLst>
                                    <p:set>
                                      <p:cBhvr>
                                        <p:cTn id="55" dur="1" fill="hold">
                                          <p:stCondLst>
                                            <p:cond delay="0"/>
                                          </p:stCondLst>
                                        </p:cTn>
                                        <p:tgtEl>
                                          <p:spTgt spid="23"/>
                                        </p:tgtEl>
                                        <p:attrNameLst>
                                          <p:attrName>style.visibility</p:attrName>
                                        </p:attrNameLst>
                                      </p:cBhvr>
                                      <p:to>
                                        <p:strVal val="visible"/>
                                      </p:to>
                                    </p:set>
                                    <p:animEffect transition="in" filter="fade">
                                      <p:cBhvr>
                                        <p:cTn id="54" dur="420"/>
                                        <p:tgtEl>
                                          <p:spTgt spid="23"/>
                                        </p:tgtEl>
                                      </p:cBhvr>
                                    </p:animEffect>
                                  </p:childTnLst>
                                </p:cTn>
                              </p:par>
                              <p:par>
                                <p:cTn id="59"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childTnLst>
                                </p:cTn>
                              </p:par>
                              <p:par>
                                <p:cTn id="62" fill="hold">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0" dur="420"/>
                                        <p:tgtEl>
                                          <p:spTgt spid="25"/>
                                        </p:tgtEl>
                                      </p:cBhvr>
                                    </p:animEffect>
                                  </p:childTnLst>
                                </p:cTn>
                              </p:par>
                              <p:par>
                                <p:cTn id="65" fill="hold">
                                  <p:stCondLst>
                                    <p:cond delay="550"/>
                                  </p:stCondLst>
                                  <p:childTnLst>
                                    <p:set>
                                      <p:cBhvr>
                                        <p:cTn id="64" dur="1" fill="hold">
                                          <p:stCondLst>
                                            <p:cond delay="0"/>
                                          </p:stCondLst>
                                        </p:cTn>
                                        <p:tgtEl>
                                          <p:spTgt spid="26"/>
                                        </p:tgtEl>
                                        <p:attrNameLst>
                                          <p:attrName>style.visibility</p:attrName>
                                        </p:attrNameLst>
                                      </p:cBhvr>
                                      <p:to>
                                        <p:strVal val="visible"/>
                                      </p:to>
                                    </p:set>
                                    <p:animEffect transition="in" filter="fade">
                                      <p:cBhvr>
                                        <p:cTn id="63" dur="420"/>
                                        <p:tgtEl>
                                          <p:spTgt spid="26"/>
                                        </p:tgtEl>
                                      </p:cBhvr>
                                    </p:animEffect>
                                  </p:childTnLst>
                                </p:cTn>
                              </p:par>
                              <p:par>
                                <p:cTn id="68" fill="hold">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6" dur="420"/>
                                        <p:tgtEl>
                                          <p:spTgt spid="27"/>
                                        </p:tgtEl>
                                      </p:cBhvr>
                                    </p:animEffect>
                                  </p:childTnLst>
                                </p:cTn>
                              </p:par>
                              <p:par>
                                <p:cTn id="71" fill="hold">
                                  <p:stCondLst>
                                    <p:cond delay="770"/>
                                  </p:stCondLst>
                                  <p:childTnLst>
                                    <p:set>
                                      <p:cBhvr>
                                        <p:cTn id="70" dur="1" fill="hold">
                                          <p:stCondLst>
                                            <p:cond delay="0"/>
                                          </p:stCondLst>
                                        </p:cTn>
                                        <p:tgtEl>
                                          <p:spTgt spid="28"/>
                                        </p:tgtEl>
                                        <p:attrNameLst>
                                          <p:attrName>style.visibility</p:attrName>
                                        </p:attrNameLst>
                                      </p:cBhvr>
                                      <p:to>
                                        <p:strVal val="visible"/>
                                      </p:to>
                                    </p:set>
                                    <p:animEffect transition="in" filter="fade">
                                      <p:cBhvr>
                                        <p:cTn id="69" dur="420"/>
                                        <p:tgtEl>
                                          <p:spTgt spid="28"/>
                                        </p:tgtEl>
                                      </p:cBhvr>
                                    </p:animEffect>
                                  </p:childTnLst>
                                </p:cTn>
                              </p:par>
                              <p:par>
                                <p:cTn id="74" fill="hold">
                                  <p:stCondLst>
                                    <p:cond delay="8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2" dur="420"/>
                                        <p:tgtEl>
                                          <p:spTgt spid="29"/>
                                        </p:tgtEl>
                                      </p:cBhvr>
                                    </p:animEffect>
                                  </p:childTnLst>
                                </p:cTn>
                              </p:par>
                              <p:par>
                                <p:cTn id="77" fill="hold">
                                  <p:stCondLst>
                                    <p:cond delay="990"/>
                                  </p:stCondLst>
                                  <p:childTnLst>
                                    <p:set>
                                      <p:cBhvr>
                                        <p:cTn id="76" dur="1" fill="hold">
                                          <p:stCondLst>
                                            <p:cond delay="0"/>
                                          </p:stCondLst>
                                        </p:cTn>
                                        <p:tgtEl>
                                          <p:spTgt spid="30"/>
                                        </p:tgtEl>
                                        <p:attrNameLst>
                                          <p:attrName>style.visibility</p:attrName>
                                        </p:attrNameLst>
                                      </p:cBhvr>
                                      <p:to>
                                        <p:strVal val="visible"/>
                                      </p:to>
                                    </p:set>
                                    <p:animEffect transition="in" filter="fade">
                                      <p:cBhvr>
                                        <p:cTn id="75" dur="420"/>
                                        <p:tgtEl>
                                          <p:spTgt spid="30"/>
                                        </p:tgtEl>
                                      </p:cBhvr>
                                    </p:animEffect>
                                  </p:childTnLst>
                                </p:cTn>
                              </p:par>
                              <p:par>
                                <p:cTn id="80" fill="hold">
                                  <p:stCondLst>
                                    <p:cond delay="1100"/>
                                  </p:stCondLst>
                                  <p:childTnLst>
                                    <p:set>
                                      <p:cBhvr>
                                        <p:cTn id="79" dur="1" fill="hold">
                                          <p:stCondLst>
                                            <p:cond delay="0"/>
                                          </p:stCondLst>
                                        </p:cTn>
                                        <p:tgtEl>
                                          <p:spTgt spid="31"/>
                                        </p:tgtEl>
                                        <p:attrNameLst>
                                          <p:attrName>style.visibility</p:attrName>
                                        </p:attrNameLst>
                                      </p:cBhvr>
                                      <p:to>
                                        <p:strVal val="visible"/>
                                      </p:to>
                                    </p:set>
                                    <p:animEffect transition="in" filter="fade">
                                      <p:cBhvr>
                                        <p:cTn id="78" dur="420"/>
                                        <p:tgtEl>
                                          <p:spTgt spid="31"/>
                                        </p:tgtEl>
                                      </p:cBhvr>
                                    </p:animEffect>
                                  </p:childTnLst>
                                </p:cTn>
                              </p:par>
                              <p:par>
                                <p:cTn id="83" fill="hold">
                                  <p:stCondLst>
                                    <p:cond delay="1210"/>
                                  </p:stCondLst>
                                  <p:childTnLst>
                                    <p:set>
                                      <p:cBhvr>
                                        <p:cTn id="82" dur="1" fill="hold">
                                          <p:stCondLst>
                                            <p:cond delay="0"/>
                                          </p:stCondLst>
                                        </p:cTn>
                                        <p:tgtEl>
                                          <p:spTgt spid="32"/>
                                        </p:tgtEl>
                                        <p:attrNameLst>
                                          <p:attrName>style.visibility</p:attrName>
                                        </p:attrNameLst>
                                      </p:cBhvr>
                                      <p:to>
                                        <p:strVal val="visible"/>
                                      </p:to>
                                    </p:set>
                                    <p:animEffect transition="in" filter="fade">
                                      <p:cBhvr>
                                        <p:cTn id="81" dur="420"/>
                                        <p:tgtEl>
                                          <p:spTgt spid="32"/>
                                        </p:tgtEl>
                                      </p:cBhvr>
                                    </p:animEffect>
                                  </p:childTnLst>
                                </p:cTn>
                              </p:par>
                              <p:par>
                                <p:cTn id="86" fill="hold">
                                  <p:stCondLst>
                                    <p:cond delay="1320"/>
                                  </p:stCondLst>
                                  <p:childTnLst>
                                    <p:set>
                                      <p:cBhvr>
                                        <p:cTn id="85" dur="1" fill="hold">
                                          <p:stCondLst>
                                            <p:cond delay="0"/>
                                          </p:stCondLst>
                                        </p:cTn>
                                        <p:tgtEl>
                                          <p:spTgt spid="33"/>
                                        </p:tgtEl>
                                        <p:attrNameLst>
                                          <p:attrName>style.visibility</p:attrName>
                                        </p:attrNameLst>
                                      </p:cBhvr>
                                      <p:to>
                                        <p:strVal val="visible"/>
                                      </p:to>
                                    </p:set>
                                    <p:animEffect transition="in" filter="fade">
                                      <p:cBhvr>
                                        <p:cTn id="84" dur="420"/>
                                        <p:tgtEl>
                                          <p:spTgt spid="33"/>
                                        </p:tgtEl>
                                      </p:cBhvr>
                                    </p:animEffect>
                                  </p:childTnLst>
                                </p:cTn>
                              </p:par>
                              <p:par>
                                <p:cTn id="89" fill="hold">
                                  <p:stCondLst>
                                    <p:cond delay="1430"/>
                                  </p:stCondLst>
                                  <p:childTnLst>
                                    <p:set>
                                      <p:cBhvr>
                                        <p:cTn id="88" dur="1" fill="hold">
                                          <p:stCondLst>
                                            <p:cond delay="0"/>
                                          </p:stCondLst>
                                        </p:cTn>
                                        <p:tgtEl>
                                          <p:spTgt spid="34"/>
                                        </p:tgtEl>
                                        <p:attrNameLst>
                                          <p:attrName>style.visibility</p:attrName>
                                        </p:attrNameLst>
                                      </p:cBhvr>
                                      <p:to>
                                        <p:strVal val="visible"/>
                                      </p:to>
                                    </p:set>
                                    <p:animEffect transition="in" filter="fade">
                                      <p:cBhvr>
                                        <p:cTn id="87" dur="420"/>
                                        <p:tgtEl>
                                          <p:spTgt spid="34"/>
                                        </p:tgtEl>
                                      </p:cBhvr>
                                    </p:animEffect>
                                  </p:childTnLst>
                                </p:cTn>
                              </p:par>
                              <p:par>
                                <p:cTn id="92" fill="hold">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0" dur="420"/>
                                        <p:tgtEl>
                                          <p:spTgt spid="35"/>
                                        </p:tgtEl>
                                      </p:cBhvr>
                                    </p:animEffect>
                                  </p:childTnLst>
                                </p:cTn>
                              </p:par>
                              <p:par>
                                <p:cTn id="95" fill="hold">
                                  <p:stCondLst>
                                    <p:cond delay="16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3" dur="420"/>
                                        <p:tgtEl>
                                          <p:spTgt spid="36"/>
                                        </p:tgtEl>
                                      </p:cBhvr>
                                    </p:animEffect>
                                  </p:childTnLst>
                                </p:cTn>
                              </p:par>
                              <p:par>
                                <p:cTn id="98" fill="hold">
                                  <p:stCondLst>
                                    <p:cond delay="17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6" dur="420"/>
                                        <p:tgtEl>
                                          <p:spTgt spid="37"/>
                                        </p:tgtEl>
                                      </p:cBhvr>
                                    </p:animEffect>
                                  </p:childTnLst>
                                </p:cTn>
                              </p:par>
                              <p:par>
                                <p:cTn id="101" fill="hold">
                                  <p:stCondLst>
                                    <p:cond delay="1870"/>
                                  </p:stCondLst>
                                  <p:childTnLst>
                                    <p:set>
                                      <p:cBhvr>
                                        <p:cTn id="100" dur="1" fill="hold">
                                          <p:stCondLst>
                                            <p:cond delay="0"/>
                                          </p:stCondLst>
                                        </p:cTn>
                                        <p:tgtEl>
                                          <p:spTgt spid="38"/>
                                        </p:tgtEl>
                                        <p:attrNameLst>
                                          <p:attrName>style.visibility</p:attrName>
                                        </p:attrNameLst>
                                      </p:cBhvr>
                                      <p:to>
                                        <p:strVal val="visible"/>
                                      </p:to>
                                    </p:set>
                                    <p:animEffect transition="in" filter="fade">
                                      <p:cBhvr>
                                        <p:cTn id="99" dur="420"/>
                                        <p:tgtEl>
                                          <p:spTgt spid="38"/>
                                        </p:tgtEl>
                                      </p:cBhvr>
                                    </p:animEffect>
                                  </p:childTnLst>
                                </p:cTn>
                              </p:par>
                              <p:par>
                                <p:cTn id="104" fill="hold">
                                  <p:stCondLst>
                                    <p:cond delay="198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2" dur="420"/>
                                        <p:tgtEl>
                                          <p:spTgt spid="39"/>
                                        </p:tgtEl>
                                      </p:cBhvr>
                                    </p:animEffect>
                                  </p:childTnLst>
                                </p:cTn>
                              </p:par>
                              <p:par>
                                <p:cTn id="107" fill="hold">
                                  <p:stCondLst>
                                    <p:cond delay="209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5" dur="420"/>
                                        <p:tgtEl>
                                          <p:spTgt spid="40"/>
                                        </p:tgtEl>
                                      </p:cBhvr>
                                    </p:animEffect>
                                  </p:childTnLst>
                                </p:cTn>
                              </p:par>
                              <p:par>
                                <p:cTn id="110" fill="hold">
                                  <p:stCondLst>
                                    <p:cond delay="22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08" dur="420"/>
                                        <p:tgtEl>
                                          <p:spTgt spid="41"/>
                                        </p:tgtEl>
                                      </p:cBhvr>
                                    </p:animEffect>
                                  </p:childTnLst>
                                </p:cTn>
                              </p:par>
                              <p:par>
                                <p:cTn id="113" fill="hold">
                                  <p:stCondLst>
                                    <p:cond delay="231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1" dur="420"/>
                                        <p:tgtEl>
                                          <p:spTgt spid="42"/>
                                        </p:tgtEl>
                                      </p:cBhvr>
                                    </p:animEffect>
                                  </p:childTnLst>
                                </p:cTn>
                              </p:par>
                              <p:par>
                                <p:cTn id="116" fill="hold">
                                  <p:stCondLst>
                                    <p:cond delay="242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4" dur="420"/>
                                        <p:tgtEl>
                                          <p:spTgt spid="43"/>
                                        </p:tgtEl>
                                      </p:cBhvr>
                                    </p:animEffect>
                                  </p:childTnLst>
                                </p:cTn>
                              </p:par>
                              <p:par>
                                <p:cTn id="119" fill="hold">
                                  <p:stCondLst>
                                    <p:cond delay="253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7" dur="420"/>
                                        <p:tgtEl>
                                          <p:spTgt spid="44"/>
                                        </p:tgtEl>
                                      </p:cBhvr>
                                    </p:animEffect>
                                  </p:childTnLst>
                                </p:cTn>
                              </p:par>
                              <p:par>
                                <p:cTn id="122" fill="hold">
                                  <p:stCondLst>
                                    <p:cond delay="264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0" dur="420"/>
                                        <p:tgtEl>
                                          <p:spTgt spid="45"/>
                                        </p:tgtEl>
                                      </p:cBhvr>
                                    </p:animEffect>
                                  </p:childTnLst>
                                </p:cTn>
                              </p:par>
                              <p:par>
                                <p:cTn id="125" fill="hold">
                                  <p:stCondLst>
                                    <p:cond delay="275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3" dur="420"/>
                                        <p:tgtEl>
                                          <p:spTgt spid="46"/>
                                        </p:tgtEl>
                                      </p:cBhvr>
                                    </p:animEffect>
                                  </p:childTnLst>
                                </p:cTn>
                              </p:par>
                              <p:par>
                                <p:cTn id="128" fill="hold">
                                  <p:stCondLst>
                                    <p:cond delay="286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6" dur="420"/>
                                        <p:tgtEl>
                                          <p:spTgt spid="47"/>
                                        </p:tgtEl>
                                      </p:cBhvr>
                                    </p:animEffect>
                                  </p:childTnLst>
                                </p:cTn>
                              </p:par>
                              <p:par>
                                <p:cTn id="131" fill="hold">
                                  <p:stCondLst>
                                    <p:cond delay="297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29" dur="420"/>
                                        <p:tgtEl>
                                          <p:spTgt spid="48"/>
                                        </p:tgtEl>
                                      </p:cBhvr>
                                    </p:animEffect>
                                  </p:childTnLst>
                                </p:cTn>
                              </p:par>
                              <p:par>
                                <p:cTn id="134" fill="hold">
                                  <p:stCondLst>
                                    <p:cond delay="308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2" dur="420"/>
                                        <p:tgtEl>
                                          <p:spTgt spid="49"/>
                                        </p:tgtEl>
                                      </p:cBhvr>
                                    </p:animEffect>
                                  </p:childTnLst>
                                </p:cTn>
                              </p:par>
                              <p:par>
                                <p:cTn id="137" fill="hold">
                                  <p:stCondLst>
                                    <p:cond delay="31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5" dur="420"/>
                                        <p:tgtEl>
                                          <p:spTgt spid="50"/>
                                        </p:tgtEl>
                                      </p:cBhvr>
                                    </p:animEffect>
                                  </p:childTnLst>
                                </p:cTn>
                              </p:par>
                              <p:par>
                                <p:cTn id="140" fill="hold">
                                  <p:stCondLst>
                                    <p:cond delay="330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38" dur="420"/>
                                        <p:tgtEl>
                                          <p:spTgt spid="51"/>
                                        </p:tgtEl>
                                      </p:cBhvr>
                                    </p:animEffect>
                                  </p:childTnLst>
                                </p:cTn>
                              </p:par>
                              <p:par>
                                <p:cTn id="143" fill="hold">
                                  <p:stCondLst>
                                    <p:cond delay="341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1" dur="420"/>
                                        <p:tgtEl>
                                          <p:spTgt spid="52"/>
                                        </p:tgtEl>
                                      </p:cBhvr>
                                    </p:animEffect>
                                  </p:childTnLst>
                                </p:cTn>
                              </p:par>
                              <p:par>
                                <p:cTn id="146" fill="hold">
                                  <p:stCondLst>
                                    <p:cond delay="352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4" dur="420"/>
                                        <p:tgtEl>
                                          <p:spTgt spid="53"/>
                                        </p:tgtEl>
                                      </p:cBhvr>
                                    </p:animEffect>
                                  </p:childTnLst>
                                </p:cTn>
                              </p:par>
                              <p:par>
                                <p:cTn id="149" fill="hold">
                                  <p:stCondLst>
                                    <p:cond delay="363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7" dur="420"/>
                                        <p:tgtEl>
                                          <p:spTgt spid="54"/>
                                        </p:tgtEl>
                                      </p:cBhvr>
                                    </p:animEffect>
                                  </p:childTnLst>
                                </p:cTn>
                              </p:par>
                              <p:par>
                                <p:cTn id="152" fill="hold">
                                  <p:stCondLst>
                                    <p:cond delay="374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0" dur="420"/>
                                        <p:tgtEl>
                                          <p:spTgt spid="55"/>
                                        </p:tgtEl>
                                      </p:cBhvr>
                                    </p:animEffect>
                                  </p:childTnLst>
                                </p:cTn>
                              </p:par>
                              <p:par>
                                <p:cTn id="155" fill="hold">
                                  <p:stCondLst>
                                    <p:cond delay="385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3" dur="420"/>
                                        <p:tgtEl>
                                          <p:spTgt spid="56"/>
                                        </p:tgtEl>
                                      </p:cBhvr>
                                    </p:animEffect>
                                  </p:childTnLst>
                                </p:cTn>
                              </p:par>
                              <p:par>
                                <p:cTn id="158" fill="hold">
                                  <p:stCondLst>
                                    <p:cond delay="396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6" dur="420"/>
                                        <p:tgtEl>
                                          <p:spTgt spid="57"/>
                                        </p:tgtEl>
                                      </p:cBhvr>
                                    </p:animEffect>
                                  </p:childTnLst>
                                </p:cTn>
                              </p:par>
                              <p:par>
                                <p:cTn id="161" fill="hold">
                                  <p:stCondLst>
                                    <p:cond delay="407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59" dur="420"/>
                                        <p:tgtEl>
                                          <p:spTgt spid="58"/>
                                        </p:tgtEl>
                                      </p:cBhvr>
                                    </p:animEffect>
                                  </p:childTnLst>
                                </p:cTn>
                              </p:par>
                              <p:par>
                                <p:cTn id="164" fill="hold">
                                  <p:stCondLst>
                                    <p:cond delay="418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2" dur="420"/>
                                        <p:tgtEl>
                                          <p:spTgt spid="59"/>
                                        </p:tgtEl>
                                      </p:cBhvr>
                                    </p:animEffect>
                                  </p:childTnLst>
                                </p:cTn>
                              </p:par>
                              <p:par>
                                <p:cTn id="167" fill="hold">
                                  <p:stCondLst>
                                    <p:cond delay="429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5" dur="420"/>
                                        <p:tgtEl>
                                          <p:spTgt spid="60"/>
                                        </p:tgtEl>
                                      </p:cBhvr>
                                    </p:animEffect>
                                  </p:childTnLst>
                                </p:cTn>
                              </p:par>
                              <p:par>
                                <p:cTn id="170" fill="hold">
                                  <p:stCondLst>
                                    <p:cond delay="440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68" dur="420"/>
                                        <p:tgtEl>
                                          <p:spTgt spid="61"/>
                                        </p:tgtEl>
                                      </p:cBhvr>
                                    </p:animEffect>
                                  </p:childTnLst>
                                </p:cTn>
                              </p:par>
                              <p:par>
                                <p:cTn id="173" fill="hold">
                                  <p:stCondLst>
                                    <p:cond delay="451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1" dur="420"/>
                                        <p:tgtEl>
                                          <p:spTgt spid="62"/>
                                        </p:tgtEl>
                                      </p:cBhvr>
                                    </p:animEffect>
                                  </p:childTnLst>
                                </p:cTn>
                              </p:par>
                              <p:par>
                                <p:cTn id="176" fill="hold">
                                  <p:stCondLst>
                                    <p:cond delay="4620"/>
                                  </p:stCondLst>
                                  <p:childTnLst>
                                    <p:set>
                                      <p:cBhvr>
                                        <p:cTn id="175" dur="1" fill="hold">
                                          <p:stCondLst>
                                            <p:cond delay="0"/>
                                          </p:stCondLst>
                                        </p:cTn>
                                        <p:tgtEl>
                                          <p:spTgt spid="63"/>
                                        </p:tgtEl>
                                        <p:attrNameLst>
                                          <p:attrName>style.visibility</p:attrName>
                                        </p:attrNameLst>
                                      </p:cBhvr>
                                      <p:to>
                                        <p:strVal val="visible"/>
                                      </p:to>
                                    </p:set>
                                    <p:animEffect transition="in" filter="fade">
                                      <p:cBhvr>
                                        <p:cTn id="174" dur="420"/>
                                        <p:tgtEl>
                                          <p:spTgt spid="63"/>
                                        </p:tgtEl>
                                      </p:cBhvr>
                                    </p:animEffect>
                                  </p:childTnLst>
                                </p:cTn>
                              </p:par>
                              <p:par>
                                <p:cTn id="179" fill="hold">
                                  <p:stCondLst>
                                    <p:cond delay="4730"/>
                                  </p:stCondLst>
                                  <p:childTnLst>
                                    <p:set>
                                      <p:cBhvr>
                                        <p:cTn id="178" dur="1" fill="hold">
                                          <p:stCondLst>
                                            <p:cond delay="0"/>
                                          </p:stCondLst>
                                        </p:cTn>
                                        <p:tgtEl>
                                          <p:spTgt spid="64"/>
                                        </p:tgtEl>
                                        <p:attrNameLst>
                                          <p:attrName>style.visibility</p:attrName>
                                        </p:attrNameLst>
                                      </p:cBhvr>
                                      <p:to>
                                        <p:strVal val="visible"/>
                                      </p:to>
                                    </p:set>
                                    <p:animEffect transition="in" filter="fade">
                                      <p:cBhvr>
                                        <p:cTn id="177" dur="420"/>
                                        <p:tgtEl>
                                          <p:spTgt spid="64"/>
                                        </p:tgtEl>
                                      </p:cBhvr>
                                    </p:animEffect>
                                  </p:childTnLst>
                                </p:cTn>
                              </p:par>
                              <p:par>
                                <p:cTn id="182" fill="hold">
                                  <p:stCondLst>
                                    <p:cond delay="4840"/>
                                  </p:stCondLst>
                                  <p:childTnLst>
                                    <p:set>
                                      <p:cBhvr>
                                        <p:cTn id="181" dur="1" fill="hold">
                                          <p:stCondLst>
                                            <p:cond delay="0"/>
                                          </p:stCondLst>
                                        </p:cTn>
                                        <p:tgtEl>
                                          <p:spTgt spid="65"/>
                                        </p:tgtEl>
                                        <p:attrNameLst>
                                          <p:attrName>style.visibility</p:attrName>
                                        </p:attrNameLst>
                                      </p:cBhvr>
                                      <p:to>
                                        <p:strVal val="visible"/>
                                      </p:to>
                                    </p:set>
                                    <p:animEffect transition="in" filter="fade">
                                      <p:cBhvr>
                                        <p:cTn id="180" dur="420"/>
                                        <p:tgtEl>
                                          <p:spTgt spid="65"/>
                                        </p:tgtEl>
                                      </p:cBhvr>
                                    </p:animEffect>
                                  </p:childTnLst>
                                </p:cTn>
                              </p:par>
                              <p:par>
                                <p:cTn id="185" fill="hold">
                                  <p:stCondLst>
                                    <p:cond delay="4950"/>
                                  </p:stCondLst>
                                  <p:childTnLst>
                                    <p:set>
                                      <p:cBhvr>
                                        <p:cTn id="184" dur="1" fill="hold">
                                          <p:stCondLst>
                                            <p:cond delay="0"/>
                                          </p:stCondLst>
                                        </p:cTn>
                                        <p:tgtEl>
                                          <p:spTgt spid="66"/>
                                        </p:tgtEl>
                                        <p:attrNameLst>
                                          <p:attrName>style.visibility</p:attrName>
                                        </p:attrNameLst>
                                      </p:cBhvr>
                                      <p:to>
                                        <p:strVal val="visible"/>
                                      </p:to>
                                    </p:set>
                                    <p:animEffect transition="in" filter="fade">
                                      <p:cBhvr>
                                        <p:cTn id="183" dur="420"/>
                                        <p:tgtEl>
                                          <p:spTgt spid="66"/>
                                        </p:tgtEl>
                                      </p:cBhvr>
                                    </p:animEffect>
                                  </p:childTnLst>
                                </p:cTn>
                              </p:par>
                              <p:par>
                                <p:cTn id="188" fill="hold">
                                  <p:stCondLst>
                                    <p:cond delay="5060"/>
                                  </p:stCondLst>
                                  <p:childTnLst>
                                    <p:set>
                                      <p:cBhvr>
                                        <p:cTn id="187" dur="1" fill="hold">
                                          <p:stCondLst>
                                            <p:cond delay="0"/>
                                          </p:stCondLst>
                                        </p:cTn>
                                        <p:tgtEl>
                                          <p:spTgt spid="67"/>
                                        </p:tgtEl>
                                        <p:attrNameLst>
                                          <p:attrName>style.visibility</p:attrName>
                                        </p:attrNameLst>
                                      </p:cBhvr>
                                      <p:to>
                                        <p:strVal val="visible"/>
                                      </p:to>
                                    </p:set>
                                    <p:animEffect transition="in" filter="fade">
                                      <p:cBhvr>
                                        <p:cTn id="186" dur="420"/>
                                        <p:tgtEl>
                                          <p:spTgt spid="67"/>
                                        </p:tgtEl>
                                      </p:cBhvr>
                                    </p:animEffect>
                                  </p:childTnLst>
                                </p:cTn>
                              </p:par>
                              <p:par>
                                <p:cTn id="191" fill="hold">
                                  <p:stCondLst>
                                    <p:cond delay="5170"/>
                                  </p:stCondLst>
                                  <p:childTnLst>
                                    <p:set>
                                      <p:cBhvr>
                                        <p:cTn id="190" dur="1" fill="hold">
                                          <p:stCondLst>
                                            <p:cond delay="0"/>
                                          </p:stCondLst>
                                        </p:cTn>
                                        <p:tgtEl>
                                          <p:spTgt spid="68"/>
                                        </p:tgtEl>
                                        <p:attrNameLst>
                                          <p:attrName>style.visibility</p:attrName>
                                        </p:attrNameLst>
                                      </p:cBhvr>
                                      <p:to>
                                        <p:strVal val="visible"/>
                                      </p:to>
                                    </p:set>
                                    <p:animEffect transition="in" filter="fade">
                                      <p:cBhvr>
                                        <p:cTn id="189" dur="420"/>
                                        <p:tgtEl>
                                          <p:spTgt spid="68"/>
                                        </p:tgtEl>
                                      </p:cBhvr>
                                    </p:animEffect>
                                  </p:childTnLst>
                                </p:cTn>
                              </p:par>
                              <p:par>
                                <p:cTn id="194" fill="hold">
                                  <p:stCondLst>
                                    <p:cond delay="5280"/>
                                  </p:stCondLst>
                                  <p:childTnLst>
                                    <p:set>
                                      <p:cBhvr>
                                        <p:cTn id="193" dur="1" fill="hold">
                                          <p:stCondLst>
                                            <p:cond delay="0"/>
                                          </p:stCondLst>
                                        </p:cTn>
                                        <p:tgtEl>
                                          <p:spTgt spid="69"/>
                                        </p:tgtEl>
                                        <p:attrNameLst>
                                          <p:attrName>style.visibility</p:attrName>
                                        </p:attrNameLst>
                                      </p:cBhvr>
                                      <p:to>
                                        <p:strVal val="visible"/>
                                      </p:to>
                                    </p:set>
                                    <p:animEffect transition="in" filter="fade">
                                      <p:cBhvr>
                                        <p:cTn id="192" dur="420"/>
                                        <p:tgtEl>
                                          <p:spTgt spid="69"/>
                                        </p:tgtEl>
                                      </p:cBhvr>
                                    </p:animEffect>
                                  </p:childTnLst>
                                </p:cTn>
                              </p:par>
                              <p:par>
                                <p:cTn id="197" fill="hold">
                                  <p:stCondLst>
                                    <p:cond delay="5390"/>
                                  </p:stCondLst>
                                  <p:childTnLst>
                                    <p:set>
                                      <p:cBhvr>
                                        <p:cTn id="196" dur="1" fill="hold">
                                          <p:stCondLst>
                                            <p:cond delay="0"/>
                                          </p:stCondLst>
                                        </p:cTn>
                                        <p:tgtEl>
                                          <p:spTgt spid="70"/>
                                        </p:tgtEl>
                                        <p:attrNameLst>
                                          <p:attrName>style.visibility</p:attrName>
                                        </p:attrNameLst>
                                      </p:cBhvr>
                                      <p:to>
                                        <p:strVal val="visible"/>
                                      </p:to>
                                    </p:set>
                                    <p:animEffect transition="in" filter="fade">
                                      <p:cBhvr>
                                        <p:cTn id="195" dur="420"/>
                                        <p:tgtEl>
                                          <p:spTgt spid="70"/>
                                        </p:tgtEl>
                                      </p:cBhvr>
                                    </p:animEffect>
                                  </p:childTnLst>
                                </p:cTn>
                              </p:par>
                              <p:par>
                                <p:cTn id="200" fill="hold">
                                  <p:stCondLst>
                                    <p:cond delay="5500"/>
                                  </p:stCondLst>
                                  <p:childTnLst>
                                    <p:set>
                                      <p:cBhvr>
                                        <p:cTn id="199" dur="1" fill="hold">
                                          <p:stCondLst>
                                            <p:cond delay="0"/>
                                          </p:stCondLst>
                                        </p:cTn>
                                        <p:tgtEl>
                                          <p:spTgt spid="71"/>
                                        </p:tgtEl>
                                        <p:attrNameLst>
                                          <p:attrName>style.visibility</p:attrName>
                                        </p:attrNameLst>
                                      </p:cBhvr>
                                      <p:to>
                                        <p:strVal val="visible"/>
                                      </p:to>
                                    </p:set>
                                    <p:animEffect transition="in" filter="fade">
                                      <p:cBhvr>
                                        <p:cTn id="198" dur="420"/>
                                        <p:tgtEl>
                                          <p:spTgt spid="71"/>
                                        </p:tgtEl>
                                      </p:cBhvr>
                                    </p:animEffect>
                                  </p:childTnLst>
                                </p:cTn>
                              </p:par>
                              <p:par>
                                <p:cTn id="203" fill="hold">
                                  <p:stCondLst>
                                    <p:cond delay="5610"/>
                                  </p:stCondLst>
                                  <p:childTnLst>
                                    <p:set>
                                      <p:cBhvr>
                                        <p:cTn id="202" dur="1" fill="hold">
                                          <p:stCondLst>
                                            <p:cond delay="0"/>
                                          </p:stCondLst>
                                        </p:cTn>
                                        <p:tgtEl>
                                          <p:spTgt spid="72"/>
                                        </p:tgtEl>
                                        <p:attrNameLst>
                                          <p:attrName>style.visibility</p:attrName>
                                        </p:attrNameLst>
                                      </p:cBhvr>
                                      <p:to>
                                        <p:strVal val="visible"/>
                                      </p:to>
                                    </p:set>
                                    <p:animEffect transition="in" filter="fade">
                                      <p:cBhvr>
                                        <p:cTn id="201" dur="420"/>
                                        <p:tgtEl>
                                          <p:spTgt spid="72"/>
                                        </p:tgtEl>
                                      </p:cBhvr>
                                    </p:animEffect>
                                  </p:childTnLst>
                                </p:cTn>
                              </p:par>
                              <p:par>
                                <p:cTn id="206" fill="hold">
                                  <p:stCondLst>
                                    <p:cond delay="5720"/>
                                  </p:stCondLst>
                                  <p:childTnLst>
                                    <p:set>
                                      <p:cBhvr>
                                        <p:cTn id="205" dur="1" fill="hold">
                                          <p:stCondLst>
                                            <p:cond delay="0"/>
                                          </p:stCondLst>
                                        </p:cTn>
                                        <p:tgtEl>
                                          <p:spTgt spid="73"/>
                                        </p:tgtEl>
                                        <p:attrNameLst>
                                          <p:attrName>style.visibility</p:attrName>
                                        </p:attrNameLst>
                                      </p:cBhvr>
                                      <p:to>
                                        <p:strVal val="visible"/>
                                      </p:to>
                                    </p:set>
                                    <p:animEffect transition="in" filter="fade">
                                      <p:cBhvr>
                                        <p:cTn id="204" dur="420"/>
                                        <p:tgtEl>
                                          <p:spTgt spid="73"/>
                                        </p:tgtEl>
                                      </p:cBhvr>
                                    </p:animEffect>
                                  </p:childTnLst>
                                </p:cTn>
                              </p:par>
                              <p:par>
                                <p:cTn id="209" fill="hold">
                                  <p:stCondLst>
                                    <p:cond delay="5830"/>
                                  </p:stCondLst>
                                  <p:childTnLst>
                                    <p:set>
                                      <p:cBhvr>
                                        <p:cTn id="208" dur="1" fill="hold">
                                          <p:stCondLst>
                                            <p:cond delay="0"/>
                                          </p:stCondLst>
                                        </p:cTn>
                                        <p:tgtEl>
                                          <p:spTgt spid="74"/>
                                        </p:tgtEl>
                                        <p:attrNameLst>
                                          <p:attrName>style.visibility</p:attrName>
                                        </p:attrNameLst>
                                      </p:cBhvr>
                                      <p:to>
                                        <p:strVal val="visible"/>
                                      </p:to>
                                    </p:set>
                                    <p:animEffect transition="in" filter="fade">
                                      <p:cBhvr>
                                        <p:cTn id="207" dur="420"/>
                                        <p:tgtEl>
                                          <p:spTgt spid="74"/>
                                        </p:tgtEl>
                                      </p:cBhvr>
                                    </p:animEffect>
                                  </p:childTnLst>
                                </p:cTn>
                              </p:par>
                              <p:par>
                                <p:cTn id="212" fill="hold">
                                  <p:stCondLst>
                                    <p:cond delay="5940"/>
                                  </p:stCondLst>
                                  <p:childTnLst>
                                    <p:set>
                                      <p:cBhvr>
                                        <p:cTn id="211" dur="1" fill="hold">
                                          <p:stCondLst>
                                            <p:cond delay="0"/>
                                          </p:stCondLst>
                                        </p:cTn>
                                        <p:tgtEl>
                                          <p:spTgt spid="76"/>
                                        </p:tgtEl>
                                        <p:attrNameLst>
                                          <p:attrName>style.visibility</p:attrName>
                                        </p:attrNameLst>
                                      </p:cBhvr>
                                      <p:to>
                                        <p:strVal val="visible"/>
                                      </p:to>
                                    </p:set>
                                    <p:animEffect transition="in" filter="fade">
                                      <p:cBhvr>
                                        <p:cTn id="210" dur="420"/>
                                        <p:tgtEl>
                                          <p:spTgt spid="76"/>
                                        </p:tgtEl>
                                      </p:cBhvr>
                                    </p:animEffect>
                                  </p:childTnLst>
                                </p:cTn>
                              </p:par>
                              <p:par>
                                <p:cTn id="215" fill="hold">
                                  <p:stCondLst>
                                    <p:cond delay="6050"/>
                                  </p:stCondLst>
                                  <p:childTnLst>
                                    <p:set>
                                      <p:cBhvr>
                                        <p:cTn id="214" dur="1" fill="hold">
                                          <p:stCondLst>
                                            <p:cond delay="0"/>
                                          </p:stCondLst>
                                        </p:cTn>
                                        <p:tgtEl>
                                          <p:spTgt spid="77"/>
                                        </p:tgtEl>
                                        <p:attrNameLst>
                                          <p:attrName>style.visibility</p:attrName>
                                        </p:attrNameLst>
                                      </p:cBhvr>
                                      <p:to>
                                        <p:strVal val="visible"/>
                                      </p:to>
                                    </p:set>
                                    <p:animEffect transition="in" filter="fade">
                                      <p:cBhvr>
                                        <p:cTn id="213" dur="420"/>
                                        <p:tgtEl>
                                          <p:spTgt spid="77"/>
                                        </p:tgtEl>
                                      </p:cBhvr>
                                    </p:animEffect>
                                  </p:childTnLst>
                                </p:cTn>
                              </p:par>
                              <p:par>
                                <p:cTn id="218" fill="hold">
                                  <p:stCondLst>
                                    <p:cond delay="6160"/>
                                  </p:stCondLst>
                                  <p:childTnLst>
                                    <p:set>
                                      <p:cBhvr>
                                        <p:cTn id="217" dur="1" fill="hold">
                                          <p:stCondLst>
                                            <p:cond delay="0"/>
                                          </p:stCondLst>
                                        </p:cTn>
                                        <p:tgtEl>
                                          <p:spTgt spid="78"/>
                                        </p:tgtEl>
                                        <p:attrNameLst>
                                          <p:attrName>style.visibility</p:attrName>
                                        </p:attrNameLst>
                                      </p:cBhvr>
                                      <p:to>
                                        <p:strVal val="visible"/>
                                      </p:to>
                                    </p:set>
                                    <p:animEffect transition="in" filter="fade">
                                      <p:cBhvr>
                                        <p:cTn id="216" dur="420"/>
                                        <p:tgtEl>
                                          <p:spTgt spid="78"/>
                                        </p:tgtEl>
                                      </p:cBhvr>
                                    </p:animEffect>
                                  </p:childTnLst>
                                </p:cTn>
                              </p:par>
                              <p:par>
                                <p:cTn id="221" fill="hold">
                                  <p:stCondLst>
                                    <p:cond delay="6270"/>
                                  </p:stCondLst>
                                  <p:childTnLst>
                                    <p:set>
                                      <p:cBhvr>
                                        <p:cTn id="220" dur="1" fill="hold">
                                          <p:stCondLst>
                                            <p:cond delay="0"/>
                                          </p:stCondLst>
                                        </p:cTn>
                                        <p:tgtEl>
                                          <p:spTgt spid="79"/>
                                        </p:tgtEl>
                                        <p:attrNameLst>
                                          <p:attrName>style.visibility</p:attrName>
                                        </p:attrNameLst>
                                      </p:cBhvr>
                                      <p:to>
                                        <p:strVal val="visible"/>
                                      </p:to>
                                    </p:set>
                                    <p:animEffect transition="in" filter="fade">
                                      <p:cBhvr>
                                        <p:cTn id="219" dur="42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Leyes de De Morgan explicadas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Las dos identidades que permiten transformar circuitos completos sin cambiar su función.</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18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6744596"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de_morgan.png"/>
          <p:cNvPicPr>
            <a:picLocks noChangeAspect="1"/>
          </p:cNvPicPr>
          <p:nvPr/>
        </p:nvPicPr>
        <p:blipFill>
          <a:blip r:embed="rId2"/>
          <a:srcRect l="9875" r="9875"/>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Formas equivalentes: el complemento de un producto es la suma de los complementos, y el complemento de una suma es el producto de los complementos.</a:t>
            </a:r>
          </a:p>
        </p:txBody>
      </p:sp>
      <p:sp>
        <p:nvSpPr>
          <p:cNvPr id="19" name="Oval 18"/>
          <p:cNvSpPr/>
          <p:nvPr/>
        </p:nvSpPr>
        <p:spPr>
          <a:xfrm>
            <a:off x="7793705" y="142646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Primera ley:</a:t>
            </a:r>
            <a:r>
              <a:rPr sz="1050" b="0">
                <a:solidFill>
                  <a:srgbClr val="2C3E56"/>
                </a:solidFill>
                <a:latin typeface="Segoe UI"/>
              </a:rPr>
              <a:t> (A · B)' = A' + B'. Un NAND equivale a un OR con las entradas invertidas.</a:t>
            </a:r>
          </a:p>
        </p:txBody>
      </p:sp>
      <p:sp>
        <p:nvSpPr>
          <p:cNvPr id="21" name="Oval 20"/>
          <p:cNvSpPr/>
          <p:nvPr/>
        </p:nvSpPr>
        <p:spPr>
          <a:xfrm>
            <a:off x="7793705" y="184813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Segunda ley:</a:t>
            </a:r>
            <a:r>
              <a:rPr sz="1050" b="0">
                <a:solidFill>
                  <a:srgbClr val="2C3E56"/>
                </a:solidFill>
                <a:latin typeface="Segoe UI"/>
              </a:rPr>
              <a:t> (A + B)' = A' · B'. Un NOR equivale a un AND con las entradas invertidas.</a:t>
            </a:r>
          </a:p>
        </p:txBody>
      </p:sp>
      <p:sp>
        <p:nvSpPr>
          <p:cNvPr id="23" name="Oval 22"/>
          <p:cNvSpPr/>
          <p:nvPr/>
        </p:nvSpPr>
        <p:spPr>
          <a:xfrm>
            <a:off x="7793705" y="2269815"/>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1:</a:t>
            </a:r>
            <a:r>
              <a:rPr sz="1050" b="0">
                <a:solidFill>
                  <a:srgbClr val="2C3E56"/>
                </a:solidFill>
                <a:latin typeface="Segoe UI"/>
              </a:rPr>
              <a:t> convertir un diseño de NAND a NOR sin cambiar la función lógica, solo redistribuyendo inversiones.</a:t>
            </a:r>
          </a:p>
        </p:txBody>
      </p:sp>
      <p:sp>
        <p:nvSpPr>
          <p:cNvPr id="25" name="Oval 24"/>
          <p:cNvSpPr/>
          <p:nvPr/>
        </p:nvSpPr>
        <p:spPr>
          <a:xfrm>
            <a:off x="7793705" y="2865752"/>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2:</a:t>
            </a:r>
            <a:r>
              <a:rPr sz="1050" b="0">
                <a:solidFill>
                  <a:srgbClr val="2C3E56"/>
                </a:solidFill>
                <a:latin typeface="Segoe UI"/>
              </a:rPr>
              <a:t> aprovechar compuertas de sobra. Si quedan NAND libres en un chip, con ellas se puede construir el OR que falta.</a:t>
            </a:r>
          </a:p>
        </p:txBody>
      </p:sp>
      <p:sp>
        <p:nvSpPr>
          <p:cNvPr id="27" name="Oval 26"/>
          <p:cNvSpPr/>
          <p:nvPr/>
        </p:nvSpPr>
        <p:spPr>
          <a:xfrm>
            <a:off x="7793705" y="346168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3:</a:t>
            </a:r>
            <a:r>
              <a:rPr sz="1050" b="0">
                <a:solidFill>
                  <a:srgbClr val="2C3E56"/>
                </a:solidFill>
                <a:latin typeface="Segoe UI"/>
              </a:rPr>
              <a:t> leer un diagrama con burbujas. Una burbuja en la salida de un símbolo se puede 'empujar' a las entradas cambiando AND por OR.</a:t>
            </a:r>
          </a:p>
        </p:txBody>
      </p:sp>
      <p:sp>
        <p:nvSpPr>
          <p:cNvPr id="29" name="Oval 28"/>
          <p:cNvSpPr/>
          <p:nvPr/>
        </p:nvSpPr>
        <p:spPr>
          <a:xfrm>
            <a:off x="7793705" y="4057627"/>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4002763"/>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Verificación:</a:t>
            </a:r>
            <a:r>
              <a:rPr sz="1050" b="0">
                <a:solidFill>
                  <a:srgbClr val="2C3E56"/>
                </a:solidFill>
                <a:latin typeface="Segoe UI"/>
              </a:rPr>
              <a:t> sustituir A = 0, B = 1 en ambas expresiones y comprobar que dan el mismo resultado (0 y 0).</a:t>
            </a:r>
          </a:p>
        </p:txBody>
      </p:sp>
      <p:sp>
        <p:nvSpPr>
          <p:cNvPr id="31" name="Rounded Rectangle 30"/>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5468112"/>
            <a:ext cx="32004" cy="640080"/>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OBSERVACIÓN</a:t>
            </a:r>
          </a:p>
        </p:txBody>
      </p:sp>
      <p:sp>
        <p:nvSpPr>
          <p:cNvPr id="34" name="TextBox 33"/>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Ejercicio guiado: simplificar Y = (A + B)(B + C)(B + C'). Solución: por distributiva y absorción, Y = B + AC. Se eliminan dos compuertas y un chip.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66" fill="hold">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4" dur="420"/>
                                        <p:tgtEl>
                                          <p:spTgt spid="31"/>
                                        </p:tgtEl>
                                      </p:cBhvr>
                                    </p:animEffect>
                                  </p:childTnLst>
                                </p:cTn>
                              </p:par>
                            </p:childTnLst>
                          </p:cTn>
                        </p:par>
                      </p:childTnLst>
                    </p:cTn>
                  </p:par>
                  <p:par>
                    <p:cTn id="78" fill="hold">
                      <p:stCondLst>
                        <p:cond delay="indefinite"/>
                      </p:stCondLst>
                      <p:childTnLst>
                        <p:par>
                          <p:cTn id="79" fill="hold">
                            <p:stCondLst>
                              <p:cond delay="0"/>
                            </p:stCondLst>
                            <p:childTnLst>
                              <p:par>
                                <p:cTn id="71" fill="hold">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69" dur="420"/>
                                        <p:tgtEl>
                                          <p:spTgt spid="32"/>
                                        </p:tgtEl>
                                      </p:cBhvr>
                                    </p:animEffect>
                                  </p:childTnLst>
                                </p:cTn>
                              </p:par>
                              <p:par>
                                <p:cTn id="74" fill="hold">
                                  <p:stCondLst>
                                    <p:cond delay="110"/>
                                  </p:stCondLst>
                                  <p:childTnLst>
                                    <p:set>
                                      <p:cBhvr>
                                        <p:cTn id="73" dur="1" fill="hold">
                                          <p:stCondLst>
                                            <p:cond delay="0"/>
                                          </p:stCondLst>
                                        </p:cTn>
                                        <p:tgtEl>
                                          <p:spTgt spid="33"/>
                                        </p:tgtEl>
                                        <p:attrNameLst>
                                          <p:attrName>style.visibility</p:attrName>
                                        </p:attrNameLst>
                                      </p:cBhvr>
                                      <p:to>
                                        <p:strVal val="visible"/>
                                      </p:to>
                                    </p:set>
                                    <p:animEffect transition="in" filter="fade">
                                      <p:cBhvr>
                                        <p:cTn id="72" dur="420"/>
                                        <p:tgtEl>
                                          <p:spTgt spid="33"/>
                                        </p:tgtEl>
                                      </p:cBhvr>
                                    </p:animEffect>
                                  </p:childTnLst>
                                </p:cTn>
                              </p:par>
                              <p:par>
                                <p:cTn id="77" fill="hold">
                                  <p:stCondLst>
                                    <p:cond delay="22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Mapas de Karnaugh: simplificación visual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método gráfico que permite agrupar unos y obtener la expresión mínima.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19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119295"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7034753" cy="4005072"/>
          </a:xfrm>
          <a:prstGeom prst="roundRect">
            <a:avLst>
              <a:gd name="adj" fmla="val 10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kmap.png"/>
          <p:cNvPicPr>
            <a:picLocks noChangeAspect="1"/>
          </p:cNvPicPr>
          <p:nvPr/>
        </p:nvPicPr>
        <p:blipFill>
          <a:blip r:embed="rId2"/>
          <a:srcRect t="10250" b="10250"/>
          <a:stretch>
            <a:fillRect/>
          </a:stretch>
        </p:blipFill>
        <p:spPr>
          <a:xfrm>
            <a:off x="539496" y="1435608"/>
            <a:ext cx="6906737" cy="3493008"/>
          </a:xfrm>
          <a:prstGeom prst="roundRect">
            <a:avLst>
              <a:gd name="adj" fmla="val 794"/>
            </a:avLst>
          </a:prstGeom>
        </p:spPr>
      </p:pic>
      <p:sp>
        <p:nvSpPr>
          <p:cNvPr id="18" name="TextBox 17"/>
          <p:cNvSpPr txBox="1"/>
          <p:nvPr/>
        </p:nvSpPr>
        <p:spPr>
          <a:xfrm>
            <a:off x="603504" y="4974336"/>
            <a:ext cx="6778721" cy="347472"/>
          </a:xfrm>
          <a:prstGeom prst="rect">
            <a:avLst/>
          </a:prstGeom>
          <a:noFill/>
        </p:spPr>
        <p:txBody>
          <a:bodyPr wrap="square" lIns="0" rIns="0" tIns="0" bIns="0" anchor="t">
            <a:spAutoFit/>
          </a:bodyPr>
          <a:lstStyle/>
          <a:p>
            <a:pPr algn="l">
              <a:lnSpc>
                <a:spcPct val="102000"/>
              </a:lnSpc>
            </a:pPr>
            <a:r>
              <a:rPr sz="919" b="0">
                <a:solidFill>
                  <a:srgbClr val="61738C"/>
                </a:solidFill>
                <a:latin typeface="Segoe UI"/>
              </a:rPr>
              <a:t>Mapa de 4 variables con dos agrupamientos: un grupo de cuatro unos (elimina dos variables) y uno de dos unos (elimina una variable).</a:t>
            </a:r>
          </a:p>
        </p:txBody>
      </p:sp>
      <p:sp>
        <p:nvSpPr>
          <p:cNvPr id="19" name="Oval 18"/>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0009" y="1371600"/>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1:</a:t>
            </a:r>
            <a:r>
              <a:rPr sz="1000" b="0">
                <a:solidFill>
                  <a:srgbClr val="2C3E56"/>
                </a:solidFill>
                <a:latin typeface="Segoe UI"/>
              </a:rPr>
              <a:t> se agrupan '1' en rectángulos de tamaño 1, 2, 4, 8, 16… siempre potencias de dos.</a:t>
            </a:r>
          </a:p>
        </p:txBody>
      </p:sp>
      <p:sp>
        <p:nvSpPr>
          <p:cNvPr id="21" name="Oval 20"/>
          <p:cNvSpPr/>
          <p:nvPr/>
        </p:nvSpPr>
        <p:spPr>
          <a:xfrm>
            <a:off x="7793705" y="18205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40009" y="1765675"/>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2:</a:t>
            </a:r>
            <a:r>
              <a:rPr sz="1000" b="0">
                <a:solidFill>
                  <a:srgbClr val="2C3E56"/>
                </a:solidFill>
                <a:latin typeface="Segoe UI"/>
              </a:rPr>
              <a:t> los grupos pueden solaparse y pueden dar vuelta por los bordes del mapa (es un cilindro, no una cuadrícula plana).</a:t>
            </a:r>
          </a:p>
        </p:txBody>
      </p:sp>
      <p:sp>
        <p:nvSpPr>
          <p:cNvPr id="23" name="Oval 22"/>
          <p:cNvSpPr/>
          <p:nvPr/>
        </p:nvSpPr>
        <p:spPr>
          <a:xfrm>
            <a:off x="7793705" y="237873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40009" y="2323871"/>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3:</a:t>
            </a:r>
            <a:r>
              <a:rPr sz="1000" b="0">
                <a:solidFill>
                  <a:srgbClr val="2C3E56"/>
                </a:solidFill>
                <a:latin typeface="Segoe UI"/>
              </a:rPr>
              <a:t> dentro de cada grupo se eliminan las variables que cambian de valor y se conservan las que permanecen constantes.</a:t>
            </a:r>
          </a:p>
        </p:txBody>
      </p:sp>
      <p:sp>
        <p:nvSpPr>
          <p:cNvPr id="25" name="Oval 24"/>
          <p:cNvSpPr/>
          <p:nvPr/>
        </p:nvSpPr>
        <p:spPr>
          <a:xfrm>
            <a:off x="7793705" y="2936930"/>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40009" y="2882066"/>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4:</a:t>
            </a:r>
            <a:r>
              <a:rPr sz="1000" b="0">
                <a:solidFill>
                  <a:srgbClr val="2C3E56"/>
                </a:solidFill>
                <a:latin typeface="Segoe UI"/>
              </a:rPr>
              <a:t> se buscan los grupos más grandes posibles con el menor número de grupos; luego se convierten en suma de productos (SOP).</a:t>
            </a:r>
          </a:p>
        </p:txBody>
      </p:sp>
      <p:sp>
        <p:nvSpPr>
          <p:cNvPr id="27" name="Oval 26"/>
          <p:cNvSpPr/>
          <p:nvPr/>
        </p:nvSpPr>
        <p:spPr>
          <a:xfrm>
            <a:off x="7793705" y="349512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0009" y="3440262"/>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Regla 5:</a:t>
            </a:r>
            <a:r>
              <a:rPr sz="1000" b="0">
                <a:solidFill>
                  <a:srgbClr val="2C3E56"/>
                </a:solidFill>
                <a:latin typeface="Segoe UI"/>
              </a:rPr>
              <a:t> los ceros también sirven: agrupándolos se obtiene el producto de sumas (POS).</a:t>
            </a:r>
          </a:p>
        </p:txBody>
      </p:sp>
      <p:sp>
        <p:nvSpPr>
          <p:cNvPr id="29" name="Oval 28"/>
          <p:cNvSpPr/>
          <p:nvPr/>
        </p:nvSpPr>
        <p:spPr>
          <a:xfrm>
            <a:off x="7793705" y="388920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0009" y="3834338"/>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Ejemplo del gráfico:</a:t>
            </a:r>
            <a:r>
              <a:rPr sz="1000" b="0">
                <a:solidFill>
                  <a:srgbClr val="2C3E56"/>
                </a:solidFill>
                <a:latin typeface="Segoe UI"/>
              </a:rPr>
              <a:t> el grupo verde de cuatro unos equivale a eliminar dos variables; el naranja de dos, una.</a:t>
            </a:r>
          </a:p>
        </p:txBody>
      </p:sp>
      <p:sp>
        <p:nvSpPr>
          <p:cNvPr id="31" name="Oval 30"/>
          <p:cNvSpPr/>
          <p:nvPr/>
        </p:nvSpPr>
        <p:spPr>
          <a:xfrm>
            <a:off x="7793705" y="4283278"/>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09" y="4228414"/>
            <a:ext cx="3712463" cy="492358"/>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Para 5 o 6 variables</a:t>
            </a:r>
            <a:r>
              <a:rPr sz="1000" b="0">
                <a:solidFill>
                  <a:srgbClr val="2C3E56"/>
                </a:solidFill>
                <a:latin typeface="Segoe UI"/>
              </a:rPr>
              <a:t> existen mapas de doble plano y métodos tabulares (Quine-McCluskey) cuando la función es muy grande.</a:t>
            </a:r>
          </a:p>
        </p:txBody>
      </p:sp>
      <p:sp>
        <p:nvSpPr>
          <p:cNvPr id="33" name="Oval 32"/>
          <p:cNvSpPr/>
          <p:nvPr/>
        </p:nvSpPr>
        <p:spPr>
          <a:xfrm>
            <a:off x="7793705" y="484147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40009" y="4786609"/>
            <a:ext cx="3712463" cy="328239"/>
          </a:xfrm>
          <a:prstGeom prst="rect">
            <a:avLst/>
          </a:prstGeom>
          <a:noFill/>
        </p:spPr>
        <p:txBody>
          <a:bodyPr wrap="square" lIns="0" rIns="0" tIns="0" bIns="0" anchor="t">
            <a:spAutoFit/>
          </a:bodyPr>
          <a:lstStyle/>
          <a:p>
            <a:pPr algn="l">
              <a:lnSpc>
                <a:spcPct val="106800"/>
              </a:lnSpc>
            </a:pPr>
            <a:r>
              <a:rPr sz="1000" b="1">
                <a:solidFill>
                  <a:srgbClr val="2C3E56"/>
                </a:solidFill>
                <a:latin typeface="Segoe UI Semibold"/>
              </a:rPr>
              <a:t>Verificación final:</a:t>
            </a:r>
            <a:r>
              <a:rPr sz="1000" b="0">
                <a:solidFill>
                  <a:srgbClr val="2C3E56"/>
                </a:solidFill>
                <a:latin typeface="Segoe UI"/>
              </a:rPr>
              <a:t> probar la expresión simplificada con las filas de la tabla de verdad original.</a:t>
            </a:r>
          </a:p>
        </p:txBody>
      </p:sp>
      <p:sp>
        <p:nvSpPr>
          <p:cNvPr id="35" name="Rounded Rectangle 34"/>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8" name="TextBox 37"/>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Los mapas de Karnaugh son secuenciales en el papel y se pueden programar: en el laboratorio se usa el mapa mentalmente para decidir cuántos chips de la Serie 74XX se necesitan realmente.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anim calcmode="lin" valueType="num">
                                      <p:cBhvr additive="base">
                                        <p:cTn id="36" dur="420" fill="hold"/>
                                        <p:tgtEl>
                                          <p:spTgt spid="20"/>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2"/>
                                        </p:tgtEl>
                                        <p:attrNameLst>
                                          <p:attrName>style.visibility</p:attrName>
                                        </p:attrNameLst>
                                      </p:cBhvr>
                                      <p:to>
                                        <p:strVal val="visible"/>
                                      </p:to>
                                    </p:set>
                                    <p:animEffect transition="in" filter="fade">
                                      <p:cBhvr>
                                        <p:cTn id="38" dur="420"/>
                                        <p:tgtEl>
                                          <p:spTgt spid="22"/>
                                        </p:tgtEl>
                                      </p:cBhvr>
                                    </p:animEffect>
                                    <p:anim calcmode="lin" valueType="num">
                                      <p:cBhvr additive="base">
                                        <p:cTn id="40" dur="420" fill="hold"/>
                                        <p:tgtEl>
                                          <p:spTgt spid="22"/>
                                        </p:tgtEl>
                                        <p:attrNameLst>
                                          <p:attrName>ppt_y</p:attrName>
                                        </p:attrNameLst>
                                      </p:cBhvr>
                                      <p:tavLst>
                                        <p:tav tm="0">
                                          <p:val>
                                            <p:strVal val="0.06"/>
                                          </p:val>
                                        </p:tav>
                                        <p:tav tm="100000">
                                          <p:val>
                                            <p:strVal val="0"/>
                                          </p:val>
                                        </p:tav>
                                      </p:tavLst>
                                    </p:anim>
                                  </p:childTnLst>
                                </p:cTn>
                              </p:par>
                            </p:childTnLst>
                          </p:cTn>
                        </p:par>
                      </p:childTnLst>
                    </p:cTn>
                  </p:par>
                  <p:par>
                    <p:cTn id="52" fill="hold">
                      <p:stCondLst>
                        <p:cond delay="indefinite"/>
                      </p:stCondLst>
                      <p:childTnLst>
                        <p:par>
                          <p:cTn id="53" fill="hold">
                            <p:stCondLst>
                              <p:cond delay="0"/>
                            </p:stCondLst>
                            <p:childTnLst>
                              <p:par>
                                <p:cTn id="47" fill="hold">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4" dur="420"/>
                                        <p:tgtEl>
                                          <p:spTgt spid="24"/>
                                        </p:tgtEl>
                                      </p:cBhvr>
                                    </p:animEffect>
                                    <p:anim calcmode="lin" valueType="num">
                                      <p:cBhvr additive="base">
                                        <p:cTn id="46" dur="420" fill="hold"/>
                                        <p:tgtEl>
                                          <p:spTgt spid="24"/>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6"/>
                                        </p:tgtEl>
                                        <p:attrNameLst>
                                          <p:attrName>style.visibility</p:attrName>
                                        </p:attrNameLst>
                                      </p:cBhvr>
                                      <p:to>
                                        <p:strVal val="visible"/>
                                      </p:to>
                                    </p:set>
                                    <p:animEffect transition="in" filter="fade">
                                      <p:cBhvr>
                                        <p:cTn id="48" dur="420"/>
                                        <p:tgtEl>
                                          <p:spTgt spid="26"/>
                                        </p:tgtEl>
                                      </p:cBhvr>
                                    </p:animEffect>
                                    <p:anim calcmode="lin" valueType="num">
                                      <p:cBhvr additive="base">
                                        <p:cTn id="50" dur="420" fill="hold"/>
                                        <p:tgtEl>
                                          <p:spTgt spid="26"/>
                                        </p:tgtEl>
                                        <p:attrNameLst>
                                          <p:attrName>ppt_y</p:attrName>
                                        </p:attrNameLst>
                                      </p:cBhvr>
                                      <p:tavLst>
                                        <p:tav tm="0">
                                          <p:val>
                                            <p:strVal val="0.06"/>
                                          </p:val>
                                        </p:tav>
                                        <p:tav tm="100000">
                                          <p:val>
                                            <p:strVal val="0"/>
                                          </p:val>
                                        </p:tav>
                                      </p:tavLst>
                                    </p:anim>
                                  </p:childTnLst>
                                </p:cTn>
                              </p:par>
                            </p:childTnLst>
                          </p:cTn>
                        </p:par>
                      </p:childTnLst>
                    </p:cTn>
                  </p:par>
                  <p:par>
                    <p:cTn id="62" fill="hold">
                      <p:stCondLst>
                        <p:cond delay="indefinite"/>
                      </p:stCondLst>
                      <p:childTnLst>
                        <p:par>
                          <p:cTn id="63" fill="hold">
                            <p:stCondLst>
                              <p:cond delay="0"/>
                            </p:stCondLst>
                            <p:childTnLst>
                              <p:par>
                                <p:cTn id="57" fill="hold">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4" dur="420"/>
                                        <p:tgtEl>
                                          <p:spTgt spid="28"/>
                                        </p:tgtEl>
                                      </p:cBhvr>
                                    </p:animEffect>
                                    <p:anim calcmode="lin" valueType="num">
                                      <p:cBhvr additive="base">
                                        <p:cTn id="56" dur="420" fill="hold"/>
                                        <p:tgtEl>
                                          <p:spTgt spid="28"/>
                                        </p:tgtEl>
                                        <p:attrNameLst>
                                          <p:attrName>ppt_y</p:attrName>
                                        </p:attrNameLst>
                                      </p:cBhvr>
                                      <p:tavLst>
                                        <p:tav tm="0">
                                          <p:val>
                                            <p:strVal val="0.06"/>
                                          </p:val>
                                        </p:tav>
                                        <p:tav tm="100000">
                                          <p:val>
                                            <p:strVal val="0"/>
                                          </p:val>
                                        </p:tav>
                                      </p:tavLst>
                                    </p:anim>
                                  </p:childTnLst>
                                </p:cTn>
                              </p:par>
                              <p:par>
                                <p:cTn id="61" fill="hold">
                                  <p:stCondLst>
                                    <p:cond delay="110"/>
                                  </p:stCondLst>
                                  <p:childTnLst>
                                    <p:set>
                                      <p:cBhvr>
                                        <p:cTn id="59" dur="1" fill="hold">
                                          <p:stCondLst>
                                            <p:cond delay="0"/>
                                          </p:stCondLst>
                                        </p:cTn>
                                        <p:tgtEl>
                                          <p:spTgt spid="30"/>
                                        </p:tgtEl>
                                        <p:attrNameLst>
                                          <p:attrName>style.visibility</p:attrName>
                                        </p:attrNameLst>
                                      </p:cBhvr>
                                      <p:to>
                                        <p:strVal val="visible"/>
                                      </p:to>
                                    </p:set>
                                    <p:animEffect transition="in" filter="fade">
                                      <p:cBhvr>
                                        <p:cTn id="58" dur="420"/>
                                        <p:tgtEl>
                                          <p:spTgt spid="30"/>
                                        </p:tgtEl>
                                      </p:cBhvr>
                                    </p:animEffect>
                                    <p:anim calcmode="lin" valueType="num">
                                      <p:cBhvr additive="base">
                                        <p:cTn id="60"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72" fill="hold">
                      <p:stCondLst>
                        <p:cond delay="indefinite"/>
                      </p:stCondLst>
                      <p:childTnLst>
                        <p:par>
                          <p:cTn id="73" fill="hold">
                            <p:stCondLst>
                              <p:cond delay="0"/>
                            </p:stCondLst>
                            <p:childTnLst>
                              <p:par>
                                <p:cTn id="67" fill="hold">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4" dur="420"/>
                                        <p:tgtEl>
                                          <p:spTgt spid="32"/>
                                        </p:tgtEl>
                                      </p:cBhvr>
                                    </p:animEffect>
                                    <p:anim calcmode="lin" valueType="num">
                                      <p:cBhvr additive="base">
                                        <p:cTn id="66" dur="420" fill="hold"/>
                                        <p:tgtEl>
                                          <p:spTgt spid="32"/>
                                        </p:tgtEl>
                                        <p:attrNameLst>
                                          <p:attrName>ppt_y</p:attrName>
                                        </p:attrNameLst>
                                      </p:cBhvr>
                                      <p:tavLst>
                                        <p:tav tm="0">
                                          <p:val>
                                            <p:strVal val="0.06"/>
                                          </p:val>
                                        </p:tav>
                                        <p:tav tm="100000">
                                          <p:val>
                                            <p:strVal val="0"/>
                                          </p:val>
                                        </p:tav>
                                      </p:tavLst>
                                    </p:anim>
                                  </p:childTnLst>
                                </p:cTn>
                              </p:par>
                              <p:par>
                                <p:cTn id="71" fill="hold">
                                  <p:stCondLst>
                                    <p:cond delay="110"/>
                                  </p:stCondLst>
                                  <p:childTnLst>
                                    <p:set>
                                      <p:cBhvr>
                                        <p:cTn id="69" dur="1" fill="hold">
                                          <p:stCondLst>
                                            <p:cond delay="0"/>
                                          </p:stCondLst>
                                        </p:cTn>
                                        <p:tgtEl>
                                          <p:spTgt spid="34"/>
                                        </p:tgtEl>
                                        <p:attrNameLst>
                                          <p:attrName>style.visibility</p:attrName>
                                        </p:attrNameLst>
                                      </p:cBhvr>
                                      <p:to>
                                        <p:strVal val="visible"/>
                                      </p:to>
                                    </p:set>
                                    <p:animEffect transition="in" filter="fade">
                                      <p:cBhvr>
                                        <p:cTn id="68" dur="420"/>
                                        <p:tgtEl>
                                          <p:spTgt spid="34"/>
                                        </p:tgtEl>
                                      </p:cBhvr>
                                    </p:animEffect>
                                    <p:anim calcmode="lin" valueType="num">
                                      <p:cBhvr additive="base">
                                        <p:cTn id="70" dur="420" fill="hold"/>
                                        <p:tgtEl>
                                          <p:spTgt spid="34"/>
                                        </p:tgtEl>
                                        <p:attrNameLst>
                                          <p:attrName>ppt_y</p:attrName>
                                        </p:attrNameLst>
                                      </p:cBhvr>
                                      <p:tavLst>
                                        <p:tav tm="0">
                                          <p:val>
                                            <p:strVal val="0.06"/>
                                          </p:val>
                                        </p:tav>
                                        <p:tav tm="100000">
                                          <p:val>
                                            <p:strVal val="0"/>
                                          </p:val>
                                        </p:tav>
                                      </p:tavLst>
                                    </p:anim>
                                  </p:childTnLst>
                                </p:cTn>
                              </p:par>
                            </p:childTnLst>
                          </p:cTn>
                        </p:par>
                      </p:childTnLst>
                    </p:cTn>
                  </p:par>
                  <p:par>
                    <p:cTn id="86" fill="hold">
                      <p:stCondLst>
                        <p:cond delay="indefinite"/>
                      </p:stCondLst>
                      <p:childTnLst>
                        <p:par>
                          <p:cTn id="87" fill="hold">
                            <p:stCondLst>
                              <p:cond delay="0"/>
                            </p:stCondLst>
                            <p:childTnLst>
                              <p:par>
                                <p:cTn id="76" fill="hold">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4" dur="420"/>
                                        <p:tgtEl>
                                          <p:spTgt spid="35"/>
                                        </p:tgtEl>
                                      </p:cBhvr>
                                    </p:animEffect>
                                  </p:childTnLst>
                                </p:cTn>
                              </p:par>
                              <p:par>
                                <p:cTn id="79" fill="hold">
                                  <p:stCondLst>
                                    <p:cond delay="110"/>
                                  </p:stCondLst>
                                  <p:childTnLst>
                                    <p:set>
                                      <p:cBhvr>
                                        <p:cTn id="78" dur="1" fill="hold">
                                          <p:stCondLst>
                                            <p:cond delay="0"/>
                                          </p:stCondLst>
                                        </p:cTn>
                                        <p:tgtEl>
                                          <p:spTgt spid="36"/>
                                        </p:tgtEl>
                                        <p:attrNameLst>
                                          <p:attrName>style.visibility</p:attrName>
                                        </p:attrNameLst>
                                      </p:cBhvr>
                                      <p:to>
                                        <p:strVal val="visible"/>
                                      </p:to>
                                    </p:set>
                                    <p:animEffect transition="in" filter="fade">
                                      <p:cBhvr>
                                        <p:cTn id="77" dur="420"/>
                                        <p:tgtEl>
                                          <p:spTgt spid="36"/>
                                        </p:tgtEl>
                                      </p:cBhvr>
                                    </p:animEffect>
                                  </p:childTnLst>
                                </p:cTn>
                              </p:par>
                              <p:par>
                                <p:cTn id="82" fill="hold">
                                  <p:stCondLst>
                                    <p:cond delay="220"/>
                                  </p:stCondLst>
                                  <p:childTnLst>
                                    <p:set>
                                      <p:cBhvr>
                                        <p:cTn id="81" dur="1" fill="hold">
                                          <p:stCondLst>
                                            <p:cond delay="0"/>
                                          </p:stCondLst>
                                        </p:cTn>
                                        <p:tgtEl>
                                          <p:spTgt spid="37"/>
                                        </p:tgtEl>
                                        <p:attrNameLst>
                                          <p:attrName>style.visibility</p:attrName>
                                        </p:attrNameLst>
                                      </p:cBhvr>
                                      <p:to>
                                        <p:strVal val="visible"/>
                                      </p:to>
                                    </p:set>
                                    <p:animEffect transition="in" filter="fade">
                                      <p:cBhvr>
                                        <p:cTn id="80" dur="420"/>
                                        <p:tgtEl>
                                          <p:spTgt spid="37"/>
                                        </p:tgtEl>
                                      </p:cBhvr>
                                    </p:animEffect>
                                  </p:childTnLst>
                                </p:cTn>
                              </p:par>
                              <p:par>
                                <p:cTn id="85" fill="hold">
                                  <p:stCondLst>
                                    <p:cond delay="330"/>
                                  </p:stCondLst>
                                  <p:childTnLst>
                                    <p:set>
                                      <p:cBhvr>
                                        <p:cTn id="84" dur="1" fill="hold">
                                          <p:stCondLst>
                                            <p:cond delay="0"/>
                                          </p:stCondLst>
                                        </p:cTn>
                                        <p:tgtEl>
                                          <p:spTgt spid="38"/>
                                        </p:tgtEl>
                                        <p:attrNameLst>
                                          <p:attrName>style.visibility</p:attrName>
                                        </p:attrNameLst>
                                      </p:cBhvr>
                                      <p:to>
                                        <p:strVal val="visible"/>
                                      </p:to>
                                    </p:set>
                                    <p:animEffect transition="in" filter="fade">
                                      <p:cBhvr>
                                        <p:cTn id="83" dur="42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0E7C94">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0E7C9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0E7C94"/>
                </a:solidFill>
                <a:latin typeface="Consolas"/>
              </a:rPr>
              <a:t>01 · FUNDAMENTOS DE LA LÓGICA DIGITAL</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Formas canónicas y síntesis de funciones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De la tabla de verdad a la lista de compuertas, sin ambigüedad.</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20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7493995" cy="32004"/>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75488" y="1481328"/>
            <a:ext cx="32004" cy="384048"/>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1490472"/>
            <a:ext cx="457200" cy="201168"/>
          </a:xfrm>
          <a:prstGeom prst="rect">
            <a:avLst/>
          </a:prstGeom>
          <a:noFill/>
        </p:spPr>
        <p:txBody>
          <a:bodyPr wrap="square" lIns="0" rIns="0" tIns="0" bIns="0" anchor="t">
            <a:spAutoFit/>
          </a:bodyPr>
          <a:lstStyle/>
          <a:p>
            <a:pPr algn="l">
              <a:lnSpc>
                <a:spcPct val="100000"/>
              </a:lnSpc>
            </a:pPr>
            <a:r>
              <a:rPr sz="900" b="1">
                <a:solidFill>
                  <a:srgbClr val="0E7C94"/>
                </a:solidFill>
                <a:latin typeface="Consolas"/>
              </a:rPr>
              <a:t>m</a:t>
            </a:r>
          </a:p>
        </p:txBody>
      </p:sp>
      <p:sp>
        <p:nvSpPr>
          <p:cNvPr id="19" name="TextBox 18"/>
          <p:cNvSpPr txBox="1"/>
          <p:nvPr/>
        </p:nvSpPr>
        <p:spPr>
          <a:xfrm>
            <a:off x="658368"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Minitérmino</a:t>
            </a:r>
          </a:p>
        </p:txBody>
      </p:sp>
      <p:sp>
        <p:nvSpPr>
          <p:cNvPr id="20" name="TextBox 19"/>
          <p:cNvSpPr txBox="1"/>
          <p:nvPr/>
        </p:nvSpPr>
        <p:spPr>
          <a:xfrm>
            <a:off x="658368"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Producto AND en el que cada variable aparece una vez (directa o negada) y que vale 1 en exactamente una fila de la tabla. Notación: m3 = A'BC.</a:t>
            </a:r>
          </a:p>
        </p:txBody>
      </p:sp>
      <p:sp>
        <p:nvSpPr>
          <p:cNvPr id="21" name="Rounded Rectangle 20"/>
          <p:cNvSpPr/>
          <p:nvPr/>
        </p:nvSpPr>
        <p:spPr>
          <a:xfrm>
            <a:off x="4289541"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289541"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35845" y="1490472"/>
            <a:ext cx="457200" cy="201168"/>
          </a:xfrm>
          <a:prstGeom prst="rect">
            <a:avLst/>
          </a:prstGeom>
          <a:noFill/>
        </p:spPr>
        <p:txBody>
          <a:bodyPr wrap="square" lIns="0" rIns="0" tIns="0" bIns="0" anchor="t">
            <a:spAutoFit/>
          </a:bodyPr>
          <a:lstStyle/>
          <a:p>
            <a:pPr algn="l">
              <a:lnSpc>
                <a:spcPct val="100000"/>
              </a:lnSpc>
            </a:pPr>
            <a:r>
              <a:rPr sz="900" b="1">
                <a:solidFill>
                  <a:srgbClr val="0E8A5F"/>
                </a:solidFill>
                <a:latin typeface="Consolas"/>
              </a:rPr>
              <a:t>Σm</a:t>
            </a:r>
          </a:p>
        </p:txBody>
      </p:sp>
      <p:sp>
        <p:nvSpPr>
          <p:cNvPr id="24" name="TextBox 23"/>
          <p:cNvSpPr txBox="1"/>
          <p:nvPr/>
        </p:nvSpPr>
        <p:spPr>
          <a:xfrm>
            <a:off x="4472421"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Suma de productos (SOP)</a:t>
            </a:r>
          </a:p>
        </p:txBody>
      </p:sp>
      <p:sp>
        <p:nvSpPr>
          <p:cNvPr id="25" name="TextBox 24"/>
          <p:cNvSpPr txBox="1"/>
          <p:nvPr/>
        </p:nvSpPr>
        <p:spPr>
          <a:xfrm>
            <a:off x="4472421"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OR de todos los minitérminos que producen 1. Es la forma natural de leer una tabla de verdad fila por fila.</a:t>
            </a:r>
          </a:p>
        </p:txBody>
      </p:sp>
      <p:sp>
        <p:nvSpPr>
          <p:cNvPr id="26" name="Rounded Rectangle 25"/>
          <p:cNvSpPr/>
          <p:nvPr/>
        </p:nvSpPr>
        <p:spPr>
          <a:xfrm>
            <a:off x="8103595" y="1371600"/>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103595"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49899" y="1490472"/>
            <a:ext cx="457200" cy="201168"/>
          </a:xfrm>
          <a:prstGeom prst="rect">
            <a:avLst/>
          </a:prstGeom>
          <a:noFill/>
        </p:spPr>
        <p:txBody>
          <a:bodyPr wrap="square" lIns="0" rIns="0" tIns="0" bIns="0" anchor="t">
            <a:spAutoFit/>
          </a:bodyPr>
          <a:lstStyle/>
          <a:p>
            <a:pPr algn="l">
              <a:lnSpc>
                <a:spcPct val="100000"/>
              </a:lnSpc>
            </a:pPr>
            <a:r>
              <a:rPr sz="900" b="1">
                <a:solidFill>
                  <a:srgbClr val="C2690A"/>
                </a:solidFill>
                <a:latin typeface="Consolas"/>
              </a:rPr>
              <a:t>M</a:t>
            </a:r>
          </a:p>
        </p:txBody>
      </p:sp>
      <p:sp>
        <p:nvSpPr>
          <p:cNvPr id="29" name="TextBox 28"/>
          <p:cNvSpPr txBox="1"/>
          <p:nvPr/>
        </p:nvSpPr>
        <p:spPr>
          <a:xfrm>
            <a:off x="8286475" y="1517904"/>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Maxitérmino</a:t>
            </a:r>
          </a:p>
        </p:txBody>
      </p:sp>
      <p:sp>
        <p:nvSpPr>
          <p:cNvPr id="30" name="TextBox 29"/>
          <p:cNvSpPr txBox="1"/>
          <p:nvPr/>
        </p:nvSpPr>
        <p:spPr>
          <a:xfrm>
            <a:off x="8286475" y="1828800"/>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Suma OR con una variable por término, que vale 0 en exactamente una fila. Notación: M2 = A + B' + C.</a:t>
            </a:r>
          </a:p>
        </p:txBody>
      </p:sp>
      <p:sp>
        <p:nvSpPr>
          <p:cNvPr id="31" name="Rounded Rectangle 30"/>
          <p:cNvSpPr/>
          <p:nvPr/>
        </p:nvSpPr>
        <p:spPr>
          <a:xfrm>
            <a:off x="475488"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75488" y="348843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3497579"/>
            <a:ext cx="457200" cy="201168"/>
          </a:xfrm>
          <a:prstGeom prst="rect">
            <a:avLst/>
          </a:prstGeom>
          <a:noFill/>
        </p:spPr>
        <p:txBody>
          <a:bodyPr wrap="square" lIns="0" rIns="0" tIns="0" bIns="0" anchor="t">
            <a:spAutoFit/>
          </a:bodyPr>
          <a:lstStyle/>
          <a:p>
            <a:pPr algn="l">
              <a:lnSpc>
                <a:spcPct val="100000"/>
              </a:lnSpc>
            </a:pPr>
            <a:r>
              <a:rPr sz="900" b="1">
                <a:solidFill>
                  <a:srgbClr val="6D46E0"/>
                </a:solidFill>
                <a:latin typeface="Consolas"/>
              </a:rPr>
              <a:t>ΠM</a:t>
            </a:r>
          </a:p>
        </p:txBody>
      </p:sp>
      <p:sp>
        <p:nvSpPr>
          <p:cNvPr id="34" name="TextBox 33"/>
          <p:cNvSpPr txBox="1"/>
          <p:nvPr/>
        </p:nvSpPr>
        <p:spPr>
          <a:xfrm>
            <a:off x="658368"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Producto de sumas (POS)</a:t>
            </a:r>
          </a:p>
        </p:txBody>
      </p:sp>
      <p:sp>
        <p:nvSpPr>
          <p:cNvPr id="35" name="TextBox 34"/>
          <p:cNvSpPr txBox="1"/>
          <p:nvPr/>
        </p:nvSpPr>
        <p:spPr>
          <a:xfrm>
            <a:off x="658368"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AND de los maxitérminos que producen 0. Suele dar menos compuertas cuando la tabla tiene pocos ceros.</a:t>
            </a:r>
          </a:p>
        </p:txBody>
      </p:sp>
      <p:sp>
        <p:nvSpPr>
          <p:cNvPr id="36" name="Rounded Rectangle 35"/>
          <p:cNvSpPr/>
          <p:nvPr/>
        </p:nvSpPr>
        <p:spPr>
          <a:xfrm>
            <a:off x="4289541"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289541" y="3488436"/>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35845" y="3497579"/>
            <a:ext cx="457200" cy="201168"/>
          </a:xfrm>
          <a:prstGeom prst="rect">
            <a:avLst/>
          </a:prstGeom>
          <a:noFill/>
        </p:spPr>
        <p:txBody>
          <a:bodyPr wrap="square" lIns="0" rIns="0" tIns="0" bIns="0" anchor="t">
            <a:spAutoFit/>
          </a:bodyPr>
          <a:lstStyle/>
          <a:p>
            <a:pPr algn="l">
              <a:lnSpc>
                <a:spcPct val="100000"/>
              </a:lnSpc>
            </a:pPr>
            <a:r>
              <a:rPr sz="850" b="1">
                <a:solidFill>
                  <a:srgbClr val="C42B6B"/>
                </a:solidFill>
                <a:latin typeface="Consolas"/>
              </a:rPr>
              <a:t>3 niveles</a:t>
            </a:r>
          </a:p>
        </p:txBody>
      </p:sp>
      <p:sp>
        <p:nvSpPr>
          <p:cNvPr id="39" name="TextBox 38"/>
          <p:cNvSpPr txBox="1"/>
          <p:nvPr/>
        </p:nvSpPr>
        <p:spPr>
          <a:xfrm>
            <a:off x="4472421"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SOP con NAND</a:t>
            </a:r>
          </a:p>
        </p:txBody>
      </p:sp>
      <p:sp>
        <p:nvSpPr>
          <p:cNvPr id="40" name="TextBox 39"/>
          <p:cNvSpPr txBox="1"/>
          <p:nvPr/>
        </p:nvSpPr>
        <p:spPr>
          <a:xfrm>
            <a:off x="4472421"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Cualquier SOP se implementa con dos niveles de NAND más inversores en las variables negadas. Es la ruta típica con chips 7400.</a:t>
            </a:r>
          </a:p>
        </p:txBody>
      </p:sp>
      <p:sp>
        <p:nvSpPr>
          <p:cNvPr id="41" name="Rounded Rectangle 40"/>
          <p:cNvSpPr/>
          <p:nvPr/>
        </p:nvSpPr>
        <p:spPr>
          <a:xfrm>
            <a:off x="8103595" y="3378708"/>
            <a:ext cx="3612885" cy="1805939"/>
          </a:xfrm>
          <a:prstGeom prst="roundRect">
            <a:avLst>
              <a:gd name="adj" fmla="val 253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03595" y="3488436"/>
            <a:ext cx="32004" cy="384048"/>
          </a:xfrm>
          <a:prstGeom prst="rect">
            <a:avLst/>
          </a:prstGeom>
          <a:solidFill>
            <a:srgbClr val="1E5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249899" y="3497579"/>
            <a:ext cx="457200" cy="201168"/>
          </a:xfrm>
          <a:prstGeom prst="rect">
            <a:avLst/>
          </a:prstGeom>
          <a:noFill/>
        </p:spPr>
        <p:txBody>
          <a:bodyPr wrap="square" lIns="0" rIns="0" tIns="0" bIns="0" anchor="t">
            <a:spAutoFit/>
          </a:bodyPr>
          <a:lstStyle/>
          <a:p>
            <a:pPr algn="l">
              <a:lnSpc>
                <a:spcPct val="100000"/>
              </a:lnSpc>
            </a:pPr>
            <a:r>
              <a:rPr sz="850" b="1">
                <a:solidFill>
                  <a:srgbClr val="1E5FD0"/>
                </a:solidFill>
                <a:latin typeface="Consolas"/>
              </a:rPr>
              <a:t>3 niveles</a:t>
            </a:r>
          </a:p>
        </p:txBody>
      </p:sp>
      <p:sp>
        <p:nvSpPr>
          <p:cNvPr id="44" name="TextBox 43"/>
          <p:cNvSpPr txBox="1"/>
          <p:nvPr/>
        </p:nvSpPr>
        <p:spPr>
          <a:xfrm>
            <a:off x="8286475" y="3525012"/>
            <a:ext cx="3247125" cy="274320"/>
          </a:xfrm>
          <a:prstGeom prst="rect">
            <a:avLst/>
          </a:prstGeom>
          <a:noFill/>
        </p:spPr>
        <p:txBody>
          <a:bodyPr wrap="square" lIns="0" rIns="0" tIns="0" bIns="0" anchor="t">
            <a:spAutoFit/>
          </a:bodyPr>
          <a:lstStyle/>
          <a:p>
            <a:pPr algn="l">
              <a:lnSpc>
                <a:spcPct val="98000"/>
              </a:lnSpc>
            </a:pPr>
            <a:r>
              <a:rPr sz="1350" b="1">
                <a:solidFill>
                  <a:srgbClr val="0D1A2B"/>
                </a:solidFill>
                <a:latin typeface="Segoe UI Semibold"/>
              </a:rPr>
              <a:t>POS con NOR</a:t>
            </a:r>
          </a:p>
        </p:txBody>
      </p:sp>
      <p:sp>
        <p:nvSpPr>
          <p:cNvPr id="45" name="TextBox 44"/>
          <p:cNvSpPr txBox="1"/>
          <p:nvPr/>
        </p:nvSpPr>
        <p:spPr>
          <a:xfrm>
            <a:off x="8286475" y="3835908"/>
            <a:ext cx="3247125" cy="1303019"/>
          </a:xfrm>
          <a:prstGeom prst="rect">
            <a:avLst/>
          </a:prstGeom>
          <a:noFill/>
        </p:spPr>
        <p:txBody>
          <a:bodyPr wrap="square" lIns="0" rIns="0" tIns="0" bIns="0" anchor="t">
            <a:spAutoFit/>
          </a:bodyPr>
          <a:lstStyle/>
          <a:p>
            <a:pPr algn="l">
              <a:lnSpc>
                <a:spcPct val="110000"/>
              </a:lnSpc>
            </a:pPr>
            <a:r>
              <a:rPr sz="1150" b="0">
                <a:solidFill>
                  <a:srgbClr val="2C3E56"/>
                </a:solidFill>
                <a:latin typeface="Segoe UI"/>
              </a:rPr>
              <a:t>Cualquier POS se implementa con NOR en dos niveles (Al aplicar De Morgan). Útil cuando el tablero tiene chips 7402 disponibles.</a:t>
            </a:r>
          </a:p>
        </p:txBody>
      </p:sp>
      <p:sp>
        <p:nvSpPr>
          <p:cNvPr id="46" name="Rounded Rectangle 45"/>
          <p:cNvSpPr/>
          <p:nvPr/>
        </p:nvSpPr>
        <p:spPr>
          <a:xfrm>
            <a:off x="475488" y="5330952"/>
            <a:ext cx="11240993" cy="86868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75488" y="5422392"/>
            <a:ext cx="32004" cy="685800"/>
          </a:xfrm>
          <a:prstGeom prst="rect">
            <a:avLst/>
          </a:prstGeom>
          <a:solidFill>
            <a:srgbClr val="0E7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422392"/>
            <a:ext cx="2011680" cy="182880"/>
          </a:xfrm>
          <a:prstGeom prst="rect">
            <a:avLst/>
          </a:prstGeom>
          <a:noFill/>
        </p:spPr>
        <p:txBody>
          <a:bodyPr wrap="square" lIns="0" rIns="0" tIns="0" bIns="0" anchor="t">
            <a:spAutoFit/>
          </a:bodyPr>
          <a:lstStyle/>
          <a:p>
            <a:pPr algn="l">
              <a:lnSpc>
                <a:spcPct val="100000"/>
              </a:lnSpc>
            </a:pPr>
            <a:r>
              <a:rPr sz="850" b="1">
                <a:solidFill>
                  <a:srgbClr val="0E7C94"/>
                </a:solidFill>
                <a:latin typeface="Consolas"/>
              </a:rPr>
              <a:t>NOTA TÉCNICA</a:t>
            </a:r>
          </a:p>
        </p:txBody>
      </p:sp>
      <p:sp>
        <p:nvSpPr>
          <p:cNvPr id="49" name="TextBox 48"/>
          <p:cNvSpPr txBox="1"/>
          <p:nvPr/>
        </p:nvSpPr>
        <p:spPr>
          <a:xfrm>
            <a:off x="640080" y="5605272"/>
            <a:ext cx="10911809" cy="48463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Secuencia de diseño: enunciado → tabla de verdad → minitérminos → simplificación (Boole o Karnaugh) → compuertas disponibles → lista de chips → montaje. Nunca se debe empezar por el montaje.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43" fill="hold">
                      <p:stCondLst>
                        <p:cond delay="indefinite"/>
                      </p:stCondLst>
                      <p:childTnLst>
                        <p:par>
                          <p:cTn id="44"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par>
                                <p:cTn id="34" fill="hold">
                                  <p:stCondLst>
                                    <p:cond delay="2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1" dur="420"/>
                                        <p:tgtEl>
                                          <p:spTgt spid="18"/>
                                        </p:tgtEl>
                                      </p:cBhvr>
                                    </p:animEffect>
                                    <p:anim calcmode="lin" valueType="num">
                                      <p:cBhvr additive="base">
                                        <p:cTn id="33" dur="420" fill="hold"/>
                                        <p:tgtEl>
                                          <p:spTgt spid="18"/>
                                        </p:tgtEl>
                                        <p:attrNameLst>
                                          <p:attrName>ppt_y</p:attrName>
                                        </p:attrNameLst>
                                      </p:cBhvr>
                                      <p:tavLst>
                                        <p:tav tm="0">
                                          <p:val>
                                            <p:strVal val="0.06"/>
                                          </p:val>
                                        </p:tav>
                                        <p:tav tm="100000">
                                          <p:val>
                                            <p:strVal val="0"/>
                                          </p:val>
                                        </p:tav>
                                      </p:tavLst>
                                    </p:anim>
                                  </p:childTnLst>
                                </p:cTn>
                              </p:par>
                              <p:par>
                                <p:cTn id="38" fill="hold">
                                  <p:stCondLst>
                                    <p:cond delay="330"/>
                                  </p:stCondLst>
                                  <p:childTnLst>
                                    <p:set>
                                      <p:cBhvr>
                                        <p:cTn id="36" dur="1" fill="hold">
                                          <p:stCondLst>
                                            <p:cond delay="0"/>
                                          </p:stCondLst>
                                        </p:cTn>
                                        <p:tgtEl>
                                          <p:spTgt spid="19"/>
                                        </p:tgtEl>
                                        <p:attrNameLst>
                                          <p:attrName>style.visibility</p:attrName>
                                        </p:attrNameLst>
                                      </p:cBhvr>
                                      <p:to>
                                        <p:strVal val="visible"/>
                                      </p:to>
                                    </p:set>
                                    <p:animEffect transition="in" filter="fade">
                                      <p:cBhvr>
                                        <p:cTn id="35" dur="420"/>
                                        <p:tgtEl>
                                          <p:spTgt spid="19"/>
                                        </p:tgtEl>
                                      </p:cBhvr>
                                    </p:animEffect>
                                    <p:anim calcmode="lin" valueType="num">
                                      <p:cBhvr additive="base">
                                        <p:cTn id="37" dur="420" fill="hold"/>
                                        <p:tgtEl>
                                          <p:spTgt spid="19"/>
                                        </p:tgtEl>
                                        <p:attrNameLst>
                                          <p:attrName>ppt_y</p:attrName>
                                        </p:attrNameLst>
                                      </p:cBhvr>
                                      <p:tavLst>
                                        <p:tav tm="0">
                                          <p:val>
                                            <p:strVal val="0.06"/>
                                          </p:val>
                                        </p:tav>
                                        <p:tav tm="100000">
                                          <p:val>
                                            <p:strVal val="0"/>
                                          </p:val>
                                        </p:tav>
                                      </p:tavLst>
                                    </p:anim>
                                  </p:childTnLst>
                                </p:cTn>
                              </p:par>
                              <p:par>
                                <p:cTn id="42" fill="hold">
                                  <p:stCondLst>
                                    <p:cond delay="440"/>
                                  </p:stCondLst>
                                  <p:childTnLst>
                                    <p:set>
                                      <p:cBhvr>
                                        <p:cTn id="40" dur="1" fill="hold">
                                          <p:stCondLst>
                                            <p:cond delay="0"/>
                                          </p:stCondLst>
                                        </p:cTn>
                                        <p:tgtEl>
                                          <p:spTgt spid="20"/>
                                        </p:tgtEl>
                                        <p:attrNameLst>
                                          <p:attrName>style.visibility</p:attrName>
                                        </p:attrNameLst>
                                      </p:cBhvr>
                                      <p:to>
                                        <p:strVal val="visible"/>
                                      </p:to>
                                    </p:set>
                                    <p:animEffect transition="in" filter="fade">
                                      <p:cBhvr>
                                        <p:cTn id="39" dur="420"/>
                                        <p:tgtEl>
                                          <p:spTgt spid="20"/>
                                        </p:tgtEl>
                                      </p:cBhvr>
                                    </p:animEffect>
                                    <p:anim calcmode="lin" valueType="num">
                                      <p:cBhvr additive="base">
                                        <p:cTn id="41"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5" fill="hold">
                      <p:stCondLst>
                        <p:cond delay="indefinite"/>
                      </p:stCondLst>
                      <p:childTnLst>
                        <p:par>
                          <p:cTn id="66" fill="hold">
                            <p:stCondLst>
                              <p:cond delay="0"/>
                            </p:stCondLst>
                            <p:childTnLst>
                              <p:par>
                                <p:cTn id="48" fill="hold">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2"/>
                                        </p:tgtEl>
                                        <p:attrNameLst>
                                          <p:attrName>style.visibility</p:attrName>
                                        </p:attrNameLst>
                                      </p:cBhvr>
                                      <p:to>
                                        <p:strVal val="visible"/>
                                      </p:to>
                                    </p:set>
                                    <p:animEffect transition="in" filter="fade">
                                      <p:cBhvr>
                                        <p:cTn id="49" dur="420"/>
                                        <p:tgtEl>
                                          <p:spTgt spid="22"/>
                                        </p:tgtEl>
                                      </p:cBhvr>
                                    </p:animEffect>
                                    <p:anim calcmode="lin" valueType="num">
                                      <p:cBhvr additive="base">
                                        <p:cTn id="51" dur="420" fill="hold"/>
                                        <p:tgtEl>
                                          <p:spTgt spid="22"/>
                                        </p:tgtEl>
                                        <p:attrNameLst>
                                          <p:attrName>ppt_y</p:attrName>
                                        </p:attrNameLst>
                                      </p:cBhvr>
                                      <p:tavLst>
                                        <p:tav tm="0">
                                          <p:val>
                                            <p:strVal val="0.06"/>
                                          </p:val>
                                        </p:tav>
                                        <p:tav tm="100000">
                                          <p:val>
                                            <p:strVal val="0"/>
                                          </p:val>
                                        </p:tav>
                                      </p:tavLst>
                                    </p:anim>
                                  </p:childTnLst>
                                </p:cTn>
                              </p:par>
                              <p:par>
                                <p:cTn id="56" fill="hold">
                                  <p:stCondLst>
                                    <p:cond delay="220"/>
                                  </p:stCondLst>
                                  <p:childTnLst>
                                    <p:set>
                                      <p:cBhvr>
                                        <p:cTn id="54" dur="1" fill="hold">
                                          <p:stCondLst>
                                            <p:cond delay="0"/>
                                          </p:stCondLst>
                                        </p:cTn>
                                        <p:tgtEl>
                                          <p:spTgt spid="23"/>
                                        </p:tgtEl>
                                        <p:attrNameLst>
                                          <p:attrName>style.visibility</p:attrName>
                                        </p:attrNameLst>
                                      </p:cBhvr>
                                      <p:to>
                                        <p:strVal val="visible"/>
                                      </p:to>
                                    </p:set>
                                    <p:animEffect transition="in" filter="fade">
                                      <p:cBhvr>
                                        <p:cTn id="53" dur="420"/>
                                        <p:tgtEl>
                                          <p:spTgt spid="23"/>
                                        </p:tgtEl>
                                      </p:cBhvr>
                                    </p:animEffect>
                                    <p:anim calcmode="lin" valueType="num">
                                      <p:cBhvr additive="base">
                                        <p:cTn id="55" dur="420" fill="hold"/>
                                        <p:tgtEl>
                                          <p:spTgt spid="23"/>
                                        </p:tgtEl>
                                        <p:attrNameLst>
                                          <p:attrName>ppt_y</p:attrName>
                                        </p:attrNameLst>
                                      </p:cBhvr>
                                      <p:tavLst>
                                        <p:tav tm="0">
                                          <p:val>
                                            <p:strVal val="0.06"/>
                                          </p:val>
                                        </p:tav>
                                        <p:tav tm="100000">
                                          <p:val>
                                            <p:strVal val="0"/>
                                          </p:val>
                                        </p:tav>
                                      </p:tavLst>
                                    </p:anim>
                                  </p:childTnLst>
                                </p:cTn>
                              </p:par>
                              <p:par>
                                <p:cTn id="60" fill="hold">
                                  <p:stCondLst>
                                    <p:cond delay="330"/>
                                  </p:stCondLst>
                                  <p:childTnLst>
                                    <p:set>
                                      <p:cBhvr>
                                        <p:cTn id="58" dur="1" fill="hold">
                                          <p:stCondLst>
                                            <p:cond delay="0"/>
                                          </p:stCondLst>
                                        </p:cTn>
                                        <p:tgtEl>
                                          <p:spTgt spid="24"/>
                                        </p:tgtEl>
                                        <p:attrNameLst>
                                          <p:attrName>style.visibility</p:attrName>
                                        </p:attrNameLst>
                                      </p:cBhvr>
                                      <p:to>
                                        <p:strVal val="visible"/>
                                      </p:to>
                                    </p:set>
                                    <p:animEffect transition="in" filter="fade">
                                      <p:cBhvr>
                                        <p:cTn id="57" dur="420"/>
                                        <p:tgtEl>
                                          <p:spTgt spid="24"/>
                                        </p:tgtEl>
                                      </p:cBhvr>
                                    </p:animEffect>
                                    <p:anim calcmode="lin" valueType="num">
                                      <p:cBhvr additive="base">
                                        <p:cTn id="59" dur="420" fill="hold"/>
                                        <p:tgtEl>
                                          <p:spTgt spid="24"/>
                                        </p:tgtEl>
                                        <p:attrNameLst>
                                          <p:attrName>ppt_y</p:attrName>
                                        </p:attrNameLst>
                                      </p:cBhvr>
                                      <p:tavLst>
                                        <p:tav tm="0">
                                          <p:val>
                                            <p:strVal val="0.06"/>
                                          </p:val>
                                        </p:tav>
                                        <p:tav tm="100000">
                                          <p:val>
                                            <p:strVal val="0"/>
                                          </p:val>
                                        </p:tav>
                                      </p:tavLst>
                                    </p:anim>
                                  </p:childTnLst>
                                </p:cTn>
                              </p:par>
                              <p:par>
                                <p:cTn id="64" fill="hold">
                                  <p:stCondLst>
                                    <p:cond delay="440"/>
                                  </p:stCondLst>
                                  <p:childTnLst>
                                    <p:set>
                                      <p:cBhvr>
                                        <p:cTn id="62" dur="1" fill="hold">
                                          <p:stCondLst>
                                            <p:cond delay="0"/>
                                          </p:stCondLst>
                                        </p:cTn>
                                        <p:tgtEl>
                                          <p:spTgt spid="25"/>
                                        </p:tgtEl>
                                        <p:attrNameLst>
                                          <p:attrName>style.visibility</p:attrName>
                                        </p:attrNameLst>
                                      </p:cBhvr>
                                      <p:to>
                                        <p:strVal val="visible"/>
                                      </p:to>
                                    </p:set>
                                    <p:animEffect transition="in" filter="fade">
                                      <p:cBhvr>
                                        <p:cTn id="61" dur="420"/>
                                        <p:tgtEl>
                                          <p:spTgt spid="25"/>
                                        </p:tgtEl>
                                      </p:cBhvr>
                                    </p:animEffect>
                                    <p:anim calcmode="lin" valueType="num">
                                      <p:cBhvr additive="base">
                                        <p:cTn id="63"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0" fill="hold">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7" dur="420"/>
                                        <p:tgtEl>
                                          <p:spTgt spid="26"/>
                                        </p:tgtEl>
                                      </p:cBhvr>
                                    </p:animEffect>
                                    <p:anim calcmode="lin" valueType="num">
                                      <p:cBhvr additive="base">
                                        <p:cTn id="69" dur="420" fill="hold"/>
                                        <p:tgtEl>
                                          <p:spTgt spid="26"/>
                                        </p:tgtEl>
                                        <p:attrNameLst>
                                          <p:attrName>ppt_y</p:attrName>
                                        </p:attrNameLst>
                                      </p:cBhvr>
                                      <p:tavLst>
                                        <p:tav tm="0">
                                          <p:val>
                                            <p:strVal val="0.06"/>
                                          </p:val>
                                        </p:tav>
                                        <p:tav tm="100000">
                                          <p:val>
                                            <p:strVal val="0"/>
                                          </p:val>
                                        </p:tav>
                                      </p:tavLst>
                                    </p:anim>
                                  </p:childTnLst>
                                </p:cTn>
                              </p:par>
                              <p:par>
                                <p:cTn id="74" fill="hold">
                                  <p:stCondLst>
                                    <p:cond delay="110"/>
                                  </p:stCondLst>
                                  <p:childTnLst>
                                    <p:set>
                                      <p:cBhvr>
                                        <p:cTn id="72" dur="1" fill="hold">
                                          <p:stCondLst>
                                            <p:cond delay="0"/>
                                          </p:stCondLst>
                                        </p:cTn>
                                        <p:tgtEl>
                                          <p:spTgt spid="27"/>
                                        </p:tgtEl>
                                        <p:attrNameLst>
                                          <p:attrName>style.visibility</p:attrName>
                                        </p:attrNameLst>
                                      </p:cBhvr>
                                      <p:to>
                                        <p:strVal val="visible"/>
                                      </p:to>
                                    </p:set>
                                    <p:animEffect transition="in" filter="fade">
                                      <p:cBhvr>
                                        <p:cTn id="71" dur="420"/>
                                        <p:tgtEl>
                                          <p:spTgt spid="27"/>
                                        </p:tgtEl>
                                      </p:cBhvr>
                                    </p:animEffect>
                                    <p:anim calcmode="lin" valueType="num">
                                      <p:cBhvr additive="base">
                                        <p:cTn id="73" dur="420" fill="hold"/>
                                        <p:tgtEl>
                                          <p:spTgt spid="27"/>
                                        </p:tgtEl>
                                        <p:attrNameLst>
                                          <p:attrName>ppt_y</p:attrName>
                                        </p:attrNameLst>
                                      </p:cBhvr>
                                      <p:tavLst>
                                        <p:tav tm="0">
                                          <p:val>
                                            <p:strVal val="0.06"/>
                                          </p:val>
                                        </p:tav>
                                        <p:tav tm="100000">
                                          <p:val>
                                            <p:strVal val="0"/>
                                          </p:val>
                                        </p:tav>
                                      </p:tavLst>
                                    </p:anim>
                                  </p:childTnLst>
                                </p:cTn>
                              </p:par>
                              <p:par>
                                <p:cTn id="78" fill="hold">
                                  <p:stCondLst>
                                    <p:cond delay="2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anim calcmode="lin" valueType="num">
                                      <p:cBhvr additive="base">
                                        <p:cTn id="77" dur="420" fill="hold"/>
                                        <p:tgtEl>
                                          <p:spTgt spid="28"/>
                                        </p:tgtEl>
                                        <p:attrNameLst>
                                          <p:attrName>ppt_y</p:attrName>
                                        </p:attrNameLst>
                                      </p:cBhvr>
                                      <p:tavLst>
                                        <p:tav tm="0">
                                          <p:val>
                                            <p:strVal val="0.06"/>
                                          </p:val>
                                        </p:tav>
                                        <p:tav tm="100000">
                                          <p:val>
                                            <p:strVal val="0"/>
                                          </p:val>
                                        </p:tav>
                                      </p:tavLst>
                                    </p:anim>
                                  </p:childTnLst>
                                </p:cTn>
                              </p:par>
                              <p:par>
                                <p:cTn id="82" fill="hold">
                                  <p:stCondLst>
                                    <p:cond delay="330"/>
                                  </p:stCondLst>
                                  <p:childTnLst>
                                    <p:set>
                                      <p:cBhvr>
                                        <p:cTn id="80"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anim calcmode="lin" valueType="num">
                                      <p:cBhvr additive="base">
                                        <p:cTn id="81" dur="420" fill="hold"/>
                                        <p:tgtEl>
                                          <p:spTgt spid="29"/>
                                        </p:tgtEl>
                                        <p:attrNameLst>
                                          <p:attrName>ppt_y</p:attrName>
                                        </p:attrNameLst>
                                      </p:cBhvr>
                                      <p:tavLst>
                                        <p:tav tm="0">
                                          <p:val>
                                            <p:strVal val="0.06"/>
                                          </p:val>
                                        </p:tav>
                                        <p:tav tm="100000">
                                          <p:val>
                                            <p:strVal val="0"/>
                                          </p:val>
                                        </p:tav>
                                      </p:tavLst>
                                    </p:anim>
                                  </p:childTnLst>
                                </p:cTn>
                              </p:par>
                              <p:par>
                                <p:cTn id="86" fill="hold">
                                  <p:stCondLst>
                                    <p:cond delay="4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3" dur="420"/>
                                        <p:tgtEl>
                                          <p:spTgt spid="30"/>
                                        </p:tgtEl>
                                      </p:cBhvr>
                                    </p:animEffect>
                                    <p:anim calcmode="lin" valueType="num">
                                      <p:cBhvr additive="base">
                                        <p:cTn id="85" dur="420" fill="hold"/>
                                        <p:tgtEl>
                                          <p:spTgt spid="30"/>
                                        </p:tgtEl>
                                        <p:attrNameLst>
                                          <p:attrName>ppt_y</p:attrName>
                                        </p:attrNameLst>
                                      </p:cBhvr>
                                      <p:tavLst>
                                        <p:tav tm="0">
                                          <p:val>
                                            <p:strVal val="0.06"/>
                                          </p:val>
                                        </p:tav>
                                        <p:tav tm="100000">
                                          <p:val>
                                            <p:strVal val="0"/>
                                          </p:val>
                                        </p:tav>
                                      </p:tavLst>
                                    </p:anim>
                                  </p:childTnLst>
                                </p:cTn>
                              </p:par>
                            </p:childTnLst>
                          </p:cTn>
                        </p:par>
                      </p:childTnLst>
                    </p:cTn>
                  </p:par>
                  <p:par>
                    <p:cTn id="109" fill="hold">
                      <p:stCondLst>
                        <p:cond delay="indefinite"/>
                      </p:stCondLst>
                      <p:childTnLst>
                        <p:par>
                          <p:cTn id="110" fill="hold">
                            <p:stCondLst>
                              <p:cond delay="0"/>
                            </p:stCondLst>
                            <p:childTnLst>
                              <p:par>
                                <p:cTn id="92" fill="hold">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89" dur="420"/>
                                        <p:tgtEl>
                                          <p:spTgt spid="31"/>
                                        </p:tgtEl>
                                      </p:cBhvr>
                                    </p:animEffect>
                                    <p:anim calcmode="lin" valueType="num">
                                      <p:cBhvr additive="base">
                                        <p:cTn id="91" dur="420" fill="hold"/>
                                        <p:tgtEl>
                                          <p:spTgt spid="31"/>
                                        </p:tgtEl>
                                        <p:attrNameLst>
                                          <p:attrName>ppt_y</p:attrName>
                                        </p:attrNameLst>
                                      </p:cBhvr>
                                      <p:tavLst>
                                        <p:tav tm="0">
                                          <p:val>
                                            <p:strVal val="0.06"/>
                                          </p:val>
                                        </p:tav>
                                        <p:tav tm="100000">
                                          <p:val>
                                            <p:strVal val="0"/>
                                          </p:val>
                                        </p:tav>
                                      </p:tavLst>
                                    </p:anim>
                                  </p:childTnLst>
                                </p:cTn>
                              </p:par>
                              <p:par>
                                <p:cTn id="96" fill="hold">
                                  <p:stCondLst>
                                    <p:cond delay="11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anim calcmode="lin" valueType="num">
                                      <p:cBhvr additive="base">
                                        <p:cTn id="95" dur="420" fill="hold"/>
                                        <p:tgtEl>
                                          <p:spTgt spid="32"/>
                                        </p:tgtEl>
                                        <p:attrNameLst>
                                          <p:attrName>ppt_y</p:attrName>
                                        </p:attrNameLst>
                                      </p:cBhvr>
                                      <p:tavLst>
                                        <p:tav tm="0">
                                          <p:val>
                                            <p:strVal val="0.06"/>
                                          </p:val>
                                        </p:tav>
                                        <p:tav tm="100000">
                                          <p:val>
                                            <p:strVal val="0"/>
                                          </p:val>
                                        </p:tav>
                                      </p:tavLst>
                                    </p:anim>
                                  </p:childTnLst>
                                </p:cTn>
                              </p:par>
                              <p:par>
                                <p:cTn id="100" fill="hold">
                                  <p:stCondLst>
                                    <p:cond delay="220"/>
                                  </p:stCondLst>
                                  <p:childTnLst>
                                    <p:set>
                                      <p:cBhvr>
                                        <p:cTn id="98" dur="1" fill="hold">
                                          <p:stCondLst>
                                            <p:cond delay="0"/>
                                          </p:stCondLst>
                                        </p:cTn>
                                        <p:tgtEl>
                                          <p:spTgt spid="33"/>
                                        </p:tgtEl>
                                        <p:attrNameLst>
                                          <p:attrName>style.visibility</p:attrName>
                                        </p:attrNameLst>
                                      </p:cBhvr>
                                      <p:to>
                                        <p:strVal val="visible"/>
                                      </p:to>
                                    </p:set>
                                    <p:animEffect transition="in" filter="fade">
                                      <p:cBhvr>
                                        <p:cTn id="97" dur="420"/>
                                        <p:tgtEl>
                                          <p:spTgt spid="33"/>
                                        </p:tgtEl>
                                      </p:cBhvr>
                                    </p:animEffect>
                                    <p:anim calcmode="lin" valueType="num">
                                      <p:cBhvr additive="base">
                                        <p:cTn id="99" dur="420" fill="hold"/>
                                        <p:tgtEl>
                                          <p:spTgt spid="33"/>
                                        </p:tgtEl>
                                        <p:attrNameLst>
                                          <p:attrName>ppt_y</p:attrName>
                                        </p:attrNameLst>
                                      </p:cBhvr>
                                      <p:tavLst>
                                        <p:tav tm="0">
                                          <p:val>
                                            <p:strVal val="0.06"/>
                                          </p:val>
                                        </p:tav>
                                        <p:tav tm="100000">
                                          <p:val>
                                            <p:strVal val="0"/>
                                          </p:val>
                                        </p:tav>
                                      </p:tavLst>
                                    </p:anim>
                                  </p:childTnLst>
                                </p:cTn>
                              </p:par>
                              <p:par>
                                <p:cTn id="104" fill="hold">
                                  <p:stCondLst>
                                    <p:cond delay="33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1" dur="420"/>
                                        <p:tgtEl>
                                          <p:spTgt spid="34"/>
                                        </p:tgtEl>
                                      </p:cBhvr>
                                    </p:animEffect>
                                    <p:anim calcmode="lin" valueType="num">
                                      <p:cBhvr additive="base">
                                        <p:cTn id="103" dur="420" fill="hold"/>
                                        <p:tgtEl>
                                          <p:spTgt spid="34"/>
                                        </p:tgtEl>
                                        <p:attrNameLst>
                                          <p:attrName>ppt_y</p:attrName>
                                        </p:attrNameLst>
                                      </p:cBhvr>
                                      <p:tavLst>
                                        <p:tav tm="0">
                                          <p:val>
                                            <p:strVal val="0.06"/>
                                          </p:val>
                                        </p:tav>
                                        <p:tav tm="100000">
                                          <p:val>
                                            <p:strVal val="0"/>
                                          </p:val>
                                        </p:tav>
                                      </p:tavLst>
                                    </p:anim>
                                  </p:childTnLst>
                                </p:cTn>
                              </p:par>
                              <p:par>
                                <p:cTn id="108" fill="hold">
                                  <p:stCondLst>
                                    <p:cond delay="44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5" dur="420"/>
                                        <p:tgtEl>
                                          <p:spTgt spid="35"/>
                                        </p:tgtEl>
                                      </p:cBhvr>
                                    </p:animEffect>
                                    <p:anim calcmode="lin" valueType="num">
                                      <p:cBhvr additive="base">
                                        <p:cTn id="107" dur="420" fill="hold"/>
                                        <p:tgtEl>
                                          <p:spTgt spid="35"/>
                                        </p:tgtEl>
                                        <p:attrNameLst>
                                          <p:attrName>ppt_y</p:attrName>
                                        </p:attrNameLst>
                                      </p:cBhvr>
                                      <p:tavLst>
                                        <p:tav tm="0">
                                          <p:val>
                                            <p:strVal val="0.06"/>
                                          </p:val>
                                        </p:tav>
                                        <p:tav tm="100000">
                                          <p:val>
                                            <p:strVal val="0"/>
                                          </p:val>
                                        </p:tav>
                                      </p:tavLst>
                                    </p:anim>
                                  </p:childTnLst>
                                </p:cTn>
                              </p:par>
                            </p:childTnLst>
                          </p:cTn>
                        </p:par>
                      </p:childTnLst>
                    </p:cTn>
                  </p:par>
                  <p:par>
                    <p:cTn id="131" fill="hold">
                      <p:stCondLst>
                        <p:cond delay="indefinite"/>
                      </p:stCondLst>
                      <p:childTnLst>
                        <p:par>
                          <p:cTn id="132" fill="hold">
                            <p:stCondLst>
                              <p:cond delay="0"/>
                            </p:stCondLst>
                            <p:childTnLst>
                              <p:par>
                                <p:cTn id="114" fill="hold">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1" dur="420"/>
                                        <p:tgtEl>
                                          <p:spTgt spid="36"/>
                                        </p:tgtEl>
                                      </p:cBhvr>
                                    </p:animEffect>
                                    <p:anim calcmode="lin" valueType="num">
                                      <p:cBhvr additive="base">
                                        <p:cTn id="113" dur="420" fill="hold"/>
                                        <p:tgtEl>
                                          <p:spTgt spid="36"/>
                                        </p:tgtEl>
                                        <p:attrNameLst>
                                          <p:attrName>ppt_y</p:attrName>
                                        </p:attrNameLst>
                                      </p:cBhvr>
                                      <p:tavLst>
                                        <p:tav tm="0">
                                          <p:val>
                                            <p:strVal val="0.06"/>
                                          </p:val>
                                        </p:tav>
                                        <p:tav tm="100000">
                                          <p:val>
                                            <p:strVal val="0"/>
                                          </p:val>
                                        </p:tav>
                                      </p:tavLst>
                                    </p:anim>
                                  </p:childTnLst>
                                </p:cTn>
                              </p:par>
                              <p:par>
                                <p:cTn id="118" fill="hold">
                                  <p:stCondLst>
                                    <p:cond delay="11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5" dur="420"/>
                                        <p:tgtEl>
                                          <p:spTgt spid="37"/>
                                        </p:tgtEl>
                                      </p:cBhvr>
                                    </p:animEffect>
                                    <p:anim calcmode="lin" valueType="num">
                                      <p:cBhvr additive="base">
                                        <p:cTn id="117" dur="420" fill="hold"/>
                                        <p:tgtEl>
                                          <p:spTgt spid="37"/>
                                        </p:tgtEl>
                                        <p:attrNameLst>
                                          <p:attrName>ppt_y</p:attrName>
                                        </p:attrNameLst>
                                      </p:cBhvr>
                                      <p:tavLst>
                                        <p:tav tm="0">
                                          <p:val>
                                            <p:strVal val="0.06"/>
                                          </p:val>
                                        </p:tav>
                                        <p:tav tm="100000">
                                          <p:val>
                                            <p:strVal val="0"/>
                                          </p:val>
                                        </p:tav>
                                      </p:tavLst>
                                    </p:anim>
                                  </p:childTnLst>
                                </p:cTn>
                              </p:par>
                              <p:par>
                                <p:cTn id="122" fill="hold">
                                  <p:stCondLst>
                                    <p:cond delay="22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19" dur="420"/>
                                        <p:tgtEl>
                                          <p:spTgt spid="38"/>
                                        </p:tgtEl>
                                      </p:cBhvr>
                                    </p:animEffect>
                                    <p:anim calcmode="lin" valueType="num">
                                      <p:cBhvr additive="base">
                                        <p:cTn id="121" dur="420" fill="hold"/>
                                        <p:tgtEl>
                                          <p:spTgt spid="38"/>
                                        </p:tgtEl>
                                        <p:attrNameLst>
                                          <p:attrName>ppt_y</p:attrName>
                                        </p:attrNameLst>
                                      </p:cBhvr>
                                      <p:tavLst>
                                        <p:tav tm="0">
                                          <p:val>
                                            <p:strVal val="0.06"/>
                                          </p:val>
                                        </p:tav>
                                        <p:tav tm="100000">
                                          <p:val>
                                            <p:strVal val="0"/>
                                          </p:val>
                                        </p:tav>
                                      </p:tavLst>
                                    </p:anim>
                                  </p:childTnLst>
                                </p:cTn>
                              </p:par>
                              <p:par>
                                <p:cTn id="126" fill="hold">
                                  <p:stCondLst>
                                    <p:cond delay="33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3" dur="420"/>
                                        <p:tgtEl>
                                          <p:spTgt spid="39"/>
                                        </p:tgtEl>
                                      </p:cBhvr>
                                    </p:animEffect>
                                    <p:anim calcmode="lin" valueType="num">
                                      <p:cBhvr additive="base">
                                        <p:cTn id="125" dur="420" fill="hold"/>
                                        <p:tgtEl>
                                          <p:spTgt spid="39"/>
                                        </p:tgtEl>
                                        <p:attrNameLst>
                                          <p:attrName>ppt_y</p:attrName>
                                        </p:attrNameLst>
                                      </p:cBhvr>
                                      <p:tavLst>
                                        <p:tav tm="0">
                                          <p:val>
                                            <p:strVal val="0.06"/>
                                          </p:val>
                                        </p:tav>
                                        <p:tav tm="100000">
                                          <p:val>
                                            <p:strVal val="0"/>
                                          </p:val>
                                        </p:tav>
                                      </p:tavLst>
                                    </p:anim>
                                  </p:childTnLst>
                                </p:cTn>
                              </p:par>
                              <p:par>
                                <p:cTn id="130" fill="hold">
                                  <p:stCondLst>
                                    <p:cond delay="44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7" dur="420"/>
                                        <p:tgtEl>
                                          <p:spTgt spid="40"/>
                                        </p:tgtEl>
                                      </p:cBhvr>
                                    </p:animEffect>
                                    <p:anim calcmode="lin" valueType="num">
                                      <p:cBhvr additive="base">
                                        <p:cTn id="129" dur="420" fill="hold"/>
                                        <p:tgtEl>
                                          <p:spTgt spid="40"/>
                                        </p:tgtEl>
                                        <p:attrNameLst>
                                          <p:attrName>ppt_y</p:attrName>
                                        </p:attrNameLst>
                                      </p:cBhvr>
                                      <p:tavLst>
                                        <p:tav tm="0">
                                          <p:val>
                                            <p:strVal val="0.06"/>
                                          </p:val>
                                        </p:tav>
                                        <p:tav tm="100000">
                                          <p:val>
                                            <p:strVal val="0"/>
                                          </p:val>
                                        </p:tav>
                                      </p:tavLst>
                                    </p:anim>
                                  </p:childTnLst>
                                </p:cTn>
                              </p:par>
                            </p:childTnLst>
                          </p:cTn>
                        </p:par>
                      </p:childTnLst>
                    </p:cTn>
                  </p:par>
                  <p:par>
                    <p:cTn id="169" fill="hold">
                      <p:stCondLst>
                        <p:cond delay="indefinite"/>
                      </p:stCondLst>
                      <p:childTnLst>
                        <p:par>
                          <p:cTn id="170" fill="hold">
                            <p:stCondLst>
                              <p:cond delay="0"/>
                            </p:stCondLst>
                            <p:childTnLst>
                              <p:par>
                                <p:cTn id="136" fill="hold">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3" dur="420"/>
                                        <p:tgtEl>
                                          <p:spTgt spid="41"/>
                                        </p:tgtEl>
                                      </p:cBhvr>
                                    </p:animEffect>
                                    <p:anim calcmode="lin" valueType="num">
                                      <p:cBhvr additive="base">
                                        <p:cTn id="135" dur="420" fill="hold"/>
                                        <p:tgtEl>
                                          <p:spTgt spid="41"/>
                                        </p:tgtEl>
                                        <p:attrNameLst>
                                          <p:attrName>ppt_y</p:attrName>
                                        </p:attrNameLst>
                                      </p:cBhvr>
                                      <p:tavLst>
                                        <p:tav tm="0">
                                          <p:val>
                                            <p:strVal val="0.06"/>
                                          </p:val>
                                        </p:tav>
                                        <p:tav tm="100000">
                                          <p:val>
                                            <p:strVal val="0"/>
                                          </p:val>
                                        </p:tav>
                                      </p:tavLst>
                                    </p:anim>
                                  </p:childTnLst>
                                </p:cTn>
                              </p:par>
                              <p:par>
                                <p:cTn id="140" fill="hold">
                                  <p:stCondLst>
                                    <p:cond delay="11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7" dur="420"/>
                                        <p:tgtEl>
                                          <p:spTgt spid="42"/>
                                        </p:tgtEl>
                                      </p:cBhvr>
                                    </p:animEffect>
                                    <p:anim calcmode="lin" valueType="num">
                                      <p:cBhvr additive="base">
                                        <p:cTn id="139" dur="420" fill="hold"/>
                                        <p:tgtEl>
                                          <p:spTgt spid="42"/>
                                        </p:tgtEl>
                                        <p:attrNameLst>
                                          <p:attrName>ppt_y</p:attrName>
                                        </p:attrNameLst>
                                      </p:cBhvr>
                                      <p:tavLst>
                                        <p:tav tm="0">
                                          <p:val>
                                            <p:strVal val="0.06"/>
                                          </p:val>
                                        </p:tav>
                                        <p:tav tm="100000">
                                          <p:val>
                                            <p:strVal val="0"/>
                                          </p:val>
                                        </p:tav>
                                      </p:tavLst>
                                    </p:anim>
                                  </p:childTnLst>
                                </p:cTn>
                              </p:par>
                              <p:par>
                                <p:cTn id="144" fill="hold">
                                  <p:stCondLst>
                                    <p:cond delay="22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1" dur="420"/>
                                        <p:tgtEl>
                                          <p:spTgt spid="43"/>
                                        </p:tgtEl>
                                      </p:cBhvr>
                                    </p:animEffect>
                                    <p:anim calcmode="lin" valueType="num">
                                      <p:cBhvr additive="base">
                                        <p:cTn id="143" dur="420" fill="hold"/>
                                        <p:tgtEl>
                                          <p:spTgt spid="43"/>
                                        </p:tgtEl>
                                        <p:attrNameLst>
                                          <p:attrName>ppt_y</p:attrName>
                                        </p:attrNameLst>
                                      </p:cBhvr>
                                      <p:tavLst>
                                        <p:tav tm="0">
                                          <p:val>
                                            <p:strVal val="0.06"/>
                                          </p:val>
                                        </p:tav>
                                        <p:tav tm="100000">
                                          <p:val>
                                            <p:strVal val="0"/>
                                          </p:val>
                                        </p:tav>
                                      </p:tavLst>
                                    </p:anim>
                                  </p:childTnLst>
                                </p:cTn>
                              </p:par>
                              <p:par>
                                <p:cTn id="148" fill="hold">
                                  <p:stCondLst>
                                    <p:cond delay="33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5" dur="420"/>
                                        <p:tgtEl>
                                          <p:spTgt spid="44"/>
                                        </p:tgtEl>
                                      </p:cBhvr>
                                    </p:animEffect>
                                    <p:anim calcmode="lin" valueType="num">
                                      <p:cBhvr additive="base">
                                        <p:cTn id="147" dur="420" fill="hold"/>
                                        <p:tgtEl>
                                          <p:spTgt spid="44"/>
                                        </p:tgtEl>
                                        <p:attrNameLst>
                                          <p:attrName>ppt_y</p:attrName>
                                        </p:attrNameLst>
                                      </p:cBhvr>
                                      <p:tavLst>
                                        <p:tav tm="0">
                                          <p:val>
                                            <p:strVal val="0.06"/>
                                          </p:val>
                                        </p:tav>
                                        <p:tav tm="100000">
                                          <p:val>
                                            <p:strVal val="0"/>
                                          </p:val>
                                        </p:tav>
                                      </p:tavLst>
                                    </p:anim>
                                  </p:childTnLst>
                                </p:cTn>
                              </p:par>
                              <p:par>
                                <p:cTn id="152" fill="hold">
                                  <p:stCondLst>
                                    <p:cond delay="44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49" dur="420"/>
                                        <p:tgtEl>
                                          <p:spTgt spid="45"/>
                                        </p:tgtEl>
                                      </p:cBhvr>
                                    </p:animEffect>
                                    <p:anim calcmode="lin" valueType="num">
                                      <p:cBhvr additive="base">
                                        <p:cTn id="151" dur="420" fill="hold"/>
                                        <p:tgtEl>
                                          <p:spTgt spid="45"/>
                                        </p:tgtEl>
                                        <p:attrNameLst>
                                          <p:attrName>ppt_y</p:attrName>
                                        </p:attrNameLst>
                                      </p:cBhvr>
                                      <p:tavLst>
                                        <p:tav tm="0">
                                          <p:val>
                                            <p:strVal val="0.06"/>
                                          </p:val>
                                        </p:tav>
                                        <p:tav tm="100000">
                                          <p:val>
                                            <p:strVal val="0"/>
                                          </p:val>
                                        </p:tav>
                                      </p:tavLst>
                                    </p:anim>
                                  </p:childTnLst>
                                </p:cTn>
                              </p:par>
                              <p:par>
                                <p:cTn id="156" fill="hold">
                                  <p:stCondLst>
                                    <p:cond delay="550"/>
                                  </p:stCondLst>
                                  <p:childTnLst>
                                    <p:set>
                                      <p:cBhvr>
                                        <p:cTn id="154" dur="1" fill="hold">
                                          <p:stCondLst>
                                            <p:cond delay="0"/>
                                          </p:stCondLst>
                                        </p:cTn>
                                        <p:tgtEl>
                                          <p:spTgt spid="46"/>
                                        </p:tgtEl>
                                        <p:attrNameLst>
                                          <p:attrName>style.visibility</p:attrName>
                                        </p:attrNameLst>
                                      </p:cBhvr>
                                      <p:to>
                                        <p:strVal val="visible"/>
                                      </p:to>
                                    </p:set>
                                    <p:animEffect transition="in" filter="fade">
                                      <p:cBhvr>
                                        <p:cTn id="153" dur="420"/>
                                        <p:tgtEl>
                                          <p:spTgt spid="46"/>
                                        </p:tgtEl>
                                      </p:cBhvr>
                                    </p:animEffect>
                                    <p:anim calcmode="lin" valueType="num">
                                      <p:cBhvr additive="base">
                                        <p:cTn id="155" dur="420" fill="hold"/>
                                        <p:tgtEl>
                                          <p:spTgt spid="46"/>
                                        </p:tgtEl>
                                        <p:attrNameLst>
                                          <p:attrName>ppt_y</p:attrName>
                                        </p:attrNameLst>
                                      </p:cBhvr>
                                      <p:tavLst>
                                        <p:tav tm="0">
                                          <p:val>
                                            <p:strVal val="0.06"/>
                                          </p:val>
                                        </p:tav>
                                        <p:tav tm="100000">
                                          <p:val>
                                            <p:strVal val="0"/>
                                          </p:val>
                                        </p:tav>
                                      </p:tavLst>
                                    </p:anim>
                                  </p:childTnLst>
                                </p:cTn>
                              </p:par>
                              <p:par>
                                <p:cTn id="160" fill="hold">
                                  <p:stCondLst>
                                    <p:cond delay="660"/>
                                  </p:stCondLst>
                                  <p:childTnLst>
                                    <p:set>
                                      <p:cBhvr>
                                        <p:cTn id="158" dur="1" fill="hold">
                                          <p:stCondLst>
                                            <p:cond delay="0"/>
                                          </p:stCondLst>
                                        </p:cTn>
                                        <p:tgtEl>
                                          <p:spTgt spid="47"/>
                                        </p:tgtEl>
                                        <p:attrNameLst>
                                          <p:attrName>style.visibility</p:attrName>
                                        </p:attrNameLst>
                                      </p:cBhvr>
                                      <p:to>
                                        <p:strVal val="visible"/>
                                      </p:to>
                                    </p:set>
                                    <p:animEffect transition="in" filter="fade">
                                      <p:cBhvr>
                                        <p:cTn id="157" dur="420"/>
                                        <p:tgtEl>
                                          <p:spTgt spid="47"/>
                                        </p:tgtEl>
                                      </p:cBhvr>
                                    </p:animEffect>
                                    <p:anim calcmode="lin" valueType="num">
                                      <p:cBhvr additive="base">
                                        <p:cTn id="159" dur="420" fill="hold"/>
                                        <p:tgtEl>
                                          <p:spTgt spid="47"/>
                                        </p:tgtEl>
                                        <p:attrNameLst>
                                          <p:attrName>ppt_y</p:attrName>
                                        </p:attrNameLst>
                                      </p:cBhvr>
                                      <p:tavLst>
                                        <p:tav tm="0">
                                          <p:val>
                                            <p:strVal val="0.06"/>
                                          </p:val>
                                        </p:tav>
                                        <p:tav tm="100000">
                                          <p:val>
                                            <p:strVal val="0"/>
                                          </p:val>
                                        </p:tav>
                                      </p:tavLst>
                                    </p:anim>
                                  </p:childTnLst>
                                </p:cTn>
                              </p:par>
                              <p:par>
                                <p:cTn id="164" fill="hold">
                                  <p:stCondLst>
                                    <p:cond delay="77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1" dur="420"/>
                                        <p:tgtEl>
                                          <p:spTgt spid="48"/>
                                        </p:tgtEl>
                                      </p:cBhvr>
                                    </p:animEffect>
                                    <p:anim calcmode="lin" valueType="num">
                                      <p:cBhvr additive="base">
                                        <p:cTn id="163" dur="420" fill="hold"/>
                                        <p:tgtEl>
                                          <p:spTgt spid="48"/>
                                        </p:tgtEl>
                                        <p:attrNameLst>
                                          <p:attrName>ppt_y</p:attrName>
                                        </p:attrNameLst>
                                      </p:cBhvr>
                                      <p:tavLst>
                                        <p:tav tm="0">
                                          <p:val>
                                            <p:strVal val="0.06"/>
                                          </p:val>
                                        </p:tav>
                                        <p:tav tm="100000">
                                          <p:val>
                                            <p:strVal val="0"/>
                                          </p:val>
                                        </p:tav>
                                      </p:tavLst>
                                    </p:anim>
                                  </p:childTnLst>
                                </p:cTn>
                              </p:par>
                              <p:par>
                                <p:cTn id="168" fill="hold">
                                  <p:stCondLst>
                                    <p:cond delay="880"/>
                                  </p:stCondLst>
                                  <p:childTnLst>
                                    <p:set>
                                      <p:cBhvr>
                                        <p:cTn id="166" dur="1" fill="hold">
                                          <p:stCondLst>
                                            <p:cond delay="0"/>
                                          </p:stCondLst>
                                        </p:cTn>
                                        <p:tgtEl>
                                          <p:spTgt spid="49"/>
                                        </p:tgtEl>
                                        <p:attrNameLst>
                                          <p:attrName>style.visibility</p:attrName>
                                        </p:attrNameLst>
                                      </p:cBhvr>
                                      <p:to>
                                        <p:strVal val="visible"/>
                                      </p:to>
                                    </p:set>
                                    <p:animEffect transition="in" filter="fade">
                                      <p:cBhvr>
                                        <p:cTn id="165" dur="420"/>
                                        <p:tgtEl>
                                          <p:spTgt spid="49"/>
                                        </p:tgtEl>
                                      </p:cBhvr>
                                    </p:animEffect>
                                    <p:anim calcmode="lin" valueType="num">
                                      <p:cBhvr additive="base">
                                        <p:cTn id="167" dur="420" fill="hold"/>
                                        <p:tgtEl>
                                          <p:spTgt spid="49"/>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9" name="TextBox 8"/>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21 / 30</a:t>
            </a:r>
          </a:p>
        </p:txBody>
      </p:sp>
      <p:sp>
        <p:nvSpPr>
          <p:cNvPr id="10" name="Rectangle 9"/>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75488" y="6766560"/>
            <a:ext cx="7868695"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1188720"/>
            <a:ext cx="12191969" cy="5669280"/>
          </a:xfrm>
          <a:prstGeom prst="rect">
            <a:avLst/>
          </a:prstGeom>
          <a:solidFill>
            <a:srgbClr val="EAF0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 y="1600200"/>
            <a:ext cx="4206240" cy="1737360"/>
          </a:xfrm>
          <a:prstGeom prst="rect">
            <a:avLst/>
          </a:prstGeom>
          <a:noFill/>
        </p:spPr>
        <p:txBody>
          <a:bodyPr wrap="square" lIns="0" rIns="0" tIns="0" bIns="0" anchor="t">
            <a:spAutoFit/>
          </a:bodyPr>
          <a:lstStyle/>
          <a:p>
            <a:pPr algn="l">
              <a:lnSpc>
                <a:spcPct val="90000"/>
              </a:lnSpc>
            </a:pPr>
            <a:r>
              <a:rPr sz="8800" b="1">
                <a:solidFill>
                  <a:srgbClr val="C2690A"/>
                </a:solidFill>
                <a:latin typeface="Consolas"/>
              </a:rPr>
              <a:t>02</a:t>
            </a:r>
          </a:p>
        </p:txBody>
      </p:sp>
      <p:sp>
        <p:nvSpPr>
          <p:cNvPr id="14" name="TextBox 13"/>
          <p:cNvSpPr txBox="1"/>
          <p:nvPr/>
        </p:nvSpPr>
        <p:spPr>
          <a:xfrm>
            <a:off x="475488" y="3310128"/>
            <a:ext cx="5852160" cy="914400"/>
          </a:xfrm>
          <a:prstGeom prst="rect">
            <a:avLst/>
          </a:prstGeom>
          <a:noFill/>
        </p:spPr>
        <p:txBody>
          <a:bodyPr wrap="square" lIns="0" rIns="0" tIns="0" bIns="0" anchor="t">
            <a:spAutoFit/>
          </a:bodyPr>
          <a:lstStyle/>
          <a:p>
            <a:pPr algn="l">
              <a:lnSpc>
                <a:spcPct val="95000"/>
              </a:lnSpc>
            </a:pPr>
            <a:r>
              <a:rPr sz="3000" b="1">
                <a:solidFill>
                  <a:srgbClr val="0D1A2B"/>
                </a:solidFill>
                <a:latin typeface="Segoe UI Semibold"/>
              </a:rPr>
              <a:t>Compuertas lógicas y chips 74XX</a:t>
            </a:r>
          </a:p>
        </p:txBody>
      </p:sp>
      <p:sp>
        <p:nvSpPr>
          <p:cNvPr id="15" name="Rectangle 14"/>
          <p:cNvSpPr/>
          <p:nvPr/>
        </p:nvSpPr>
        <p:spPr>
          <a:xfrm>
            <a:off x="475488" y="4370832"/>
            <a:ext cx="1645920" cy="457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c_gates.png"/>
          <p:cNvPicPr>
            <a:picLocks noChangeAspect="1"/>
          </p:cNvPicPr>
          <p:nvPr/>
        </p:nvPicPr>
        <p:blipFill>
          <a:blip r:embed="rId2"/>
          <a:stretch>
            <a:fillRect/>
          </a:stretch>
        </p:blipFill>
        <p:spPr>
          <a:xfrm>
            <a:off x="7635240" y="1600200"/>
            <a:ext cx="4069080" cy="4069080"/>
          </a:xfrm>
          <a:prstGeom prst="rect">
            <a:avLst/>
          </a:prstGeom>
        </p:spPr>
      </p:pic>
      <p:sp>
        <p:nvSpPr>
          <p:cNvPr id="17" name="Oval 16"/>
          <p:cNvSpPr/>
          <p:nvPr/>
        </p:nvSpPr>
        <p:spPr>
          <a:xfrm>
            <a:off x="502919" y="467258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61772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Símbolo ANSI, expresión booleana y tabla de verdad de cada compuerta</a:t>
            </a:r>
          </a:p>
        </p:txBody>
      </p:sp>
      <p:sp>
        <p:nvSpPr>
          <p:cNvPr id="19" name="Oval 18"/>
          <p:cNvSpPr/>
          <p:nvPr/>
        </p:nvSpPr>
        <p:spPr>
          <a:xfrm>
            <a:off x="502919" y="491300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858140"/>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Chip comercial que la implementa: 7408, 7432, 7404, 7400, 7402, 7486 y 74266</a:t>
            </a:r>
          </a:p>
        </p:txBody>
      </p:sp>
      <p:sp>
        <p:nvSpPr>
          <p:cNvPr id="21" name="Oval 20"/>
          <p:cNvSpPr/>
          <p:nvPr/>
        </p:nvSpPr>
        <p:spPr>
          <a:xfrm>
            <a:off x="502919" y="515342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509856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Distribución de pines (pinout) y función de cada patita del DIP-14</a:t>
            </a:r>
          </a:p>
        </p:txBody>
      </p:sp>
      <p:sp>
        <p:nvSpPr>
          <p:cNvPr id="23" name="Oval 22"/>
          <p:cNvSpPr/>
          <p:nvPr/>
        </p:nvSpPr>
        <p:spPr>
          <a:xfrm>
            <a:off x="502919" y="539384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5338981"/>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Diagramas de tiempo: retardo tPD, flancos y glitches</a:t>
            </a:r>
          </a:p>
        </p:txBody>
      </p:sp>
      <p:sp>
        <p:nvSpPr>
          <p:cNvPr id="25" name="Oval 24"/>
          <p:cNvSpPr/>
          <p:nvPr/>
        </p:nvSpPr>
        <p:spPr>
          <a:xfrm>
            <a:off x="502919" y="563426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557940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Aplicaciones típicas y equivalencias entre subfamilias del mismo número</a:t>
            </a:r>
          </a:p>
        </p:txBody>
      </p:sp>
      <p:sp>
        <p:nvSpPr>
          <p:cNvPr id="27" name="Oval 26"/>
          <p:cNvSpPr/>
          <p:nvPr/>
        </p:nvSpPr>
        <p:spPr>
          <a:xfrm>
            <a:off x="502919" y="5874686"/>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819822"/>
            <a:ext cx="6547104" cy="185556"/>
          </a:xfrm>
          <a:prstGeom prst="rect">
            <a:avLst/>
          </a:prstGeom>
          <a:noFill/>
        </p:spPr>
        <p:txBody>
          <a:bodyPr wrap="square" lIns="0" rIns="0" tIns="0" bIns="0" anchor="t">
            <a:spAutoFit/>
          </a:bodyPr>
          <a:lstStyle/>
          <a:p>
            <a:pPr algn="l">
              <a:lnSpc>
                <a:spcPct val="105000"/>
              </a:lnSpc>
            </a:pPr>
            <a:r>
              <a:rPr sz="1150" b="0">
                <a:solidFill>
                  <a:srgbClr val="2C3E56"/>
                </a:solidFill>
                <a:latin typeface="Segoe UI"/>
              </a:rPr>
              <a:t>Compuertas universales: cómo construir cualquier función con solo NAND o solo NOR</a:t>
            </a:r>
          </a:p>
        </p:txBody>
      </p:sp>
    </p:spTree>
  </p:cSld>
  <p:clrMapOvr>
    <a:masterClrMapping/>
  </p:clrMapOvr>
  <p:transition xmlns:p14="http://schemas.microsoft.com/office/powerpoint/2010/main" spd="med" advClick="1">
    <p14:switch/>
  </p:transition>
  <p:timing>
    <p:tnLst>
      <p:par>
        <p:cTn id="1" dur="indefinite" restart="never" nodeType="tmRoot">
          <p:childTnLst>
            <p:seq concurrent="1" nextAc="seek">
              <p:cTn id="2" dur="indefinite" nodeType="mainSeq">
                <p:childTnLst>
                  <p:par>
                    <p:cTn id="9" fill="hold">
                      <p:stCondLst>
                        <p:cond delay="0"/>
                      </p:stCondLst>
                      <p:childTnLst>
                        <p:par>
                          <p:cTn id="10"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childTnLst>
                          </p:cTn>
                        </p:par>
                      </p:childTnLst>
                    </p:cTn>
                  </p:par>
                  <p:par>
                    <p:cTn id="15" fill="hold">
                      <p:stCondLst>
                        <p:cond delay="300"/>
                      </p:stCondLst>
                      <p:childTnLst>
                        <p:par>
                          <p:cTn id="16" fill="hold">
                            <p:stCondLst>
                              <p:cond delay="0"/>
                            </p:stCondLst>
                            <p:childTnLst>
                              <p:par>
                                <p:cTn id="14" fill="hold">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anim calcmode="lin" valueType="num">
                                      <p:cBhvr additive="base">
                                        <p:cTn id="13" dur="420" fill="hold"/>
                                        <p:tgtEl>
                                          <p:spTgt spid="13"/>
                                        </p:tgtEl>
                                        <p:attrNameLst>
                                          <p:attrName>ppt_y</p:attrName>
                                        </p:attrNameLst>
                                      </p:cBhvr>
                                      <p:tavLst>
                                        <p:tav tm="0">
                                          <p:val>
                                            <p:strVal val="0.06"/>
                                          </p:val>
                                        </p:tav>
                                        <p:tav tm="100000">
                                          <p:val>
                                            <p:strVal val="0"/>
                                          </p:val>
                                        </p:tav>
                                      </p:tavLst>
                                    </p:anim>
                                  </p:childTnLst>
                                </p:cTn>
                              </p:par>
                            </p:childTnLst>
                          </p:cTn>
                        </p:par>
                      </p:childTnLst>
                    </p:cTn>
                  </p:par>
                  <p:par>
                    <p:cTn id="21" fill="hold">
                      <p:stCondLst>
                        <p:cond delay="300"/>
                      </p:stCondLst>
                      <p:childTnLst>
                        <p:par>
                          <p:cTn id="22" fill="hold">
                            <p:stCondLst>
                              <p:cond delay="0"/>
                            </p:stCondLst>
                            <p:childTnLst>
                              <p:par>
                                <p:cTn id="20" fill="hold">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7" dur="420"/>
                                        <p:tgtEl>
                                          <p:spTgt spid="14"/>
                                        </p:tgtEl>
                                      </p:cBhvr>
                                    </p:animEffect>
                                    <p:anim calcmode="lin" valueType="num">
                                      <p:cBhvr additive="base">
                                        <p:cTn id="19" dur="420" fill="hold"/>
                                        <p:tgtEl>
                                          <p:spTgt spid="14"/>
                                        </p:tgtEl>
                                        <p:attrNameLst>
                                          <p:attrName>ppt_y</p:attrName>
                                        </p:attrNameLst>
                                      </p:cBhvr>
                                      <p:tavLst>
                                        <p:tav tm="0">
                                          <p:val>
                                            <p:strVal val="0.06"/>
                                          </p:val>
                                        </p:tav>
                                        <p:tav tm="100000">
                                          <p:val>
                                            <p:strVal val="0"/>
                                          </p:val>
                                        </p:tav>
                                      </p:tavLst>
                                    </p:anim>
                                  </p:childTnLst>
                                </p:cTn>
                              </p:par>
                            </p:childTnLst>
                          </p:cTn>
                        </p:par>
                      </p:childTnLst>
                    </p:cTn>
                  </p:par>
                  <p:par>
                    <p:cTn id="27" fill="hold">
                      <p:stCondLst>
                        <p:cond delay="300"/>
                      </p:stCondLst>
                      <p:childTnLst>
                        <p:par>
                          <p:cTn id="28" fill="hold">
                            <p:stCondLst>
                              <p:cond delay="0"/>
                            </p:stCondLst>
                            <p:childTnLst>
                              <p:par>
                                <p:cTn id="26" fill="hold">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3" dur="420"/>
                                        <p:tgtEl>
                                          <p:spTgt spid="15"/>
                                        </p:tgtEl>
                                      </p:cBhvr>
                                    </p:animEffect>
                                    <p:anim calcmode="lin" valueType="num">
                                      <p:cBhvr additive="base">
                                        <p:cTn id="25" dur="420" fill="hold"/>
                                        <p:tgtEl>
                                          <p:spTgt spid="15"/>
                                        </p:tgtEl>
                                        <p:attrNameLst>
                                          <p:attrName>ppt_y</p:attrName>
                                        </p:attrNameLst>
                                      </p:cBhvr>
                                      <p:tavLst>
                                        <p:tav tm="0">
                                          <p:val>
                                            <p:strVal val="0.06"/>
                                          </p:val>
                                        </p:tav>
                                        <p:tav tm="100000">
                                          <p:val>
                                            <p:strVal val="0"/>
                                          </p:val>
                                        </p:tav>
                                      </p:tavLst>
                                    </p:anim>
                                  </p:childTnLst>
                                </p:cTn>
                              </p:par>
                            </p:childTnLst>
                          </p:cTn>
                        </p:par>
                      </p:childTnLst>
                    </p:cTn>
                  </p:par>
                  <p:par>
                    <p:cTn id="32" fill="hold">
                      <p:stCondLst>
                        <p:cond delay="indefinite"/>
                      </p:stCondLst>
                      <p:childTnLst>
                        <p:par>
                          <p:cTn id="33" fill="hold">
                            <p:stCondLst>
                              <p:cond delay="0"/>
                            </p:stCondLst>
                            <p:childTnLst>
                              <p:par>
                                <p:cTn id="31" fill="hold">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animScale>
                                      <p:cBhvr>
                                        <p:cTn id="29" dur="420" fill="hold"/>
                                        <p:tgtEl>
                                          <p:spTgt spid="16"/>
                                        </p:tgtEl>
                                      </p:cBhvr>
                                      <p:from x="90000" y="90000"/>
                                      <p:to x="100000" y="100000"/>
                                    </p:animScale>
                                  </p:childTnLst>
                                </p:cTn>
                              </p:par>
                            </p:childTnLst>
                          </p:cTn>
                        </p:par>
                      </p:childTnLst>
                    </p:cTn>
                  </p:par>
                  <p:par>
                    <p:cTn id="42" fill="hold">
                      <p:stCondLst>
                        <p:cond delay="indefinite"/>
                      </p:stCondLst>
                      <p:childTnLst>
                        <p:par>
                          <p:cTn id="43" fill="hold">
                            <p:stCondLst>
                              <p:cond delay="0"/>
                            </p:stCondLst>
                            <p:childTnLst>
                              <p:par>
                                <p:cTn id="37" fill="hold">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4" dur="420"/>
                                        <p:tgtEl>
                                          <p:spTgt spid="18"/>
                                        </p:tgtEl>
                                      </p:cBhvr>
                                    </p:animEffect>
                                    <p:anim calcmode="lin" valueType="num">
                                      <p:cBhvr additive="base">
                                        <p:cTn id="36" dur="420" fill="hold"/>
                                        <p:tgtEl>
                                          <p:spTgt spid="18"/>
                                        </p:tgtEl>
                                        <p:attrNameLst>
                                          <p:attrName>ppt_y</p:attrName>
                                        </p:attrNameLst>
                                      </p:cBhvr>
                                      <p:tavLst>
                                        <p:tav tm="0">
                                          <p:val>
                                            <p:strVal val="0.06"/>
                                          </p:val>
                                        </p:tav>
                                        <p:tav tm="100000">
                                          <p:val>
                                            <p:strVal val="0"/>
                                          </p:val>
                                        </p:tav>
                                      </p:tavLst>
                                    </p:anim>
                                  </p:childTnLst>
                                </p:cTn>
                              </p:par>
                              <p:par>
                                <p:cTn id="41" fill="hold">
                                  <p:stCondLst>
                                    <p:cond delay="110"/>
                                  </p:stCondLst>
                                  <p:childTnLst>
                                    <p:set>
                                      <p:cBhvr>
                                        <p:cTn id="39" dur="1" fill="hold">
                                          <p:stCondLst>
                                            <p:cond delay="0"/>
                                          </p:stCondLst>
                                        </p:cTn>
                                        <p:tgtEl>
                                          <p:spTgt spid="20"/>
                                        </p:tgtEl>
                                        <p:attrNameLst>
                                          <p:attrName>style.visibility</p:attrName>
                                        </p:attrNameLst>
                                      </p:cBhvr>
                                      <p:to>
                                        <p:strVal val="visible"/>
                                      </p:to>
                                    </p:set>
                                    <p:animEffect transition="in" filter="fade">
                                      <p:cBhvr>
                                        <p:cTn id="38" dur="420"/>
                                        <p:tgtEl>
                                          <p:spTgt spid="20"/>
                                        </p:tgtEl>
                                      </p:cBhvr>
                                    </p:animEffect>
                                    <p:anim calcmode="lin" valueType="num">
                                      <p:cBhvr additive="base">
                                        <p:cTn id="40" dur="420" fill="hold"/>
                                        <p:tgtEl>
                                          <p:spTgt spid="20"/>
                                        </p:tgtEl>
                                        <p:attrNameLst>
                                          <p:attrName>ppt_y</p:attrName>
                                        </p:attrNameLst>
                                      </p:cBhvr>
                                      <p:tavLst>
                                        <p:tav tm="0">
                                          <p:val>
                                            <p:strVal val="0.06"/>
                                          </p:val>
                                        </p:tav>
                                        <p:tav tm="100000">
                                          <p:val>
                                            <p:strVal val="0"/>
                                          </p:val>
                                        </p:tav>
                                      </p:tavLst>
                                    </p:anim>
                                  </p:childTnLst>
                                </p:cTn>
                              </p:par>
                            </p:childTnLst>
                          </p:cTn>
                        </p:par>
                      </p:childTnLst>
                    </p:cTn>
                  </p:par>
                  <p:par>
                    <p:cTn id="60" fill="hold">
                      <p:stCondLst>
                        <p:cond delay="indefinite"/>
                      </p:stCondLst>
                      <p:childTnLst>
                        <p:par>
                          <p:cTn id="61" fill="hold">
                            <p:stCondLst>
                              <p:cond delay="0"/>
                            </p:stCondLst>
                            <p:childTnLst>
                              <p:par>
                                <p:cTn id="47" fill="hold">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4" dur="420"/>
                                        <p:tgtEl>
                                          <p:spTgt spid="22"/>
                                        </p:tgtEl>
                                      </p:cBhvr>
                                    </p:animEffect>
                                    <p:anim calcmode="lin" valueType="num">
                                      <p:cBhvr additive="base">
                                        <p:cTn id="46" dur="420" fill="hold"/>
                                        <p:tgtEl>
                                          <p:spTgt spid="22"/>
                                        </p:tgtEl>
                                        <p:attrNameLst>
                                          <p:attrName>ppt_y</p:attrName>
                                        </p:attrNameLst>
                                      </p:cBhvr>
                                      <p:tavLst>
                                        <p:tav tm="0">
                                          <p:val>
                                            <p:strVal val="0.06"/>
                                          </p:val>
                                        </p:tav>
                                        <p:tav tm="100000">
                                          <p:val>
                                            <p:strVal val="0"/>
                                          </p:val>
                                        </p:tav>
                                      </p:tavLst>
                                    </p:anim>
                                  </p:childTnLst>
                                </p:cTn>
                              </p:par>
                              <p:par>
                                <p:cTn id="51" fill="hold">
                                  <p:stCondLst>
                                    <p:cond delay="110"/>
                                  </p:stCondLst>
                                  <p:childTnLst>
                                    <p:set>
                                      <p:cBhvr>
                                        <p:cTn id="49" dur="1" fill="hold">
                                          <p:stCondLst>
                                            <p:cond delay="0"/>
                                          </p:stCondLst>
                                        </p:cTn>
                                        <p:tgtEl>
                                          <p:spTgt spid="24"/>
                                        </p:tgtEl>
                                        <p:attrNameLst>
                                          <p:attrName>style.visibility</p:attrName>
                                        </p:attrNameLst>
                                      </p:cBhvr>
                                      <p:to>
                                        <p:strVal val="visible"/>
                                      </p:to>
                                    </p:set>
                                    <p:animEffect transition="in" filter="fade">
                                      <p:cBhvr>
                                        <p:cTn id="48" dur="420"/>
                                        <p:tgtEl>
                                          <p:spTgt spid="24"/>
                                        </p:tgtEl>
                                      </p:cBhvr>
                                    </p:animEffect>
                                    <p:anim calcmode="lin" valueType="num">
                                      <p:cBhvr additive="base">
                                        <p:cTn id="50" dur="420" fill="hold"/>
                                        <p:tgtEl>
                                          <p:spTgt spid="24"/>
                                        </p:tgtEl>
                                        <p:attrNameLst>
                                          <p:attrName>ppt_y</p:attrName>
                                        </p:attrNameLst>
                                      </p:cBhvr>
                                      <p:tavLst>
                                        <p:tav tm="0">
                                          <p:val>
                                            <p:strVal val="0.06"/>
                                          </p:val>
                                        </p:tav>
                                        <p:tav tm="100000">
                                          <p:val>
                                            <p:strVal val="0"/>
                                          </p:val>
                                        </p:tav>
                                      </p:tavLst>
                                    </p:anim>
                                  </p:childTnLst>
                                </p:cTn>
                              </p:par>
                              <p:par>
                                <p:cTn id="55" fill="hold">
                                  <p:stCondLst>
                                    <p:cond delay="2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2" dur="420"/>
                                        <p:tgtEl>
                                          <p:spTgt spid="26"/>
                                        </p:tgtEl>
                                      </p:cBhvr>
                                    </p:animEffect>
                                    <p:anim calcmode="lin" valueType="num">
                                      <p:cBhvr additive="base">
                                        <p:cTn id="54" dur="420" fill="hold"/>
                                        <p:tgtEl>
                                          <p:spTgt spid="26"/>
                                        </p:tgtEl>
                                        <p:attrNameLst>
                                          <p:attrName>ppt_y</p:attrName>
                                        </p:attrNameLst>
                                      </p:cBhvr>
                                      <p:tavLst>
                                        <p:tav tm="0">
                                          <p:val>
                                            <p:strVal val="0.06"/>
                                          </p:val>
                                        </p:tav>
                                        <p:tav tm="100000">
                                          <p:val>
                                            <p:strVal val="0"/>
                                          </p:val>
                                        </p:tav>
                                      </p:tavLst>
                                    </p:anim>
                                  </p:childTnLst>
                                </p:cTn>
                              </p:par>
                              <p:par>
                                <p:cTn id="59" fill="hold">
                                  <p:stCondLst>
                                    <p:cond delay="3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6" dur="420"/>
                                        <p:tgtEl>
                                          <p:spTgt spid="28"/>
                                        </p:tgtEl>
                                      </p:cBhvr>
                                    </p:animEffect>
                                    <p:anim calcmode="lin" valueType="num">
                                      <p:cBhvr additive="base">
                                        <p:cTn id="58" dur="420" fill="hold"/>
                                        <p:tgtEl>
                                          <p:spTgt spid="28"/>
                                        </p:tgtEl>
                                        <p:attrNameLst>
                                          <p:attrName>ppt_y</p:attrName>
                                        </p:attrNameLst>
                                      </p:cBhvr>
                                      <p:tavLst>
                                        <p:tav tm="0">
                                          <p:val>
                                            <p:strVal val="0.06"/>
                                          </p:val>
                                        </p:tav>
                                        <p:tav tm="100000">
                                          <p:val>
                                            <p:str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OR (Chip 7432)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de la suma lógica: basta una entrada activa para activar la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22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243395"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C2690A"/>
                </a:solidFill>
                <a:latin typeface="Consolas"/>
              </a:rPr>
              <a:t>74LS32 / 7432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Positive-OR Gate</a:t>
            </a:r>
          </a:p>
        </p:txBody>
      </p:sp>
      <p:sp>
        <p:nvSpPr>
          <p:cNvPr id="20" name="Oval 19"/>
          <p:cNvSpPr/>
          <p:nvPr/>
        </p:nvSpPr>
        <p:spPr>
          <a:xfrm>
            <a:off x="3959352" y="224942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OR independientes en un DIP-14</a:t>
            </a:r>
          </a:p>
        </p:txBody>
      </p:sp>
      <p:sp>
        <p:nvSpPr>
          <p:cNvPr id="22" name="Oval 21"/>
          <p:cNvSpPr/>
          <p:nvPr/>
        </p:nvSpPr>
        <p:spPr>
          <a:xfrm>
            <a:off x="3959352" y="256526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si AL MENOS UNA entrada = 1</a:t>
            </a:r>
          </a:p>
        </p:txBody>
      </p:sp>
      <p:sp>
        <p:nvSpPr>
          <p:cNvPr id="24" name="Oval 23"/>
          <p:cNvSpPr/>
          <p:nvPr/>
        </p:nvSpPr>
        <p:spPr>
          <a:xfrm>
            <a:off x="3959352" y="288110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82623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tPD típico 10 ns (74LS) · 14 ns (7400)</a:t>
            </a:r>
          </a:p>
        </p:txBody>
      </p:sp>
      <p:sp>
        <p:nvSpPr>
          <p:cNvPr id="26" name="Oval 25"/>
          <p:cNvSpPr/>
          <p:nvPr/>
        </p:nvSpPr>
        <p:spPr>
          <a:xfrm>
            <a:off x="3959352" y="3196943"/>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3142079"/>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Se usa en alarmas y condiciones 'o'</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C269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C2690A"/>
                </a:solidFill>
                <a:latin typeface="Consolas"/>
              </a:rPr>
              <a:t>Y = A + B   (se lee: A o B)</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C2690A"/>
                </a:solidFill>
                <a:latin typeface="Consolas"/>
              </a:rPr>
              <a:t>TABLA DE VERDAD · 7432</a:t>
            </a:r>
          </a:p>
        </p:txBody>
      </p:sp>
      <p:sp>
        <p:nvSpPr>
          <p:cNvPr id="32" name="Rectangle 31"/>
          <p:cNvSpPr/>
          <p:nvPr/>
        </p:nvSpPr>
        <p:spPr>
          <a:xfrm>
            <a:off x="6428232" y="1792224"/>
            <a:ext cx="5129784" cy="292608"/>
          </a:xfrm>
          <a:prstGeom prst="rect">
            <a:avLst/>
          </a:prstGeom>
          <a:solidFill>
            <a:srgbClr val="C2690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La salida baja a '0' únicamente cuando ambas entradas están en '0'. Cualquier entrada en alto la mantiene en '1'. Representa la unión de condiciones: 'si el sensor A o el sensor B detectan movimiento, suena la alarma'. También se usa como suma en álgebra de Boole y como OR de bits en máscaras.</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Alarmas multisensor, mezcla de señales de reloj de dos fuentes, unión de interrupciones, detección de cualquier falla (OR de banderas de error), arranque con dos botones alternativos y etapas finales de un comparador.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7432 y alternativas 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Distribución de pines idéntica a la del 7408, aunque la función es la suma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23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618095"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32.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Cuádruple compuerta OR de dos entradas, tecnología TTL original y disponible en las subfamilias LS, ALS, F, HC y HCT. Conserva el mismo mapa de pines que el 7408, por lo que ambos son intercambiables físicamente, no funcionalmente.</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Igual que en el 7408, las salidas 3 y 4 quedan en los pines 8 y 11.</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2.7 V · VOL máx 0.5 V · IOL 8 mA · tPD 10/15 ns (74LS32) · consumo típico 11 mW por compuerta · corriente de entrada 20 µA en alto, 0.4 mA en bajo.</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850" b="0">
                <a:solidFill>
                  <a:srgbClr val="2C3E56"/>
                </a:solidFill>
                <a:latin typeface="Segoe UI"/>
              </a:rPr>
              <a:t>Sustitución directa: 74LS32 ↔ 74ALS32 ↔ 74F32 ↔ 74HC32 ↔ 74HCT32. Si el circuito está hecho con el 74HC32 y se cambia a 74LS32, hay que verificar las corrientes de entrada porque las familias LS cargan más la señal que las HC.</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OR en operación: tiempos y comportamiento real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Cómo se ve la suma lógica en el osciloscopio y qué cuidar al montarla.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24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8992794"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ime_or.png"/>
          <p:cNvPicPr>
            <a:picLocks noChangeAspect="1"/>
          </p:cNvPicPr>
          <p:nvPr/>
        </p:nvPicPr>
        <p:blipFill>
          <a:blip r:embed="rId2"/>
          <a:stretch>
            <a:fillRect/>
          </a:stretch>
        </p:blipFill>
        <p:spPr>
          <a:xfrm>
            <a:off x="539496" y="2636405"/>
            <a:ext cx="3307064" cy="1091413"/>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7432: la salida Y sube con cualquier entrada alta y solo cae cuando ambas entradas bajan.</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in_7432.png"/>
          <p:cNvPicPr>
            <a:picLocks noChangeAspect="1"/>
          </p:cNvPicPr>
          <p:nvPr/>
        </p:nvPicPr>
        <p:blipFill>
          <a:blip r:embed="rId3"/>
          <a:srcRect l="10725" r="10725"/>
          <a:stretch>
            <a:fillRect/>
          </a:stretch>
        </p:blipFill>
        <p:spPr>
          <a:xfrm>
            <a:off x="4139168" y="1435608"/>
            <a:ext cx="3307064" cy="3493008"/>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Mapa de pines del 7432: cuatro compuertas OR independientes con VCC en el pin 14 y GND en el pin 7.</a:t>
            </a:r>
          </a:p>
        </p:txBody>
      </p:sp>
      <p:sp>
        <p:nvSpPr>
          <p:cNvPr id="22" name="Oval 21"/>
          <p:cNvSpPr/>
          <p:nvPr/>
        </p:nvSpPr>
        <p:spPr>
          <a:xfrm>
            <a:off x="7793705" y="1426464"/>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Forma de onda:</a:t>
            </a:r>
            <a:r>
              <a:rPr sz="1050" b="0">
                <a:solidFill>
                  <a:srgbClr val="2C3E56"/>
                </a:solidFill>
                <a:latin typeface="Segoe UI"/>
              </a:rPr>
              <a:t> Y = 0 solo en el primer tramo, cuando A = B = 0; en el resto permanece alta.</a:t>
            </a:r>
          </a:p>
        </p:txBody>
      </p:sp>
      <p:sp>
        <p:nvSpPr>
          <p:cNvPr id="24" name="Oval 23"/>
          <p:cNvSpPr/>
          <p:nvPr/>
        </p:nvSpPr>
        <p:spPr>
          <a:xfrm>
            <a:off x="7793705" y="184813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Transición dominante:</a:t>
            </a:r>
            <a:r>
              <a:rPr sz="1050" b="0">
                <a:solidFill>
                  <a:srgbClr val="2C3E56"/>
                </a:solidFill>
                <a:latin typeface="Segoe UI"/>
              </a:rPr>
              <a:t> cualquier flanco de subida en A o en B produce una transición en Y (tPLH).</a:t>
            </a:r>
          </a:p>
        </p:txBody>
      </p:sp>
      <p:sp>
        <p:nvSpPr>
          <p:cNvPr id="26" name="Oval 25"/>
          <p:cNvSpPr/>
          <p:nvPr/>
        </p:nvSpPr>
        <p:spPr>
          <a:xfrm>
            <a:off x="7793705" y="2269815"/>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21495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Cuidado con el glitch:</a:t>
            </a:r>
            <a:r>
              <a:rPr sz="1050" b="0">
                <a:solidFill>
                  <a:srgbClr val="2C3E56"/>
                </a:solidFill>
                <a:latin typeface="Segoe UI"/>
              </a:rPr>
              <a:t> al cambiar ambas entradas casi al mismo tiempo se generan pulsos estrechos de duración tPD.</a:t>
            </a:r>
          </a:p>
        </p:txBody>
      </p:sp>
      <p:sp>
        <p:nvSpPr>
          <p:cNvPr id="28" name="Oval 27"/>
          <p:cNvSpPr/>
          <p:nvPr/>
        </p:nvSpPr>
        <p:spPr>
          <a:xfrm>
            <a:off x="7793705" y="2865752"/>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Práctica sugerida:</a:t>
            </a:r>
            <a:r>
              <a:rPr sz="1050" b="0">
                <a:solidFill>
                  <a:srgbClr val="2C3E56"/>
                </a:solidFill>
                <a:latin typeface="Segoe UI"/>
              </a:rPr>
              <a:t> aplicar dos señales de reloj de distintas frecuencias y observar la suma lógica en el osciloscopio.</a:t>
            </a:r>
          </a:p>
        </p:txBody>
      </p:sp>
      <p:sp>
        <p:nvSpPr>
          <p:cNvPr id="30" name="Oval 29"/>
          <p:cNvSpPr/>
          <p:nvPr/>
        </p:nvSpPr>
        <p:spPr>
          <a:xfrm>
            <a:off x="7793705" y="3461689"/>
            <a:ext cx="82296" cy="82296"/>
          </a:xfrm>
          <a:prstGeom prst="ellipse">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40682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Aplicación inmediata:</a:t>
            </a:r>
            <a:r>
              <a:rPr sz="1050" b="0">
                <a:solidFill>
                  <a:srgbClr val="2C3E56"/>
                </a:solidFill>
                <a:latin typeface="Segoe UI"/>
              </a:rPr>
              <a:t> OR de dos interruptores para encender una misma carga desde dos puntos del tablero.</a:t>
            </a:r>
          </a:p>
        </p:txBody>
      </p:sp>
      <p:sp>
        <p:nvSpPr>
          <p:cNvPr id="32" name="Rounded Rectangle 31"/>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75488" y="5468112"/>
            <a:ext cx="32004" cy="64008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C2690A"/>
                </a:solidFill>
                <a:latin typeface="Consolas"/>
              </a:rPr>
              <a:t>OBSERVACIÓN</a:t>
            </a:r>
          </a:p>
        </p:txBody>
      </p:sp>
      <p:sp>
        <p:nvSpPr>
          <p:cNvPr id="35" name="TextBox 34"/>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El OR de señales de reloj de frecuencias distintas produce ruido de alta frecuencia: en sistemas reales se multiplexa en lugar de sumar con 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69" fill="hold">
                      <p:stCondLst>
                        <p:cond delay="indefinite"/>
                      </p:stCondLst>
                      <p:childTnLst>
                        <p:par>
                          <p:cTn id="70"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childTnLst>
                          </p:cTn>
                        </p:par>
                      </p:childTnLst>
                    </p:cTn>
                  </p:par>
                  <p:par>
                    <p:cTn id="83" fill="hold">
                      <p:stCondLst>
                        <p:cond delay="indefinite"/>
                      </p:stCondLst>
                      <p:childTnLst>
                        <p:par>
                          <p:cTn id="84" fill="hold">
                            <p:stCondLst>
                              <p:cond delay="0"/>
                            </p:stCondLst>
                            <p:childTnLst>
                              <p:par>
                                <p:cTn id="73" fill="hold">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1" dur="420"/>
                                        <p:tgtEl>
                                          <p:spTgt spid="32"/>
                                        </p:tgtEl>
                                      </p:cBhvr>
                                    </p:animEffect>
                                  </p:childTnLst>
                                </p:cTn>
                              </p:par>
                              <p:par>
                                <p:cTn id="76" fill="hold">
                                  <p:stCondLst>
                                    <p:cond delay="110"/>
                                  </p:stCondLst>
                                  <p:childTnLst>
                                    <p:set>
                                      <p:cBhvr>
                                        <p:cTn id="75" dur="1" fill="hold">
                                          <p:stCondLst>
                                            <p:cond delay="0"/>
                                          </p:stCondLst>
                                        </p:cTn>
                                        <p:tgtEl>
                                          <p:spTgt spid="33"/>
                                        </p:tgtEl>
                                        <p:attrNameLst>
                                          <p:attrName>style.visibility</p:attrName>
                                        </p:attrNameLst>
                                      </p:cBhvr>
                                      <p:to>
                                        <p:strVal val="visible"/>
                                      </p:to>
                                    </p:set>
                                    <p:animEffect transition="in" filter="fade">
                                      <p:cBhvr>
                                        <p:cTn id="74" dur="420"/>
                                        <p:tgtEl>
                                          <p:spTgt spid="33"/>
                                        </p:tgtEl>
                                      </p:cBhvr>
                                    </p:animEffect>
                                  </p:childTnLst>
                                </p:cTn>
                              </p:par>
                              <p:par>
                                <p:cTn id="79" fill="hold">
                                  <p:stCondLst>
                                    <p:cond delay="220"/>
                                  </p:stCondLst>
                                  <p:childTnLst>
                                    <p:set>
                                      <p:cBhvr>
                                        <p:cTn id="78" dur="1" fill="hold">
                                          <p:stCondLst>
                                            <p:cond delay="0"/>
                                          </p:stCondLst>
                                        </p:cTn>
                                        <p:tgtEl>
                                          <p:spTgt spid="34"/>
                                        </p:tgtEl>
                                        <p:attrNameLst>
                                          <p:attrName>style.visibility</p:attrName>
                                        </p:attrNameLst>
                                      </p:cBhvr>
                                      <p:to>
                                        <p:strVal val="visible"/>
                                      </p:to>
                                    </p:set>
                                    <p:animEffect transition="in" filter="fade">
                                      <p:cBhvr>
                                        <p:cTn id="77" dur="420"/>
                                        <p:tgtEl>
                                          <p:spTgt spid="34"/>
                                        </p:tgtEl>
                                      </p:cBhvr>
                                    </p:animEffect>
                                  </p:childTnLst>
                                </p:cTn>
                              </p:par>
                              <p:par>
                                <p:cTn id="82" fill="hold">
                                  <p:stCondLst>
                                    <p:cond delay="330"/>
                                  </p:stCondLst>
                                  <p:childTnLst>
                                    <p:set>
                                      <p:cBhvr>
                                        <p:cTn id="81" dur="1" fill="hold">
                                          <p:stCondLst>
                                            <p:cond delay="0"/>
                                          </p:stCondLst>
                                        </p:cTn>
                                        <p:tgtEl>
                                          <p:spTgt spid="35"/>
                                        </p:tgtEl>
                                        <p:attrNameLst>
                                          <p:attrName>style.visibility</p:attrName>
                                        </p:attrNameLst>
                                      </p:cBhvr>
                                      <p:to>
                                        <p:strVal val="visible"/>
                                      </p:to>
                                    </p:set>
                                    <p:animEffect transition="in" filter="fade">
                                      <p:cBhvr>
                                        <p:cTn id="80" dur="42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NOT / Inversor (Chip 7404)</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inversor: una sola entrada y el complemento exacto en la salida.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25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367494"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t.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6D46E0"/>
                </a:solidFill>
                <a:latin typeface="Consolas"/>
              </a:rPr>
              <a:t>74LS04 / 7404</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1100" b="1">
                <a:solidFill>
                  <a:srgbClr val="0D1A2B"/>
                </a:solidFill>
                <a:latin typeface="Segoe UI Semibold"/>
              </a:rPr>
              <a:t>Hex Inverter</a:t>
            </a:r>
          </a:p>
        </p:txBody>
      </p:sp>
      <p:sp>
        <p:nvSpPr>
          <p:cNvPr id="20" name="Oval 19"/>
          <p:cNvSpPr/>
          <p:nvPr/>
        </p:nvSpPr>
        <p:spPr>
          <a:xfrm>
            <a:off x="3959352" y="2249424"/>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6 inversores independientes en un DIP-14</a:t>
            </a:r>
          </a:p>
        </p:txBody>
      </p:sp>
      <p:sp>
        <p:nvSpPr>
          <p:cNvPr id="22" name="Oval 21"/>
          <p:cNvSpPr/>
          <p:nvPr/>
        </p:nvSpPr>
        <p:spPr>
          <a:xfrm>
            <a:off x="3959352" y="256526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Y = complemento exacto de A</a:t>
            </a:r>
          </a:p>
        </p:txBody>
      </p:sp>
      <p:sp>
        <p:nvSpPr>
          <p:cNvPr id="24" name="Oval 23"/>
          <p:cNvSpPr/>
          <p:nvPr/>
        </p:nvSpPr>
        <p:spPr>
          <a:xfrm>
            <a:off x="3959352" y="273689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Se usa para generar variables negadas A', B'</a:t>
            </a:r>
          </a:p>
        </p:txBody>
      </p:sp>
      <p:sp>
        <p:nvSpPr>
          <p:cNvPr id="26" name="Oval 25"/>
          <p:cNvSpPr/>
          <p:nvPr/>
        </p:nvSpPr>
        <p:spPr>
          <a:xfrm>
            <a:off x="3959352" y="3052739"/>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Base de osciladores y antirrebote</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6D46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6D46E0"/>
                </a:solidFill>
                <a:latin typeface="Consolas"/>
              </a:rPr>
              <a:t>Y = A'   (se lee: A negada)</a:t>
            </a:r>
          </a:p>
        </p:txBody>
      </p:sp>
      <p:sp>
        <p:nvSpPr>
          <p:cNvPr id="30" name="Rounded Rectangle 29"/>
          <p:cNvSpPr/>
          <p:nvPr/>
        </p:nvSpPr>
        <p:spPr>
          <a:xfrm>
            <a:off x="6263640" y="1371600"/>
            <a:ext cx="5458968" cy="1362456"/>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6D46E0"/>
                </a:solidFill>
                <a:latin typeface="Consolas"/>
              </a:rPr>
              <a:t>TABLA DE VERDAD · 7404</a:t>
            </a:r>
          </a:p>
        </p:txBody>
      </p:sp>
      <p:sp>
        <p:nvSpPr>
          <p:cNvPr id="32" name="Rectangle 31"/>
          <p:cNvSpPr/>
          <p:nvPr/>
        </p:nvSpPr>
        <p:spPr>
          <a:xfrm>
            <a:off x="6428232" y="1792224"/>
            <a:ext cx="5129784" cy="292608"/>
          </a:xfrm>
          <a:prstGeom prst="rect">
            <a:avLst/>
          </a:prstGeom>
          <a:solidFill>
            <a:srgbClr val="6D46E0">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2418588"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9066276" y="1792224"/>
            <a:ext cx="2418588"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a:t>
            </a:r>
          </a:p>
        </p:txBody>
      </p:sp>
      <p:sp>
        <p:nvSpPr>
          <p:cNvPr id="35" name="Rectangle 34"/>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01384" y="2084831"/>
            <a:ext cx="2418588"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7" name="TextBox 36"/>
          <p:cNvSpPr txBox="1"/>
          <p:nvPr/>
        </p:nvSpPr>
        <p:spPr>
          <a:xfrm>
            <a:off x="9066276" y="2084831"/>
            <a:ext cx="2418588"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38" name="TextBox 37"/>
          <p:cNvSpPr txBox="1"/>
          <p:nvPr/>
        </p:nvSpPr>
        <p:spPr>
          <a:xfrm>
            <a:off x="6501384" y="2345436"/>
            <a:ext cx="2418588"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39" name="TextBox 38"/>
          <p:cNvSpPr txBox="1"/>
          <p:nvPr/>
        </p:nvSpPr>
        <p:spPr>
          <a:xfrm>
            <a:off x="9066276" y="2345436"/>
            <a:ext cx="2418588"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0" name="Rounded Rectangle 39"/>
          <p:cNvSpPr/>
          <p:nvPr/>
        </p:nvSpPr>
        <p:spPr>
          <a:xfrm>
            <a:off x="6428232" y="1792224"/>
            <a:ext cx="5129784" cy="813816"/>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263640" y="2935224"/>
            <a:ext cx="5458968" cy="1911095"/>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46520" y="3063240"/>
            <a:ext cx="5074920" cy="237744"/>
          </a:xfrm>
          <a:prstGeom prst="rect">
            <a:avLst/>
          </a:prstGeom>
          <a:noFill/>
        </p:spPr>
        <p:txBody>
          <a:bodyPr wrap="square" lIns="0" rIns="0" tIns="0" bIns="0" anchor="t">
            <a:spAutoFit/>
          </a:bodyPr>
          <a:lstStyle/>
          <a:p>
            <a:pPr algn="l">
              <a:lnSpc>
                <a:spcPct val="100000"/>
              </a:lnSpc>
            </a:pPr>
            <a:r>
              <a:rPr sz="1000" b="1">
                <a:solidFill>
                  <a:srgbClr val="6D46E0"/>
                </a:solidFill>
                <a:latin typeface="Consolas"/>
              </a:rPr>
              <a:t>CÓMO VERIFICARLO EN EL LABORATORIO</a:t>
            </a:r>
          </a:p>
        </p:txBody>
      </p:sp>
      <p:sp>
        <p:nvSpPr>
          <p:cNvPr id="43" name="Oval 42"/>
          <p:cNvSpPr/>
          <p:nvPr/>
        </p:nvSpPr>
        <p:spPr>
          <a:xfrm>
            <a:off x="6473952" y="3429000"/>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0256" y="3374136"/>
            <a:ext cx="4855464" cy="312749"/>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Aplicar cada combinación de entrada de la tabla de verdad y medir la salida con la punta lógica.</a:t>
            </a:r>
          </a:p>
        </p:txBody>
      </p:sp>
      <p:sp>
        <p:nvSpPr>
          <p:cNvPr id="45" name="Oval 44"/>
          <p:cNvSpPr/>
          <p:nvPr/>
        </p:nvSpPr>
        <p:spPr>
          <a:xfrm>
            <a:off x="6473952" y="3796613"/>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0256" y="3741749"/>
            <a:ext cx="4855464" cy="312749"/>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Comprobar VCC = 5 V en el pin 14 y GND en el pin 7 antes de interpretar cualquier resultado.</a:t>
            </a:r>
          </a:p>
        </p:txBody>
      </p:sp>
      <p:sp>
        <p:nvSpPr>
          <p:cNvPr id="47" name="Oval 46"/>
          <p:cNvSpPr/>
          <p:nvPr/>
        </p:nvSpPr>
        <p:spPr>
          <a:xfrm>
            <a:off x="6473952" y="4164226"/>
            <a:ext cx="82296" cy="82296"/>
          </a:xfrm>
          <a:prstGeom prst="ellipse">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0256" y="4109362"/>
            <a:ext cx="4855464" cy="156374"/>
          </a:xfrm>
          <a:prstGeom prst="rect">
            <a:avLst/>
          </a:prstGeom>
          <a:noFill/>
        </p:spPr>
        <p:txBody>
          <a:bodyPr wrap="square" lIns="0" rIns="0" tIns="0" bIns="0" anchor="t">
            <a:spAutoFit/>
          </a:bodyPr>
          <a:lstStyle/>
          <a:p>
            <a:pPr algn="l">
              <a:lnSpc>
                <a:spcPct val="106000"/>
              </a:lnSpc>
            </a:pPr>
            <a:r>
              <a:rPr sz="960" b="0">
                <a:solidFill>
                  <a:srgbClr val="2C3E56"/>
                </a:solidFill>
                <a:latin typeface="Segoe UI"/>
              </a:rPr>
              <a:t>Registrar las mediciones en el reporte de práctica.</a:t>
            </a:r>
          </a:p>
        </p:txBody>
      </p:sp>
      <p:sp>
        <p:nvSpPr>
          <p:cNvPr id="49" name="Rounded Rectangle 48"/>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75488" y="518464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2" name="TextBox 51"/>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Entrega en su salida el nivel contrario al de la entrada. Es indispensable para generar las variables negadas que aparecen en cualquier función simplificada y para restaurar niveles degradados por la carga. Su estructura interna es un transistor con resistencia pull-up (en TTL) o un par CMOS complementario.</a:t>
            </a:r>
          </a:p>
        </p:txBody>
      </p:sp>
      <p:sp>
        <p:nvSpPr>
          <p:cNvPr id="53" name="Rounded Rectangle 52"/>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05712" y="518464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56" name="TextBox 55"/>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Generación de variables complementarias, osciladores de reloj (con cristal o RC), antirrebote de interruptores, conformación de pulsos, buffers con inversión y construcción de compuertas lógicas a partir de NAND o NOR.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42" fill="hold">
                      <p:stCondLst>
                        <p:cond delay="indefinite"/>
                      </p:stCondLst>
                      <p:childTnLst>
                        <p:par>
                          <p:cTn id="143"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3" dur="420"/>
                                        <p:tgtEl>
                                          <p:spTgt spid="41"/>
                                        </p:tgtEl>
                                      </p:cBhvr>
                                    </p:animEffect>
                                  </p:childTnLst>
                                </p:cTn>
                              </p:par>
                              <p:par>
                                <p:cTn id="108" fill="hold">
                                  <p:stCondLst>
                                    <p:cond delay="1210"/>
                                  </p:stCondLst>
                                  <p:childTnLst>
                                    <p:set>
                                      <p:cBhvr>
                                        <p:cTn id="107" dur="1" fill="hold">
                                          <p:stCondLst>
                                            <p:cond delay="0"/>
                                          </p:stCondLst>
                                        </p:cTn>
                                        <p:tgtEl>
                                          <p:spTgt spid="42"/>
                                        </p:tgtEl>
                                        <p:attrNameLst>
                                          <p:attrName>style.visibility</p:attrName>
                                        </p:attrNameLst>
                                      </p:cBhvr>
                                      <p:to>
                                        <p:strVal val="visible"/>
                                      </p:to>
                                    </p:set>
                                    <p:animEffect transition="in" filter="fade">
                                      <p:cBhvr>
                                        <p:cTn id="106" dur="420"/>
                                        <p:tgtEl>
                                          <p:spTgt spid="42"/>
                                        </p:tgtEl>
                                      </p:cBhvr>
                                    </p:animEffect>
                                  </p:childTnLst>
                                </p:cTn>
                              </p:par>
                              <p:par>
                                <p:cTn id="111" fill="hold">
                                  <p:stCondLst>
                                    <p:cond delay="132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09" dur="420"/>
                                        <p:tgtEl>
                                          <p:spTgt spid="44"/>
                                        </p:tgtEl>
                                      </p:cBhvr>
                                    </p:animEffect>
                                  </p:childTnLst>
                                </p:cTn>
                              </p:par>
                              <p:par>
                                <p:cTn id="114" fill="hold">
                                  <p:stCondLst>
                                    <p:cond delay="143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2" dur="420"/>
                                        <p:tgtEl>
                                          <p:spTgt spid="46"/>
                                        </p:tgtEl>
                                      </p:cBhvr>
                                    </p:animEffect>
                                  </p:childTnLst>
                                </p:cTn>
                              </p:par>
                              <p:par>
                                <p:cTn id="117" fill="hold">
                                  <p:stCondLst>
                                    <p:cond delay="154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5" dur="420"/>
                                        <p:tgtEl>
                                          <p:spTgt spid="48"/>
                                        </p:tgtEl>
                                      </p:cBhvr>
                                    </p:animEffect>
                                  </p:childTnLst>
                                </p:cTn>
                              </p:par>
                              <p:par>
                                <p:cTn id="120" fill="hold">
                                  <p:stCondLst>
                                    <p:cond delay="165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18" dur="420"/>
                                        <p:tgtEl>
                                          <p:spTgt spid="49"/>
                                        </p:tgtEl>
                                      </p:cBhvr>
                                    </p:animEffect>
                                  </p:childTnLst>
                                </p:cTn>
                              </p:par>
                              <p:par>
                                <p:cTn id="123" fill="hold">
                                  <p:stCondLst>
                                    <p:cond delay="176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1" dur="420"/>
                                        <p:tgtEl>
                                          <p:spTgt spid="50"/>
                                        </p:tgtEl>
                                      </p:cBhvr>
                                    </p:animEffect>
                                  </p:childTnLst>
                                </p:cTn>
                              </p:par>
                              <p:par>
                                <p:cTn id="126" fill="hold">
                                  <p:stCondLst>
                                    <p:cond delay="187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4" dur="420"/>
                                        <p:tgtEl>
                                          <p:spTgt spid="51"/>
                                        </p:tgtEl>
                                      </p:cBhvr>
                                    </p:animEffect>
                                  </p:childTnLst>
                                </p:cTn>
                              </p:par>
                              <p:par>
                                <p:cTn id="129" fill="hold">
                                  <p:stCondLst>
                                    <p:cond delay="198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7" dur="420"/>
                                        <p:tgtEl>
                                          <p:spTgt spid="52"/>
                                        </p:tgtEl>
                                      </p:cBhvr>
                                    </p:animEffect>
                                  </p:childTnLst>
                                </p:cTn>
                              </p:par>
                              <p:par>
                                <p:cTn id="132" fill="hold">
                                  <p:stCondLst>
                                    <p:cond delay="209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0" dur="420"/>
                                        <p:tgtEl>
                                          <p:spTgt spid="53"/>
                                        </p:tgtEl>
                                      </p:cBhvr>
                                    </p:animEffect>
                                  </p:childTnLst>
                                </p:cTn>
                              </p:par>
                              <p:par>
                                <p:cTn id="135" fill="hold">
                                  <p:stCondLst>
                                    <p:cond delay="220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3" dur="420"/>
                                        <p:tgtEl>
                                          <p:spTgt spid="54"/>
                                        </p:tgtEl>
                                      </p:cBhvr>
                                    </p:animEffect>
                                  </p:childTnLst>
                                </p:cTn>
                              </p:par>
                              <p:par>
                                <p:cTn id="138" fill="hold">
                                  <p:stCondLst>
                                    <p:cond delay="231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6" dur="420"/>
                                        <p:tgtEl>
                                          <p:spTgt spid="55"/>
                                        </p:tgtEl>
                                      </p:cBhvr>
                                    </p:animEffect>
                                  </p:childTnLst>
                                </p:cTn>
                              </p:par>
                              <p:par>
                                <p:cTn id="141" fill="hold">
                                  <p:stCondLst>
                                    <p:cond delay="242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39" dur="42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7404 y variantes de inversor</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chip más sencillo de la familia, pero con la variante Schmitt que salva montajes reales.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26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9742194"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4.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Seis inversores independientes en DIP-14. El 7414 ofrece la misma función con histéresis de Schmitt (umbrales separados de subida y bajada), ideal para señales lentas, con rebote o con ruido, y el 7406 con salida de colector abierto para manejar cargas de hasta 30 V.</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1Y=2 | 2A=3, 2Y=4 | 3A=5, 3Y=6 | GND=7 | 4Y=8, 4A=9 | 5Y=10, 5A=11 | 6Y=12, 6A=13 | VCC=14. Cada par de pines consecutivos es un inversor completo.</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tPD 8/12 ns (74LS04) · 74LS14 con histéresis VT+ 1.6 V y VT– 0.8 V · IOH −0.4 mA, IOL 8 mA · fan-out 10 entradas TTL estándar.</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6D4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6D46E0"/>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Un inversor libre sirve como oscilador: 74LS04 + cristal de cuarzo y dos capacitores forman el reloj base de muchos circuitos digitales educativos.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NAND (Chip 7400)</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compuerta universal: con ella sola se construye cualquier función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27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116894"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and.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0E8A5F"/>
                </a:solidFill>
                <a:latin typeface="Consolas"/>
              </a:rPr>
              <a:t>74LS00 / 7400</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Positive-NAND Gate</a:t>
            </a:r>
          </a:p>
        </p:txBody>
      </p:sp>
      <p:sp>
        <p:nvSpPr>
          <p:cNvPr id="20" name="Oval 19"/>
          <p:cNvSpPr/>
          <p:nvPr/>
        </p:nvSpPr>
        <p:spPr>
          <a:xfrm>
            <a:off x="3959352" y="224942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4 compuertas NAND en un DIP-14</a:t>
            </a:r>
          </a:p>
        </p:txBody>
      </p:sp>
      <p:sp>
        <p:nvSpPr>
          <p:cNvPr id="22" name="Oval 21"/>
          <p:cNvSpPr/>
          <p:nvPr/>
        </p:nvSpPr>
        <p:spPr>
          <a:xfrm>
            <a:off x="3959352" y="2565263"/>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510399"/>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0 SOLO si A = B = 1</a:t>
            </a:r>
          </a:p>
        </p:txBody>
      </p:sp>
      <p:sp>
        <p:nvSpPr>
          <p:cNvPr id="24" name="Oval 23"/>
          <p:cNvSpPr/>
          <p:nvPr/>
        </p:nvSpPr>
        <p:spPr>
          <a:xfrm>
            <a:off x="3959352" y="273689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68203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Es la compuerta universal por excelencia</a:t>
            </a:r>
          </a:p>
        </p:txBody>
      </p:sp>
      <p:sp>
        <p:nvSpPr>
          <p:cNvPr id="26" name="Oval 25"/>
          <p:cNvSpPr/>
          <p:nvPr/>
        </p:nvSpPr>
        <p:spPr>
          <a:xfrm>
            <a:off x="3959352" y="30527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997875"/>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Primer integrado lógico de la historia (1961)</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0E8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0E8A5F"/>
                </a:solidFill>
                <a:latin typeface="Consolas"/>
              </a:rPr>
              <a:t>Y = (A · B)'   (se lee: A por B negado)</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0E8A5F"/>
                </a:solidFill>
                <a:latin typeface="Consolas"/>
              </a:rPr>
              <a:t>TABLA DE VERDAD · 7400</a:t>
            </a:r>
          </a:p>
        </p:txBody>
      </p:sp>
      <p:sp>
        <p:nvSpPr>
          <p:cNvPr id="32" name="Rectangle 31"/>
          <p:cNvSpPr/>
          <p:nvPr/>
        </p:nvSpPr>
        <p:spPr>
          <a:xfrm>
            <a:off x="6428232" y="1792224"/>
            <a:ext cx="5129784" cy="292608"/>
          </a:xfrm>
          <a:prstGeom prst="rect">
            <a:avLst/>
          </a:prstGeom>
          <a:solidFill>
            <a:srgbClr val="0E8A5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and.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AND seguida de un inversor. Su salida permanece en '1' salvo en el único caso en que todas las entradas están en alto, donde cae a '0'. Debido a que la salida típica de un TTL 'sumidera' mejor corriente que la que entrega, el NAND es la compuerta más usada como etapa de potencia hacia LEDs y cargas.</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Memorias latch y flip-flops, osciladores digitales, decodificadores, lógica universal, antirrebote, control de habilitación activa en bajo y práctica totalidad de los circuitos combinacionales didácticos.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Pinout del 7400: el chip más versátil</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El candidato número uno para el laboratorio: cuatro compuertas universales.</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28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491593"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77840" cy="4041648"/>
          </a:xfrm>
          <a:prstGeom prst="roundRect">
            <a:avLst>
              <a:gd name="adj" fmla="val 163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in_7400.png"/>
          <p:cNvPicPr>
            <a:picLocks noChangeAspect="1"/>
          </p:cNvPicPr>
          <p:nvPr/>
        </p:nvPicPr>
        <p:blipFill>
          <a:blip r:embed="rId2"/>
          <a:stretch>
            <a:fillRect/>
          </a:stretch>
        </p:blipFill>
        <p:spPr>
          <a:xfrm>
            <a:off x="1049112" y="1554480"/>
            <a:ext cx="4430590" cy="3675887"/>
          </a:xfrm>
          <a:prstGeom prst="rect">
            <a:avLst/>
          </a:prstGeom>
        </p:spPr>
      </p:pic>
      <p:sp>
        <p:nvSpPr>
          <p:cNvPr id="18" name="Rounded Rectangle 17"/>
          <p:cNvSpPr/>
          <p:nvPr/>
        </p:nvSpPr>
        <p:spPr>
          <a:xfrm>
            <a:off x="6263640" y="1371600"/>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63640" y="1481328"/>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1517904"/>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Descripción general</a:t>
            </a:r>
          </a:p>
        </p:txBody>
      </p:sp>
      <p:sp>
        <p:nvSpPr>
          <p:cNvPr id="21" name="TextBox 20"/>
          <p:cNvSpPr txBox="1"/>
          <p:nvPr/>
        </p:nvSpPr>
        <p:spPr>
          <a:xfrm>
            <a:off x="6446520" y="1828800"/>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Cuatro compuertas NAND de dos entradas. Es el integrado lógico más usado en prácticas de electrónica digital por su versatilidad: permite implementar AND, OR, NOT, XOR y cualquier función simplificada sin necesidad de otros chips.</a:t>
            </a:r>
          </a:p>
        </p:txBody>
      </p:sp>
      <p:sp>
        <p:nvSpPr>
          <p:cNvPr id="22" name="Rounded Rectangle 21"/>
          <p:cNvSpPr/>
          <p:nvPr/>
        </p:nvSpPr>
        <p:spPr>
          <a:xfrm>
            <a:off x="6263640" y="2761488"/>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63640" y="2871216"/>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2907792"/>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Distribución de pines</a:t>
            </a:r>
          </a:p>
        </p:txBody>
      </p:sp>
      <p:sp>
        <p:nvSpPr>
          <p:cNvPr id="25" name="TextBox 24"/>
          <p:cNvSpPr txBox="1"/>
          <p:nvPr/>
        </p:nvSpPr>
        <p:spPr>
          <a:xfrm>
            <a:off x="6446520" y="3218688"/>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1A=1, 1B=2, 1Y=3 | 2A=4, 2B=5, 2Y=6 | GND=7 | 3Y=8, 3A=9, 3B=10 | 4Y=11, 4A=12, 4B=13 | VCC=14. Idéntico al del 7408 y 7432; solo cambia la función interna.</a:t>
            </a:r>
          </a:p>
        </p:txBody>
      </p:sp>
      <p:sp>
        <p:nvSpPr>
          <p:cNvPr id="26" name="Rounded Rectangle 25"/>
          <p:cNvSpPr/>
          <p:nvPr/>
        </p:nvSpPr>
        <p:spPr>
          <a:xfrm>
            <a:off x="6263640" y="4151376"/>
            <a:ext cx="5458968" cy="1261872"/>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4261104"/>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46520" y="4297680"/>
            <a:ext cx="5093207" cy="274320"/>
          </a:xfrm>
          <a:prstGeom prst="rect">
            <a:avLst/>
          </a:prstGeom>
          <a:noFill/>
        </p:spPr>
        <p:txBody>
          <a:bodyPr wrap="square" lIns="0" rIns="0" tIns="0" bIns="0" anchor="t">
            <a:spAutoFit/>
          </a:bodyPr>
          <a:lstStyle/>
          <a:p>
            <a:pPr algn="l">
              <a:lnSpc>
                <a:spcPct val="98000"/>
              </a:lnSpc>
            </a:pPr>
            <a:r>
              <a:rPr sz="1150" b="1">
                <a:solidFill>
                  <a:srgbClr val="0D1A2B"/>
                </a:solidFill>
                <a:latin typeface="Segoe UI Semibold"/>
              </a:rPr>
              <a:t>Parámetros clave del datasheet</a:t>
            </a:r>
          </a:p>
        </p:txBody>
      </p:sp>
      <p:sp>
        <p:nvSpPr>
          <p:cNvPr id="29" name="TextBox 28"/>
          <p:cNvSpPr txBox="1"/>
          <p:nvPr/>
        </p:nvSpPr>
        <p:spPr>
          <a:xfrm>
            <a:off x="6446520" y="4608576"/>
            <a:ext cx="5093207" cy="758951"/>
          </a:xfrm>
          <a:prstGeom prst="rect">
            <a:avLst/>
          </a:prstGeom>
          <a:noFill/>
        </p:spPr>
        <p:txBody>
          <a:bodyPr wrap="square" lIns="0" rIns="0" tIns="0" bIns="0" anchor="t">
            <a:spAutoFit/>
          </a:bodyPr>
          <a:lstStyle/>
          <a:p>
            <a:pPr algn="l">
              <a:lnSpc>
                <a:spcPct val="110000"/>
              </a:lnSpc>
            </a:pPr>
            <a:r>
              <a:rPr sz="1019" b="0">
                <a:solidFill>
                  <a:srgbClr val="2C3E56"/>
                </a:solidFill>
                <a:latin typeface="Segoe UI"/>
              </a:rPr>
              <a:t>VCC 4.75–5.25 V · VOH mín 2.4 V (a −0.4 mA) · VOL máx 0.4 V (a 16 mA, subfamilia LS) · tPD 9/10 ns (74LS00) · tiempo de subida de salida 15 ns · disipación 10 mW por compuerta.</a:t>
            </a:r>
          </a:p>
        </p:txBody>
      </p:sp>
      <p:sp>
        <p:nvSpPr>
          <p:cNvPr id="30" name="Rounded Rectangle 29"/>
          <p:cNvSpPr/>
          <p:nvPr/>
        </p:nvSpPr>
        <p:spPr>
          <a:xfrm>
            <a:off x="475488" y="5623560"/>
            <a:ext cx="11240993" cy="566928"/>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5488" y="5715000"/>
            <a:ext cx="32004" cy="384048"/>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5715000"/>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HOJA DE DATOS</a:t>
            </a:r>
          </a:p>
        </p:txBody>
      </p:sp>
      <p:sp>
        <p:nvSpPr>
          <p:cNvPr id="33" name="TextBox 32"/>
          <p:cNvSpPr txBox="1"/>
          <p:nvPr/>
        </p:nvSpPr>
        <p:spPr>
          <a:xfrm>
            <a:off x="640080" y="5897880"/>
            <a:ext cx="10911809" cy="182880"/>
          </a:xfrm>
          <a:prstGeom prst="rect">
            <a:avLst/>
          </a:prstGeom>
          <a:noFill/>
        </p:spPr>
        <p:txBody>
          <a:bodyPr wrap="square" lIns="0" rIns="0" tIns="0" bIns="0" anchor="t">
            <a:spAutoFit/>
          </a:bodyPr>
          <a:lstStyle/>
          <a:p>
            <a:pPr algn="l">
              <a:lnSpc>
                <a:spcPct val="110000"/>
              </a:lnSpc>
            </a:pPr>
            <a:r>
              <a:rPr sz="1000" b="0">
                <a:solidFill>
                  <a:srgbClr val="2C3E56"/>
                </a:solidFill>
                <a:latin typeface="Segoe UI"/>
              </a:rPr>
              <a:t>El 74LS00 y el 74LS03 comparten pinout: el segundo tiene salidas de colector abierto, útiles para conectar varias salidas en un mismo punto (lógica cableada).</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26" fill="hold">
                      <p:stCondLst>
                        <p:cond delay="indefinite"/>
                      </p:stCondLst>
                      <p:childTnLst>
                        <p:par>
                          <p:cTn id="27"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Scale>
                                      <p:cBhvr>
                                        <p:cTn id="23" dur="420" fill="hold"/>
                                        <p:tgtEl>
                                          <p:spTgt spid="16"/>
                                        </p:tgtEl>
                                      </p:cBhvr>
                                      <p:from x="90000" y="90000"/>
                                      <p:to x="100000" y="100000"/>
                                    </p:animScale>
                                  </p:childTnLst>
                                </p:cTn>
                              </p:par>
                            </p:childTnLst>
                          </p:cTn>
                        </p:par>
                      </p:childTnLst>
                    </p:cTn>
                  </p:par>
                  <p:par>
                    <p:cTn id="31" fill="hold">
                      <p:stCondLst>
                        <p:cond delay="indefinite"/>
                      </p:stCondLst>
                      <p:childTnLst>
                        <p:par>
                          <p:cTn id="32" fill="hold">
                            <p:stCondLst>
                              <p:cond delay="0"/>
                            </p:stCondLst>
                            <p:childTnLst>
                              <p:par>
                                <p:cTn id="30" fill="hold">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28" dur="420"/>
                                        <p:tgtEl>
                                          <p:spTgt spid="17"/>
                                        </p:tgtEl>
                                      </p:cBhvr>
                                    </p:animEffect>
                                    <p:animScale>
                                      <p:cBhvr>
                                        <p:cTn id="28" dur="420" fill="hold"/>
                                        <p:tgtEl>
                                          <p:spTgt spid="17"/>
                                        </p:tgtEl>
                                      </p:cBhvr>
                                      <p:from x="90000" y="90000"/>
                                      <p:to x="100000" y="100000"/>
                                    </p:animScale>
                                  </p:childTnLst>
                                </p:cTn>
                              </p:par>
                            </p:childTnLst>
                          </p:cTn>
                        </p:par>
                      </p:childTnLst>
                    </p:cTn>
                  </p:par>
                  <p:par>
                    <p:cTn id="49" fill="hold">
                      <p:stCondLst>
                        <p:cond delay="indefinite"/>
                      </p:stCondLst>
                      <p:childTnLst>
                        <p:par>
                          <p:cTn id="50"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par>
                                <p:cTn id="44" fill="hold">
                                  <p:stCondLst>
                                    <p:cond delay="2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1" dur="420"/>
                                        <p:tgtEl>
                                          <p:spTgt spid="20"/>
                                        </p:tgtEl>
                                      </p:cBhvr>
                                    </p:animEffect>
                                    <p:anim calcmode="lin" valueType="num">
                                      <p:cBhvr additive="base">
                                        <p:cTn id="43" dur="420" fill="hold"/>
                                        <p:tgtEl>
                                          <p:spTgt spid="20"/>
                                        </p:tgtEl>
                                        <p:attrNameLst>
                                          <p:attrName>ppt_y</p:attrName>
                                        </p:attrNameLst>
                                      </p:cBhvr>
                                      <p:tavLst>
                                        <p:tav tm="0">
                                          <p:val>
                                            <p:strVal val="0.06"/>
                                          </p:val>
                                        </p:tav>
                                        <p:tav tm="100000">
                                          <p:val>
                                            <p:strVal val="0"/>
                                          </p:val>
                                        </p:tav>
                                      </p:tavLst>
                                    </p:anim>
                                  </p:childTnLst>
                                </p:cTn>
                              </p:par>
                              <p:par>
                                <p:cTn id="48" fill="hold">
                                  <p:stCondLst>
                                    <p:cond delay="330"/>
                                  </p:stCondLst>
                                  <p:childTnLst>
                                    <p:set>
                                      <p:cBhvr>
                                        <p:cTn id="46" dur="1" fill="hold">
                                          <p:stCondLst>
                                            <p:cond delay="0"/>
                                          </p:stCondLst>
                                        </p:cTn>
                                        <p:tgtEl>
                                          <p:spTgt spid="21"/>
                                        </p:tgtEl>
                                        <p:attrNameLst>
                                          <p:attrName>style.visibility</p:attrName>
                                        </p:attrNameLst>
                                      </p:cBhvr>
                                      <p:to>
                                        <p:strVal val="visible"/>
                                      </p:to>
                                    </p:set>
                                    <p:animEffect transition="in" filter="fade">
                                      <p:cBhvr>
                                        <p:cTn id="45" dur="420"/>
                                        <p:tgtEl>
                                          <p:spTgt spid="21"/>
                                        </p:tgtEl>
                                      </p:cBhvr>
                                    </p:animEffect>
                                    <p:anim calcmode="lin" valueType="num">
                                      <p:cBhvr additive="base">
                                        <p:cTn id="47" dur="420" fill="hold"/>
                                        <p:tgtEl>
                                          <p:spTgt spid="21"/>
                                        </p:tgtEl>
                                        <p:attrNameLst>
                                          <p:attrName>ppt_y</p:attrName>
                                        </p:attrNameLst>
                                      </p:cBhvr>
                                      <p:tavLst>
                                        <p:tav tm="0">
                                          <p:val>
                                            <p:strVal val="0.06"/>
                                          </p:val>
                                        </p:tav>
                                        <p:tav tm="100000">
                                          <p:val>
                                            <p:strVal val="0"/>
                                          </p:val>
                                        </p:tav>
                                      </p:tavLst>
                                    </p:anim>
                                  </p:childTnLst>
                                </p:cTn>
                              </p:par>
                            </p:childTnLst>
                          </p:cTn>
                        </p:par>
                      </p:childTnLst>
                    </p:cTn>
                  </p:par>
                  <p:par>
                    <p:cTn id="67" fill="hold">
                      <p:stCondLst>
                        <p:cond delay="indefinite"/>
                      </p:stCondLst>
                      <p:childTnLst>
                        <p:par>
                          <p:cTn id="68" fill="hold">
                            <p:stCondLst>
                              <p:cond delay="0"/>
                            </p:stCondLst>
                            <p:childTnLst>
                              <p:par>
                                <p:cTn id="54" fill="hold">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1" dur="420"/>
                                        <p:tgtEl>
                                          <p:spTgt spid="22"/>
                                        </p:tgtEl>
                                      </p:cBhvr>
                                    </p:animEffect>
                                    <p:anim calcmode="lin" valueType="num">
                                      <p:cBhvr additive="base">
                                        <p:cTn id="53" dur="420" fill="hold"/>
                                        <p:tgtEl>
                                          <p:spTgt spid="22"/>
                                        </p:tgtEl>
                                        <p:attrNameLst>
                                          <p:attrName>ppt_y</p:attrName>
                                        </p:attrNameLst>
                                      </p:cBhvr>
                                      <p:tavLst>
                                        <p:tav tm="0">
                                          <p:val>
                                            <p:strVal val="0.06"/>
                                          </p:val>
                                        </p:tav>
                                        <p:tav tm="100000">
                                          <p:val>
                                            <p:strVal val="0"/>
                                          </p:val>
                                        </p:tav>
                                      </p:tavLst>
                                    </p:anim>
                                  </p:childTnLst>
                                </p:cTn>
                              </p:par>
                              <p:par>
                                <p:cTn id="58" fill="hold">
                                  <p:stCondLst>
                                    <p:cond delay="110"/>
                                  </p:stCondLst>
                                  <p:childTnLst>
                                    <p:set>
                                      <p:cBhvr>
                                        <p:cTn id="56" dur="1" fill="hold">
                                          <p:stCondLst>
                                            <p:cond delay="0"/>
                                          </p:stCondLst>
                                        </p:cTn>
                                        <p:tgtEl>
                                          <p:spTgt spid="23"/>
                                        </p:tgtEl>
                                        <p:attrNameLst>
                                          <p:attrName>style.visibility</p:attrName>
                                        </p:attrNameLst>
                                      </p:cBhvr>
                                      <p:to>
                                        <p:strVal val="visible"/>
                                      </p:to>
                                    </p:set>
                                    <p:animEffect transition="in" filter="fade">
                                      <p:cBhvr>
                                        <p:cTn id="55" dur="420"/>
                                        <p:tgtEl>
                                          <p:spTgt spid="23"/>
                                        </p:tgtEl>
                                      </p:cBhvr>
                                    </p:animEffect>
                                    <p:anim calcmode="lin" valueType="num">
                                      <p:cBhvr additive="base">
                                        <p:cTn id="57" dur="420" fill="hold"/>
                                        <p:tgtEl>
                                          <p:spTgt spid="23"/>
                                        </p:tgtEl>
                                        <p:attrNameLst>
                                          <p:attrName>ppt_y</p:attrName>
                                        </p:attrNameLst>
                                      </p:cBhvr>
                                      <p:tavLst>
                                        <p:tav tm="0">
                                          <p:val>
                                            <p:strVal val="0.06"/>
                                          </p:val>
                                        </p:tav>
                                        <p:tav tm="100000">
                                          <p:val>
                                            <p:strVal val="0"/>
                                          </p:val>
                                        </p:tav>
                                      </p:tavLst>
                                    </p:anim>
                                  </p:childTnLst>
                                </p:cTn>
                              </p:par>
                              <p:par>
                                <p:cTn id="62" fill="hold">
                                  <p:stCondLst>
                                    <p:cond delay="220"/>
                                  </p:stCondLst>
                                  <p:childTnLst>
                                    <p:set>
                                      <p:cBhvr>
                                        <p:cTn id="60" dur="1" fill="hold">
                                          <p:stCondLst>
                                            <p:cond delay="0"/>
                                          </p:stCondLst>
                                        </p:cTn>
                                        <p:tgtEl>
                                          <p:spTgt spid="24"/>
                                        </p:tgtEl>
                                        <p:attrNameLst>
                                          <p:attrName>style.visibility</p:attrName>
                                        </p:attrNameLst>
                                      </p:cBhvr>
                                      <p:to>
                                        <p:strVal val="visible"/>
                                      </p:to>
                                    </p:set>
                                    <p:animEffect transition="in" filter="fade">
                                      <p:cBhvr>
                                        <p:cTn id="59" dur="420"/>
                                        <p:tgtEl>
                                          <p:spTgt spid="24"/>
                                        </p:tgtEl>
                                      </p:cBhvr>
                                    </p:animEffect>
                                    <p:anim calcmode="lin" valueType="num">
                                      <p:cBhvr additive="base">
                                        <p:cTn id="61" dur="420" fill="hold"/>
                                        <p:tgtEl>
                                          <p:spTgt spid="24"/>
                                        </p:tgtEl>
                                        <p:attrNameLst>
                                          <p:attrName>ppt_y</p:attrName>
                                        </p:attrNameLst>
                                      </p:cBhvr>
                                      <p:tavLst>
                                        <p:tav tm="0">
                                          <p:val>
                                            <p:strVal val="0.06"/>
                                          </p:val>
                                        </p:tav>
                                        <p:tav tm="100000">
                                          <p:val>
                                            <p:strVal val="0"/>
                                          </p:val>
                                        </p:tav>
                                      </p:tavLst>
                                    </p:anim>
                                  </p:childTnLst>
                                </p:cTn>
                              </p:par>
                              <p:par>
                                <p:cTn id="66" fill="hold">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3" dur="420"/>
                                        <p:tgtEl>
                                          <p:spTgt spid="25"/>
                                        </p:tgtEl>
                                      </p:cBhvr>
                                    </p:animEffect>
                                    <p:anim calcmode="lin" valueType="num">
                                      <p:cBhvr additive="base">
                                        <p:cTn id="65"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85" fill="hold">
                      <p:stCondLst>
                        <p:cond delay="indefinite"/>
                      </p:stCondLst>
                      <p:childTnLst>
                        <p:par>
                          <p:cTn id="86" fill="hold">
                            <p:stCondLst>
                              <p:cond delay="0"/>
                            </p:stCondLst>
                            <p:childTnLst>
                              <p:par>
                                <p:cTn id="72" fill="hold">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anim calcmode="lin" valueType="num">
                                      <p:cBhvr additive="base">
                                        <p:cTn id="71" dur="420" fill="hold"/>
                                        <p:tgtEl>
                                          <p:spTgt spid="26"/>
                                        </p:tgtEl>
                                        <p:attrNameLst>
                                          <p:attrName>ppt_y</p:attrName>
                                        </p:attrNameLst>
                                      </p:cBhvr>
                                      <p:tavLst>
                                        <p:tav tm="0">
                                          <p:val>
                                            <p:strVal val="0.06"/>
                                          </p:val>
                                        </p:tav>
                                        <p:tav tm="100000">
                                          <p:val>
                                            <p:strVal val="0"/>
                                          </p:val>
                                        </p:tav>
                                      </p:tavLst>
                                    </p:anim>
                                  </p:childTnLst>
                                </p:cTn>
                              </p:par>
                              <p:par>
                                <p:cTn id="76" fill="hold">
                                  <p:stCondLst>
                                    <p:cond delay="110"/>
                                  </p:stCondLst>
                                  <p:childTnLst>
                                    <p:set>
                                      <p:cBhvr>
                                        <p:cTn id="74" dur="1" fill="hold">
                                          <p:stCondLst>
                                            <p:cond delay="0"/>
                                          </p:stCondLst>
                                        </p:cTn>
                                        <p:tgtEl>
                                          <p:spTgt spid="27"/>
                                        </p:tgtEl>
                                        <p:attrNameLst>
                                          <p:attrName>style.visibility</p:attrName>
                                        </p:attrNameLst>
                                      </p:cBhvr>
                                      <p:to>
                                        <p:strVal val="visible"/>
                                      </p:to>
                                    </p:set>
                                    <p:animEffect transition="in" filter="fade">
                                      <p:cBhvr>
                                        <p:cTn id="73" dur="420"/>
                                        <p:tgtEl>
                                          <p:spTgt spid="27"/>
                                        </p:tgtEl>
                                      </p:cBhvr>
                                    </p:animEffect>
                                    <p:anim calcmode="lin" valueType="num">
                                      <p:cBhvr additive="base">
                                        <p:cTn id="75" dur="420" fill="hold"/>
                                        <p:tgtEl>
                                          <p:spTgt spid="27"/>
                                        </p:tgtEl>
                                        <p:attrNameLst>
                                          <p:attrName>ppt_y</p:attrName>
                                        </p:attrNameLst>
                                      </p:cBhvr>
                                      <p:tavLst>
                                        <p:tav tm="0">
                                          <p:val>
                                            <p:strVal val="0.06"/>
                                          </p:val>
                                        </p:tav>
                                        <p:tav tm="100000">
                                          <p:val>
                                            <p:strVal val="0"/>
                                          </p:val>
                                        </p:tav>
                                      </p:tavLst>
                                    </p:anim>
                                  </p:childTnLst>
                                </p:cTn>
                              </p:par>
                              <p:par>
                                <p:cTn id="80" fill="hold">
                                  <p:stCondLst>
                                    <p:cond delay="220"/>
                                  </p:stCondLst>
                                  <p:childTnLst>
                                    <p:set>
                                      <p:cBhvr>
                                        <p:cTn id="78"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anim calcmode="lin" valueType="num">
                                      <p:cBhvr additive="base">
                                        <p:cTn id="79" dur="420" fill="hold"/>
                                        <p:tgtEl>
                                          <p:spTgt spid="28"/>
                                        </p:tgtEl>
                                        <p:attrNameLst>
                                          <p:attrName>ppt_y</p:attrName>
                                        </p:attrNameLst>
                                      </p:cBhvr>
                                      <p:tavLst>
                                        <p:tav tm="0">
                                          <p:val>
                                            <p:strVal val="0.06"/>
                                          </p:val>
                                        </p:tav>
                                        <p:tav tm="100000">
                                          <p:val>
                                            <p:strVal val="0"/>
                                          </p:val>
                                        </p:tav>
                                      </p:tavLst>
                                    </p:anim>
                                  </p:childTnLst>
                                </p:cTn>
                              </p:par>
                              <p:par>
                                <p:cTn id="84" fill="hold">
                                  <p:stCondLst>
                                    <p:cond delay="330"/>
                                  </p:stCondLst>
                                  <p:childTnLst>
                                    <p:set>
                                      <p:cBhvr>
                                        <p:cTn id="82"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anim calcmode="lin" valueType="num">
                                      <p:cBhvr additive="base">
                                        <p:cTn id="83"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99" fill="hold">
                      <p:stCondLst>
                        <p:cond delay="indefinite"/>
                      </p:stCondLst>
                      <p:childTnLst>
                        <p:par>
                          <p:cTn id="100" fill="hold">
                            <p:stCondLst>
                              <p:cond delay="0"/>
                            </p:stCondLst>
                            <p:childTnLst>
                              <p:par>
                                <p:cTn id="89" fill="hold">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7" dur="420"/>
                                        <p:tgtEl>
                                          <p:spTgt spid="30"/>
                                        </p:tgtEl>
                                      </p:cBhvr>
                                    </p:animEffect>
                                  </p:childTnLst>
                                </p:cTn>
                              </p:par>
                              <p:par>
                                <p:cTn id="92" fill="hold">
                                  <p:stCondLst>
                                    <p:cond delay="110"/>
                                  </p:stCondLst>
                                  <p:childTnLst>
                                    <p:set>
                                      <p:cBhvr>
                                        <p:cTn id="91" dur="1" fill="hold">
                                          <p:stCondLst>
                                            <p:cond delay="0"/>
                                          </p:stCondLst>
                                        </p:cTn>
                                        <p:tgtEl>
                                          <p:spTgt spid="31"/>
                                        </p:tgtEl>
                                        <p:attrNameLst>
                                          <p:attrName>style.visibility</p:attrName>
                                        </p:attrNameLst>
                                      </p:cBhvr>
                                      <p:to>
                                        <p:strVal val="visible"/>
                                      </p:to>
                                    </p:set>
                                    <p:animEffect transition="in" filter="fade">
                                      <p:cBhvr>
                                        <p:cTn id="90" dur="420"/>
                                        <p:tgtEl>
                                          <p:spTgt spid="31"/>
                                        </p:tgtEl>
                                      </p:cBhvr>
                                    </p:animEffect>
                                  </p:childTnLst>
                                </p:cTn>
                              </p:par>
                              <p:par>
                                <p:cTn id="95" fill="hold">
                                  <p:stCondLst>
                                    <p:cond delay="220"/>
                                  </p:stCondLst>
                                  <p:childTnLst>
                                    <p:set>
                                      <p:cBhvr>
                                        <p:cTn id="94" dur="1" fill="hold">
                                          <p:stCondLst>
                                            <p:cond delay="0"/>
                                          </p:stCondLst>
                                        </p:cTn>
                                        <p:tgtEl>
                                          <p:spTgt spid="32"/>
                                        </p:tgtEl>
                                        <p:attrNameLst>
                                          <p:attrName>style.visibility</p:attrName>
                                        </p:attrNameLst>
                                      </p:cBhvr>
                                      <p:to>
                                        <p:strVal val="visible"/>
                                      </p:to>
                                    </p:set>
                                    <p:animEffect transition="in" filter="fade">
                                      <p:cBhvr>
                                        <p:cTn id="93" dur="420"/>
                                        <p:tgtEl>
                                          <p:spTgt spid="32"/>
                                        </p:tgtEl>
                                      </p:cBhvr>
                                    </p:animEffect>
                                  </p:childTnLst>
                                </p:cTn>
                              </p:par>
                              <p:par>
                                <p:cTn id="98" fill="hold">
                                  <p:stCondLst>
                                    <p:cond delay="330"/>
                                  </p:stCondLst>
                                  <p:childTnLst>
                                    <p:set>
                                      <p:cBhvr>
                                        <p:cTn id="97" dur="1" fill="hold">
                                          <p:stCondLst>
                                            <p:cond delay="0"/>
                                          </p:stCondLst>
                                        </p:cTn>
                                        <p:tgtEl>
                                          <p:spTgt spid="33"/>
                                        </p:tgtEl>
                                        <p:attrNameLst>
                                          <p:attrName>style.visibility</p:attrName>
                                        </p:attrNameLst>
                                      </p:cBhvr>
                                      <p:to>
                                        <p:strVal val="visible"/>
                                      </p:to>
                                    </p:set>
                                    <p:animEffect transition="in" filter="fade">
                                      <p:cBhvr>
                                        <p:cTn id="96"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NAND universal: convertir una compuerta en todas</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Con solo 7400 se construyen AND, OR, NOT y cualquier función simplificada.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29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0866293"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nand_universal.png"/>
          <p:cNvPicPr>
            <a:picLocks noChangeAspect="1"/>
          </p:cNvPicPr>
          <p:nvPr/>
        </p:nvPicPr>
        <p:blipFill>
          <a:blip r:embed="rId2"/>
          <a:stretch>
            <a:fillRect/>
          </a:stretch>
        </p:blipFill>
        <p:spPr>
          <a:xfrm>
            <a:off x="539496" y="2588168"/>
            <a:ext cx="3307064" cy="1187887"/>
          </a:xfrm>
          <a:prstGeom prst="roundRect">
            <a:avLst>
              <a:gd name="adj" fmla="val 1570"/>
            </a:avLst>
          </a:prstGeom>
        </p:spPr>
      </p:pic>
      <p:sp>
        <p:nvSpPr>
          <p:cNvPr id="18" name="TextBox 17"/>
          <p:cNvSpPr txBox="1"/>
          <p:nvPr/>
        </p:nvSpPr>
        <p:spPr>
          <a:xfrm>
            <a:off x="603504"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Las tres conversiones básicas con NAND: NOT y AND resuelven con una compuerta más un inversor, mientras que OR necesita tres compuertas.</a:t>
            </a:r>
          </a:p>
        </p:txBody>
      </p:sp>
      <p:sp>
        <p:nvSpPr>
          <p:cNvPr id="19" name="Rounded Rectangle 18"/>
          <p:cNvSpPr/>
          <p:nvPr/>
        </p:nvSpPr>
        <p:spPr>
          <a:xfrm>
            <a:off x="4075160" y="1371600"/>
            <a:ext cx="3435080" cy="4005072"/>
          </a:xfrm>
          <a:prstGeom prst="roundRect">
            <a:avLst>
              <a:gd name="adj" fmla="val 1826"/>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ime_nand.png"/>
          <p:cNvPicPr>
            <a:picLocks noChangeAspect="1"/>
          </p:cNvPicPr>
          <p:nvPr/>
        </p:nvPicPr>
        <p:blipFill>
          <a:blip r:embed="rId3"/>
          <a:stretch>
            <a:fillRect/>
          </a:stretch>
        </p:blipFill>
        <p:spPr>
          <a:xfrm>
            <a:off x="4139168" y="2636405"/>
            <a:ext cx="3307064" cy="1091413"/>
          </a:xfrm>
          <a:prstGeom prst="roundRect">
            <a:avLst>
              <a:gd name="adj" fmla="val 1570"/>
            </a:avLst>
          </a:prstGeom>
        </p:spPr>
      </p:pic>
      <p:sp>
        <p:nvSpPr>
          <p:cNvPr id="21" name="TextBox 20"/>
          <p:cNvSpPr txBox="1"/>
          <p:nvPr/>
        </p:nvSpPr>
        <p:spPr>
          <a:xfrm>
            <a:off x="4203176" y="4974336"/>
            <a:ext cx="3179048" cy="347472"/>
          </a:xfrm>
          <a:prstGeom prst="rect">
            <a:avLst/>
          </a:prstGeom>
          <a:noFill/>
        </p:spPr>
        <p:txBody>
          <a:bodyPr wrap="square" lIns="0" rIns="0" tIns="0" bIns="0" anchor="t">
            <a:spAutoFit/>
          </a:bodyPr>
          <a:lstStyle/>
          <a:p>
            <a:pPr algn="l">
              <a:lnSpc>
                <a:spcPct val="102000"/>
              </a:lnSpc>
            </a:pPr>
            <a:r>
              <a:rPr sz="819" b="0">
                <a:solidFill>
                  <a:srgbClr val="61738C"/>
                </a:solidFill>
                <a:latin typeface="Segoe UI"/>
              </a:rPr>
              <a:t>Diagrama de tiempos del 7400: la salida solo cae cuando ambas entradas están simultáneamente en alto.</a:t>
            </a:r>
          </a:p>
        </p:txBody>
      </p:sp>
      <p:sp>
        <p:nvSpPr>
          <p:cNvPr id="22" name="Oval 21"/>
          <p:cNvSpPr/>
          <p:nvPr/>
        </p:nvSpPr>
        <p:spPr>
          <a:xfrm>
            <a:off x="7793705" y="1426464"/>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0009" y="1371600"/>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NOT con NAND:</a:t>
            </a:r>
            <a:r>
              <a:rPr sz="1050" b="0">
                <a:solidFill>
                  <a:srgbClr val="2C3E56"/>
                </a:solidFill>
                <a:latin typeface="Segoe UI"/>
              </a:rPr>
              <a:t> unir las dos entradas de una misma compuerta. Y = (A·A)' = A'.</a:t>
            </a:r>
          </a:p>
        </p:txBody>
      </p:sp>
      <p:sp>
        <p:nvSpPr>
          <p:cNvPr id="24" name="Oval 23"/>
          <p:cNvSpPr/>
          <p:nvPr/>
        </p:nvSpPr>
        <p:spPr>
          <a:xfrm>
            <a:off x="7793705" y="1848139"/>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40009" y="1793275"/>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AND con NAND:</a:t>
            </a:r>
            <a:r>
              <a:rPr sz="1050" b="0">
                <a:solidFill>
                  <a:srgbClr val="2C3E56"/>
                </a:solidFill>
                <a:latin typeface="Segoe UI"/>
              </a:rPr>
              <a:t> NAND seguido de un inversor (otra NAND con las entradas unidas). Ocupa dos de las cuatro compuertas del chip.</a:t>
            </a:r>
          </a:p>
        </p:txBody>
      </p:sp>
      <p:sp>
        <p:nvSpPr>
          <p:cNvPr id="26" name="Oval 25"/>
          <p:cNvSpPr/>
          <p:nvPr/>
        </p:nvSpPr>
        <p:spPr>
          <a:xfrm>
            <a:off x="7793705" y="2444076"/>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0009" y="2389212"/>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OR con NAND:</a:t>
            </a:r>
            <a:r>
              <a:rPr sz="1050" b="0">
                <a:solidFill>
                  <a:srgbClr val="2C3E56"/>
                </a:solidFill>
                <a:latin typeface="Segoe UI"/>
              </a:rPr>
              <a:t> invertir cada entrada y luego aplicar NAND: Y = ((A'·B')' = A + B.</a:t>
            </a:r>
          </a:p>
        </p:txBody>
      </p:sp>
      <p:sp>
        <p:nvSpPr>
          <p:cNvPr id="28" name="Oval 27"/>
          <p:cNvSpPr/>
          <p:nvPr/>
        </p:nvSpPr>
        <p:spPr>
          <a:xfrm>
            <a:off x="7793705" y="2865752"/>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0009" y="2810888"/>
            <a:ext cx="3712463" cy="348523"/>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NOR con NAND:</a:t>
            </a:r>
            <a:r>
              <a:rPr sz="1050" b="0">
                <a:solidFill>
                  <a:srgbClr val="2C3E56"/>
                </a:solidFill>
                <a:latin typeface="Segoe UI"/>
              </a:rPr>
              <a:t> construir el OR y añadir un inversor; requiere cuatro compuertas.</a:t>
            </a:r>
          </a:p>
        </p:txBody>
      </p:sp>
      <p:sp>
        <p:nvSpPr>
          <p:cNvPr id="30" name="Oval 29"/>
          <p:cNvSpPr/>
          <p:nvPr/>
        </p:nvSpPr>
        <p:spPr>
          <a:xfrm>
            <a:off x="7793705" y="3287428"/>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0009" y="3232564"/>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XOR con NAND:</a:t>
            </a:r>
            <a:r>
              <a:rPr sz="1050" b="0">
                <a:solidFill>
                  <a:srgbClr val="2C3E56"/>
                </a:solidFill>
                <a:latin typeface="Segoe UI"/>
              </a:rPr>
              <a:t> necesita cuatro compuertas NAND de dos entradas y permite comprobar la potencia real de la compuerta universal.</a:t>
            </a:r>
          </a:p>
        </p:txBody>
      </p:sp>
      <p:sp>
        <p:nvSpPr>
          <p:cNvPr id="32" name="Oval 31"/>
          <p:cNvSpPr/>
          <p:nvPr/>
        </p:nvSpPr>
        <p:spPr>
          <a:xfrm>
            <a:off x="7793705" y="3883365"/>
            <a:ext cx="82296" cy="82296"/>
          </a:xfrm>
          <a:prstGeom prst="ellipse">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40009" y="3828501"/>
            <a:ext cx="3712463" cy="522785"/>
          </a:xfrm>
          <a:prstGeom prst="rect">
            <a:avLst/>
          </a:prstGeom>
          <a:noFill/>
        </p:spPr>
        <p:txBody>
          <a:bodyPr wrap="square" lIns="0" rIns="0" tIns="0" bIns="0" anchor="t">
            <a:spAutoFit/>
          </a:bodyPr>
          <a:lstStyle/>
          <a:p>
            <a:pPr algn="l">
              <a:lnSpc>
                <a:spcPct val="108000"/>
              </a:lnSpc>
            </a:pPr>
            <a:r>
              <a:rPr sz="1050" b="1">
                <a:solidFill>
                  <a:srgbClr val="2C3E56"/>
                </a:solidFill>
                <a:latin typeface="Segoe UI Semibold"/>
              </a:rPr>
              <a:t>Ventaja de taller:</a:t>
            </a:r>
            <a:r>
              <a:rPr sz="1050" b="0">
                <a:solidFill>
                  <a:srgbClr val="2C3E56"/>
                </a:solidFill>
                <a:latin typeface="Segoe UI"/>
              </a:rPr>
              <a:t> un solo tipo de chip en el estante resuelve todas las funciones y reduce el inventario de refacciones.</a:t>
            </a:r>
          </a:p>
        </p:txBody>
      </p:sp>
      <p:sp>
        <p:nvSpPr>
          <p:cNvPr id="34" name="Rounded Rectangle 33"/>
          <p:cNvSpPr/>
          <p:nvPr/>
        </p:nvSpPr>
        <p:spPr>
          <a:xfrm>
            <a:off x="475488" y="5376672"/>
            <a:ext cx="11240993" cy="822960"/>
          </a:xfrm>
          <a:prstGeom prst="roundRect">
            <a:avLst>
              <a:gd name="adj" fmla="val 650"/>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5488" y="5468112"/>
            <a:ext cx="32004" cy="640080"/>
          </a:xfrm>
          <a:prstGeom prst="rect">
            <a:avLst/>
          </a:prstGeom>
          <a:solidFill>
            <a:srgbClr val="0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5468112"/>
            <a:ext cx="2011680" cy="182880"/>
          </a:xfrm>
          <a:prstGeom prst="rect">
            <a:avLst/>
          </a:prstGeom>
          <a:noFill/>
        </p:spPr>
        <p:txBody>
          <a:bodyPr wrap="square" lIns="0" rIns="0" tIns="0" bIns="0" anchor="t">
            <a:spAutoFit/>
          </a:bodyPr>
          <a:lstStyle/>
          <a:p>
            <a:pPr algn="l">
              <a:lnSpc>
                <a:spcPct val="100000"/>
              </a:lnSpc>
            </a:pPr>
            <a:r>
              <a:rPr sz="850" b="1">
                <a:solidFill>
                  <a:srgbClr val="0E8A5F"/>
                </a:solidFill>
                <a:latin typeface="Consolas"/>
              </a:rPr>
              <a:t>OBSERVACIÓN</a:t>
            </a:r>
          </a:p>
        </p:txBody>
      </p:sp>
      <p:sp>
        <p:nvSpPr>
          <p:cNvPr id="37" name="TextBox 36"/>
          <p:cNvSpPr txBox="1"/>
          <p:nvPr/>
        </p:nvSpPr>
        <p:spPr>
          <a:xfrm>
            <a:off x="640080" y="5650992"/>
            <a:ext cx="10911809" cy="438912"/>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Con las cuatro compuertas del 7400 se implementa una función completa: por eso el enunciado clásico de examen 'implemente esta tabla de verdad solo con 7400' es perfectamente resoluble.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2" fill="hold">
                      <p:stCondLst>
                        <p:cond delay="indefinite"/>
                      </p:stCondLst>
                      <p:childTnLst>
                        <p:par>
                          <p:cTn id="33" fill="hold">
                            <p:stCondLst>
                              <p:cond delay="0"/>
                            </p:stCondLst>
                            <p:childTnLst>
                              <p:par>
                                <p:cTn id="25"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childTnLst>
                                </p:cTn>
                              </p:par>
                              <p:par>
                                <p:cTn id="28" fill="hold">
                                  <p:stCondLst>
                                    <p:cond delay="110"/>
                                  </p:stCondLst>
                                  <p:childTnLst>
                                    <p:set>
                                      <p:cBhvr>
                                        <p:cTn id="27" dur="1" fill="hold">
                                          <p:stCondLst>
                                            <p:cond delay="0"/>
                                          </p:stCondLst>
                                        </p:cTn>
                                        <p:tgtEl>
                                          <p:spTgt spid="17"/>
                                        </p:tgtEl>
                                        <p:attrNameLst>
                                          <p:attrName>style.visibility</p:attrName>
                                        </p:attrNameLst>
                                      </p:cBhvr>
                                      <p:to>
                                        <p:strVal val="visible"/>
                                      </p:to>
                                    </p:set>
                                    <p:animEffect transition="in" filter="fade">
                                      <p:cBhvr>
                                        <p:cTn id="26" dur="420"/>
                                        <p:tgtEl>
                                          <p:spTgt spid="17"/>
                                        </p:tgtEl>
                                      </p:cBhvr>
                                    </p:animEffect>
                                  </p:childTnLst>
                                </p:cTn>
                              </p:par>
                              <p:par>
                                <p:cTn id="31" fill="hold">
                                  <p:stCondLst>
                                    <p:cond delay="220"/>
                                  </p:stCondLst>
                                  <p:childTnLst>
                                    <p:set>
                                      <p:cBhvr>
                                        <p:cTn id="30" dur="1" fill="hold">
                                          <p:stCondLst>
                                            <p:cond delay="0"/>
                                          </p:stCondLst>
                                        </p:cTn>
                                        <p:tgtEl>
                                          <p:spTgt spid="18"/>
                                        </p:tgtEl>
                                        <p:attrNameLst>
                                          <p:attrName>style.visibility</p:attrName>
                                        </p:attrNameLst>
                                      </p:cBhvr>
                                      <p:to>
                                        <p:strVal val="visible"/>
                                      </p:to>
                                    </p:set>
                                    <p:animEffect transition="in" filter="fade">
                                      <p:cBhvr>
                                        <p:cTn id="29"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36" fill="hold">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4" dur="420"/>
                                        <p:tgtEl>
                                          <p:spTgt spid="19"/>
                                        </p:tgtEl>
                                      </p:cBhvr>
                                    </p:animEffect>
                                  </p:childTnLst>
                                </p:cTn>
                              </p:par>
                              <p:par>
                                <p:cTn id="39" fill="hold">
                                  <p:stCondLst>
                                    <p:cond delay="110"/>
                                  </p:stCondLst>
                                  <p:childTnLst>
                                    <p:set>
                                      <p:cBhvr>
                                        <p:cTn id="38" dur="1" fill="hold">
                                          <p:stCondLst>
                                            <p:cond delay="0"/>
                                          </p:stCondLst>
                                        </p:cTn>
                                        <p:tgtEl>
                                          <p:spTgt spid="20"/>
                                        </p:tgtEl>
                                        <p:attrNameLst>
                                          <p:attrName>style.visibility</p:attrName>
                                        </p:attrNameLst>
                                      </p:cBhvr>
                                      <p:to>
                                        <p:strVal val="visible"/>
                                      </p:to>
                                    </p:set>
                                    <p:animEffect transition="in" filter="fade">
                                      <p:cBhvr>
                                        <p:cTn id="37" dur="420"/>
                                        <p:tgtEl>
                                          <p:spTgt spid="20"/>
                                        </p:tgtEl>
                                      </p:cBhvr>
                                    </p:animEffect>
                                  </p:childTnLst>
                                </p:cTn>
                              </p:par>
                              <p:par>
                                <p:cTn id="42" fill="hold">
                                  <p:stCondLst>
                                    <p:cond delay="220"/>
                                  </p:stCondLst>
                                  <p:childTnLst>
                                    <p:set>
                                      <p:cBhvr>
                                        <p:cTn id="41" dur="1" fill="hold">
                                          <p:stCondLst>
                                            <p:cond delay="0"/>
                                          </p:stCondLst>
                                        </p:cTn>
                                        <p:tgtEl>
                                          <p:spTgt spid="21"/>
                                        </p:tgtEl>
                                        <p:attrNameLst>
                                          <p:attrName>style.visibility</p:attrName>
                                        </p:attrNameLst>
                                      </p:cBhvr>
                                      <p:to>
                                        <p:strVal val="visible"/>
                                      </p:to>
                                    </p:set>
                                    <p:animEffect transition="in" filter="fade">
                                      <p:cBhvr>
                                        <p:cTn id="40" dur="420"/>
                                        <p:tgtEl>
                                          <p:spTgt spid="21"/>
                                        </p:tgtEl>
                                      </p:cBhvr>
                                    </p:animEffect>
                                  </p:childTnLst>
                                </p:cTn>
                              </p:par>
                            </p:childTnLst>
                          </p:cTn>
                        </p:par>
                      </p:childTnLst>
                    </p:cTn>
                  </p:par>
                  <p:par>
                    <p:cTn id="53" fill="hold">
                      <p:stCondLst>
                        <p:cond delay="indefinite"/>
                      </p:stCondLst>
                      <p:childTnLst>
                        <p:par>
                          <p:cTn id="54" fill="hold">
                            <p:stCondLst>
                              <p:cond delay="0"/>
                            </p:stCondLst>
                            <p:childTnLst>
                              <p:par>
                                <p:cTn id="48" fill="hold">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5" dur="420"/>
                                        <p:tgtEl>
                                          <p:spTgt spid="23"/>
                                        </p:tgtEl>
                                      </p:cBhvr>
                                    </p:animEffect>
                                    <p:anim calcmode="lin" valueType="num">
                                      <p:cBhvr additive="base">
                                        <p:cTn id="47" dur="420" fill="hold"/>
                                        <p:tgtEl>
                                          <p:spTgt spid="23"/>
                                        </p:tgtEl>
                                        <p:attrNameLst>
                                          <p:attrName>ppt_y</p:attrName>
                                        </p:attrNameLst>
                                      </p:cBhvr>
                                      <p:tavLst>
                                        <p:tav tm="0">
                                          <p:val>
                                            <p:strVal val="0.06"/>
                                          </p:val>
                                        </p:tav>
                                        <p:tav tm="100000">
                                          <p:val>
                                            <p:strVal val="0"/>
                                          </p:val>
                                        </p:tav>
                                      </p:tavLst>
                                    </p:anim>
                                  </p:childTnLst>
                                </p:cTn>
                              </p:par>
                              <p:par>
                                <p:cTn id="52" fill="hold">
                                  <p:stCondLst>
                                    <p:cond delay="110"/>
                                  </p:stCondLst>
                                  <p:childTnLst>
                                    <p:set>
                                      <p:cBhvr>
                                        <p:cTn id="50" dur="1" fill="hold">
                                          <p:stCondLst>
                                            <p:cond delay="0"/>
                                          </p:stCondLst>
                                        </p:cTn>
                                        <p:tgtEl>
                                          <p:spTgt spid="25"/>
                                        </p:tgtEl>
                                        <p:attrNameLst>
                                          <p:attrName>style.visibility</p:attrName>
                                        </p:attrNameLst>
                                      </p:cBhvr>
                                      <p:to>
                                        <p:strVal val="visible"/>
                                      </p:to>
                                    </p:set>
                                    <p:animEffect transition="in" filter="fade">
                                      <p:cBhvr>
                                        <p:cTn id="49" dur="420"/>
                                        <p:tgtEl>
                                          <p:spTgt spid="25"/>
                                        </p:tgtEl>
                                      </p:cBhvr>
                                    </p:animEffect>
                                    <p:anim calcmode="lin" valueType="num">
                                      <p:cBhvr additive="base">
                                        <p:cTn id="51" dur="420" fill="hold"/>
                                        <p:tgtEl>
                                          <p:spTgt spid="25"/>
                                        </p:tgtEl>
                                        <p:attrNameLst>
                                          <p:attrName>ppt_y</p:attrName>
                                        </p:attrNameLst>
                                      </p:cBhvr>
                                      <p:tavLst>
                                        <p:tav tm="0">
                                          <p:val>
                                            <p:strVal val="0.06"/>
                                          </p:val>
                                        </p:tav>
                                        <p:tav tm="100000">
                                          <p:val>
                                            <p:strVal val="0"/>
                                          </p:val>
                                        </p:tav>
                                      </p:tavLst>
                                    </p:anim>
                                  </p:childTnLst>
                                </p:cTn>
                              </p:par>
                            </p:childTnLst>
                          </p:cTn>
                        </p:par>
                      </p:childTnLst>
                    </p:cTn>
                  </p:par>
                  <p:par>
                    <p:cTn id="63" fill="hold">
                      <p:stCondLst>
                        <p:cond delay="indefinite"/>
                      </p:stCondLst>
                      <p:childTnLst>
                        <p:par>
                          <p:cTn id="64" fill="hold">
                            <p:stCondLst>
                              <p:cond delay="0"/>
                            </p:stCondLst>
                            <p:childTnLst>
                              <p:par>
                                <p:cTn id="58" fill="hold">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5" dur="420"/>
                                        <p:tgtEl>
                                          <p:spTgt spid="27"/>
                                        </p:tgtEl>
                                      </p:cBhvr>
                                    </p:animEffect>
                                    <p:anim calcmode="lin" valueType="num">
                                      <p:cBhvr additive="base">
                                        <p:cTn id="57" dur="420" fill="hold"/>
                                        <p:tgtEl>
                                          <p:spTgt spid="27"/>
                                        </p:tgtEl>
                                        <p:attrNameLst>
                                          <p:attrName>ppt_y</p:attrName>
                                        </p:attrNameLst>
                                      </p:cBhvr>
                                      <p:tavLst>
                                        <p:tav tm="0">
                                          <p:val>
                                            <p:strVal val="0.06"/>
                                          </p:val>
                                        </p:tav>
                                        <p:tav tm="100000">
                                          <p:val>
                                            <p:strVal val="0"/>
                                          </p:val>
                                        </p:tav>
                                      </p:tavLst>
                                    </p:anim>
                                  </p:childTnLst>
                                </p:cTn>
                              </p:par>
                              <p:par>
                                <p:cTn id="62" fill="hold">
                                  <p:stCondLst>
                                    <p:cond delay="110"/>
                                  </p:stCondLst>
                                  <p:childTnLst>
                                    <p:set>
                                      <p:cBhvr>
                                        <p:cTn id="60" dur="1" fill="hold">
                                          <p:stCondLst>
                                            <p:cond delay="0"/>
                                          </p:stCondLst>
                                        </p:cTn>
                                        <p:tgtEl>
                                          <p:spTgt spid="29"/>
                                        </p:tgtEl>
                                        <p:attrNameLst>
                                          <p:attrName>style.visibility</p:attrName>
                                        </p:attrNameLst>
                                      </p:cBhvr>
                                      <p:to>
                                        <p:strVal val="visible"/>
                                      </p:to>
                                    </p:set>
                                    <p:animEffect transition="in" filter="fade">
                                      <p:cBhvr>
                                        <p:cTn id="59" dur="420"/>
                                        <p:tgtEl>
                                          <p:spTgt spid="29"/>
                                        </p:tgtEl>
                                      </p:cBhvr>
                                    </p:animEffect>
                                    <p:anim calcmode="lin" valueType="num">
                                      <p:cBhvr additive="base">
                                        <p:cTn id="61"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73" fill="hold">
                      <p:stCondLst>
                        <p:cond delay="indefinite"/>
                      </p:stCondLst>
                      <p:childTnLst>
                        <p:par>
                          <p:cTn id="74" fill="hold">
                            <p:stCondLst>
                              <p:cond delay="0"/>
                            </p:stCondLst>
                            <p:childTnLst>
                              <p:par>
                                <p:cTn id="68" fill="hold">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5" dur="420"/>
                                        <p:tgtEl>
                                          <p:spTgt spid="31"/>
                                        </p:tgtEl>
                                      </p:cBhvr>
                                    </p:animEffect>
                                    <p:anim calcmode="lin" valueType="num">
                                      <p:cBhvr additive="base">
                                        <p:cTn id="67" dur="420" fill="hold"/>
                                        <p:tgtEl>
                                          <p:spTgt spid="31"/>
                                        </p:tgtEl>
                                        <p:attrNameLst>
                                          <p:attrName>ppt_y</p:attrName>
                                        </p:attrNameLst>
                                      </p:cBhvr>
                                      <p:tavLst>
                                        <p:tav tm="0">
                                          <p:val>
                                            <p:strVal val="0.06"/>
                                          </p:val>
                                        </p:tav>
                                        <p:tav tm="100000">
                                          <p:val>
                                            <p:strVal val="0"/>
                                          </p:val>
                                        </p:tav>
                                      </p:tavLst>
                                    </p:anim>
                                  </p:childTnLst>
                                </p:cTn>
                              </p:par>
                              <p:par>
                                <p:cTn id="72" fill="hold">
                                  <p:stCondLst>
                                    <p:cond delay="110"/>
                                  </p:stCondLst>
                                  <p:childTnLst>
                                    <p:set>
                                      <p:cBhvr>
                                        <p:cTn id="70" dur="1" fill="hold">
                                          <p:stCondLst>
                                            <p:cond delay="0"/>
                                          </p:stCondLst>
                                        </p:cTn>
                                        <p:tgtEl>
                                          <p:spTgt spid="33"/>
                                        </p:tgtEl>
                                        <p:attrNameLst>
                                          <p:attrName>style.visibility</p:attrName>
                                        </p:attrNameLst>
                                      </p:cBhvr>
                                      <p:to>
                                        <p:strVal val="visible"/>
                                      </p:to>
                                    </p:set>
                                    <p:animEffect transition="in" filter="fade">
                                      <p:cBhvr>
                                        <p:cTn id="69" dur="420"/>
                                        <p:tgtEl>
                                          <p:spTgt spid="33"/>
                                        </p:tgtEl>
                                      </p:cBhvr>
                                    </p:animEffect>
                                    <p:anim calcmode="lin" valueType="num">
                                      <p:cBhvr additive="base">
                                        <p:cTn id="71" dur="420" fill="hold"/>
                                        <p:tgtEl>
                                          <p:spTgt spid="33"/>
                                        </p:tgtEl>
                                        <p:attrNameLst>
                                          <p:attrName>ppt_y</p:attrName>
                                        </p:attrNameLst>
                                      </p:cBhvr>
                                      <p:tavLst>
                                        <p:tav tm="0">
                                          <p:val>
                                            <p:strVal val="0.06"/>
                                          </p:val>
                                        </p:tav>
                                        <p:tav tm="100000">
                                          <p:val>
                                            <p:strVal val="0"/>
                                          </p:val>
                                        </p:tav>
                                      </p:tavLst>
                                    </p:anim>
                                  </p:childTnLst>
                                </p:cTn>
                              </p:par>
                            </p:childTnLst>
                          </p:cTn>
                        </p:par>
                      </p:childTnLst>
                    </p:cTn>
                  </p:par>
                  <p:par>
                    <p:cTn id="87" fill="hold">
                      <p:stCondLst>
                        <p:cond delay="indefinite"/>
                      </p:stCondLst>
                      <p:childTnLst>
                        <p:par>
                          <p:cTn id="88" fill="hold">
                            <p:stCondLst>
                              <p:cond delay="0"/>
                            </p:stCondLst>
                            <p:childTnLst>
                              <p:par>
                                <p:cTn id="77" fill="hold">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5" dur="420"/>
                                        <p:tgtEl>
                                          <p:spTgt spid="34"/>
                                        </p:tgtEl>
                                      </p:cBhvr>
                                    </p:animEffect>
                                  </p:childTnLst>
                                </p:cTn>
                              </p:par>
                              <p:par>
                                <p:cTn id="80" fill="hold">
                                  <p:stCondLst>
                                    <p:cond delay="110"/>
                                  </p:stCondLst>
                                  <p:childTnLst>
                                    <p:set>
                                      <p:cBhvr>
                                        <p:cTn id="79" dur="1" fill="hold">
                                          <p:stCondLst>
                                            <p:cond delay="0"/>
                                          </p:stCondLst>
                                        </p:cTn>
                                        <p:tgtEl>
                                          <p:spTgt spid="35"/>
                                        </p:tgtEl>
                                        <p:attrNameLst>
                                          <p:attrName>style.visibility</p:attrName>
                                        </p:attrNameLst>
                                      </p:cBhvr>
                                      <p:to>
                                        <p:strVal val="visible"/>
                                      </p:to>
                                    </p:set>
                                    <p:animEffect transition="in" filter="fade">
                                      <p:cBhvr>
                                        <p:cTn id="78" dur="420"/>
                                        <p:tgtEl>
                                          <p:spTgt spid="35"/>
                                        </p:tgtEl>
                                      </p:cBhvr>
                                    </p:animEffect>
                                  </p:childTnLst>
                                </p:cTn>
                              </p:par>
                              <p:par>
                                <p:cTn id="83" fill="hold">
                                  <p:stCondLst>
                                    <p:cond delay="220"/>
                                  </p:stCondLst>
                                  <p:childTnLst>
                                    <p:set>
                                      <p:cBhvr>
                                        <p:cTn id="82" dur="1" fill="hold">
                                          <p:stCondLst>
                                            <p:cond delay="0"/>
                                          </p:stCondLst>
                                        </p:cTn>
                                        <p:tgtEl>
                                          <p:spTgt spid="36"/>
                                        </p:tgtEl>
                                        <p:attrNameLst>
                                          <p:attrName>style.visibility</p:attrName>
                                        </p:attrNameLst>
                                      </p:cBhvr>
                                      <p:to>
                                        <p:strVal val="visible"/>
                                      </p:to>
                                    </p:set>
                                    <p:animEffect transition="in" filter="fade">
                                      <p:cBhvr>
                                        <p:cTn id="81" dur="420"/>
                                        <p:tgtEl>
                                          <p:spTgt spid="36"/>
                                        </p:tgtEl>
                                      </p:cBhvr>
                                    </p:animEffect>
                                  </p:childTnLst>
                                </p:cTn>
                              </p:par>
                              <p:par>
                                <p:cTn id="86" fill="hold">
                                  <p:stCondLst>
                                    <p:cond delay="330"/>
                                  </p:stCondLst>
                                  <p:childTnLst>
                                    <p:set>
                                      <p:cBhvr>
                                        <p:cTn id="85" dur="1" fill="hold">
                                          <p:stCondLst>
                                            <p:cond delay="0"/>
                                          </p:stCondLst>
                                        </p:cTn>
                                        <p:tgtEl>
                                          <p:spTgt spid="37"/>
                                        </p:tgtEl>
                                        <p:attrNameLst>
                                          <p:attrName>style.visibility</p:attrName>
                                        </p:attrNameLst>
                                      </p:cBhvr>
                                      <p:to>
                                        <p:strVal val="visible"/>
                                      </p:to>
                                    </p:set>
                                    <p:animEffect transition="in" filter="fade">
                                      <p:cBhvr>
                                        <p:cTn id="84" dur="42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900129" y="-2103120"/>
            <a:ext cx="4754880" cy="4754880"/>
          </a:xfrm>
          <a:prstGeom prst="ellipse">
            <a:avLst/>
          </a:prstGeom>
          <a:solidFill>
            <a:srgbClr val="C2690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0"/>
            <a:ext cx="12191969" cy="50292"/>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0" y="50292"/>
            <a:ext cx="2011680" cy="10972"/>
          </a:xfrm>
          <a:prstGeom prst="rect">
            <a:avLst/>
          </a:prstGeom>
          <a:solidFill>
            <a:srgbClr val="C2690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75488" y="274320"/>
            <a:ext cx="41148" cy="274320"/>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10896"/>
            <a:ext cx="6035040" cy="219456"/>
          </a:xfrm>
          <a:prstGeom prst="rect">
            <a:avLst/>
          </a:prstGeom>
          <a:noFill/>
        </p:spPr>
        <p:txBody>
          <a:bodyPr wrap="square" lIns="0" rIns="0" tIns="0" bIns="0" anchor="t">
            <a:spAutoFit/>
          </a:bodyPr>
          <a:lstStyle/>
          <a:p>
            <a:pPr algn="l">
              <a:lnSpc>
                <a:spcPct val="100000"/>
              </a:lnSpc>
            </a:pPr>
            <a:r>
              <a:rPr sz="950" b="1">
                <a:solidFill>
                  <a:srgbClr val="C2690A"/>
                </a:solidFill>
                <a:latin typeface="Consolas"/>
              </a:rPr>
              <a:t>02 · COMPUERTAS LÓGICAS Y CHIPS 74XX</a:t>
            </a:r>
          </a:p>
        </p:txBody>
      </p:sp>
      <p:sp>
        <p:nvSpPr>
          <p:cNvPr id="9" name="TextBox 8"/>
          <p:cNvSpPr txBox="1"/>
          <p:nvPr/>
        </p:nvSpPr>
        <p:spPr>
          <a:xfrm>
            <a:off x="475488" y="548640"/>
            <a:ext cx="10326593" cy="475488"/>
          </a:xfrm>
          <a:prstGeom prst="rect">
            <a:avLst/>
          </a:prstGeom>
          <a:noFill/>
        </p:spPr>
        <p:txBody>
          <a:bodyPr wrap="square" lIns="0" rIns="0" tIns="0" bIns="0" anchor="t">
            <a:spAutoFit/>
          </a:bodyPr>
          <a:lstStyle/>
          <a:p>
            <a:pPr algn="l">
              <a:lnSpc>
                <a:spcPct val="95000"/>
              </a:lnSpc>
            </a:pPr>
            <a:r>
              <a:rPr sz="2700" b="1">
                <a:solidFill>
                  <a:srgbClr val="0D1A2B"/>
                </a:solidFill>
                <a:latin typeface="Segoe UI Semibold"/>
              </a:rPr>
              <a:t>Compuerta NOR (Chip 7402)</a:t>
            </a:r>
          </a:p>
        </p:txBody>
      </p:sp>
      <p:sp>
        <p:nvSpPr>
          <p:cNvPr id="10" name="TextBox 9"/>
          <p:cNvSpPr txBox="1"/>
          <p:nvPr/>
        </p:nvSpPr>
        <p:spPr>
          <a:xfrm>
            <a:off x="475488" y="1024128"/>
            <a:ext cx="11058113" cy="274320"/>
          </a:xfrm>
          <a:prstGeom prst="rect">
            <a:avLst/>
          </a:prstGeom>
          <a:noFill/>
        </p:spPr>
        <p:txBody>
          <a:bodyPr wrap="square" lIns="0" rIns="0" tIns="0" bIns="0" anchor="t">
            <a:spAutoFit/>
          </a:bodyPr>
          <a:lstStyle/>
          <a:p>
            <a:pPr algn="l">
              <a:lnSpc>
                <a:spcPct val="105000"/>
              </a:lnSpc>
            </a:pPr>
            <a:r>
              <a:rPr sz="1200" b="0">
                <a:solidFill>
                  <a:srgbClr val="61738C"/>
                </a:solidFill>
                <a:latin typeface="Segoe UI"/>
              </a:rPr>
              <a:t>La segunda compuerta universal: inversa de la suma lógica.</a:t>
            </a:r>
          </a:p>
        </p:txBody>
      </p:sp>
      <p:cxnSp>
        <p:nvCxnSpPr>
          <p:cNvPr id="11" name="Connector 10"/>
          <p:cNvCxnSpPr/>
          <p:nvPr/>
        </p:nvCxnSpPr>
        <p:spPr>
          <a:xfrm>
            <a:off x="475488" y="6382512"/>
            <a:ext cx="11240993" cy="0"/>
          </a:xfrm>
          <a:prstGeom prst="line">
            <a:avLst/>
          </a:prstGeom>
          <a:ln w="9525">
            <a:solidFill>
              <a:srgbClr val="D3DE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6446520"/>
            <a:ext cx="6400800" cy="219456"/>
          </a:xfrm>
          <a:prstGeom prst="rect">
            <a:avLst/>
          </a:prstGeom>
          <a:noFill/>
        </p:spPr>
        <p:txBody>
          <a:bodyPr wrap="square" lIns="0" rIns="0" tIns="0" bIns="0" anchor="t">
            <a:spAutoFit/>
          </a:bodyPr>
          <a:lstStyle/>
          <a:p>
            <a:pPr algn="l">
              <a:lnSpc>
                <a:spcPct val="100000"/>
              </a:lnSpc>
            </a:pPr>
            <a:r>
              <a:rPr sz="850" b="0">
                <a:solidFill>
                  <a:srgbClr val="61738C"/>
                </a:solidFill>
                <a:latin typeface="Segoe UI"/>
              </a:rPr>
              <a:t>Compuertas Lógicas y Chips Serie 74XX</a:t>
            </a:r>
          </a:p>
        </p:txBody>
      </p:sp>
      <p:sp>
        <p:nvSpPr>
          <p:cNvPr id="13" name="TextBox 12"/>
          <p:cNvSpPr txBox="1"/>
          <p:nvPr/>
        </p:nvSpPr>
        <p:spPr>
          <a:xfrm>
            <a:off x="9887681" y="6446520"/>
            <a:ext cx="1828800" cy="219456"/>
          </a:xfrm>
          <a:prstGeom prst="rect">
            <a:avLst/>
          </a:prstGeom>
          <a:noFill/>
        </p:spPr>
        <p:txBody>
          <a:bodyPr wrap="square" lIns="0" rIns="0" tIns="0" bIns="0" anchor="t">
            <a:spAutoFit/>
          </a:bodyPr>
          <a:lstStyle/>
          <a:p>
            <a:pPr algn="r">
              <a:lnSpc>
                <a:spcPct val="100000"/>
              </a:lnSpc>
            </a:pPr>
            <a:r>
              <a:rPr sz="850" b="0">
                <a:solidFill>
                  <a:srgbClr val="61738C"/>
                </a:solidFill>
                <a:latin typeface="Consolas"/>
              </a:rPr>
              <a:t>30 / 30</a:t>
            </a:r>
          </a:p>
        </p:txBody>
      </p:sp>
      <p:sp>
        <p:nvSpPr>
          <p:cNvPr id="14" name="Rectangle 13"/>
          <p:cNvSpPr/>
          <p:nvPr/>
        </p:nvSpPr>
        <p:spPr>
          <a:xfrm>
            <a:off x="475488" y="6766560"/>
            <a:ext cx="11240993" cy="32004"/>
          </a:xfrm>
          <a:prstGeom prst="rect">
            <a:avLst/>
          </a:prstGeom>
          <a:solidFill>
            <a:srgbClr val="D3DEE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5488" y="6766560"/>
            <a:ext cx="11240993" cy="32004"/>
          </a:xfrm>
          <a:prstGeom prst="rect">
            <a:avLst/>
          </a:prstGeom>
          <a:solidFill>
            <a:srgbClr val="C26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 y="1371600"/>
            <a:ext cx="5532120" cy="2743200"/>
          </a:xfrm>
          <a:prstGeom prst="roundRect">
            <a:avLst>
              <a:gd name="adj" fmla="val 1652"/>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ate_nor.png"/>
          <p:cNvPicPr>
            <a:picLocks noChangeAspect="1"/>
          </p:cNvPicPr>
          <p:nvPr/>
        </p:nvPicPr>
        <p:blipFill>
          <a:blip r:embed="rId2"/>
          <a:stretch>
            <a:fillRect/>
          </a:stretch>
        </p:blipFill>
        <p:spPr>
          <a:xfrm>
            <a:off x="603504" y="1536603"/>
            <a:ext cx="3316458" cy="2102297"/>
          </a:xfrm>
          <a:prstGeom prst="rect">
            <a:avLst/>
          </a:prstGeom>
        </p:spPr>
      </p:pic>
      <p:sp>
        <p:nvSpPr>
          <p:cNvPr id="18" name="TextBox 17"/>
          <p:cNvSpPr txBox="1"/>
          <p:nvPr/>
        </p:nvSpPr>
        <p:spPr>
          <a:xfrm>
            <a:off x="3931920" y="1536192"/>
            <a:ext cx="1956816" cy="256032"/>
          </a:xfrm>
          <a:prstGeom prst="rect">
            <a:avLst/>
          </a:prstGeom>
          <a:noFill/>
        </p:spPr>
        <p:txBody>
          <a:bodyPr wrap="square" lIns="0" rIns="0" tIns="0" bIns="0" anchor="t">
            <a:spAutoFit/>
          </a:bodyPr>
          <a:lstStyle/>
          <a:p>
            <a:pPr algn="l">
              <a:lnSpc>
                <a:spcPct val="100000"/>
              </a:lnSpc>
            </a:pPr>
            <a:r>
              <a:rPr sz="1000" b="1">
                <a:solidFill>
                  <a:srgbClr val="C42B6B"/>
                </a:solidFill>
                <a:latin typeface="Consolas"/>
              </a:rPr>
              <a:t>74LS02 / 7402</a:t>
            </a:r>
          </a:p>
        </p:txBody>
      </p:sp>
      <p:sp>
        <p:nvSpPr>
          <p:cNvPr id="19" name="TextBox 18"/>
          <p:cNvSpPr txBox="1"/>
          <p:nvPr/>
        </p:nvSpPr>
        <p:spPr>
          <a:xfrm>
            <a:off x="3931920" y="1828800"/>
            <a:ext cx="1956816" cy="274320"/>
          </a:xfrm>
          <a:prstGeom prst="rect">
            <a:avLst/>
          </a:prstGeom>
          <a:noFill/>
        </p:spPr>
        <p:txBody>
          <a:bodyPr wrap="square" lIns="0" rIns="0" tIns="0" bIns="0" anchor="t">
            <a:spAutoFit/>
          </a:bodyPr>
          <a:lstStyle/>
          <a:p>
            <a:pPr algn="l">
              <a:lnSpc>
                <a:spcPct val="112000"/>
              </a:lnSpc>
            </a:pPr>
            <a:r>
              <a:rPr sz="850" b="1">
                <a:solidFill>
                  <a:srgbClr val="0D1A2B"/>
                </a:solidFill>
                <a:latin typeface="Segoe UI Semibold"/>
              </a:rPr>
              <a:t>Quad 2-Input Positive-NOR Gate</a:t>
            </a:r>
          </a:p>
        </p:txBody>
      </p:sp>
      <p:sp>
        <p:nvSpPr>
          <p:cNvPr id="20" name="Oval 19"/>
          <p:cNvSpPr/>
          <p:nvPr/>
        </p:nvSpPr>
        <p:spPr>
          <a:xfrm>
            <a:off x="3959352" y="2249424"/>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2194560"/>
            <a:ext cx="1737360" cy="144203"/>
          </a:xfrm>
          <a:prstGeom prst="rect">
            <a:avLst/>
          </a:prstGeom>
          <a:noFill/>
        </p:spPr>
        <p:txBody>
          <a:bodyPr wrap="square" lIns="0" rIns="0" tIns="0" bIns="0" anchor="t">
            <a:spAutoFit/>
          </a:bodyPr>
          <a:lstStyle/>
          <a:p>
            <a:pPr algn="l">
              <a:lnSpc>
                <a:spcPct val="102000"/>
              </a:lnSpc>
            </a:pPr>
            <a:r>
              <a:rPr sz="819" b="0">
                <a:solidFill>
                  <a:srgbClr val="2C3E56"/>
                </a:solidFill>
                <a:latin typeface="Segoe UI"/>
              </a:rPr>
              <a:t>4 compuertas NOR en un DIP-14</a:t>
            </a:r>
          </a:p>
        </p:txBody>
      </p:sp>
      <p:sp>
        <p:nvSpPr>
          <p:cNvPr id="22" name="Oval 21"/>
          <p:cNvSpPr/>
          <p:nvPr/>
        </p:nvSpPr>
        <p:spPr>
          <a:xfrm>
            <a:off x="3959352" y="2421059"/>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05656" y="2366195"/>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Salida = 1 SOLO si A = B = 0</a:t>
            </a:r>
          </a:p>
        </p:txBody>
      </p:sp>
      <p:sp>
        <p:nvSpPr>
          <p:cNvPr id="24" name="Oval 23"/>
          <p:cNvSpPr/>
          <p:nvPr/>
        </p:nvSpPr>
        <p:spPr>
          <a:xfrm>
            <a:off x="3959352" y="259269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2537831"/>
            <a:ext cx="1737360" cy="288407"/>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Pinout distinto al del 7400 y 7408</a:t>
            </a:r>
          </a:p>
        </p:txBody>
      </p:sp>
      <p:sp>
        <p:nvSpPr>
          <p:cNvPr id="26" name="Oval 25"/>
          <p:cNvSpPr/>
          <p:nvPr/>
        </p:nvSpPr>
        <p:spPr>
          <a:xfrm>
            <a:off x="3959352" y="2908535"/>
            <a:ext cx="82296" cy="82296"/>
          </a:xfrm>
          <a:prstGeom prst="ellipse">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6" y="2853671"/>
            <a:ext cx="1737360" cy="144203"/>
          </a:xfrm>
          <a:prstGeom prst="rect">
            <a:avLst/>
          </a:prstGeom>
          <a:noFill/>
        </p:spPr>
        <p:txBody>
          <a:bodyPr wrap="square" lIns="0" rIns="0" tIns="0" bIns="0" anchor="t">
            <a:spAutoFit/>
          </a:bodyPr>
          <a:lstStyle/>
          <a:p>
            <a:pPr algn="l">
              <a:lnSpc>
                <a:spcPct val="102000"/>
              </a:lnSpc>
            </a:pPr>
            <a:r>
              <a:rPr sz="919" b="0">
                <a:solidFill>
                  <a:srgbClr val="2C3E56"/>
                </a:solidFill>
                <a:latin typeface="Segoe UI"/>
              </a:rPr>
              <a:t>Preferida en familias CMOS</a:t>
            </a:r>
          </a:p>
        </p:txBody>
      </p:sp>
      <p:sp>
        <p:nvSpPr>
          <p:cNvPr id="28" name="Rounded Rectangle 27"/>
          <p:cNvSpPr/>
          <p:nvPr/>
        </p:nvSpPr>
        <p:spPr>
          <a:xfrm>
            <a:off x="475488" y="4242816"/>
            <a:ext cx="5532120" cy="603504"/>
          </a:xfrm>
          <a:prstGeom prst="roundRect">
            <a:avLst>
              <a:gd name="adj" fmla="val 1322"/>
            </a:avLst>
          </a:prstGeom>
          <a:solidFill>
            <a:srgbClr val="EAF0F8"/>
          </a:solidFill>
          <a:ln w="12700">
            <a:solidFill>
              <a:srgbClr val="C42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42816"/>
            <a:ext cx="5166360" cy="603504"/>
          </a:xfrm>
          <a:prstGeom prst="rect">
            <a:avLst/>
          </a:prstGeom>
          <a:noFill/>
        </p:spPr>
        <p:txBody>
          <a:bodyPr wrap="square" lIns="0" rIns="0" tIns="0" bIns="0" anchor="ctr">
            <a:spAutoFit/>
          </a:bodyPr>
          <a:lstStyle/>
          <a:p>
            <a:pPr algn="ctr">
              <a:lnSpc>
                <a:spcPct val="100000"/>
              </a:lnSpc>
            </a:pPr>
            <a:r>
              <a:rPr sz="1550" b="1">
                <a:solidFill>
                  <a:srgbClr val="C42B6B"/>
                </a:solidFill>
                <a:latin typeface="Consolas"/>
              </a:rPr>
              <a:t>Y = (A + B)'   (se lee: A o B negado)</a:t>
            </a:r>
          </a:p>
        </p:txBody>
      </p:sp>
      <p:sp>
        <p:nvSpPr>
          <p:cNvPr id="30" name="Rounded Rectangle 29"/>
          <p:cNvSpPr/>
          <p:nvPr/>
        </p:nvSpPr>
        <p:spPr>
          <a:xfrm>
            <a:off x="6263640" y="1371600"/>
            <a:ext cx="5458968" cy="1883664"/>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28232" y="1481328"/>
            <a:ext cx="5120640" cy="237744"/>
          </a:xfrm>
          <a:prstGeom prst="rect">
            <a:avLst/>
          </a:prstGeom>
          <a:noFill/>
        </p:spPr>
        <p:txBody>
          <a:bodyPr wrap="square" lIns="0" rIns="0" tIns="0" bIns="0" anchor="t">
            <a:spAutoFit/>
          </a:bodyPr>
          <a:lstStyle/>
          <a:p>
            <a:pPr algn="l">
              <a:lnSpc>
                <a:spcPct val="100000"/>
              </a:lnSpc>
            </a:pPr>
            <a:r>
              <a:rPr sz="1050" b="1">
                <a:solidFill>
                  <a:srgbClr val="C42B6B"/>
                </a:solidFill>
                <a:latin typeface="Consolas"/>
              </a:rPr>
              <a:t>TABLA DE VERDAD · 7402</a:t>
            </a:r>
          </a:p>
        </p:txBody>
      </p:sp>
      <p:sp>
        <p:nvSpPr>
          <p:cNvPr id="32" name="Rectangle 31"/>
          <p:cNvSpPr/>
          <p:nvPr/>
        </p:nvSpPr>
        <p:spPr>
          <a:xfrm>
            <a:off x="6428232" y="1792224"/>
            <a:ext cx="5129784" cy="292608"/>
          </a:xfrm>
          <a:prstGeom prst="rect">
            <a:avLst/>
          </a:prstGeom>
          <a:solidFill>
            <a:srgbClr val="C42B6B">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01384"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A</a:t>
            </a:r>
          </a:p>
        </p:txBody>
      </p:sp>
      <p:sp>
        <p:nvSpPr>
          <p:cNvPr id="34" name="TextBox 33"/>
          <p:cNvSpPr txBox="1"/>
          <p:nvPr/>
        </p:nvSpPr>
        <p:spPr>
          <a:xfrm>
            <a:off x="8245510" y="1792224"/>
            <a:ext cx="1597822"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B</a:t>
            </a:r>
          </a:p>
        </p:txBody>
      </p:sp>
      <p:sp>
        <p:nvSpPr>
          <p:cNvPr id="35" name="TextBox 34"/>
          <p:cNvSpPr txBox="1"/>
          <p:nvPr/>
        </p:nvSpPr>
        <p:spPr>
          <a:xfrm>
            <a:off x="9989637" y="1792224"/>
            <a:ext cx="1495226" cy="292608"/>
          </a:xfrm>
          <a:prstGeom prst="rect">
            <a:avLst/>
          </a:prstGeom>
          <a:noFill/>
        </p:spPr>
        <p:txBody>
          <a:bodyPr wrap="square" lIns="0" rIns="0" tIns="0" bIns="0" anchor="ctr">
            <a:spAutoFit/>
          </a:bodyPr>
          <a:lstStyle/>
          <a:p>
            <a:pPr algn="l">
              <a:lnSpc>
                <a:spcPct val="100000"/>
              </a:lnSpc>
            </a:pPr>
            <a:r>
              <a:rPr sz="1050" b="1">
                <a:solidFill>
                  <a:srgbClr val="F5F8FC"/>
                </a:solidFill>
                <a:latin typeface="Segoe UI Semibold"/>
              </a:rPr>
              <a:t>Y = (A+B)'</a:t>
            </a:r>
          </a:p>
        </p:txBody>
      </p:sp>
      <p:sp>
        <p:nvSpPr>
          <p:cNvPr id="36" name="Rectangle 35"/>
          <p:cNvSpPr/>
          <p:nvPr/>
        </p:nvSpPr>
        <p:spPr>
          <a:xfrm>
            <a:off x="6428232" y="2084831"/>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084831"/>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38" name="TextBox 37"/>
          <p:cNvSpPr txBox="1"/>
          <p:nvPr/>
        </p:nvSpPr>
        <p:spPr>
          <a:xfrm>
            <a:off x="8245510" y="2084831"/>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39" name="TextBox 38"/>
          <p:cNvSpPr txBox="1"/>
          <p:nvPr/>
        </p:nvSpPr>
        <p:spPr>
          <a:xfrm>
            <a:off x="9989637" y="2084831"/>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0" name="TextBox 39"/>
          <p:cNvSpPr txBox="1"/>
          <p:nvPr/>
        </p:nvSpPr>
        <p:spPr>
          <a:xfrm>
            <a:off x="6501384" y="2345436"/>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0</a:t>
            </a:r>
          </a:p>
        </p:txBody>
      </p:sp>
      <p:sp>
        <p:nvSpPr>
          <p:cNvPr id="41" name="TextBox 40"/>
          <p:cNvSpPr txBox="1"/>
          <p:nvPr/>
        </p:nvSpPr>
        <p:spPr>
          <a:xfrm>
            <a:off x="8245510" y="2345436"/>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2" name="TextBox 41"/>
          <p:cNvSpPr txBox="1"/>
          <p:nvPr/>
        </p:nvSpPr>
        <p:spPr>
          <a:xfrm>
            <a:off x="9989637" y="2345436"/>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3" name="Rectangle 42"/>
          <p:cNvSpPr/>
          <p:nvPr/>
        </p:nvSpPr>
        <p:spPr>
          <a:xfrm>
            <a:off x="6428232" y="2606040"/>
            <a:ext cx="5129784" cy="260603"/>
          </a:xfrm>
          <a:prstGeom prst="rect">
            <a:avLst/>
          </a:prstGeom>
          <a:solidFill>
            <a:srgbClr val="FFFF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2606040"/>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5" name="TextBox 44"/>
          <p:cNvSpPr txBox="1"/>
          <p:nvPr/>
        </p:nvSpPr>
        <p:spPr>
          <a:xfrm>
            <a:off x="8245510" y="2606040"/>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6" name="TextBox 45"/>
          <p:cNvSpPr txBox="1"/>
          <p:nvPr/>
        </p:nvSpPr>
        <p:spPr>
          <a:xfrm>
            <a:off x="9989637" y="2606040"/>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47" name="TextBox 46"/>
          <p:cNvSpPr txBox="1"/>
          <p:nvPr/>
        </p:nvSpPr>
        <p:spPr>
          <a:xfrm>
            <a:off x="6501384" y="2866644"/>
            <a:ext cx="1597822" cy="260603"/>
          </a:xfrm>
          <a:prstGeom prst="rect">
            <a:avLst/>
          </a:prstGeom>
          <a:noFill/>
        </p:spPr>
        <p:txBody>
          <a:bodyPr wrap="square" lIns="0" rIns="0" tIns="0" bIns="0" anchor="ctr">
            <a:spAutoFit/>
          </a:bodyPr>
          <a:lstStyle/>
          <a:p>
            <a:pPr algn="l">
              <a:lnSpc>
                <a:spcPct val="100000"/>
              </a:lnSpc>
            </a:pPr>
            <a:r>
              <a:rPr sz="1050" b="0">
                <a:solidFill>
                  <a:srgbClr val="0D1A2B"/>
                </a:solidFill>
                <a:latin typeface="Segoe UI"/>
              </a:rPr>
              <a:t>1</a:t>
            </a:r>
          </a:p>
        </p:txBody>
      </p:sp>
      <p:sp>
        <p:nvSpPr>
          <p:cNvPr id="48" name="TextBox 47"/>
          <p:cNvSpPr txBox="1"/>
          <p:nvPr/>
        </p:nvSpPr>
        <p:spPr>
          <a:xfrm>
            <a:off x="8245510" y="2866644"/>
            <a:ext cx="1597822"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1</a:t>
            </a:r>
          </a:p>
        </p:txBody>
      </p:sp>
      <p:sp>
        <p:nvSpPr>
          <p:cNvPr id="49" name="TextBox 48"/>
          <p:cNvSpPr txBox="1"/>
          <p:nvPr/>
        </p:nvSpPr>
        <p:spPr>
          <a:xfrm>
            <a:off x="9989637" y="2866644"/>
            <a:ext cx="1495226" cy="260603"/>
          </a:xfrm>
          <a:prstGeom prst="rect">
            <a:avLst/>
          </a:prstGeom>
          <a:noFill/>
        </p:spPr>
        <p:txBody>
          <a:bodyPr wrap="square" lIns="0" rIns="0" tIns="0" bIns="0" anchor="ctr">
            <a:spAutoFit/>
          </a:bodyPr>
          <a:lstStyle/>
          <a:p>
            <a:pPr algn="l">
              <a:lnSpc>
                <a:spcPct val="100000"/>
              </a:lnSpc>
            </a:pPr>
            <a:r>
              <a:rPr sz="1050" b="0">
                <a:solidFill>
                  <a:srgbClr val="2C3E56"/>
                </a:solidFill>
                <a:latin typeface="Consolas"/>
              </a:rPr>
              <a:t>0</a:t>
            </a:r>
          </a:p>
        </p:txBody>
      </p:sp>
      <p:sp>
        <p:nvSpPr>
          <p:cNvPr id="50" name="Rounded Rectangle 49"/>
          <p:cNvSpPr/>
          <p:nvPr/>
        </p:nvSpPr>
        <p:spPr>
          <a:xfrm>
            <a:off x="6428232" y="1792224"/>
            <a:ext cx="5129784" cy="1335024"/>
          </a:xfrm>
          <a:prstGeom prst="roundRect">
            <a:avLst>
              <a:gd name="adj" fmla="val 1069"/>
            </a:avLst>
          </a:prstGeom>
          <a:no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63640" y="3456432"/>
            <a:ext cx="5458968" cy="1389888"/>
          </a:xfrm>
          <a:prstGeom prst="roundRect">
            <a:avLst>
              <a:gd name="adj" fmla="val 1675"/>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time_nor.png"/>
          <p:cNvPicPr>
            <a:picLocks noChangeAspect="1"/>
          </p:cNvPicPr>
          <p:nvPr/>
        </p:nvPicPr>
        <p:blipFill>
          <a:blip r:embed="rId3"/>
          <a:stretch>
            <a:fillRect/>
          </a:stretch>
        </p:blipFill>
        <p:spPr>
          <a:xfrm>
            <a:off x="7164461" y="3547872"/>
            <a:ext cx="3657324" cy="1207008"/>
          </a:xfrm>
          <a:prstGeom prst="rect">
            <a:avLst/>
          </a:prstGeom>
        </p:spPr>
      </p:pic>
      <p:sp>
        <p:nvSpPr>
          <p:cNvPr id="53" name="Rounded Rectangle 52"/>
          <p:cNvSpPr/>
          <p:nvPr/>
        </p:nvSpPr>
        <p:spPr>
          <a:xfrm>
            <a:off x="475488"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75488" y="518464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658368"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Funcionamiento</a:t>
            </a:r>
          </a:p>
        </p:txBody>
      </p:sp>
      <p:sp>
        <p:nvSpPr>
          <p:cNvPr id="56" name="TextBox 55"/>
          <p:cNvSpPr txBox="1"/>
          <p:nvPr/>
        </p:nvSpPr>
        <p:spPr>
          <a:xfrm>
            <a:off x="658368" y="5532120"/>
            <a:ext cx="5145008" cy="612647"/>
          </a:xfrm>
          <a:prstGeom prst="rect">
            <a:avLst/>
          </a:prstGeom>
          <a:noFill/>
        </p:spPr>
        <p:txBody>
          <a:bodyPr wrap="square" lIns="0" rIns="0" tIns="0" bIns="0" anchor="t">
            <a:spAutoFit/>
          </a:bodyPr>
          <a:lstStyle/>
          <a:p>
            <a:pPr algn="l">
              <a:lnSpc>
                <a:spcPct val="110000"/>
              </a:lnSpc>
            </a:pPr>
            <a:r>
              <a:rPr sz="900" b="0">
                <a:solidFill>
                  <a:srgbClr val="2C3E56"/>
                </a:solidFill>
                <a:latin typeface="Segoe UI"/>
              </a:rPr>
              <a:t>Es una OR seguida de un inversor: la salida solo permanece alta cuando todas las entradas están en bajo. En las familias CMOS el NOR es la estructura más natural de fabricar (menos transistores) y por eso se prefiere en el diseño de circuitos integrados; en TTL sucede lo contrario, el NAND es más eficiente.</a:t>
            </a:r>
          </a:p>
        </p:txBody>
      </p:sp>
      <p:sp>
        <p:nvSpPr>
          <p:cNvPr id="57" name="Rounded Rectangle 56"/>
          <p:cNvSpPr/>
          <p:nvPr/>
        </p:nvSpPr>
        <p:spPr>
          <a:xfrm>
            <a:off x="6205712" y="5074920"/>
            <a:ext cx="5510768" cy="1115568"/>
          </a:xfrm>
          <a:prstGeom prst="roundRect">
            <a:avLst>
              <a:gd name="adj" fmla="val 1659"/>
            </a:avLst>
          </a:prstGeom>
          <a:solidFill>
            <a:srgbClr val="FFFFFF"/>
          </a:solidFill>
          <a:ln w="9525">
            <a:solidFill>
              <a:srgbClr val="D3DE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05712" y="5184648"/>
            <a:ext cx="32004" cy="384048"/>
          </a:xfrm>
          <a:prstGeom prst="rect">
            <a:avLst/>
          </a:prstGeom>
          <a:solidFill>
            <a:srgbClr val="C4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88592" y="5221224"/>
            <a:ext cx="5145008" cy="274320"/>
          </a:xfrm>
          <a:prstGeom prst="rect">
            <a:avLst/>
          </a:prstGeom>
          <a:noFill/>
        </p:spPr>
        <p:txBody>
          <a:bodyPr wrap="square" lIns="0" rIns="0" tIns="0" bIns="0" anchor="t">
            <a:spAutoFit/>
          </a:bodyPr>
          <a:lstStyle/>
          <a:p>
            <a:pPr algn="l">
              <a:lnSpc>
                <a:spcPct val="98000"/>
              </a:lnSpc>
            </a:pPr>
            <a:r>
              <a:rPr sz="1200" b="1">
                <a:solidFill>
                  <a:srgbClr val="0D1A2B"/>
                </a:solidFill>
                <a:latin typeface="Segoe UI Semibold"/>
              </a:rPr>
              <a:t>Aplicaciones típicas</a:t>
            </a:r>
          </a:p>
        </p:txBody>
      </p:sp>
      <p:sp>
        <p:nvSpPr>
          <p:cNvPr id="60" name="TextBox 59"/>
          <p:cNvSpPr txBox="1"/>
          <p:nvPr/>
        </p:nvSpPr>
        <p:spPr>
          <a:xfrm>
            <a:off x="6388592" y="5532120"/>
            <a:ext cx="5145008" cy="612647"/>
          </a:xfrm>
          <a:prstGeom prst="rect">
            <a:avLst/>
          </a:prstGeom>
          <a:noFill/>
        </p:spPr>
        <p:txBody>
          <a:bodyPr wrap="square" lIns="0" rIns="0" tIns="0" bIns="0" anchor="t">
            <a:spAutoFit/>
          </a:bodyPr>
          <a:lstStyle/>
          <a:p>
            <a:pPr algn="l">
              <a:lnSpc>
                <a:spcPct val="110000"/>
              </a:lnSpc>
            </a:pPr>
            <a:r>
              <a:rPr sz="1050" b="0">
                <a:solidFill>
                  <a:srgbClr val="2C3E56"/>
                </a:solidFill>
                <a:latin typeface="Segoe UI"/>
              </a:rPr>
              <a:t>Circuitos secuenciales, protección con enclavamiento de seguridad, detección de condición nula (ningún sensor activo), osciladores e implementación universal de funciones en lógica CMOS.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5" fill="hold">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3" dur="420"/>
                                        <p:tgtEl>
                                          <p:spTgt spid="5"/>
                                        </p:tgtEl>
                                      </p:cBhvr>
                                    </p:animEffect>
                                  </p:childTnLst>
                                </p:cTn>
                              </p:par>
                              <p:par>
                                <p:cTn id="8" fill="hold">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6" dur="420"/>
                                        <p:tgtEl>
                                          <p:spTgt spid="6"/>
                                        </p:tgtEl>
                                      </p:cBhvr>
                                    </p:animEffect>
                                  </p:childTnLst>
                                </p:cTn>
                              </p:par>
                              <p:par>
                                <p:cTn id="11" fill="hold">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9" dur="420"/>
                                        <p:tgtEl>
                                          <p:spTgt spid="7"/>
                                        </p:tgtEl>
                                      </p:cBhvr>
                                    </p:animEffect>
                                  </p:childTnLst>
                                </p:cTn>
                              </p:par>
                              <p:par>
                                <p:cTn id="14" fill="hold">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2" dur="420"/>
                                        <p:tgtEl>
                                          <p:spTgt spid="8"/>
                                        </p:tgtEl>
                                      </p:cBhvr>
                                    </p:animEffect>
                                  </p:childTnLst>
                                </p:cTn>
                              </p:par>
                              <p:par>
                                <p:cTn id="17" fill="hold">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5" dur="420"/>
                                        <p:tgtEl>
                                          <p:spTgt spid="9"/>
                                        </p:tgtEl>
                                      </p:cBhvr>
                                    </p:animEffect>
                                  </p:childTnLst>
                                </p:cTn>
                              </p:par>
                              <p:par>
                                <p:cTn id="20" fill="hold">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18" dur="420"/>
                                        <p:tgtEl>
                                          <p:spTgt spid="10"/>
                                        </p:tgtEl>
                                      </p:cBhvr>
                                    </p:animEffect>
                                  </p:childTnLst>
                                </p:cTn>
                              </p:par>
                            </p:childTnLst>
                          </p:cTn>
                        </p:par>
                      </p:childTnLst>
                    </p:cTn>
                  </p:par>
                  <p:par>
                    <p:cTn id="31" fill="hold">
                      <p:stCondLst>
                        <p:cond delay="indefinite"/>
                      </p:stCondLst>
                      <p:childTnLst>
                        <p:par>
                          <p:cTn id="32" fill="hold">
                            <p:stCondLst>
                              <p:cond delay="0"/>
                            </p:stCondLst>
                            <p:childTnLst>
                              <p:par>
                                <p:cTn id="26"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3" dur="420"/>
                                        <p:tgtEl>
                                          <p:spTgt spid="16"/>
                                        </p:tgtEl>
                                      </p:cBhvr>
                                    </p:animEffect>
                                    <p:anim calcmode="lin" valueType="num">
                                      <p:cBhvr additive="base">
                                        <p:cTn id="25" dur="420" fill="hold"/>
                                        <p:tgtEl>
                                          <p:spTgt spid="16"/>
                                        </p:tgtEl>
                                        <p:attrNameLst>
                                          <p:attrName>ppt_y</p:attrName>
                                        </p:attrNameLst>
                                      </p:cBhvr>
                                      <p:tavLst>
                                        <p:tav tm="0">
                                          <p:val>
                                            <p:strVal val="0.06"/>
                                          </p:val>
                                        </p:tav>
                                        <p:tav tm="100000">
                                          <p:val>
                                            <p:strVal val="0"/>
                                          </p:val>
                                        </p:tav>
                                      </p:tavLst>
                                    </p:anim>
                                  </p:childTnLst>
                                </p:cTn>
                              </p:par>
                              <p:par>
                                <p:cTn id="30" fill="hold">
                                  <p:stCondLst>
                                    <p:cond delay="110"/>
                                  </p:stCondLst>
                                  <p:childTnLst>
                                    <p:set>
                                      <p:cBhvr>
                                        <p:cTn id="28" dur="1" fill="hold">
                                          <p:stCondLst>
                                            <p:cond delay="0"/>
                                          </p:stCondLst>
                                        </p:cTn>
                                        <p:tgtEl>
                                          <p:spTgt spid="17"/>
                                        </p:tgtEl>
                                        <p:attrNameLst>
                                          <p:attrName>style.visibility</p:attrName>
                                        </p:attrNameLst>
                                      </p:cBhvr>
                                      <p:to>
                                        <p:strVal val="visible"/>
                                      </p:to>
                                    </p:set>
                                    <p:animEffect transition="in" filter="fade">
                                      <p:cBhvr>
                                        <p:cTn id="27" dur="420"/>
                                        <p:tgtEl>
                                          <p:spTgt spid="17"/>
                                        </p:tgtEl>
                                      </p:cBhvr>
                                    </p:animEffect>
                                    <p:anim calcmode="lin" valueType="num">
                                      <p:cBhvr additive="base">
                                        <p:cTn id="29" dur="420" fill="hold"/>
                                        <p:tgtEl>
                                          <p:spTgt spid="17"/>
                                        </p:tgtEl>
                                        <p:attrNameLst>
                                          <p:attrName>ppt_y</p:attrName>
                                        </p:attrNameLst>
                                      </p:cBhvr>
                                      <p:tavLst>
                                        <p:tav tm="0">
                                          <p:val>
                                            <p:strVal val="0.06"/>
                                          </p:val>
                                        </p:tav>
                                        <p:tav tm="100000">
                                          <p:val>
                                            <p:strVal val="0"/>
                                          </p:val>
                                        </p:tav>
                                      </p:tavLst>
                                    </p:anim>
                                  </p:childTnLst>
                                </p:cTn>
                              </p:par>
                            </p:childTnLst>
                          </p:cTn>
                        </p:par>
                      </p:childTnLst>
                    </p:cTn>
                  </p:par>
                  <p:par>
                    <p:cTn id="41" fill="hold">
                      <p:stCondLst>
                        <p:cond delay="indefinite"/>
                      </p:stCondLst>
                      <p:childTnLst>
                        <p:par>
                          <p:cTn id="42" fill="hold">
                            <p:stCondLst>
                              <p:cond delay="0"/>
                            </p:stCondLst>
                            <p:childTnLst>
                              <p:par>
                                <p:cTn id="36" fill="hold">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3" dur="420"/>
                                        <p:tgtEl>
                                          <p:spTgt spid="18"/>
                                        </p:tgtEl>
                                      </p:cBhvr>
                                    </p:animEffect>
                                    <p:anim calcmode="lin" valueType="num">
                                      <p:cBhvr additive="base">
                                        <p:cTn id="35" dur="420" fill="hold"/>
                                        <p:tgtEl>
                                          <p:spTgt spid="18"/>
                                        </p:tgtEl>
                                        <p:attrNameLst>
                                          <p:attrName>ppt_y</p:attrName>
                                        </p:attrNameLst>
                                      </p:cBhvr>
                                      <p:tavLst>
                                        <p:tav tm="0">
                                          <p:val>
                                            <p:strVal val="0.06"/>
                                          </p:val>
                                        </p:tav>
                                        <p:tav tm="100000">
                                          <p:val>
                                            <p:strVal val="0"/>
                                          </p:val>
                                        </p:tav>
                                      </p:tavLst>
                                    </p:anim>
                                  </p:childTnLst>
                                </p:cTn>
                              </p:par>
                              <p:par>
                                <p:cTn id="40" fill="hold">
                                  <p:stCondLst>
                                    <p:cond delay="110"/>
                                  </p:stCondLst>
                                  <p:childTnLst>
                                    <p:set>
                                      <p:cBhvr>
                                        <p:cTn id="38" dur="1" fill="hold">
                                          <p:stCondLst>
                                            <p:cond delay="0"/>
                                          </p:stCondLst>
                                        </p:cTn>
                                        <p:tgtEl>
                                          <p:spTgt spid="19"/>
                                        </p:tgtEl>
                                        <p:attrNameLst>
                                          <p:attrName>style.visibility</p:attrName>
                                        </p:attrNameLst>
                                      </p:cBhvr>
                                      <p:to>
                                        <p:strVal val="visible"/>
                                      </p:to>
                                    </p:set>
                                    <p:animEffect transition="in" filter="fade">
                                      <p:cBhvr>
                                        <p:cTn id="37" dur="420"/>
                                        <p:tgtEl>
                                          <p:spTgt spid="19"/>
                                        </p:tgtEl>
                                      </p:cBhvr>
                                    </p:animEffect>
                                    <p:anim calcmode="lin" valueType="num">
                                      <p:cBhvr additive="base">
                                        <p:cTn id="39" dur="420" fill="hold"/>
                                        <p:tgtEl>
                                          <p:spTgt spid="19"/>
                                        </p:tgtEl>
                                        <p:attrNameLst>
                                          <p:attrName>ppt_y</p:attrName>
                                        </p:attrNameLst>
                                      </p:cBhvr>
                                      <p:tavLst>
                                        <p:tav tm="0">
                                          <p:val>
                                            <p:strVal val="0.06"/>
                                          </p:val>
                                        </p:tav>
                                        <p:tav tm="100000">
                                          <p:val>
                                            <p:strVal val="0"/>
                                          </p:val>
                                        </p:tav>
                                      </p:tavLst>
                                    </p:anim>
                                  </p:childTnLst>
                                </p:cTn>
                              </p:par>
                            </p:childTnLst>
                          </p:cTn>
                        </p:par>
                      </p:childTnLst>
                    </p:cTn>
                  </p:par>
                  <p:par>
                    <p:cTn id="51" fill="hold">
                      <p:stCondLst>
                        <p:cond delay="indefinite"/>
                      </p:stCondLst>
                      <p:childTnLst>
                        <p:par>
                          <p:cTn id="52" fill="hold">
                            <p:stCondLst>
                              <p:cond delay="0"/>
                            </p:stCondLst>
                            <p:childTnLst>
                              <p:par>
                                <p:cTn id="46" fill="hold">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3" dur="420"/>
                                        <p:tgtEl>
                                          <p:spTgt spid="21"/>
                                        </p:tgtEl>
                                      </p:cBhvr>
                                    </p:animEffect>
                                    <p:anim calcmode="lin" valueType="num">
                                      <p:cBhvr additive="base">
                                        <p:cTn id="45" dur="420" fill="hold"/>
                                        <p:tgtEl>
                                          <p:spTgt spid="21"/>
                                        </p:tgtEl>
                                        <p:attrNameLst>
                                          <p:attrName>ppt_y</p:attrName>
                                        </p:attrNameLst>
                                      </p:cBhvr>
                                      <p:tavLst>
                                        <p:tav tm="0">
                                          <p:val>
                                            <p:strVal val="0.06"/>
                                          </p:val>
                                        </p:tav>
                                        <p:tav tm="100000">
                                          <p:val>
                                            <p:strVal val="0"/>
                                          </p:val>
                                        </p:tav>
                                      </p:tavLst>
                                    </p:anim>
                                  </p:childTnLst>
                                </p:cTn>
                              </p:par>
                              <p:par>
                                <p:cTn id="50" fill="hold">
                                  <p:stCondLst>
                                    <p:cond delay="110"/>
                                  </p:stCondLst>
                                  <p:childTnLst>
                                    <p:set>
                                      <p:cBhvr>
                                        <p:cTn id="48" dur="1" fill="hold">
                                          <p:stCondLst>
                                            <p:cond delay="0"/>
                                          </p:stCondLst>
                                        </p:cTn>
                                        <p:tgtEl>
                                          <p:spTgt spid="23"/>
                                        </p:tgtEl>
                                        <p:attrNameLst>
                                          <p:attrName>style.visibility</p:attrName>
                                        </p:attrNameLst>
                                      </p:cBhvr>
                                      <p:to>
                                        <p:strVal val="visible"/>
                                      </p:to>
                                    </p:set>
                                    <p:animEffect transition="in" filter="fade">
                                      <p:cBhvr>
                                        <p:cTn id="47" dur="420"/>
                                        <p:tgtEl>
                                          <p:spTgt spid="23"/>
                                        </p:tgtEl>
                                      </p:cBhvr>
                                    </p:animEffect>
                                    <p:anim calcmode="lin" valueType="num">
                                      <p:cBhvr additive="base">
                                        <p:cTn id="49" dur="420" fill="hold"/>
                                        <p:tgtEl>
                                          <p:spTgt spid="23"/>
                                        </p:tgtEl>
                                        <p:attrNameLst>
                                          <p:attrName>ppt_y</p:attrName>
                                        </p:attrNameLst>
                                      </p:cBhvr>
                                      <p:tavLst>
                                        <p:tav tm="0">
                                          <p:val>
                                            <p:strVal val="0.06"/>
                                          </p:val>
                                        </p:tav>
                                        <p:tav tm="100000">
                                          <p:val>
                                            <p:strVal val="0"/>
                                          </p:val>
                                        </p:tav>
                                      </p:tavLst>
                                    </p:anim>
                                  </p:childTnLst>
                                </p:cTn>
                              </p:par>
                            </p:childTnLst>
                          </p:cTn>
                        </p:par>
                      </p:childTnLst>
                    </p:cTn>
                  </p:par>
                  <p:par>
                    <p:cTn id="61" fill="hold">
                      <p:stCondLst>
                        <p:cond delay="indefinite"/>
                      </p:stCondLst>
                      <p:childTnLst>
                        <p:par>
                          <p:cTn id="62" fill="hold">
                            <p:stCondLst>
                              <p:cond delay="0"/>
                            </p:stCondLst>
                            <p:childTnLst>
                              <p:par>
                                <p:cTn id="56" fill="hold">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3" dur="420"/>
                                        <p:tgtEl>
                                          <p:spTgt spid="25"/>
                                        </p:tgtEl>
                                      </p:cBhvr>
                                    </p:animEffect>
                                    <p:anim calcmode="lin" valueType="num">
                                      <p:cBhvr additive="base">
                                        <p:cTn id="55" dur="420" fill="hold"/>
                                        <p:tgtEl>
                                          <p:spTgt spid="25"/>
                                        </p:tgtEl>
                                        <p:attrNameLst>
                                          <p:attrName>ppt_y</p:attrName>
                                        </p:attrNameLst>
                                      </p:cBhvr>
                                      <p:tavLst>
                                        <p:tav tm="0">
                                          <p:val>
                                            <p:strVal val="0.06"/>
                                          </p:val>
                                        </p:tav>
                                        <p:tav tm="100000">
                                          <p:val>
                                            <p:strVal val="0"/>
                                          </p:val>
                                        </p:tav>
                                      </p:tavLst>
                                    </p:anim>
                                  </p:childTnLst>
                                </p:cTn>
                              </p:par>
                              <p:par>
                                <p:cTn id="60" fill="hold">
                                  <p:stCondLst>
                                    <p:cond delay="110"/>
                                  </p:stCondLst>
                                  <p:childTnLst>
                                    <p:set>
                                      <p:cBhvr>
                                        <p:cTn id="58" dur="1" fill="hold">
                                          <p:stCondLst>
                                            <p:cond delay="0"/>
                                          </p:stCondLst>
                                        </p:cTn>
                                        <p:tgtEl>
                                          <p:spTgt spid="27"/>
                                        </p:tgtEl>
                                        <p:attrNameLst>
                                          <p:attrName>style.visibility</p:attrName>
                                        </p:attrNameLst>
                                      </p:cBhvr>
                                      <p:to>
                                        <p:strVal val="visible"/>
                                      </p:to>
                                    </p:set>
                                    <p:animEffect transition="in" filter="fade">
                                      <p:cBhvr>
                                        <p:cTn id="57" dur="420"/>
                                        <p:tgtEl>
                                          <p:spTgt spid="27"/>
                                        </p:tgtEl>
                                      </p:cBhvr>
                                    </p:animEffect>
                                    <p:anim calcmode="lin" valueType="num">
                                      <p:cBhvr additive="base">
                                        <p:cTn id="59" dur="420" fill="hold"/>
                                        <p:tgtEl>
                                          <p:spTgt spid="27"/>
                                        </p:tgtEl>
                                        <p:attrNameLst>
                                          <p:attrName>ppt_y</p:attrName>
                                        </p:attrNameLst>
                                      </p:cBhvr>
                                      <p:tavLst>
                                        <p:tav tm="0">
                                          <p:val>
                                            <p:strVal val="0.06"/>
                                          </p:val>
                                        </p:tav>
                                        <p:tav tm="100000">
                                          <p:val>
                                            <p:strVal val="0"/>
                                          </p:val>
                                        </p:tav>
                                      </p:tavLst>
                                    </p:anim>
                                  </p:childTnLst>
                                </p:cTn>
                              </p:par>
                            </p:childTnLst>
                          </p:cTn>
                        </p:par>
                      </p:childTnLst>
                    </p:cTn>
                  </p:par>
                  <p:par>
                    <p:cTn id="71" fill="hold">
                      <p:stCondLst>
                        <p:cond delay="indefinite"/>
                      </p:stCondLst>
                      <p:childTnLst>
                        <p:par>
                          <p:cTn id="72" fill="hold">
                            <p:stCondLst>
                              <p:cond delay="0"/>
                            </p:stCondLst>
                            <p:childTnLst>
                              <p:par>
                                <p:cTn id="66" fill="hold">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3" dur="420"/>
                                        <p:tgtEl>
                                          <p:spTgt spid="28"/>
                                        </p:tgtEl>
                                      </p:cBhvr>
                                    </p:animEffect>
                                    <p:anim calcmode="lin" valueType="num">
                                      <p:cBhvr additive="base">
                                        <p:cTn id="65" dur="420" fill="hold"/>
                                        <p:tgtEl>
                                          <p:spTgt spid="28"/>
                                        </p:tgtEl>
                                        <p:attrNameLst>
                                          <p:attrName>ppt_y</p:attrName>
                                        </p:attrNameLst>
                                      </p:cBhvr>
                                      <p:tavLst>
                                        <p:tav tm="0">
                                          <p:val>
                                            <p:strVal val="0.06"/>
                                          </p:val>
                                        </p:tav>
                                        <p:tav tm="100000">
                                          <p:val>
                                            <p:strVal val="0"/>
                                          </p:val>
                                        </p:tav>
                                      </p:tavLst>
                                    </p:anim>
                                  </p:childTnLst>
                                </p:cTn>
                              </p:par>
                              <p:par>
                                <p:cTn id="70" fill="hold">
                                  <p:stCondLst>
                                    <p:cond delay="110"/>
                                  </p:stCondLst>
                                  <p:childTnLst>
                                    <p:set>
                                      <p:cBhvr>
                                        <p:cTn id="68" dur="1" fill="hold">
                                          <p:stCondLst>
                                            <p:cond delay="0"/>
                                          </p:stCondLst>
                                        </p:cTn>
                                        <p:tgtEl>
                                          <p:spTgt spid="29"/>
                                        </p:tgtEl>
                                        <p:attrNameLst>
                                          <p:attrName>style.visibility</p:attrName>
                                        </p:attrNameLst>
                                      </p:cBhvr>
                                      <p:to>
                                        <p:strVal val="visible"/>
                                      </p:to>
                                    </p:set>
                                    <p:animEffect transition="in" filter="fade">
                                      <p:cBhvr>
                                        <p:cTn id="67" dur="420"/>
                                        <p:tgtEl>
                                          <p:spTgt spid="29"/>
                                        </p:tgtEl>
                                      </p:cBhvr>
                                    </p:animEffect>
                                    <p:anim calcmode="lin" valueType="num">
                                      <p:cBhvr additive="base">
                                        <p:cTn id="69" dur="420" fill="hold"/>
                                        <p:tgtEl>
                                          <p:spTgt spid="29"/>
                                        </p:tgtEl>
                                        <p:attrNameLst>
                                          <p:attrName>ppt_y</p:attrName>
                                        </p:attrNameLst>
                                      </p:cBhvr>
                                      <p:tavLst>
                                        <p:tav tm="0">
                                          <p:val>
                                            <p:strVal val="0.06"/>
                                          </p:val>
                                        </p:tav>
                                        <p:tav tm="100000">
                                          <p:val>
                                            <p:strVal val="0"/>
                                          </p:val>
                                        </p:tav>
                                      </p:tavLst>
                                    </p:anim>
                                  </p:childTnLst>
                                </p:cTn>
                              </p:par>
                            </p:childTnLst>
                          </p:cTn>
                        </p:par>
                      </p:childTnLst>
                    </p:cTn>
                  </p:par>
                  <p:par>
                    <p:cTn id="163" fill="hold">
                      <p:stCondLst>
                        <p:cond delay="indefinite"/>
                      </p:stCondLst>
                      <p:childTnLst>
                        <p:par>
                          <p:cTn id="164" fill="hold">
                            <p:stCondLst>
                              <p:cond delay="0"/>
                            </p:stCondLst>
                            <p:childTnLst>
                              <p:par>
                                <p:cTn id="75" fill="hold">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3" dur="420"/>
                                        <p:tgtEl>
                                          <p:spTgt spid="30"/>
                                        </p:tgtEl>
                                      </p:cBhvr>
                                    </p:animEffect>
                                  </p:childTnLst>
                                </p:cTn>
                              </p:par>
                              <p:par>
                                <p:cTn id="78" fill="hold">
                                  <p:stCondLst>
                                    <p:cond delay="110"/>
                                  </p:stCondLst>
                                  <p:childTnLst>
                                    <p:set>
                                      <p:cBhvr>
                                        <p:cTn id="77" dur="1" fill="hold">
                                          <p:stCondLst>
                                            <p:cond delay="0"/>
                                          </p:stCondLst>
                                        </p:cTn>
                                        <p:tgtEl>
                                          <p:spTgt spid="31"/>
                                        </p:tgtEl>
                                        <p:attrNameLst>
                                          <p:attrName>style.visibility</p:attrName>
                                        </p:attrNameLst>
                                      </p:cBhvr>
                                      <p:to>
                                        <p:strVal val="visible"/>
                                      </p:to>
                                    </p:set>
                                    <p:animEffect transition="in" filter="fade">
                                      <p:cBhvr>
                                        <p:cTn id="76" dur="420"/>
                                        <p:tgtEl>
                                          <p:spTgt spid="31"/>
                                        </p:tgtEl>
                                      </p:cBhvr>
                                    </p:animEffect>
                                  </p:childTnLst>
                                </p:cTn>
                              </p:par>
                              <p:par>
                                <p:cTn id="81" fill="hold">
                                  <p:stCondLst>
                                    <p:cond delay="220"/>
                                  </p:stCondLst>
                                  <p:childTnLst>
                                    <p:set>
                                      <p:cBhvr>
                                        <p:cTn id="80" dur="1" fill="hold">
                                          <p:stCondLst>
                                            <p:cond delay="0"/>
                                          </p:stCondLst>
                                        </p:cTn>
                                        <p:tgtEl>
                                          <p:spTgt spid="32"/>
                                        </p:tgtEl>
                                        <p:attrNameLst>
                                          <p:attrName>style.visibility</p:attrName>
                                        </p:attrNameLst>
                                      </p:cBhvr>
                                      <p:to>
                                        <p:strVal val="visible"/>
                                      </p:to>
                                    </p:set>
                                    <p:animEffect transition="in" filter="fade">
                                      <p:cBhvr>
                                        <p:cTn id="79" dur="420"/>
                                        <p:tgtEl>
                                          <p:spTgt spid="32"/>
                                        </p:tgtEl>
                                      </p:cBhvr>
                                    </p:animEffect>
                                  </p:childTnLst>
                                </p:cTn>
                              </p:par>
                              <p:par>
                                <p:cTn id="84" fill="hold">
                                  <p:stCondLst>
                                    <p:cond delay="330"/>
                                  </p:stCondLst>
                                  <p:childTnLst>
                                    <p:set>
                                      <p:cBhvr>
                                        <p:cTn id="83" dur="1" fill="hold">
                                          <p:stCondLst>
                                            <p:cond delay="0"/>
                                          </p:stCondLst>
                                        </p:cTn>
                                        <p:tgtEl>
                                          <p:spTgt spid="33"/>
                                        </p:tgtEl>
                                        <p:attrNameLst>
                                          <p:attrName>style.visibility</p:attrName>
                                        </p:attrNameLst>
                                      </p:cBhvr>
                                      <p:to>
                                        <p:strVal val="visible"/>
                                      </p:to>
                                    </p:set>
                                    <p:animEffect transition="in" filter="fade">
                                      <p:cBhvr>
                                        <p:cTn id="82" dur="420"/>
                                        <p:tgtEl>
                                          <p:spTgt spid="33"/>
                                        </p:tgtEl>
                                      </p:cBhvr>
                                    </p:animEffect>
                                  </p:childTnLst>
                                </p:cTn>
                              </p:par>
                              <p:par>
                                <p:cTn id="87" fill="hold">
                                  <p:stCondLst>
                                    <p:cond delay="4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5" dur="420"/>
                                        <p:tgtEl>
                                          <p:spTgt spid="34"/>
                                        </p:tgtEl>
                                      </p:cBhvr>
                                    </p:animEffect>
                                  </p:childTnLst>
                                </p:cTn>
                              </p:par>
                              <p:par>
                                <p:cTn id="90" fill="hold">
                                  <p:stCondLst>
                                    <p:cond delay="550"/>
                                  </p:stCondLst>
                                  <p:childTnLst>
                                    <p:set>
                                      <p:cBhvr>
                                        <p:cTn id="89" dur="1" fill="hold">
                                          <p:stCondLst>
                                            <p:cond delay="0"/>
                                          </p:stCondLst>
                                        </p:cTn>
                                        <p:tgtEl>
                                          <p:spTgt spid="35"/>
                                        </p:tgtEl>
                                        <p:attrNameLst>
                                          <p:attrName>style.visibility</p:attrName>
                                        </p:attrNameLst>
                                      </p:cBhvr>
                                      <p:to>
                                        <p:strVal val="visible"/>
                                      </p:to>
                                    </p:set>
                                    <p:animEffect transition="in" filter="fade">
                                      <p:cBhvr>
                                        <p:cTn id="88" dur="420"/>
                                        <p:tgtEl>
                                          <p:spTgt spid="35"/>
                                        </p:tgtEl>
                                      </p:cBhvr>
                                    </p:animEffect>
                                  </p:childTnLst>
                                </p:cTn>
                              </p:par>
                              <p:par>
                                <p:cTn id="93" fill="hold">
                                  <p:stCondLst>
                                    <p:cond delay="660"/>
                                  </p:stCondLst>
                                  <p:childTnLst>
                                    <p:set>
                                      <p:cBhvr>
                                        <p:cTn id="92" dur="1" fill="hold">
                                          <p:stCondLst>
                                            <p:cond delay="0"/>
                                          </p:stCondLst>
                                        </p:cTn>
                                        <p:tgtEl>
                                          <p:spTgt spid="36"/>
                                        </p:tgtEl>
                                        <p:attrNameLst>
                                          <p:attrName>style.visibility</p:attrName>
                                        </p:attrNameLst>
                                      </p:cBhvr>
                                      <p:to>
                                        <p:strVal val="visible"/>
                                      </p:to>
                                    </p:set>
                                    <p:animEffect transition="in" filter="fade">
                                      <p:cBhvr>
                                        <p:cTn id="91" dur="420"/>
                                        <p:tgtEl>
                                          <p:spTgt spid="36"/>
                                        </p:tgtEl>
                                      </p:cBhvr>
                                    </p:animEffect>
                                  </p:childTnLst>
                                </p:cTn>
                              </p:par>
                              <p:par>
                                <p:cTn id="96" fill="hold">
                                  <p:stCondLst>
                                    <p:cond delay="770"/>
                                  </p:stCondLst>
                                  <p:childTnLst>
                                    <p:set>
                                      <p:cBhvr>
                                        <p:cTn id="95" dur="1" fill="hold">
                                          <p:stCondLst>
                                            <p:cond delay="0"/>
                                          </p:stCondLst>
                                        </p:cTn>
                                        <p:tgtEl>
                                          <p:spTgt spid="37"/>
                                        </p:tgtEl>
                                        <p:attrNameLst>
                                          <p:attrName>style.visibility</p:attrName>
                                        </p:attrNameLst>
                                      </p:cBhvr>
                                      <p:to>
                                        <p:strVal val="visible"/>
                                      </p:to>
                                    </p:set>
                                    <p:animEffect transition="in" filter="fade">
                                      <p:cBhvr>
                                        <p:cTn id="94" dur="420"/>
                                        <p:tgtEl>
                                          <p:spTgt spid="37"/>
                                        </p:tgtEl>
                                      </p:cBhvr>
                                    </p:animEffect>
                                  </p:childTnLst>
                                </p:cTn>
                              </p:par>
                              <p:par>
                                <p:cTn id="99" fill="hold">
                                  <p:stCondLst>
                                    <p:cond delay="880"/>
                                  </p:stCondLst>
                                  <p:childTnLst>
                                    <p:set>
                                      <p:cBhvr>
                                        <p:cTn id="98" dur="1" fill="hold">
                                          <p:stCondLst>
                                            <p:cond delay="0"/>
                                          </p:stCondLst>
                                        </p:cTn>
                                        <p:tgtEl>
                                          <p:spTgt spid="38"/>
                                        </p:tgtEl>
                                        <p:attrNameLst>
                                          <p:attrName>style.visibility</p:attrName>
                                        </p:attrNameLst>
                                      </p:cBhvr>
                                      <p:to>
                                        <p:strVal val="visible"/>
                                      </p:to>
                                    </p:set>
                                    <p:animEffect transition="in" filter="fade">
                                      <p:cBhvr>
                                        <p:cTn id="97" dur="420"/>
                                        <p:tgtEl>
                                          <p:spTgt spid="38"/>
                                        </p:tgtEl>
                                      </p:cBhvr>
                                    </p:animEffect>
                                  </p:childTnLst>
                                </p:cTn>
                              </p:par>
                              <p:par>
                                <p:cTn id="102" fill="hold">
                                  <p:stCondLst>
                                    <p:cond delay="99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0" dur="420"/>
                                        <p:tgtEl>
                                          <p:spTgt spid="39"/>
                                        </p:tgtEl>
                                      </p:cBhvr>
                                    </p:animEffect>
                                  </p:childTnLst>
                                </p:cTn>
                              </p:par>
                              <p:par>
                                <p:cTn id="105" fill="hold">
                                  <p:stCondLst>
                                    <p:cond delay="110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3" dur="420"/>
                                        <p:tgtEl>
                                          <p:spTgt spid="40"/>
                                        </p:tgtEl>
                                      </p:cBhvr>
                                    </p:animEffect>
                                  </p:childTnLst>
                                </p:cTn>
                              </p:par>
                              <p:par>
                                <p:cTn id="108" fill="hold">
                                  <p:stCondLst>
                                    <p:cond delay="121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6" dur="420"/>
                                        <p:tgtEl>
                                          <p:spTgt spid="41"/>
                                        </p:tgtEl>
                                      </p:cBhvr>
                                    </p:animEffect>
                                  </p:childTnLst>
                                </p:cTn>
                              </p:par>
                              <p:par>
                                <p:cTn id="111" fill="hold">
                                  <p:stCondLst>
                                    <p:cond delay="132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09" dur="420"/>
                                        <p:tgtEl>
                                          <p:spTgt spid="42"/>
                                        </p:tgtEl>
                                      </p:cBhvr>
                                    </p:animEffect>
                                  </p:childTnLst>
                                </p:cTn>
                              </p:par>
                              <p:par>
                                <p:cTn id="114" fill="hold">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2" dur="420"/>
                                        <p:tgtEl>
                                          <p:spTgt spid="43"/>
                                        </p:tgtEl>
                                      </p:cBhvr>
                                    </p:animEffect>
                                  </p:childTnLst>
                                </p:cTn>
                              </p:par>
                              <p:par>
                                <p:cTn id="117" fill="hold">
                                  <p:stCondLst>
                                    <p:cond delay="154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5" dur="420"/>
                                        <p:tgtEl>
                                          <p:spTgt spid="44"/>
                                        </p:tgtEl>
                                      </p:cBhvr>
                                    </p:animEffect>
                                  </p:childTnLst>
                                </p:cTn>
                              </p:par>
                              <p:par>
                                <p:cTn id="120" fill="hold">
                                  <p:stCondLst>
                                    <p:cond delay="165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18" dur="420"/>
                                        <p:tgtEl>
                                          <p:spTgt spid="45"/>
                                        </p:tgtEl>
                                      </p:cBhvr>
                                    </p:animEffect>
                                  </p:childTnLst>
                                </p:cTn>
                              </p:par>
                              <p:par>
                                <p:cTn id="123" fill="hold">
                                  <p:stCondLst>
                                    <p:cond delay="176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1" dur="420"/>
                                        <p:tgtEl>
                                          <p:spTgt spid="46"/>
                                        </p:tgtEl>
                                      </p:cBhvr>
                                    </p:animEffect>
                                  </p:childTnLst>
                                </p:cTn>
                              </p:par>
                              <p:par>
                                <p:cTn id="126" fill="hold">
                                  <p:stCondLst>
                                    <p:cond delay="187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4" dur="420"/>
                                        <p:tgtEl>
                                          <p:spTgt spid="47"/>
                                        </p:tgtEl>
                                      </p:cBhvr>
                                    </p:animEffect>
                                  </p:childTnLst>
                                </p:cTn>
                              </p:par>
                              <p:par>
                                <p:cTn id="129" fill="hold">
                                  <p:stCondLst>
                                    <p:cond delay="198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7" dur="420"/>
                                        <p:tgtEl>
                                          <p:spTgt spid="48"/>
                                        </p:tgtEl>
                                      </p:cBhvr>
                                    </p:animEffect>
                                  </p:childTnLst>
                                </p:cTn>
                              </p:par>
                              <p:par>
                                <p:cTn id="132" fill="hold">
                                  <p:stCondLst>
                                    <p:cond delay="20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0" dur="420"/>
                                        <p:tgtEl>
                                          <p:spTgt spid="49"/>
                                        </p:tgtEl>
                                      </p:cBhvr>
                                    </p:animEffect>
                                  </p:childTnLst>
                                </p:cTn>
                              </p:par>
                              <p:par>
                                <p:cTn id="135" fill="hold">
                                  <p:stCondLst>
                                    <p:cond delay="220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3" dur="420"/>
                                        <p:tgtEl>
                                          <p:spTgt spid="51"/>
                                        </p:tgtEl>
                                      </p:cBhvr>
                                    </p:animEffect>
                                  </p:childTnLst>
                                </p:cTn>
                              </p:par>
                              <p:par>
                                <p:cTn id="138" fill="hold">
                                  <p:stCondLst>
                                    <p:cond delay="231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6" dur="420"/>
                                        <p:tgtEl>
                                          <p:spTgt spid="52"/>
                                        </p:tgtEl>
                                      </p:cBhvr>
                                    </p:animEffect>
                                  </p:childTnLst>
                                </p:cTn>
                              </p:par>
                              <p:par>
                                <p:cTn id="141" fill="hold">
                                  <p:stCondLst>
                                    <p:cond delay="2420"/>
                                  </p:stCondLst>
                                  <p:childTnLst>
                                    <p:set>
                                      <p:cBhvr>
                                        <p:cTn id="140" dur="1" fill="hold">
                                          <p:stCondLst>
                                            <p:cond delay="0"/>
                                          </p:stCondLst>
                                        </p:cTn>
                                        <p:tgtEl>
                                          <p:spTgt spid="53"/>
                                        </p:tgtEl>
                                        <p:attrNameLst>
                                          <p:attrName>style.visibility</p:attrName>
                                        </p:attrNameLst>
                                      </p:cBhvr>
                                      <p:to>
                                        <p:strVal val="visible"/>
                                      </p:to>
                                    </p:set>
                                    <p:animEffect transition="in" filter="fade">
                                      <p:cBhvr>
                                        <p:cTn id="139" dur="420"/>
                                        <p:tgtEl>
                                          <p:spTgt spid="53"/>
                                        </p:tgtEl>
                                      </p:cBhvr>
                                    </p:animEffect>
                                  </p:childTnLst>
                                </p:cTn>
                              </p:par>
                              <p:par>
                                <p:cTn id="144" fill="hold">
                                  <p:stCondLst>
                                    <p:cond delay="2530"/>
                                  </p:stCondLst>
                                  <p:childTnLst>
                                    <p:set>
                                      <p:cBhvr>
                                        <p:cTn id="143" dur="1" fill="hold">
                                          <p:stCondLst>
                                            <p:cond delay="0"/>
                                          </p:stCondLst>
                                        </p:cTn>
                                        <p:tgtEl>
                                          <p:spTgt spid="54"/>
                                        </p:tgtEl>
                                        <p:attrNameLst>
                                          <p:attrName>style.visibility</p:attrName>
                                        </p:attrNameLst>
                                      </p:cBhvr>
                                      <p:to>
                                        <p:strVal val="visible"/>
                                      </p:to>
                                    </p:set>
                                    <p:animEffect transition="in" filter="fade">
                                      <p:cBhvr>
                                        <p:cTn id="142" dur="420"/>
                                        <p:tgtEl>
                                          <p:spTgt spid="54"/>
                                        </p:tgtEl>
                                      </p:cBhvr>
                                    </p:animEffect>
                                  </p:childTnLst>
                                </p:cTn>
                              </p:par>
                              <p:par>
                                <p:cTn id="147" fill="hold">
                                  <p:stCondLst>
                                    <p:cond delay="264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5" dur="420"/>
                                        <p:tgtEl>
                                          <p:spTgt spid="55"/>
                                        </p:tgtEl>
                                      </p:cBhvr>
                                    </p:animEffect>
                                  </p:childTnLst>
                                </p:cTn>
                              </p:par>
                              <p:par>
                                <p:cTn id="150" fill="hold">
                                  <p:stCondLst>
                                    <p:cond delay="2750"/>
                                  </p:stCondLst>
                                  <p:childTnLst>
                                    <p:set>
                                      <p:cBhvr>
                                        <p:cTn id="149" dur="1" fill="hold">
                                          <p:stCondLst>
                                            <p:cond delay="0"/>
                                          </p:stCondLst>
                                        </p:cTn>
                                        <p:tgtEl>
                                          <p:spTgt spid="56"/>
                                        </p:tgtEl>
                                        <p:attrNameLst>
                                          <p:attrName>style.visibility</p:attrName>
                                        </p:attrNameLst>
                                      </p:cBhvr>
                                      <p:to>
                                        <p:strVal val="visible"/>
                                      </p:to>
                                    </p:set>
                                    <p:animEffect transition="in" filter="fade">
                                      <p:cBhvr>
                                        <p:cTn id="148" dur="420"/>
                                        <p:tgtEl>
                                          <p:spTgt spid="56"/>
                                        </p:tgtEl>
                                      </p:cBhvr>
                                    </p:animEffect>
                                  </p:childTnLst>
                                </p:cTn>
                              </p:par>
                              <p:par>
                                <p:cTn id="153" fill="hold">
                                  <p:stCondLst>
                                    <p:cond delay="286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1" dur="420"/>
                                        <p:tgtEl>
                                          <p:spTgt spid="57"/>
                                        </p:tgtEl>
                                      </p:cBhvr>
                                    </p:animEffect>
                                  </p:childTnLst>
                                </p:cTn>
                              </p:par>
                              <p:par>
                                <p:cTn id="156" fill="hold">
                                  <p:stCondLst>
                                    <p:cond delay="2970"/>
                                  </p:stCondLst>
                                  <p:childTnLst>
                                    <p:set>
                                      <p:cBhvr>
                                        <p:cTn id="155" dur="1" fill="hold">
                                          <p:stCondLst>
                                            <p:cond delay="0"/>
                                          </p:stCondLst>
                                        </p:cTn>
                                        <p:tgtEl>
                                          <p:spTgt spid="58"/>
                                        </p:tgtEl>
                                        <p:attrNameLst>
                                          <p:attrName>style.visibility</p:attrName>
                                        </p:attrNameLst>
                                      </p:cBhvr>
                                      <p:to>
                                        <p:strVal val="visible"/>
                                      </p:to>
                                    </p:set>
                                    <p:animEffect transition="in" filter="fade">
                                      <p:cBhvr>
                                        <p:cTn id="154" dur="420"/>
                                        <p:tgtEl>
                                          <p:spTgt spid="58"/>
                                        </p:tgtEl>
                                      </p:cBhvr>
                                    </p:animEffect>
                                  </p:childTnLst>
                                </p:cTn>
                              </p:par>
                              <p:par>
                                <p:cTn id="159" fill="hold">
                                  <p:stCondLst>
                                    <p:cond delay="308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7" dur="420"/>
                                        <p:tgtEl>
                                          <p:spTgt spid="59"/>
                                        </p:tgtEl>
                                      </p:cBhvr>
                                    </p:animEffect>
                                  </p:childTnLst>
                                </p:cTn>
                              </p:par>
                              <p:par>
                                <p:cTn id="162" fill="hold">
                                  <p:stCondLst>
                                    <p:cond delay="3190"/>
                                  </p:stCondLst>
                                  <p:childTnLst>
                                    <p:set>
                                      <p:cBhvr>
                                        <p:cTn id="161" dur="1" fill="hold">
                                          <p:stCondLst>
                                            <p:cond delay="0"/>
                                          </p:stCondLst>
                                        </p:cTn>
                                        <p:tgtEl>
                                          <p:spTgt spid="60"/>
                                        </p:tgtEl>
                                        <p:attrNameLst>
                                          <p:attrName>style.visibility</p:attrName>
                                        </p:attrNameLst>
                                      </p:cBhvr>
                                      <p:to>
                                        <p:strVal val="visible"/>
                                      </p:to>
                                    </p:set>
                                    <p:animEffect transition="in" filter="fade">
                                      <p:cBhvr>
                                        <p:cTn id="160" dur="42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Compuertas Lógicas y Chips Serie 74XX</dc:title>
  <dc:subject>Electrónica Digital · Serie 74XX</dc:subject>
  <dc:creator>Presentación ampliada</dc:creator>
  <cp:keywords/>
  <dc:description>Versión ampliada a 30 diapositivas con transiciones y animaciones de entrada en cada lámina.</dc:description>
  <cp:lastModifiedBy>Steve Canny</cp:lastModifiedBy>
  <cp:revision>1</cp:revision>
  <dcterms:created xsi:type="dcterms:W3CDTF">2013-01-27T09:14:16Z</dcterms:created>
  <dcterms:modified xsi:type="dcterms:W3CDTF">2013-01-27T09:15:58Z</dcterms:modified>
  <cp:category/>
</cp:coreProperties>
</file>