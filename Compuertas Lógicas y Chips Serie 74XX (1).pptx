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Roboto"/>
      <ns0:bold ns1:id="rIdFont20"/>
      <ns0:regular ns1:id="rIdFont21"/>
    </ns0:embeddedFont>
    <ns0:embeddedFont>
      <ns0:font typeface="Roboto Mono"/>
      <ns0:bold ns1:id="rIdFont22"/>
      <ns0:regular ns1:id="rIdFont23"/>
    </ns0:embeddedFont>
    <ns0:embeddedFont>
      <ns0:font typeface="Poppins"/>
      <ns0:bold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6205681c-f352-49e3-8cca-291149126868.fntdata" /><ns0:Relationship Id="rIdFont21" Type="http://schemas.openxmlformats.org/officeDocument/2006/relationships/font" Target="fonts/ef76d2a8-cc91-4d86-877f-d3bcbaaa8b5a.fntdata" /><ns0:Relationship Id="rIdFont22" Type="http://schemas.openxmlformats.org/officeDocument/2006/relationships/font" Target="fonts/f074c390-5cfc-4e4b-9fc6-e4461278c1be.fntdata" /><ns0:Relationship Id="rIdFont23" Type="http://schemas.openxmlformats.org/officeDocument/2006/relationships/font" Target="fonts/1d00ef54-95c7-4e96-8676-6a1cc8250f75.fntdata" /><ns0:Relationship Id="rIdFont24" Type="http://schemas.openxmlformats.org/officeDocument/2006/relationships/font" Target="fonts/6e53695c-ef51-419f-8b31-f86e0317a21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986337" y="2516088"/>
            <a:ext cx="2219325" cy="304800"/>
          </a:xfrm>
          <a:prstGeom prst="roundRect">
            <a:avLst>
              <a:gd name="adj" fmla="val 1875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23221" y="2554188"/>
            <a:ext cx="25455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Roboto Mono"/>
              </a:rPr>
              <a:t>ELECTRÓNICA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01763" y="3059013"/>
            <a:ext cx="7788473" cy="6351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b="1" sz="4350" i="0" u="none">
                <a:solidFill>
                  <a:srgbClr val="FFFFFF"/>
                </a:solidFill>
                <a:latin typeface="Poppins"/>
              </a:rPr>
              <a:t>Compuertas Lógicas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9453" y="3884711"/>
            <a:ext cx="9513093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94A3B8"/>
                </a:solidFill>
                <a:latin typeface="Roboto"/>
              </a:rPr>
              <a:t>Guía Técnica: Serie 74XX, Chips, Diagramas, Hojas de Datos y Aplicaciones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674143"/>
            <a:ext cx="5334000" cy="2443162"/>
          </a:xfrm>
          <a:prstGeom prst="roundRect">
            <a:avLst>
              <a:gd name="adj" fmla="val 46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86500" y="2674143"/>
            <a:ext cx="5334000" cy="2443162"/>
          </a:xfrm>
          <a:prstGeom prst="roundRect">
            <a:avLst>
              <a:gd name="adj" fmla="val 46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997993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2997993"/>
            <a:ext cx="2000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20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369A1"/>
                </a:solidFill>
                <a:latin typeface="Poppins"/>
              </a:rPr>
              <a:t>Fundamentos de Lógica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950368"/>
            <a:ext cx="6275784" cy="333375"/>
          </a:xfrm>
          <a:prstGeom prst="rect">
            <a:avLst/>
          </a:prstGeom>
          <a:noFill/>
        </p:spPr>
        <p:txBody>
          <a:bodyPr wrap="none" lIns="32385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oppins"/>
              </a:rPr>
              <a:t>Tecnología TTL (Serie 74XX)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398043"/>
            <a:ext cx="48768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La familia TTL (Lógica Transistor-Transistor) opera con una tensión nominal de </a:t>
            </a:r>
            <a:r>
              <a:rPr b="1" sz="1275" i="0" u="none">
                <a:solidFill>
                  <a:srgbClr val="334155"/>
                </a:solidFill>
                <a:latin typeface="Roboto"/>
              </a:rPr>
              <a:t>5.0V DC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998118"/>
            <a:ext cx="48768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Los circuitos integrados estándar vienen en formato encapsulado </a:t>
            </a:r>
            <a:r>
              <a:rPr b="1" sz="1275" i="0" u="none">
                <a:solidFill>
                  <a:srgbClr val="334155"/>
                </a:solidFill>
                <a:latin typeface="Roboto"/>
              </a:rPr>
              <a:t>DIP-14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o DIP-16, conteniendo múltiples compuertas en un solo chip.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2950368"/>
            <a:ext cx="5629275" cy="333375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oppins"/>
              </a:rPr>
              <a:t>Niveles Lógicos Estándar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398043"/>
            <a:ext cx="5629275" cy="242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Nivel BAJO ('0'):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Tensión entre 0.0V y 0.8V.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755231"/>
            <a:ext cx="5629275" cy="242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Nivel ALTO ('1'):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Tensión entre 2.0V y 5.0V.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112418"/>
            <a:ext cx="48768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Proporcionan un margen de ruido inmune para garantizar un procesamiento de datos digital confiable.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1662112"/>
            <a:ext cx="2990850" cy="276225"/>
          </a:xfrm>
          <a:prstGeom prst="roundRect">
            <a:avLst>
              <a:gd name="adj" fmla="val 20689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2128837"/>
            <a:ext cx="5334000" cy="381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128837"/>
            <a:ext cx="38100" cy="381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291012"/>
            <a:ext cx="97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49300" y="4291012"/>
            <a:ext cx="97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27101" y="4291012"/>
            <a:ext cx="3378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667250"/>
            <a:ext cx="97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49300" y="4667250"/>
            <a:ext cx="97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27101" y="4667250"/>
            <a:ext cx="3378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5043487"/>
            <a:ext cx="97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9300" y="5043487"/>
            <a:ext cx="97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27101" y="5043487"/>
            <a:ext cx="3378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419725"/>
            <a:ext cx="97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9300" y="5419725"/>
            <a:ext cx="97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27101" y="5419725"/>
            <a:ext cx="3378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662112"/>
            <a:ext cx="5334000" cy="3619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62112"/>
            <a:ext cx="5334000" cy="3619500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71500" y="3562350"/>
          <a:ext cx="5333998" cy="1871662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977800"/>
                <a:gridCol w="977800"/>
                <a:gridCol w="3378398"/>
              </a:tblGrid>
              <a:tr h="374332"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FFFFFF"/>
                          </a:solidFill>
                          <a:latin typeface="Roboto Mono"/>
                        </a:rPr>
                        <a:t>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FFFFFF"/>
                          </a:solidFill>
                          <a:latin typeface="Roboto Mono"/>
                        </a:rPr>
                        <a:t>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FFFFFF"/>
                          </a:solidFill>
                          <a:latin typeface="Roboto Mono"/>
                        </a:rPr>
                        <a:t>Y (Salida)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74332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4332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4332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4334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71500" y="476250"/>
            <a:ext cx="11620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369A1"/>
                </a:solidFill>
                <a:latin typeface="Poppins"/>
              </a:rPr>
              <a:t>Compuerta AND (Chip 7408)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700212"/>
            <a:ext cx="2857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Roboto Mono"/>
              </a:rPr>
              <a:t>CHIP: 7408 / Quad 2-Input 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850" y="2205037"/>
            <a:ext cx="5162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oboto Mono"/>
              </a:rPr>
              <a:t>Expresión: Y = A ·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2605087"/>
            <a:ext cx="54292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Funcionamiento: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La salida es '1' únicamente si TODAS sus entradas están en nivel ALTO ('1').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3205162"/>
            <a:ext cx="6667500" cy="242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Tabla de Verdad: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5529262"/>
            <a:ext cx="54292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Aplicación: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Habilitadores de señal, sistemas de seguridad con confirmación múltiple.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53340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1409700"/>
            <a:ext cx="2895600" cy="276225"/>
          </a:xfrm>
          <a:prstGeom prst="roundRect">
            <a:avLst>
              <a:gd name="adj" fmla="val 20689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876425"/>
            <a:ext cx="5334000" cy="381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876425"/>
            <a:ext cx="38100" cy="381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681412"/>
            <a:ext cx="97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49300" y="3681412"/>
            <a:ext cx="97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27101" y="3681412"/>
            <a:ext cx="3378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057650"/>
            <a:ext cx="97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49300" y="4057650"/>
            <a:ext cx="97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27101" y="4057650"/>
            <a:ext cx="3378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433887"/>
            <a:ext cx="97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9300" y="4433887"/>
            <a:ext cx="97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27101" y="4433887"/>
            <a:ext cx="3378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810125"/>
            <a:ext cx="97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9300" y="4810125"/>
            <a:ext cx="97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27101" y="4810125"/>
            <a:ext cx="3378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71500" y="2952750"/>
          <a:ext cx="5333998" cy="1871662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977800"/>
                <a:gridCol w="977800"/>
                <a:gridCol w="3378398"/>
              </a:tblGrid>
              <a:tr h="374332"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FFFFFF"/>
                          </a:solidFill>
                          <a:latin typeface="Roboto Mono"/>
                        </a:rPr>
                        <a:t>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FFFFFF"/>
                          </a:solidFill>
                          <a:latin typeface="Roboto Mono"/>
                        </a:rPr>
                        <a:t>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FFFFFF"/>
                          </a:solidFill>
                          <a:latin typeface="Roboto Mono"/>
                        </a:rPr>
                        <a:t>Y (Salida)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74332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4332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4332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4334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1500" y="476250"/>
            <a:ext cx="5700712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369A1"/>
                </a:solidFill>
                <a:latin typeface="Poppins"/>
              </a:rPr>
              <a:t>Compuerta OR (Chip 7432)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47800"/>
            <a:ext cx="2762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Roboto Mono"/>
              </a:rPr>
              <a:t>CHIP: 7432 / Quad 2-Input 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1952625"/>
            <a:ext cx="5162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oboto Mono"/>
              </a:rPr>
              <a:t>Expresión: Y = A +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2352675"/>
            <a:ext cx="54292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Funcionamiento: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La salida es '1' si al menos UNA de las entradas se encuentra en '1'.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919662"/>
            <a:ext cx="54292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Aplicación: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Sistemas de alarma multisensor (si se activa el sensor A o el B, suena la alarma).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102643"/>
            <a:ext cx="5334000" cy="3586162"/>
          </a:xfrm>
          <a:prstGeom prst="roundRect">
            <a:avLst>
              <a:gd name="adj" fmla="val 31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86500" y="2102643"/>
            <a:ext cx="5334000" cy="3586162"/>
          </a:xfrm>
          <a:prstGeom prst="roundRect">
            <a:avLst>
              <a:gd name="adj" fmla="val 31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2378868"/>
            <a:ext cx="3086100" cy="276225"/>
          </a:xfrm>
          <a:prstGeom prst="roundRect">
            <a:avLst>
              <a:gd name="adj" fmla="val 20689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2845593"/>
            <a:ext cx="4781550" cy="381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7725" y="2845593"/>
            <a:ext cx="38100" cy="381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2725" y="3555206"/>
            <a:ext cx="164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3406" y="3555206"/>
            <a:ext cx="164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44087" y="3555206"/>
            <a:ext cx="15001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62725" y="3931443"/>
            <a:ext cx="164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03406" y="3931443"/>
            <a:ext cx="164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44087" y="3931443"/>
            <a:ext cx="15001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62725" y="4307681"/>
            <a:ext cx="164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3406" y="4307681"/>
            <a:ext cx="164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44087" y="4307681"/>
            <a:ext cx="15001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62725" y="4683918"/>
            <a:ext cx="164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03406" y="4683918"/>
            <a:ext cx="16406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44087" y="4683918"/>
            <a:ext cx="15001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562725" y="2826543"/>
          <a:ext cx="4781549" cy="1871662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40681"/>
                <a:gridCol w="1640681"/>
                <a:gridCol w="1500187"/>
              </a:tblGrid>
              <a:tr h="374332"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FFFFFF"/>
                          </a:solidFill>
                          <a:latin typeface="Roboto Mono"/>
                        </a:rPr>
                        <a:t>Entrada 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FFFFFF"/>
                          </a:solidFill>
                          <a:latin typeface="Roboto Mono"/>
                        </a:rPr>
                        <a:t>Entrada 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FFFFFF"/>
                          </a:solidFill>
                          <a:latin typeface="Roboto Mono"/>
                        </a:rPr>
                        <a:t>Salida 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74332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4332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4332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4334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71500" y="476250"/>
            <a:ext cx="11620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369A1"/>
                </a:solidFill>
                <a:latin typeface="Poppins"/>
              </a:rPr>
              <a:t>Compuerta NAND (Chip 7400)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" y="2416968"/>
            <a:ext cx="2952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Roboto Mono"/>
              </a:rPr>
              <a:t>CHIP: 7400 / Quad 2-Input NAND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075" y="2921793"/>
            <a:ext cx="4610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oboto Mono"/>
              </a:rPr>
              <a:t>Expresión: Y = (A · B)'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321843"/>
            <a:ext cx="48768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Compuerta Universal: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Es la inversión de la AND. Produce un '0' solo cuando todas sus entradas son '1'.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3921918"/>
            <a:ext cx="48768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Permite construir cualquier otra compuerta lógica (AND, OR, NOT, etc.) usando solo chips 7400.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2725" y="2378868"/>
            <a:ext cx="56292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oppins"/>
              </a:rPr>
              <a:t>Tabla de Verdad NAND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2725" y="4812506"/>
            <a:ext cx="48768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Aplicaciones: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Memorias latch, osciladores de reloj digital y decodificadores.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305050"/>
            <a:ext cx="3492549" cy="3181350"/>
          </a:xfrm>
          <a:prstGeom prst="roundRect">
            <a:avLst>
              <a:gd name="adj" fmla="val 35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9799" y="2305050"/>
            <a:ext cx="3492549" cy="3181350"/>
          </a:xfrm>
          <a:prstGeom prst="roundRect">
            <a:avLst>
              <a:gd name="adj" fmla="val 35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28099" y="2305050"/>
            <a:ext cx="3492549" cy="3181350"/>
          </a:xfrm>
          <a:prstGeom prst="roundRect">
            <a:avLst>
              <a:gd name="adj" fmla="val 35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3181350"/>
            <a:ext cx="2940099" cy="276225"/>
          </a:xfrm>
          <a:prstGeom prst="roundRect">
            <a:avLst>
              <a:gd name="adj" fmla="val 20689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3648075"/>
            <a:ext cx="2940099" cy="381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7725" y="3648075"/>
            <a:ext cx="38100" cy="381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600325"/>
            <a:ext cx="28575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024" y="2600325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324" y="2600325"/>
            <a:ext cx="47625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20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369A1"/>
                </a:solidFill>
                <a:latin typeface="Poppins"/>
              </a:rPr>
              <a:t>Compuerta NOR (Chip 7402)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219450"/>
            <a:ext cx="280674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Roboto Mono"/>
              </a:rPr>
              <a:t>CHIP 7402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3724275"/>
            <a:ext cx="276864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oboto Mono"/>
              </a:rPr>
              <a:t>Y = (A + B)'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124325"/>
            <a:ext cx="303534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Inversa de la compuerta OR. Produce un '1' únicamente cuando ambas entradas están en '0'. Es la segunda compuerta universal.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024" y="3181350"/>
            <a:ext cx="385888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oppins"/>
              </a:rPr>
              <a:t>Tabla de Verdad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024" y="3629025"/>
            <a:ext cx="3675124" cy="242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A=0, B=0 → </a:t>
            </a:r>
            <a:r>
              <a:rPr b="1" sz="1275" i="0" u="none">
                <a:solidFill>
                  <a:srgbClr val="334155"/>
                </a:solidFill>
                <a:latin typeface="Roboto"/>
              </a:rPr>
              <a:t>Y=1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024" y="3986212"/>
            <a:ext cx="3675124" cy="242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A=0, B=1 → </a:t>
            </a:r>
            <a:r>
              <a:rPr b="1" sz="1275" i="0" u="none">
                <a:solidFill>
                  <a:srgbClr val="334155"/>
                </a:solidFill>
                <a:latin typeface="Roboto"/>
              </a:rPr>
              <a:t>Y=0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024" y="4343400"/>
            <a:ext cx="3675124" cy="242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A=1, B=0 → </a:t>
            </a:r>
            <a:r>
              <a:rPr b="1" sz="1275" i="0" u="none">
                <a:solidFill>
                  <a:srgbClr val="334155"/>
                </a:solidFill>
                <a:latin typeface="Roboto"/>
              </a:rPr>
              <a:t>Y=0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024" y="4700587"/>
            <a:ext cx="3675124" cy="242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A=1, B=1 → </a:t>
            </a:r>
            <a:r>
              <a:rPr b="1" sz="1275" i="0" u="none">
                <a:solidFill>
                  <a:srgbClr val="334155"/>
                </a:solidFill>
                <a:latin typeface="Roboto"/>
              </a:rPr>
              <a:t>Y=0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4324" y="3181350"/>
            <a:ext cx="37876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oppins"/>
              </a:rPr>
              <a:t>Configuración Pinout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4324" y="3629025"/>
            <a:ext cx="303534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Nota de Hoja de Datos: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A diferencia de la 7400, en el chip 7402 las salidas están invertidas internamente (Salidas en pines 1, 4, 10, 13).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814637"/>
            <a:ext cx="5334000" cy="2162175"/>
          </a:xfrm>
          <a:prstGeom prst="roundRect">
            <a:avLst>
              <a:gd name="adj" fmla="val 528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86500" y="2576512"/>
            <a:ext cx="5334000" cy="390525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86500" y="2576512"/>
            <a:ext cx="38100" cy="390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20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369A1"/>
                </a:solidFill>
                <a:latin typeface="Poppins"/>
              </a:rPr>
              <a:t>Compuerta XOR / EX-OR (Chip 7486)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2906" y="3205162"/>
            <a:ext cx="5691187" cy="1047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0284C7"/>
                </a:solidFill>
                <a:latin typeface="Roboto Mono"/>
              </a:rPr>
              <a:t>7486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906" y="4348162"/>
            <a:ext cx="56911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369A1"/>
                </a:solidFill>
                <a:latin typeface="Roboto"/>
              </a:rPr>
              <a:t>Quad 2-Input EX-OR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2652712"/>
            <a:ext cx="51625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oboto Mono"/>
              </a:rPr>
              <a:t>Expresión: Y = A ⊕ B = A'B + AB'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3062287"/>
            <a:ext cx="59055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oppins"/>
              </a:rPr>
              <a:t>OR Exclusiva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3509962"/>
            <a:ext cx="54292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Regla de Salida: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Genera un '1' si y solo si las entradas son </a:t>
            </a:r>
            <a:r>
              <a:rPr b="1" sz="1275" i="0" u="none">
                <a:solidFill>
                  <a:srgbClr val="334155"/>
                </a:solidFill>
                <a:latin typeface="Roboto"/>
              </a:rPr>
              <a:t>diferentes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entre sí.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4110037"/>
            <a:ext cx="5905500" cy="242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Tabla de Verdad: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(0,0)→0 | (0,1)→1 | (1,0)→1 | (1,1)→0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4467225"/>
            <a:ext cx="54292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Aplicaciones Principales: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Sumadores binarios (Half-Adders y Full-Adders), generadores/comprobadores de paridad y generadores de pseudo-ruido.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102643"/>
            <a:ext cx="5334000" cy="3586162"/>
          </a:xfrm>
          <a:prstGeom prst="roundRect">
            <a:avLst>
              <a:gd name="adj" fmla="val 31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86500" y="2102643"/>
            <a:ext cx="5334000" cy="3586162"/>
          </a:xfrm>
          <a:prstGeom prst="roundRect">
            <a:avLst>
              <a:gd name="adj" fmla="val 31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2378868"/>
            <a:ext cx="3181350" cy="276225"/>
          </a:xfrm>
          <a:prstGeom prst="roundRect">
            <a:avLst>
              <a:gd name="adj" fmla="val 20689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2845593"/>
            <a:ext cx="4781550" cy="390525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7725" y="2845593"/>
            <a:ext cx="38100" cy="390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2725" y="3555206"/>
            <a:ext cx="87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39322" y="3555206"/>
            <a:ext cx="87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15920" y="3555206"/>
            <a:ext cx="30283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62725" y="3931443"/>
            <a:ext cx="87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39322" y="3931443"/>
            <a:ext cx="87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15920" y="3931443"/>
            <a:ext cx="30283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62725" y="4307681"/>
            <a:ext cx="87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39322" y="4307681"/>
            <a:ext cx="87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15920" y="4307681"/>
            <a:ext cx="30283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62725" y="4683918"/>
            <a:ext cx="87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39322" y="4683918"/>
            <a:ext cx="87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15920" y="4683918"/>
            <a:ext cx="30283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562725" y="2826543"/>
          <a:ext cx="4781548" cy="1871662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876597"/>
                <a:gridCol w="876597"/>
                <a:gridCol w="3028354"/>
              </a:tblGrid>
              <a:tr h="374332"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FFFFFF"/>
                          </a:solidFill>
                          <a:latin typeface="Roboto Mono"/>
                        </a:rPr>
                        <a:t>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FFFFFF"/>
                          </a:solidFill>
                          <a:latin typeface="Roboto Mono"/>
                        </a:rPr>
                        <a:t>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FFFFFF"/>
                          </a:solidFill>
                          <a:latin typeface="Roboto Mono"/>
                        </a:rPr>
                        <a:t>Y (Salida)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74332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4332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4332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74334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334155"/>
                          </a:solidFill>
                          <a:latin typeface="Roboto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71500" y="476250"/>
            <a:ext cx="11620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369A1"/>
                </a:solidFill>
                <a:latin typeface="Poppins"/>
              </a:rPr>
              <a:t>Compuerta XNOR / NEX-OR (Chip 74266)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" y="2416968"/>
            <a:ext cx="3048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Roboto Mono"/>
              </a:rPr>
              <a:t>CHIP: 74266 / Quad 2-Input XNOR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075" y="2921793"/>
            <a:ext cx="46101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oboto Mono"/>
              </a:rPr>
              <a:t>Expresión: Y = (A ⊕ B)'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331368"/>
            <a:ext cx="48768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Comparador de Igualdad: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La salida es '1' únicamente cuando ambas entradas poseen el mismo nivel lógico (ambas 0 o ambas 1).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4174331"/>
            <a:ext cx="48768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Colector Abierto (Open Collector):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Requiere resistencia pull-up externa en los pines de salida para operar en nivel alto TTL.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2725" y="2378868"/>
            <a:ext cx="56292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oppins"/>
              </a:rPr>
              <a:t>Tabla de Verdad y Aplicación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2725" y="4812506"/>
            <a:ext cx="48768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Aplicación: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Detectores de igualdad lógica, comparadores de magnitud y verificadores de código binario.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105025"/>
            <a:ext cx="20846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56135" y="2105025"/>
            <a:ext cx="19804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36591" y="2105025"/>
            <a:ext cx="18892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25815" y="2105025"/>
            <a:ext cx="20194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5264" y="2105025"/>
            <a:ext cx="30752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781300"/>
            <a:ext cx="20846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6135" y="2781300"/>
            <a:ext cx="19804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36591" y="2781300"/>
            <a:ext cx="18892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25815" y="2781300"/>
            <a:ext cx="20194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5264" y="2781300"/>
            <a:ext cx="30752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3457575"/>
            <a:ext cx="20846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6135" y="3457575"/>
            <a:ext cx="19804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36591" y="3457575"/>
            <a:ext cx="18892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5815" y="3457575"/>
            <a:ext cx="20194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45264" y="3457575"/>
            <a:ext cx="30752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4133850"/>
            <a:ext cx="20846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56135" y="4133850"/>
            <a:ext cx="19804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36591" y="4133850"/>
            <a:ext cx="18892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25815" y="4133850"/>
            <a:ext cx="20194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5264" y="4133850"/>
            <a:ext cx="30752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" y="4810125"/>
            <a:ext cx="20846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6135" y="4810125"/>
            <a:ext cx="19804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36591" y="4810125"/>
            <a:ext cx="18892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25815" y="4810125"/>
            <a:ext cx="20194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45264" y="4810125"/>
            <a:ext cx="30752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500" y="5486400"/>
            <a:ext cx="20846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56135" y="5486400"/>
            <a:ext cx="19804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36591" y="5486400"/>
            <a:ext cx="18892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25815" y="5486400"/>
            <a:ext cx="20194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64" y="5486400"/>
            <a:ext cx="30752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1500" y="6162675"/>
            <a:ext cx="20846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56135" y="6162675"/>
            <a:ext cx="19804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36591" y="6162675"/>
            <a:ext cx="18892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25815" y="6162675"/>
            <a:ext cx="20194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45264" y="6162675"/>
            <a:ext cx="30752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27585" y="2252662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27585" y="2928937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827585" y="3605212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27585" y="4281487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827585" y="4957762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827585" y="5634037"/>
            <a:ext cx="704850" cy="304800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571500" y="1614487"/>
          <a:ext cx="11048997" cy="45624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84635"/>
                <a:gridCol w="1980455"/>
                <a:gridCol w="1889224"/>
                <a:gridCol w="2019448"/>
                <a:gridCol w="3075235"/>
              </a:tblGrid>
              <a:tr h="65178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Roboto"/>
                        </a:rPr>
                        <a:t>Compuerta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Roboto"/>
                        </a:rPr>
                        <a:t>Número de Chip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Roboto"/>
                        </a:rPr>
                        <a:t>Función Lógica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Roboto"/>
                        </a:rPr>
                        <a:t>Compuertas x 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Roboto"/>
                        </a:rPr>
                        <a:t>Pines Clave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51782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AND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Y = A · 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4 (Quad)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VCC: Pin 14 / GND: Pin 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1782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Y = A + 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4 (Quad)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VCC: Pin 14 / GND: Pin 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51782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NAND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Y = (A · B)'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4 (Quad)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VCC: Pin 14 / GND: Pin 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1782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NOR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Y = (A + B)'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4 (Quad)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VCC: Pin 14 / GND: Pin 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51782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XOR (EX-OR)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Y = A ⊕ 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4 (Quad)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VCC: Pin 14 / GND: Pin 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1783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XNOR (NEX-OR)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Y = (A ⊕ B)'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4 (Quad)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Roboto"/>
                        </a:rPr>
                        <a:t>Requiere Pull-Up Resistors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571500" y="476250"/>
            <a:ext cx="11620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369A1"/>
                </a:solidFill>
                <a:latin typeface="Poppins"/>
              </a:rPr>
              <a:t>Matriz Comparativa de Chips Serie 74XX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41885" y="2290762"/>
            <a:ext cx="666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Roboto Mono"/>
              </a:rPr>
              <a:t>7408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41885" y="2967037"/>
            <a:ext cx="666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Roboto Mono"/>
              </a:rPr>
              <a:t>7432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41885" y="3643312"/>
            <a:ext cx="666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Roboto Mono"/>
              </a:rPr>
              <a:t>7400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41885" y="4319587"/>
            <a:ext cx="666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Roboto Mono"/>
              </a:rPr>
              <a:t>7402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41885" y="4995862"/>
            <a:ext cx="666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Roboto Mono"/>
              </a:rPr>
              <a:t>7486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41885" y="5672137"/>
            <a:ext cx="762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Roboto Mono"/>
              </a:rPr>
              <a:t>74266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1905000"/>
            <a:ext cx="3492549" cy="3981450"/>
          </a:xfrm>
          <a:prstGeom prst="roundRect">
            <a:avLst>
              <a:gd name="adj" fmla="val 3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9799" y="1905000"/>
            <a:ext cx="3492549" cy="3981450"/>
          </a:xfrm>
          <a:prstGeom prst="roundRect">
            <a:avLst>
              <a:gd name="adj" fmla="val 3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28099" y="1905000"/>
            <a:ext cx="3492549" cy="3981450"/>
          </a:xfrm>
          <a:prstGeom prst="roundRect">
            <a:avLst>
              <a:gd name="adj" fmla="val 3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105025"/>
            <a:ext cx="3092499" cy="1905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824" y="2105025"/>
            <a:ext cx="3092499" cy="1905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8124" y="2105025"/>
            <a:ext cx="3092499" cy="1905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105025"/>
            <a:ext cx="3092499" cy="1905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824" y="2105025"/>
            <a:ext cx="3092499" cy="1905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105025"/>
            <a:ext cx="3092499" cy="1905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20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369A1"/>
                </a:solidFill>
                <a:latin typeface="Poppins"/>
              </a:rPr>
              <a:t>Aplicaciones en Electrónica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321" y="4152900"/>
            <a:ext cx="405890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Poppins"/>
              </a:rPr>
              <a:t>Sumador Binario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" y="4600575"/>
            <a:ext cx="3865624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Combina compuertas XOR (para la suma) y AND (para el acarreo o carryout) permitiendo la aritmética en procesadores.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6621" y="4152900"/>
            <a:ext cx="405890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Poppins"/>
              </a:rPr>
              <a:t>Control de Seguridad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3262" y="4600575"/>
            <a:ext cx="3865624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Sistemas combinacionales con NAND y NOR para interbloqueos de seguridad en maquinaria industrial.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4921" y="4152900"/>
            <a:ext cx="405890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Poppins"/>
              </a:rPr>
              <a:t>Multiplexores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1561" y="4600575"/>
            <a:ext cx="3865624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Selección de múltiples líneas de datos hacia un solo canal utilizando matrices de compuertas AND u 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90862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05200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19537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33875"/>
            <a:ext cx="123825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20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369A1"/>
                </a:solidFill>
                <a:latin typeface="Poppins"/>
              </a:rPr>
              <a:t>Hojas de Datos: Parámetros TTL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7050"/>
            <a:ext cx="11277600" cy="242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Tensión de Alimentación (VCC):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4.75V a 5.25V DC (Nominal 5.0V). Superar 7V puede destruir el chip.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81387"/>
            <a:ext cx="11277600" cy="242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Corriente y Fan-Out: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La capacidad típica de salida (Fan-out) es de 10 entradas TTL estándar accionadas por una sola salida.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95725"/>
            <a:ext cx="11277600" cy="242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Tiempo de Retardo de Propagación ($t_{pd}$):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Promedio de 8ns a 15ns en la subfamilia 74LS (Low-power Schottky).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10062"/>
            <a:ext cx="11277600" cy="242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Rango de Temperatura Operativa: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Serie 74XX (Comercial): 0°C a +70°C. Serie 54XX (Militar): -55°C a +125°C.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404812" y="476250"/>
            <a:ext cx="1300162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FFFFF"/>
                </a:solidFill>
                <a:latin typeface="Poppins"/>
              </a:rPr>
              <a:t>¿Preguntas o Dudas?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404812" y="1695450"/>
            <a:ext cx="130016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94A3B8"/>
                </a:solidFill>
                <a:latin typeface="Roboto"/>
              </a:rPr>
              <a:t>Presentación de Electrónica Digital y Compuertas Lógicas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404812" y="2419350"/>
            <a:ext cx="130016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284C7"/>
                </a:solidFill>
                <a:latin typeface="Roboto Mono"/>
              </a:rPr>
              <a:t>Serie 74XX TTL • Hojas de Datos • Lógica Combinacional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6574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4290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4194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4194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1910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41910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0350"/>
            <a:ext cx="857250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71875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29125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20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369A1"/>
                </a:solidFill>
                <a:latin typeface="Poppins"/>
              </a:rPr>
              <a:t>Image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807493"/>
            <a:ext cx="1052512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https://www.electronics-lab.com/wp-content/uploads/2021/02/1280px-Three_IC_circuit_chips-1024x832.jpg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3040856"/>
            <a:ext cx="10525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www.electronics-lab.com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3579018"/>
            <a:ext cx="1052512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https://hackster.imgix.net/uploads/attachments/821123/blob_jrNv1nOiz9.blob?auto=compress&amp;w=1600&amp;h=1200&amp;fit=min&amp;fm=jpg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812381"/>
            <a:ext cx="10525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www.hackster.io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4343400"/>
            <a:ext cx="100488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https://img.magnific.com/premium-photo/silicon-semiconductor-wafer-closeup-electronics-wafer-also-called-slice-substrate-is-thin-slice-semiconductor-crystalline-silicon-used-fabrication-integrated-circuits_564276-13098.jpg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4762500"/>
            <a:ext cx="10525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www.magnific.com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