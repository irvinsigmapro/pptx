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Presentación de apertura. Explicar el objetivo: identificar cualquier puerto por su forma y color, y conocer su velocidad, versiones y usos. Cada lámina tiene transiciones y animaciones de entrada.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Usar esta lámina como mapa de navegación. Los bloques 1 y 3 son los más extensos.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Apertura del bloque 1. Los cinco puertos que definieron la conectividad de datos desde los años 80 hasta hoy.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Empezar por el puerto más común. Preguntar al grupo quién sabe qué significa el interior azul de un USB.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Recordar que el color identifica la versión en conectores Type-A; en USB-C hay que leer la serigrafía o la documentación del equipo.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Enseñar los conectores físicos si hay oportunidad; la diferencia entre Mini-B y Micro-B es la más difícil de reconocer a simple vista.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Tabla clave de la sección. Destacar el lío de nombres comerciales de 2013-2017 y que la velocidad la marca el más lento de los dos extremos.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Completar la ficha del USB con estos datos que suelen faltar en las guías básicas.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Mencionar que los servicios técnicos de red aún piden «cable de consola» RS-232: es de los pocos puertos que no desaparece.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Desglosar el significado de DTE/DCE y el cable null modem (cruza TXD↔RXD).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Comparar la velocidad con USB 2.0 para explicar por qué el paralelo desapareció.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Thunderbolt 4 exige 40 Gbps y 2 pantallas 4K; Thunderbolt 5 (2023) duplica el ancho de banda para pantallas 8K y flujos de trabajo de creación.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Enfatizar que Thunderbolt 4 y USB4 comparten tecnología, pero Thunderbolt exige certificación Intel/USB-IF con mínimos más estrictos.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El modo isócrono de FireWire era su gran ventaja sobre USB 2.0 para vídeo; hoy ese rol lo cumple USB con UVC o Thunderbolt.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Bloque breve: los tres puertos de entrada que se usaron antes de la revolución USB.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Preguntar por qué algunos gamers siguen prefiriendo PS/2: sin polling, interrupción directa y sin límite de teclas simultáneas.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El conector DIN de 5 pines también se usó para MIDI en instrumentos musicales: mismo conector, protocolo distinto (31.25 kbaud).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El gameport compartía IRQ con la tarjeta de sonido; los conflictos de recursos eran la pesadilla clásica de la era Windows 95.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El bloque más extenso: seis puertos de video y una tabla comparativa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VGA sigue en muchos proyectores de aula; el adaptador HDMI→VGA activo necesita convertidor digital-a-analógico, no basta un cable pasivo.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Mostrar la diferencia física de pines entre DVI-I y DVI-D: los cuatro pines analógicos alrededor de la blade son la clave visual.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HDMI 2.1 añade VRR y ALLM (modo automático de baja latencia) — clave para consolas de nueva generación.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El salto de 2.0 a 2.1 es el más grande: pasa de 18 a 48 Gbps con codificación FRL.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Relacionar eARC con los soundbars modernos; sin eARC el audio HD se pierde.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DisplayPort es el preferido en PC: más ancho de banda que HDMI 2.0 y sin cuotas de licencia; HDMI domina en TV y consolas.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Las cifras exactas por carril: HBR2 = 5.4 Gbps × 4 carriles; UHBR20 = 20 Gbps ×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Ejercicio visual: la mejora S-Video vs compuesto se nota en los bordes de texto blanco sobre fondo de color.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Orden histórico de calidad: compuesto &lt; S-Video &lt; VGA/componente &lt; digital.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Tabla de cierre del bloque 3; útil para elegir el cable correcto en un mantenimiento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Las redes definen la conectividad moderna; diferenciar bien RJ-45 y RJ-11.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En el laboratorio: comprobar el LED de enlace verde es el primer diagnóstico de una conexión de 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Relacionar con los LEDs del puerto: enlace verde fijo = capa física correcta.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Demostrar con conectores físicos la diferencia de anchura es la forma más eficaz de fijarlo.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El dial-up ocupaba la línea telefónica: por eso aparecieron los módems de segunda línea y más tarde ADSL con splitter.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El color del cable de fibra indica el tipo: amarillo = monomodo, aqua/óptico túrbido = multimodo.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Cerrar el bloque de redes con la escala de velocidades del datacenter moderno.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El audio analógico convive con el digital: reconocer los colores es la clave.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Repasar el código de colores completo — el gris de los laterales es el que más se olvida.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Tabla práctica: recorrerla con la placa madre real de referencia si existe.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La luz roja visible es un buen indicador de funcionamiento; si no brilla, el equipo está apagado o el cable está roto.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Comparar con el TOSLINK: mismo protocolo, distinta inmunidad al ruido.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Conclusión práctica: coaxial para calidad eléctrica pura; óptico para aislar masas y evitar zumbidos.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Almacenamiento externo: cuando USB no era suficientemente rápido nació eSATA.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El gran defecto del eSATA era la falta de alimentación; por eso se inventó eSATAp, el conector combo que se ve en placas de 2008-2012.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Conclusión de bloque: eSATA fue una solución excelente a un problema que USB 3.0 acabó resolviendo de forma más universal.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Enseñar la diferencia física: una microSD UHS-II tiene contactos extra y solo rinde a tope en un lector UHS-II.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Las clases se acumulan: una SDXC UHS-II V90 es compatible con lectores UHS-I (a velocidad UHS-I).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Último bloque: el único puerto inalámbrico de la guía y el repaso general.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Demostrar el funcionamiento: la cámara del teléfono ve la luz infrarroja parpadeante del mando a distancia aunque el ojo no la perciba.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Cierre técnico de IrDA: hoy solo aparece en equipos industriales y retro.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Tabla-resumen de toda la guía; ideal para repaso antes de un examen o certificación de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Chuleta final para memorizar por asociación de colores.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Repaso de los pares de conectores que más errores generan en soporte técnico.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Recorrido cronológico para situar cada puerto en su época.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Invitar a consultar el glosario durante la presentación; no hace falta memorizarlo.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Cierre: resumir que la identificación visual (forma + color) resuelve el 90 % de los casos, y que las versiones determinan la velocidad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hero_ports.jpg"/>
          <p:cNvPicPr>
            <a:picLocks noChangeAspect="1"/>
          </p:cNvPicPr>
          <p:nvPr/>
        </p:nvPicPr>
        <p:blipFill>
          <a:blip r:embed="rId2"/>
          <a:srcRect l="24424" r="24424"/>
          <a:stretch>
            <a:fillRect/>
          </a:stretch>
        </p:blipFill>
        <p:spPr>
          <a:xfrm>
            <a:off x="5760720" y="0"/>
            <a:ext cx="6431249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60720" y="0"/>
            <a:ext cx="6431249" cy="6858000"/>
          </a:xfrm>
          <a:prstGeom prst="rect">
            <a:avLst/>
          </a:prstGeom>
          <a:solidFill>
            <a:srgbClr val="0A101E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760720" y="0"/>
            <a:ext cx="502920" cy="6858000"/>
          </a:xfrm>
          <a:prstGeom prst="rect">
            <a:avLst/>
          </a:prstGeom>
          <a:solidFill>
            <a:srgbClr val="0A101E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-548640" y="2651760"/>
            <a:ext cx="5486400" cy="548640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969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777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2D3EE"/>
                </a:solidFill>
                <a:latin typeface="Consolas"/>
              </a:rPr>
              <a:t>GUÍA COMPLETA Y DETALLADA · HARDWARE · IDENTIFICACIÓN Y ESPECIFICACIONES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170432"/>
            <a:ext cx="566928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4400" b="1">
                <a:solidFill>
                  <a:srgbClr val="EDF3FC"/>
                </a:solidFill>
                <a:latin typeface="Segoe UI Semibold"/>
              </a:rPr>
              <a:t>Puertos de Comunicación de PC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3310128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C0CDE2"/>
                </a:solidFill>
                <a:latin typeface="Segoe UI"/>
              </a:rPr>
              <a:t>Guía completa y detallada de todas las interfaces de una computadora: forma, color de identificación, velocidades, versiones y usos reales.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4315968"/>
            <a:ext cx="137160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75488" y="4498848"/>
            <a:ext cx="5394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8B9CBB"/>
                </a:solidFill>
                <a:latin typeface="Segoe UI"/>
              </a:rPr>
              <a:t>Recorrido por los 23 puertos clásicos y modernos —USB, RS-232, LPT, Thunderbolt, FireWire, PS/2, DIN, Game Port, VGA, DVI, HDMI, DisplayPort, S-Video, compuesto, RJ-45, RJ-11, SFP, audio 3.5 mm, TOSLINK, S/PDIF, eSATA, tarjetas SD e IrDA— con diagramas de identificación, códigos de colores y datos técnicos completos.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" y="5257800"/>
            <a:ext cx="1284731" cy="914400"/>
          </a:xfrm>
          <a:prstGeom prst="roundRect">
            <a:avLst>
              <a:gd name="adj" fmla="val 5693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03504" y="5367528"/>
            <a:ext cx="10286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22D3EE"/>
                </a:solidFill>
                <a:latin typeface="Consolas"/>
              </a:rPr>
              <a:t>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5769864"/>
            <a:ext cx="102869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documentados a detalle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06524" y="5257800"/>
            <a:ext cx="1284731" cy="914400"/>
          </a:xfrm>
          <a:prstGeom prst="roundRect">
            <a:avLst>
              <a:gd name="adj" fmla="val 5693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034540" y="5367528"/>
            <a:ext cx="10286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22D3EE"/>
                </a:solidFill>
                <a:latin typeface="Consola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34540" y="5769864"/>
            <a:ext cx="102869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8B9CBB"/>
                </a:solidFill>
                <a:latin typeface="Segoe UI"/>
              </a:rPr>
              <a:t>bloques temáticos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59" y="5257800"/>
            <a:ext cx="1284731" cy="914400"/>
          </a:xfrm>
          <a:prstGeom prst="roundRect">
            <a:avLst>
              <a:gd name="adj" fmla="val 5693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465575" y="5367528"/>
            <a:ext cx="10286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22D3EE"/>
                </a:solidFill>
                <a:latin typeface="Consolas"/>
              </a:rPr>
              <a:t>25+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5575" y="5769864"/>
            <a:ext cx="102869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8B9CBB"/>
                </a:solidFill>
                <a:latin typeface="Segoe UI"/>
              </a:rPr>
              <a:t>diagramas de identificación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68596" y="5257800"/>
            <a:ext cx="1284731" cy="914400"/>
          </a:xfrm>
          <a:prstGeom prst="roundRect">
            <a:avLst>
              <a:gd name="adj" fmla="val 5693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896612" y="5367528"/>
            <a:ext cx="10286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22D3EE"/>
                </a:solidFill>
                <a:latin typeface="Consolas"/>
              </a:rPr>
              <a:t>100+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6612" y="5769864"/>
            <a:ext cx="102869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8B9CBB"/>
                </a:solidFill>
                <a:latin typeface="Segoe UI"/>
              </a:rPr>
              <a:t>datos técnicos verificables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75488" y="64465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 ·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01 / 56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4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5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22D3EE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D3EE"/>
                </a:solidFill>
                <a:latin typeface="Consolas"/>
              </a:rPr>
              <a:t>01 · PUERTOS DE USO GENERAL Y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Contenido de la guía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Siete bloques temáticos, de los puertos de datos generales a las interfaces inalámbricas.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02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401464" cy="320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463040"/>
            <a:ext cx="3625077" cy="1481328"/>
          </a:xfrm>
          <a:prstGeom prst="roundRect">
            <a:avLst>
              <a:gd name="adj" fmla="val 2522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75488" y="1463040"/>
            <a:ext cx="45720" cy="14813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76656" y="1609344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22D3EE"/>
                </a:solidFill>
                <a:latin typeface="Consolas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1645920"/>
            <a:ext cx="257351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DF3FC"/>
                </a:solidFill>
                <a:latin typeface="Segoe UI Semibold"/>
              </a:rPr>
              <a:t>Puertos de uso general y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2176272"/>
            <a:ext cx="322274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USB, RS-232, LPT, Thunderbolt y FireWire: transmisión de datos, alimentación y video.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2651760"/>
            <a:ext cx="32227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B9CBB"/>
                </a:solidFill>
                <a:latin typeface="Consolas"/>
              </a:rPr>
              <a:t>Diapositivas 3 – 14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3445" y="1463040"/>
            <a:ext cx="3625077" cy="1481328"/>
          </a:xfrm>
          <a:prstGeom prst="roundRect">
            <a:avLst>
              <a:gd name="adj" fmla="val 2522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283445" y="1463040"/>
            <a:ext cx="45720" cy="14813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484613" y="1609344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22D3EE"/>
                </a:solidFill>
                <a:latin typeface="Consolas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2125" y="1645920"/>
            <a:ext cx="257351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DF3FC"/>
                </a:solidFill>
                <a:latin typeface="Segoe UI Semibold"/>
              </a:rPr>
              <a:t>Entrada de periféricos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4613" y="2176272"/>
            <a:ext cx="322274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PS/2, conector DIN de 5 pines y Game Port: teclados, ratones, joysticks y MIDI.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4613" y="2651760"/>
            <a:ext cx="32227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B9CBB"/>
                </a:solidFill>
                <a:latin typeface="Consolas"/>
              </a:rPr>
              <a:t>Diapositivas 15 – 18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1403" y="1463040"/>
            <a:ext cx="3625077" cy="1481328"/>
          </a:xfrm>
          <a:prstGeom prst="roundRect">
            <a:avLst>
              <a:gd name="adj" fmla="val 2522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8091403" y="1463040"/>
            <a:ext cx="45720" cy="14813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92571" y="1609344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22D3EE"/>
                </a:solidFill>
                <a:latin typeface="Consolas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0083" y="1645920"/>
            <a:ext cx="257351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DF3FC"/>
                </a:solidFill>
                <a:latin typeface="Segoe UI Semibold"/>
              </a:rPr>
              <a:t>Puertos de video y pantalla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2571" y="2176272"/>
            <a:ext cx="322274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VGA, DVI, HDMI, DisplayPort, S-Video y video compuesto: del CRT al 8K.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2571" y="2651760"/>
            <a:ext cx="32227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B9CBB"/>
                </a:solidFill>
                <a:latin typeface="Consolas"/>
              </a:rPr>
              <a:t>Diapositivas 19 – 29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" y="3145536"/>
            <a:ext cx="3625077" cy="1481328"/>
          </a:xfrm>
          <a:prstGeom prst="roundRect">
            <a:avLst>
              <a:gd name="adj" fmla="val 2522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475488" y="3145536"/>
            <a:ext cx="45720" cy="14813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76656" y="3291840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22D3EE"/>
                </a:solidFill>
                <a:latin typeface="Consolas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44168" y="3328416"/>
            <a:ext cx="257351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DF3FC"/>
                </a:solidFill>
                <a:latin typeface="Segoe UI Semibold"/>
              </a:rPr>
              <a:t>Red y comunicaciones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" y="3858768"/>
            <a:ext cx="322274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Ethernet RJ-45, módem RJ-11 y bahías SFP/QSFP: LAN, fibra óptica y telefonía.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4334256"/>
            <a:ext cx="32227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B9CBB"/>
                </a:solidFill>
                <a:latin typeface="Consolas"/>
              </a:rPr>
              <a:t>Diapositivas 30 – 36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83445" y="3145536"/>
            <a:ext cx="3625077" cy="1481328"/>
          </a:xfrm>
          <a:prstGeom prst="roundRect">
            <a:avLst>
              <a:gd name="adj" fmla="val 2522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4283445" y="3145536"/>
            <a:ext cx="45720" cy="14813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484613" y="3291840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22D3EE"/>
                </a:solidFill>
                <a:latin typeface="Consolas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52125" y="3328416"/>
            <a:ext cx="257351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DF3FC"/>
                </a:solidFill>
                <a:latin typeface="Segoe UI Semibold"/>
              </a:rPr>
              <a:t>Puertos de audio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4613" y="3858768"/>
            <a:ext cx="322274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Jack 3.5 mm con código de colores, S/PDIF óptico TOSLINK y S/PDIF coaxial.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4613" y="4334256"/>
            <a:ext cx="32227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B9CBB"/>
                </a:solidFill>
                <a:latin typeface="Consolas"/>
              </a:rPr>
              <a:t>Diapositivas 37 – 42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91403" y="3145536"/>
            <a:ext cx="3625077" cy="1481328"/>
          </a:xfrm>
          <a:prstGeom prst="roundRect">
            <a:avLst>
              <a:gd name="adj" fmla="val 2522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8091403" y="3145536"/>
            <a:ext cx="45720" cy="14813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292571" y="3291840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22D3EE"/>
                </a:solidFill>
                <a:latin typeface="Consolas"/>
              </a:rP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0083" y="3328416"/>
            <a:ext cx="257351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DF3FC"/>
                </a:solidFill>
                <a:latin typeface="Segoe UI Semibold"/>
              </a:rPr>
              <a:t>Almacenamiento y expansión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92571" y="3858768"/>
            <a:ext cx="322274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eSATA/eSATAp y lectores de tarjetas SD/microSD con velocidades UHS y SD Express.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92571" y="4334256"/>
            <a:ext cx="32227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B9CBB"/>
                </a:solidFill>
                <a:latin typeface="Consolas"/>
              </a:rPr>
              <a:t>Diapositivas 43 – 47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75488" y="4828032"/>
            <a:ext cx="3625077" cy="1481328"/>
          </a:xfrm>
          <a:prstGeom prst="roundRect">
            <a:avLst>
              <a:gd name="adj" fmla="val 2522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475488" y="4828032"/>
            <a:ext cx="45720" cy="14813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76656" y="4974336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22D3EE"/>
                </a:solidFill>
                <a:latin typeface="Consolas"/>
              </a:rPr>
              <a:t>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44168" y="5010912"/>
            <a:ext cx="257351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DF3FC"/>
                </a:solidFill>
                <a:latin typeface="Segoe UI Semibold"/>
              </a:rPr>
              <a:t>Infrarrojos y repaso final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" y="5541264"/>
            <a:ext cx="322274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Puerto IrDA, tablas maestras, chuleta de colores, línea de tiempo y glosario.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6656" y="6016752"/>
            <a:ext cx="32227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B9CBB"/>
                </a:solidFill>
                <a:latin typeface="Consolas"/>
              </a:rPr>
              <a:t>Diapositivas 48 – 56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6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9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7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1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2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4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4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4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4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4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6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1" dur="4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5" dur="4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9" dur="4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3" dur="4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7" dur="4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1" dur="4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5" dur="4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4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9" dur="4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19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5" dur="4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9" dur="4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22D3EE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03 / 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75488" y="6766560"/>
            <a:ext cx="602196" cy="320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1188720"/>
            <a:ext cx="12191969" cy="5669280"/>
          </a:xfrm>
          <a:prstGeom prst="rect">
            <a:avLst/>
          </a:prstGeom>
          <a:solidFill>
            <a:srgbClr val="0D152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75488" y="1600200"/>
            <a:ext cx="42062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800" b="1">
                <a:solidFill>
                  <a:srgbClr val="22D3EE"/>
                </a:solidFill>
                <a:latin typeface="Consola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310128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EDF3FC"/>
                </a:solidFill>
                <a:latin typeface="Segoe UI Semibold"/>
              </a:rPr>
              <a:t>Puertos de uso general y datos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4370832"/>
            <a:ext cx="164592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sec_dat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524990"/>
            <a:ext cx="4069080" cy="2219498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502919" y="4672584"/>
            <a:ext cx="82296" cy="822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4617720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USB: el estándar universal de datos, alimentación y video</a:t>
            </a:r>
          </a:p>
        </p:txBody>
      </p:sp>
      <p:sp>
        <p:nvSpPr>
          <p:cNvPr id="19" name="Oval 18"/>
          <p:cNvSpPr/>
          <p:nvPr/>
        </p:nvSpPr>
        <p:spPr>
          <a:xfrm>
            <a:off x="502919" y="4913004"/>
            <a:ext cx="82296" cy="822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" y="4858140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Puerto serie RS-232 (DE-9) para industria, consolas y equipos médicos</a:t>
            </a:r>
          </a:p>
        </p:txBody>
      </p:sp>
      <p:sp>
        <p:nvSpPr>
          <p:cNvPr id="21" name="Oval 20"/>
          <p:cNvSpPr/>
          <p:nvPr/>
        </p:nvSpPr>
        <p:spPr>
          <a:xfrm>
            <a:off x="502919" y="5153425"/>
            <a:ext cx="82296" cy="822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5098561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Puerto paralelo LPT (DB-25) de la era de las impresoras matriciales</a:t>
            </a:r>
          </a:p>
        </p:txBody>
      </p:sp>
      <p:sp>
        <p:nvSpPr>
          <p:cNvPr id="23" name="Oval 22"/>
          <p:cNvSpPr/>
          <p:nvPr/>
        </p:nvSpPr>
        <p:spPr>
          <a:xfrm>
            <a:off x="502919" y="5393845"/>
            <a:ext cx="82296" cy="822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" y="5338981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Thunderbolt: PCI Express y DisplayPort en un solo cable</a:t>
            </a:r>
          </a:p>
        </p:txBody>
      </p:sp>
      <p:sp>
        <p:nvSpPr>
          <p:cNvPr id="25" name="Oval 24"/>
          <p:cNvSpPr/>
          <p:nvPr/>
        </p:nvSpPr>
        <p:spPr>
          <a:xfrm>
            <a:off x="502919" y="5634266"/>
            <a:ext cx="82296" cy="822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5579402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FireWire (IEEE 1394): el bus isócrono de Apple para vídeo</a:t>
            </a:r>
          </a:p>
        </p:txBody>
      </p:sp>
    </p:spTree>
  </p:cSld>
  <p:clrMapOvr>
    <a:masterClrMapping/>
  </p:clrMapOvr>
  <p:transition xmlns:p14="http://schemas.microsoft.com/office/powerpoint/2010/main" spd="med" advClick="1">
    <p14:switc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22D3EE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D3EE"/>
                </a:solidFill>
                <a:latin typeface="Consolas"/>
              </a:rPr>
              <a:t>01 · PUERTOS DE USO GENERAL Y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USB (Universal Serial Bus)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Interfaz estándar universal para transmisión de datos, alimentación y video.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04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802928" cy="320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502919" y="1426464"/>
            <a:ext cx="82296" cy="822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1371600"/>
            <a:ext cx="5352257" cy="5886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20" b="0">
                <a:solidFill>
                  <a:srgbClr val="C0CDE2"/>
                </a:solidFill>
                <a:latin typeface="Segoe UI"/>
              </a:rPr>
              <a:t>Sustituyó en un solo estándar al </a:t>
            </a:r>
            <a:r>
              <a:rPr sz="1120" b="1">
                <a:solidFill>
                  <a:srgbClr val="C0CDE2"/>
                </a:solidFill>
                <a:latin typeface="Segoe UI Semibold"/>
              </a:rPr>
              <a:t>puerto serie, al paralelo, al PS/2 y a los conectores propietarios</a:t>
            </a:r>
            <a:r>
              <a:rPr sz="1120" b="0">
                <a:solidFill>
                  <a:srgbClr val="C0CDE2"/>
                </a:solidFill>
                <a:latin typeface="Segoe UI"/>
              </a:rPr>
              <a:t> de los periféricos: teclados, ratones, memorias, discos externos, impresoras, cámaras y accesorios diversos.</a:t>
            </a:r>
          </a:p>
        </p:txBody>
      </p:sp>
      <p:sp>
        <p:nvSpPr>
          <p:cNvPr id="18" name="Oval 17"/>
          <p:cNvSpPr/>
          <p:nvPr/>
        </p:nvSpPr>
        <p:spPr>
          <a:xfrm>
            <a:off x="502919" y="2124809"/>
            <a:ext cx="82296" cy="822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2069945"/>
            <a:ext cx="5352257" cy="5886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20" b="0">
                <a:solidFill>
                  <a:srgbClr val="C0CDE2"/>
                </a:solidFill>
                <a:latin typeface="Segoe UI"/>
              </a:rPr>
              <a:t>Es </a:t>
            </a:r>
            <a:r>
              <a:rPr sz="1120" b="1">
                <a:solidFill>
                  <a:srgbClr val="C0CDE2"/>
                </a:solidFill>
                <a:latin typeface="Segoe UI Semibold"/>
              </a:rPr>
              <a:t>hot-plug</a:t>
            </a:r>
            <a:r>
              <a:rPr sz="1120" b="0">
                <a:solidFill>
                  <a:srgbClr val="C0CDE2"/>
                </a:solidFill>
                <a:latin typeface="Segoe UI"/>
              </a:rPr>
              <a:t> (conexión en caliente) e </a:t>
            </a:r>
            <a:r>
              <a:rPr sz="1120" b="1">
                <a:solidFill>
                  <a:srgbClr val="C0CDE2"/>
                </a:solidFill>
                <a:latin typeface="Segoe UI Semibold"/>
              </a:rPr>
              <a:t>interoperable</a:t>
            </a:r>
            <a:r>
              <a:rPr sz="1120" b="0">
                <a:solidFill>
                  <a:srgbClr val="C0CDE2"/>
                </a:solidFill>
                <a:latin typeface="Segoe UI"/>
              </a:rPr>
              <a:t>: el mismo cable sirve para alimentar, transferir datos y, con modos alternativos, transportar video.</a:t>
            </a:r>
          </a:p>
        </p:txBody>
      </p:sp>
      <p:sp>
        <p:nvSpPr>
          <p:cNvPr id="20" name="Oval 19"/>
          <p:cNvSpPr/>
          <p:nvPr/>
        </p:nvSpPr>
        <p:spPr>
          <a:xfrm>
            <a:off x="502919" y="2823155"/>
            <a:ext cx="82296" cy="822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" y="2768291"/>
            <a:ext cx="5352257" cy="3924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70" b="0">
                <a:solidFill>
                  <a:srgbClr val="C0CDE2"/>
                </a:solidFill>
                <a:latin typeface="Segoe UI"/>
              </a:rPr>
              <a:t>Define también el </a:t>
            </a:r>
            <a:r>
              <a:rPr sz="1070" b="1">
                <a:solidFill>
                  <a:srgbClr val="C0CDE2"/>
                </a:solidFill>
                <a:latin typeface="Segoe UI Semibold"/>
              </a:rPr>
              <a:t>suministro de energía</a:t>
            </a:r>
            <a:r>
              <a:rPr sz="1070" b="0">
                <a:solidFill>
                  <a:srgbClr val="C0CDE2"/>
                </a:solidFill>
                <a:latin typeface="Segoe UI"/>
              </a:rPr>
              <a:t>: de 2.5 W (USB 2.0) hasta </a:t>
            </a:r>
            <a:r>
              <a:rPr sz="1070" b="1">
                <a:solidFill>
                  <a:srgbClr val="C0CDE2"/>
                </a:solidFill>
                <a:latin typeface="Segoe UI Semibold"/>
              </a:rPr>
              <a:t>240 W con USB Power Delivery 3.1</a:t>
            </a:r>
            <a:r>
              <a:rPr sz="1070" b="0">
                <a:solidFill>
                  <a:srgbClr val="C0CDE2"/>
                </a:solidFill>
                <a:latin typeface="Segoe UI"/>
              </a:rPr>
              <a:t>, lo que hoy carga incluso portátiles.</a:t>
            </a:r>
          </a:p>
        </p:txBody>
      </p:sp>
      <p:sp>
        <p:nvSpPr>
          <p:cNvPr id="22" name="Oval 21"/>
          <p:cNvSpPr/>
          <p:nvPr/>
        </p:nvSpPr>
        <p:spPr>
          <a:xfrm>
            <a:off x="502919" y="3325294"/>
            <a:ext cx="82296" cy="822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3270430"/>
            <a:ext cx="5352257" cy="3924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20" b="0">
                <a:solidFill>
                  <a:srgbClr val="C0CDE2"/>
                </a:solidFill>
                <a:latin typeface="Segoe UI"/>
              </a:rPr>
              <a:t>La identificación de versión se hace por el </a:t>
            </a:r>
            <a:r>
              <a:rPr sz="1120" b="1">
                <a:solidFill>
                  <a:srgbClr val="C0CDE2"/>
                </a:solidFill>
                <a:latin typeface="Segoe UI Semibold"/>
              </a:rPr>
              <a:t>color del interior del conector</a:t>
            </a:r>
            <a:r>
              <a:rPr sz="1120" b="0">
                <a:solidFill>
                  <a:srgbClr val="C0CDE2"/>
                </a:solidFill>
                <a:latin typeface="Segoe UI"/>
              </a:rPr>
              <a:t> y por los logotipos grabados (⚡ rayo, SS, tridente USB).</a:t>
            </a:r>
          </a:p>
        </p:txBody>
      </p:sp>
      <p:sp>
        <p:nvSpPr>
          <p:cNvPr id="24" name="Oval 23"/>
          <p:cNvSpPr/>
          <p:nvPr/>
        </p:nvSpPr>
        <p:spPr>
          <a:xfrm>
            <a:off x="502919" y="3827434"/>
            <a:ext cx="82296" cy="822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" y="3772570"/>
            <a:ext cx="5352257" cy="3924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20" b="0">
                <a:solidFill>
                  <a:srgbClr val="C0CDE2"/>
                </a:solidFill>
                <a:latin typeface="Segoe UI"/>
              </a:rPr>
              <a:t>Familia física de conectores: </a:t>
            </a:r>
            <a:r>
              <a:rPr sz="1120" b="1">
                <a:solidFill>
                  <a:srgbClr val="C0CDE2"/>
                </a:solidFill>
                <a:latin typeface="Segoe UI Semibold"/>
              </a:rPr>
              <a:t>Type-A, Type-B, Mini-B, Micro-B y Type-C</a:t>
            </a:r>
            <a:r>
              <a:rPr sz="1120" b="0">
                <a:solidFill>
                  <a:srgbClr val="C0CDE2"/>
                </a:solidFill>
                <a:latin typeface="Segoe UI"/>
              </a:rPr>
              <a:t> (reversible de 24 pines).</a:t>
            </a:r>
          </a:p>
        </p:txBody>
      </p:sp>
      <p:sp>
        <p:nvSpPr>
          <p:cNvPr id="26" name="Oval 25"/>
          <p:cNvSpPr/>
          <p:nvPr/>
        </p:nvSpPr>
        <p:spPr>
          <a:xfrm>
            <a:off x="502919" y="4329574"/>
            <a:ext cx="82296" cy="822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" y="4274710"/>
            <a:ext cx="5352257" cy="3924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20" b="0">
                <a:solidFill>
                  <a:srgbClr val="C0CDE2"/>
                </a:solidFill>
                <a:latin typeface="Segoe UI"/>
              </a:rPr>
              <a:t>Presentado en </a:t>
            </a:r>
            <a:r>
              <a:rPr sz="1120" b="1">
                <a:solidFill>
                  <a:srgbClr val="C0CDE2"/>
                </a:solidFill>
                <a:latin typeface="Segoe UI Semibold"/>
              </a:rPr>
              <a:t>1996</a:t>
            </a:r>
            <a:r>
              <a:rPr sz="1120" b="0">
                <a:solidFill>
                  <a:srgbClr val="C0CDE2"/>
                </a:solidFill>
                <a:latin typeface="Segoe UI"/>
              </a:rPr>
              <a:t> (USB 1.0, 1.5 Mbps); hoy </a:t>
            </a:r>
            <a:r>
              <a:rPr sz="1120" b="1">
                <a:solidFill>
                  <a:srgbClr val="C0CDE2"/>
                </a:solidFill>
                <a:latin typeface="Segoe UI Semibold"/>
              </a:rPr>
              <a:t>USB4</a:t>
            </a:r>
            <a:r>
              <a:rPr sz="1120" b="0">
                <a:solidFill>
                  <a:srgbClr val="C0CDE2"/>
                </a:solidFill>
                <a:latin typeface="Segoe UI"/>
              </a:rPr>
              <a:t> alcanza hasta 120 Gbps en modo asimétrico.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6657" y="1316736"/>
            <a:ext cx="5504688" cy="4937760"/>
          </a:xfrm>
          <a:prstGeom prst="roundRect">
            <a:avLst>
              <a:gd name="adj" fmla="val 1661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p_usb.jpg"/>
          <p:cNvPicPr>
            <a:picLocks noChangeAspect="1"/>
          </p:cNvPicPr>
          <p:nvPr/>
        </p:nvPicPr>
        <p:blipFill>
          <a:blip r:embed="rId2"/>
          <a:srcRect l="16602" r="16602"/>
          <a:stretch>
            <a:fillRect/>
          </a:stretch>
        </p:blipFill>
        <p:spPr>
          <a:xfrm>
            <a:off x="6321521" y="1371600"/>
            <a:ext cx="5285232" cy="4315968"/>
          </a:xfrm>
          <a:prstGeom prst="roundRect">
            <a:avLst>
              <a:gd name="adj" fmla="val 1384"/>
            </a:avLst>
          </a:prstGeom>
        </p:spPr>
      </p:pic>
      <p:sp>
        <p:nvSpPr>
          <p:cNvPr id="30" name="TextBox 29"/>
          <p:cNvSpPr txBox="1"/>
          <p:nvPr/>
        </p:nvSpPr>
        <p:spPr>
          <a:xfrm>
            <a:off x="6321521" y="5742432"/>
            <a:ext cx="528523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8B9CBB"/>
                </a:solidFill>
                <a:latin typeface="Segoe UI"/>
              </a:rPr>
              <a:t>Puertos USB-A (azul = USB 3.0) y USB-C en el panel trasero de una placa madre actual.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358384"/>
            <a:ext cx="11240993" cy="841248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475488" y="5449824"/>
            <a:ext cx="32004" cy="65836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5449824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2D3EE"/>
                </a:solidFill>
                <a:latin typeface="Consolas"/>
              </a:rPr>
              <a:t>NOTA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632704"/>
            <a:ext cx="1091180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Dato faltante: el conector USB-C no distingue versión por color — consulta los logotipos ⚡ (Thunderbolt) o SS (SuperSpeed) grabados junto al puerto.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6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22D3EE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D3EE"/>
                </a:solidFill>
                <a:latin typeface="Consolas"/>
              </a:rPr>
              <a:t>01 · PUERTOS DE USO GENERAL Y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USB · Colores de identificación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El color de la lengüeta interior del conector indica, por convención, la versión.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05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1003660" cy="320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502919" y="1426464"/>
            <a:ext cx="82296" cy="822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1371600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>
                <a:solidFill>
                  <a:srgbClr val="C0CDE2"/>
                </a:solidFill>
                <a:latin typeface="Segoe UI Semibold"/>
              </a:rPr>
              <a:t>Blanco o gris</a:t>
            </a:r>
            <a:r>
              <a:rPr sz="1150" b="0">
                <a:solidFill>
                  <a:srgbClr val="C0CDE2"/>
                </a:solidFill>
                <a:latin typeface="Segoe UI"/>
              </a:rPr>
              <a:t> — USB 1.0 / 1.1 (hasta 12 Mbps): los primeros periféricos, teclados y ratones.</a:t>
            </a:r>
          </a:p>
        </p:txBody>
      </p:sp>
      <p:sp>
        <p:nvSpPr>
          <p:cNvPr id="18" name="Oval 17"/>
          <p:cNvSpPr/>
          <p:nvPr/>
        </p:nvSpPr>
        <p:spPr>
          <a:xfrm>
            <a:off x="502919" y="1939114"/>
            <a:ext cx="82296" cy="822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1884250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>
                <a:solidFill>
                  <a:srgbClr val="C0CDE2"/>
                </a:solidFill>
                <a:latin typeface="Segoe UI Semibold"/>
              </a:rPr>
              <a:t>Negro</a:t>
            </a:r>
            <a:r>
              <a:rPr sz="1150" b="0">
                <a:solidFill>
                  <a:srgbClr val="C0CDE2"/>
                </a:solidFill>
                <a:latin typeface="Segoe UI"/>
              </a:rPr>
              <a:t> — USB 2.0 (hasta 480 Mbps): el color más extendido en memorias y periféricos básicos.</a:t>
            </a:r>
          </a:p>
        </p:txBody>
      </p:sp>
      <p:sp>
        <p:nvSpPr>
          <p:cNvPr id="20" name="Oval 19"/>
          <p:cNvSpPr/>
          <p:nvPr/>
        </p:nvSpPr>
        <p:spPr>
          <a:xfrm>
            <a:off x="502919" y="2451765"/>
            <a:ext cx="82296" cy="822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" y="2396901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>
                <a:solidFill>
                  <a:srgbClr val="C0CDE2"/>
                </a:solidFill>
                <a:latin typeface="Segoe UI Semibold"/>
              </a:rPr>
              <a:t>Azul</a:t>
            </a:r>
            <a:r>
              <a:rPr sz="1150" b="0">
                <a:solidFill>
                  <a:srgbClr val="C0CDE2"/>
                </a:solidFill>
                <a:latin typeface="Segoe UI"/>
              </a:rPr>
              <a:t> (o logotipo </a:t>
            </a:r>
            <a:r>
              <a:rPr sz="1150" b="1">
                <a:solidFill>
                  <a:srgbClr val="C0CDE2"/>
                </a:solidFill>
                <a:latin typeface="Segoe UI Semibold"/>
              </a:rPr>
              <a:t>SS</a:t>
            </a:r>
            <a:r>
              <a:rPr sz="1150" b="0">
                <a:solidFill>
                  <a:srgbClr val="C0CDE2"/>
                </a:solidFill>
                <a:latin typeface="Segoe UI"/>
              </a:rPr>
              <a:t>) — USB 3.0 / 3.1 Gen 1 (5 Gbps): discos duros externos y memorias rápidas.</a:t>
            </a:r>
          </a:p>
        </p:txBody>
      </p:sp>
      <p:sp>
        <p:nvSpPr>
          <p:cNvPr id="22" name="Oval 21"/>
          <p:cNvSpPr/>
          <p:nvPr/>
        </p:nvSpPr>
        <p:spPr>
          <a:xfrm>
            <a:off x="502919" y="2964416"/>
            <a:ext cx="82296" cy="822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2909552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>
                <a:solidFill>
                  <a:srgbClr val="C0CDE2"/>
                </a:solidFill>
                <a:latin typeface="Segoe UI Semibold"/>
              </a:rPr>
              <a:t>Rojo o turquesa (teal)</a:t>
            </a:r>
            <a:r>
              <a:rPr sz="1150" b="0">
                <a:solidFill>
                  <a:srgbClr val="C0CDE2"/>
                </a:solidFill>
                <a:latin typeface="Segoe UI"/>
              </a:rPr>
              <a:t> — USB 3.1 Gen 2 / 3.2 Gen 2 (10 Gbps): típico de placas gaming y estaciones de trabajo.</a:t>
            </a:r>
          </a:p>
        </p:txBody>
      </p:sp>
      <p:sp>
        <p:nvSpPr>
          <p:cNvPr id="24" name="Oval 23"/>
          <p:cNvSpPr/>
          <p:nvPr/>
        </p:nvSpPr>
        <p:spPr>
          <a:xfrm>
            <a:off x="502919" y="3477066"/>
            <a:ext cx="82296" cy="822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" y="3422202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>
                <a:solidFill>
                  <a:srgbClr val="C0CDE2"/>
                </a:solidFill>
                <a:latin typeface="Segoe UI Semibold"/>
              </a:rPr>
              <a:t>USB Tipo C</a:t>
            </a:r>
            <a:r>
              <a:rPr sz="1150" b="0">
                <a:solidFill>
                  <a:srgbClr val="C0CDE2"/>
                </a:solidFill>
                <a:latin typeface="Segoe UI"/>
              </a:rPr>
              <a:t> — ovalado, simétrico y </a:t>
            </a:r>
            <a:r>
              <a:rPr sz="1150" b="1">
                <a:solidFill>
                  <a:srgbClr val="C0CDE2"/>
                </a:solidFill>
                <a:latin typeface="Segoe UI Semibold"/>
              </a:rPr>
              <a:t>reversible</a:t>
            </a:r>
            <a:r>
              <a:rPr sz="1150" b="0">
                <a:solidFill>
                  <a:srgbClr val="C0CDE2"/>
                </a:solidFill>
                <a:latin typeface="Segoe UI"/>
              </a:rPr>
              <a:t>; a menudo con icono de </a:t>
            </a:r>
            <a:r>
              <a:rPr sz="1150" b="1">
                <a:solidFill>
                  <a:srgbClr val="C0CDE2"/>
                </a:solidFill>
                <a:latin typeface="Segoe UI Semibold"/>
              </a:rPr>
              <a:t>rayo</a:t>
            </a:r>
            <a:r>
              <a:rPr sz="1150" b="0">
                <a:solidFill>
                  <a:srgbClr val="C0CDE2"/>
                </a:solidFill>
                <a:latin typeface="Segoe UI"/>
              </a:rPr>
              <a:t> (Thunderbolt) o </a:t>
            </a:r>
            <a:r>
              <a:rPr sz="1150" b="1">
                <a:solidFill>
                  <a:srgbClr val="C0CDE2"/>
                </a:solidFill>
                <a:latin typeface="Segoe UI Semibold"/>
              </a:rPr>
              <a:t>DP</a:t>
            </a:r>
            <a:r>
              <a:rPr sz="1150" b="0">
                <a:solidFill>
                  <a:srgbClr val="C0CDE2"/>
                </a:solidFill>
                <a:latin typeface="Segoe UI"/>
              </a:rPr>
              <a:t> (DisplayPort Alt Mode) al lado.</a:t>
            </a:r>
          </a:p>
        </p:txBody>
      </p:sp>
      <p:sp>
        <p:nvSpPr>
          <p:cNvPr id="26" name="Oval 25"/>
          <p:cNvSpPr/>
          <p:nvPr/>
        </p:nvSpPr>
        <p:spPr>
          <a:xfrm>
            <a:off x="502919" y="3989717"/>
            <a:ext cx="82296" cy="822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" y="3934853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Algunos fabricantes usan colores propios (naranja para carga, verde para teclados de consola): el color es convención, no norma.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6657" y="1316736"/>
            <a:ext cx="5504688" cy="4937760"/>
          </a:xfrm>
          <a:prstGeom prst="roundRect">
            <a:avLst>
              <a:gd name="adj" fmla="val 1661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usb_col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1521" y="2026299"/>
            <a:ext cx="5285232" cy="3006569"/>
          </a:xfrm>
          <a:prstGeom prst="roundRect">
            <a:avLst>
              <a:gd name="adj" fmla="val 1384"/>
            </a:avLst>
          </a:prstGeom>
        </p:spPr>
      </p:pic>
      <p:sp>
        <p:nvSpPr>
          <p:cNvPr id="30" name="TextBox 29"/>
          <p:cNvSpPr txBox="1"/>
          <p:nvPr/>
        </p:nvSpPr>
        <p:spPr>
          <a:xfrm>
            <a:off x="6321521" y="5742432"/>
            <a:ext cx="528523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8B9CBB"/>
                </a:solidFill>
                <a:latin typeface="Segoe UI"/>
              </a:rPr>
              <a:t>Código de colores del interior de los conectores USB-A y forma del USB-C.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22D3EE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D3EE"/>
                </a:solidFill>
                <a:latin typeface="Consolas"/>
              </a:rPr>
              <a:t>01 · PUERTOS DE USO GENERAL Y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USB · Familia de conectores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Cinco formas físicas que cubren desde equipos fijos hasta dispositivos móviles.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06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1204392" cy="320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502919" y="1426464"/>
            <a:ext cx="82296" cy="822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1371600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>
                <a:solidFill>
                  <a:srgbClr val="C0CDE2"/>
                </a:solidFill>
                <a:latin typeface="Segoe UI Semibold"/>
              </a:rPr>
              <a:t>Type-A</a:t>
            </a:r>
            <a:r>
              <a:rPr sz="1150" b="0">
                <a:solidFill>
                  <a:srgbClr val="C0CDE2"/>
                </a:solidFill>
                <a:latin typeface="Segoe UI"/>
              </a:rPr>
              <a:t> — el conector plano rectangular del PC: teclados, ratones, memorias y hubs. Interior con 4 contactos (2.0) o 9 (3.x).</a:t>
            </a:r>
          </a:p>
        </p:txBody>
      </p:sp>
      <p:sp>
        <p:nvSpPr>
          <p:cNvPr id="18" name="Oval 17"/>
          <p:cNvSpPr/>
          <p:nvPr/>
        </p:nvSpPr>
        <p:spPr>
          <a:xfrm>
            <a:off x="502919" y="1939114"/>
            <a:ext cx="82296" cy="822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1884250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>
                <a:solidFill>
                  <a:srgbClr val="C0CDE2"/>
                </a:solidFill>
                <a:latin typeface="Segoe UI Semibold"/>
              </a:rPr>
              <a:t>Type-B</a:t>
            </a:r>
            <a:r>
              <a:rPr sz="1150" b="0">
                <a:solidFill>
                  <a:srgbClr val="C0CDE2"/>
                </a:solidFill>
                <a:latin typeface="Segoe UI"/>
              </a:rPr>
              <a:t> — cuadrado con chaflán superior: impresoras, escáneres, discos externos y tarjetas de audio.</a:t>
            </a:r>
          </a:p>
        </p:txBody>
      </p:sp>
      <p:sp>
        <p:nvSpPr>
          <p:cNvPr id="20" name="Oval 19"/>
          <p:cNvSpPr/>
          <p:nvPr/>
        </p:nvSpPr>
        <p:spPr>
          <a:xfrm>
            <a:off x="502919" y="2451765"/>
            <a:ext cx="82296" cy="822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" y="2396901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>
                <a:solidFill>
                  <a:srgbClr val="C0CDE2"/>
                </a:solidFill>
                <a:latin typeface="Segoe UI Semibold"/>
              </a:rPr>
              <a:t>Mini-B</a:t>
            </a:r>
            <a:r>
              <a:rPr sz="1150" b="0">
                <a:solidFill>
                  <a:srgbClr val="C0CDE2"/>
                </a:solidFill>
                <a:latin typeface="Segoe UI"/>
              </a:rPr>
              <a:t> — versión reducida de 5 pines: cámaras fotográficas, GPS y discos portátiles de la década de 2000.</a:t>
            </a:r>
          </a:p>
        </p:txBody>
      </p:sp>
      <p:sp>
        <p:nvSpPr>
          <p:cNvPr id="22" name="Oval 21"/>
          <p:cNvSpPr/>
          <p:nvPr/>
        </p:nvSpPr>
        <p:spPr>
          <a:xfrm>
            <a:off x="502919" y="2964416"/>
            <a:ext cx="82296" cy="822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2909552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>
                <a:solidFill>
                  <a:srgbClr val="C0CDE2"/>
                </a:solidFill>
                <a:latin typeface="Segoe UI Semibold"/>
              </a:rPr>
              <a:t>Micro-B</a:t>
            </a:r>
            <a:r>
              <a:rPr sz="1150" b="0">
                <a:solidFill>
                  <a:srgbClr val="C0CDE2"/>
                </a:solidFill>
                <a:latin typeface="Segoe UI"/>
              </a:rPr>
              <a:t> — fino, con rebeles: teléfonos y tablets (USB 2.0 o 3.0); el conector más frágil de la familia.</a:t>
            </a:r>
          </a:p>
        </p:txBody>
      </p:sp>
      <p:sp>
        <p:nvSpPr>
          <p:cNvPr id="24" name="Oval 23"/>
          <p:cNvSpPr/>
          <p:nvPr/>
        </p:nvSpPr>
        <p:spPr>
          <a:xfrm>
            <a:off x="502919" y="3477066"/>
            <a:ext cx="82296" cy="822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" y="3422202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>
                <a:solidFill>
                  <a:srgbClr val="C0CDE2"/>
                </a:solidFill>
                <a:latin typeface="Segoe UI Semibold"/>
              </a:rPr>
              <a:t>Type-C</a:t>
            </a:r>
            <a:r>
              <a:rPr sz="1150" b="0">
                <a:solidFill>
                  <a:srgbClr val="C0CDE2"/>
                </a:solidFill>
                <a:latin typeface="Segoe UI"/>
              </a:rPr>
              <a:t> — óvalo de </a:t>
            </a:r>
            <a:r>
              <a:rPr sz="1150" b="1">
                <a:solidFill>
                  <a:srgbClr val="C0CDE2"/>
                </a:solidFill>
                <a:latin typeface="Segoe UI Semibold"/>
              </a:rPr>
              <a:t>24 pines reversible</a:t>
            </a:r>
            <a:r>
              <a:rPr sz="1150" b="0">
                <a:solidFill>
                  <a:srgbClr val="C0CDE2"/>
                </a:solidFill>
                <a:latin typeface="Segoe UI"/>
              </a:rPr>
              <a:t> que sustituye a todos los anteriores: datos, video (DP/HDMI), audio y hasta 240 W de alimentación.</a:t>
            </a:r>
          </a:p>
        </p:txBody>
      </p:sp>
      <p:sp>
        <p:nvSpPr>
          <p:cNvPr id="26" name="Oval 25"/>
          <p:cNvSpPr/>
          <p:nvPr/>
        </p:nvSpPr>
        <p:spPr>
          <a:xfrm>
            <a:off x="502919" y="3989717"/>
            <a:ext cx="82296" cy="822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" y="3934853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Compatibilidad: un cable A→C sirve para cualquier dispositivo C, pero la </a:t>
            </a:r>
            <a:r>
              <a:rPr sz="1150" b="1">
                <a:solidFill>
                  <a:srgbClr val="C0CDE2"/>
                </a:solidFill>
                <a:latin typeface="Segoe UI Semibold"/>
              </a:rPr>
              <a:t>velocidad máxima la define la versión</a:t>
            </a:r>
            <a:r>
              <a:rPr sz="1150" b="0">
                <a:solidFill>
                  <a:srgbClr val="C0CDE2"/>
                </a:solidFill>
                <a:latin typeface="Segoe UI"/>
              </a:rPr>
              <a:t> de ambos extremos.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6657" y="1316736"/>
            <a:ext cx="5504688" cy="4937760"/>
          </a:xfrm>
          <a:prstGeom prst="roundRect">
            <a:avLst>
              <a:gd name="adj" fmla="val 1661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usb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1521" y="2208276"/>
            <a:ext cx="5285232" cy="2642616"/>
          </a:xfrm>
          <a:prstGeom prst="roundRect">
            <a:avLst>
              <a:gd name="adj" fmla="val 1384"/>
            </a:avLst>
          </a:prstGeom>
        </p:spPr>
      </p:pic>
      <p:sp>
        <p:nvSpPr>
          <p:cNvPr id="30" name="TextBox 29"/>
          <p:cNvSpPr txBox="1"/>
          <p:nvPr/>
        </p:nvSpPr>
        <p:spPr>
          <a:xfrm>
            <a:off x="6321521" y="5742432"/>
            <a:ext cx="528523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8B9CBB"/>
                </a:solidFill>
                <a:latin typeface="Segoe UI"/>
              </a:rPr>
              <a:t>Type-A, Type-B, Mini-B, Micro-B y Type-C: geometrías no intercambiables.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22D3EE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D3EE"/>
                </a:solidFill>
                <a:latin typeface="Consolas"/>
              </a:rPr>
              <a:t>01 · PUERTOS DE USO GENERAL Y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USB · Versiones y velocidades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De 1.5 Mbps en 1996 a 120 Gbps en modo asimétrico con USB4 v2.0.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07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1405124" cy="320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75488" y="1371600"/>
            <a:ext cx="11240993" cy="329184"/>
          </a:xfrm>
          <a:prstGeom prst="rect">
            <a:avLst/>
          </a:prstGeom>
          <a:solidFill>
            <a:srgbClr val="22D3EE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1371600"/>
            <a:ext cx="182660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A101E"/>
                </a:solidFill>
                <a:latin typeface="Segoe UI Semibold"/>
              </a:rPr>
              <a:t>Estándar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21549" y="1371600"/>
            <a:ext cx="63368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A101E"/>
                </a:solidFill>
                <a:latin typeface="Segoe UI Semibold"/>
              </a:rPr>
              <a:t>Año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01536" y="1371600"/>
            <a:ext cx="173484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A101E"/>
                </a:solidFill>
                <a:latin typeface="Segoe UI Semibold"/>
              </a:rPr>
              <a:t>Velocidad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2682" y="1371600"/>
            <a:ext cx="32948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A101E"/>
                </a:solidFill>
                <a:latin typeface="Segoe UI Semibold"/>
              </a:rPr>
              <a:t>Nombre comercial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23802" y="1371600"/>
            <a:ext cx="301952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A101E"/>
                </a:solidFill>
                <a:latin typeface="Segoe UI Semibold"/>
              </a:rPr>
              <a:t>Color típico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1700784"/>
            <a:ext cx="11240993" cy="352044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1700784"/>
            <a:ext cx="1826605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DF3FC"/>
                </a:solidFill>
                <a:latin typeface="Segoe UI"/>
              </a:rPr>
              <a:t>USB 1.0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1549" y="1700784"/>
            <a:ext cx="633683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DE2"/>
                </a:solidFill>
                <a:latin typeface="Consolas"/>
              </a:rPr>
              <a:t>1996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01536" y="1700784"/>
            <a:ext cx="1734841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DE2"/>
                </a:solidFill>
                <a:latin typeface="Consolas"/>
              </a:rPr>
              <a:t>1.5 Mbps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682" y="1700784"/>
            <a:ext cx="3294816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DE2"/>
                </a:solidFill>
                <a:latin typeface="Segoe UI"/>
              </a:rPr>
              <a:t>Low Speed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23802" y="1700784"/>
            <a:ext cx="3019526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DE2"/>
                </a:solidFill>
                <a:latin typeface="Segoe UI"/>
              </a:rPr>
              <a:t>blanco / gris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052828"/>
            <a:ext cx="1826605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DF3FC"/>
                </a:solidFill>
                <a:latin typeface="Segoe UI"/>
              </a:rPr>
              <a:t>USB 1.1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21549" y="2052828"/>
            <a:ext cx="633683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DE2"/>
                </a:solidFill>
                <a:latin typeface="Consolas"/>
              </a:rPr>
              <a:t>1998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01536" y="2052828"/>
            <a:ext cx="1734841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DE2"/>
                </a:solidFill>
                <a:latin typeface="Consolas"/>
              </a:rPr>
              <a:t>12 Mbps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82682" y="2052828"/>
            <a:ext cx="3294816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DE2"/>
                </a:solidFill>
                <a:latin typeface="Segoe UI"/>
              </a:rPr>
              <a:t>Full Speed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23802" y="2052828"/>
            <a:ext cx="3019526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DE2"/>
                </a:solidFill>
                <a:latin typeface="Segoe UI"/>
              </a:rPr>
              <a:t>blanco / gris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2404872"/>
            <a:ext cx="11240993" cy="352044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8640" y="2404872"/>
            <a:ext cx="1826605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DF3FC"/>
                </a:solidFill>
                <a:latin typeface="Segoe UI"/>
              </a:rPr>
              <a:t>USB 2.0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21549" y="2404872"/>
            <a:ext cx="633683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DE2"/>
                </a:solidFill>
                <a:latin typeface="Consolas"/>
              </a:rPr>
              <a:t>2000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01536" y="2404872"/>
            <a:ext cx="1734841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DE2"/>
                </a:solidFill>
                <a:latin typeface="Consolas"/>
              </a:rPr>
              <a:t>480 Mbps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82682" y="2404872"/>
            <a:ext cx="3294816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DE2"/>
                </a:solidFill>
                <a:latin typeface="Segoe UI"/>
              </a:rPr>
              <a:t>High Speed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23802" y="2404872"/>
            <a:ext cx="3019526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DE2"/>
                </a:solidFill>
                <a:latin typeface="Segoe UI"/>
              </a:rPr>
              <a:t>negro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756915"/>
            <a:ext cx="1826605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DF3FC"/>
                </a:solidFill>
                <a:latin typeface="Segoe UI"/>
              </a:rPr>
              <a:t>USB 3.0 / 3.1 Gen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21549" y="2756915"/>
            <a:ext cx="633683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DE2"/>
                </a:solidFill>
                <a:latin typeface="Consolas"/>
              </a:rPr>
              <a:t>2008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01536" y="2756915"/>
            <a:ext cx="1734841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DE2"/>
                </a:solidFill>
                <a:latin typeface="Consolas"/>
              </a:rPr>
              <a:t>5 Gbps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82682" y="2756915"/>
            <a:ext cx="3294816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DE2"/>
                </a:solidFill>
                <a:latin typeface="Segoe UI"/>
              </a:rPr>
              <a:t>SuperSpeed (SS)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23802" y="2756915"/>
            <a:ext cx="3019526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DE2"/>
                </a:solidFill>
                <a:latin typeface="Segoe UI"/>
              </a:rPr>
              <a:t>azul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" y="3108959"/>
            <a:ext cx="11240993" cy="352044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48640" y="3108959"/>
            <a:ext cx="1826605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DF3FC"/>
                </a:solidFill>
                <a:latin typeface="Segoe UI"/>
              </a:rPr>
              <a:t>USB 3.1 Gen 2 / 3.2 Gen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21549" y="3108959"/>
            <a:ext cx="633683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DE2"/>
                </a:solidFill>
                <a:latin typeface="Consolas"/>
              </a:rPr>
              <a:t>2013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01536" y="3108959"/>
            <a:ext cx="1734841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DE2"/>
                </a:solidFill>
                <a:latin typeface="Consolas"/>
              </a:rPr>
              <a:t>10 Gbps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82682" y="3108959"/>
            <a:ext cx="3294816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DE2"/>
                </a:solidFill>
                <a:latin typeface="Segoe UI"/>
              </a:rPr>
              <a:t>SuperSpeed+ 10 Gbps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23802" y="3108959"/>
            <a:ext cx="3019526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DE2"/>
                </a:solidFill>
                <a:latin typeface="Segoe UI"/>
              </a:rPr>
              <a:t>rojo o turquesa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3461003"/>
            <a:ext cx="1826605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DF3FC"/>
                </a:solidFill>
                <a:latin typeface="Segoe UI"/>
              </a:rPr>
              <a:t>USB 3.2 Gen 2x2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21549" y="3461003"/>
            <a:ext cx="633683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DE2"/>
                </a:solidFill>
                <a:latin typeface="Consolas"/>
              </a:rPr>
              <a:t>2017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01536" y="3461003"/>
            <a:ext cx="1734841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DE2"/>
                </a:solidFill>
                <a:latin typeface="Consolas"/>
              </a:rPr>
              <a:t>20 Gbps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82682" y="3461003"/>
            <a:ext cx="3294816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DE2"/>
                </a:solidFill>
                <a:latin typeface="Segoe UI"/>
              </a:rPr>
              <a:t>SuperSpeed+ 20 Gbps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23802" y="3461003"/>
            <a:ext cx="3019526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DE2"/>
                </a:solidFill>
                <a:latin typeface="Segoe UI"/>
              </a:rPr>
              <a:t>rojo (pocos equipos)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5488" y="3813047"/>
            <a:ext cx="11240993" cy="352044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48640" y="3813047"/>
            <a:ext cx="1826605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DF3FC"/>
                </a:solidFill>
                <a:latin typeface="Segoe UI"/>
              </a:rPr>
              <a:t>USB4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21549" y="3813047"/>
            <a:ext cx="633683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DE2"/>
                </a:solidFill>
                <a:latin typeface="Consolas"/>
              </a:rPr>
              <a:t>2019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01536" y="3813047"/>
            <a:ext cx="1734841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DE2"/>
                </a:solidFill>
                <a:latin typeface="Consolas"/>
              </a:rPr>
              <a:t>40 Gbps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82682" y="3813047"/>
            <a:ext cx="3294816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DE2"/>
                </a:solidFill>
                <a:latin typeface="Segoe UI"/>
              </a:rPr>
              <a:t>USB4 Gen 3x2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23802" y="3813047"/>
            <a:ext cx="3019526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DE2"/>
                </a:solidFill>
                <a:latin typeface="Segoe UI"/>
              </a:rPr>
              <a:t>interior negro (USB-C)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4165091"/>
            <a:ext cx="1826605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DF3FC"/>
                </a:solidFill>
                <a:latin typeface="Segoe UI"/>
              </a:rPr>
              <a:t>USB4 v2.0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21549" y="4165091"/>
            <a:ext cx="633683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DE2"/>
                </a:solidFill>
                <a:latin typeface="Consolas"/>
              </a:rPr>
              <a:t>2022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01536" y="4165091"/>
            <a:ext cx="1734841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DE2"/>
                </a:solidFill>
                <a:latin typeface="Segoe UI"/>
              </a:rPr>
              <a:t>80 / 120 Gbps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82682" y="4165091"/>
            <a:ext cx="3294816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DE2"/>
                </a:solidFill>
                <a:latin typeface="Segoe UI"/>
              </a:rPr>
              <a:t>asimétrico (120/40)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23802" y="4165091"/>
            <a:ext cx="3019526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DE2"/>
                </a:solidFill>
                <a:latin typeface="Segoe UI"/>
              </a:rPr>
              <a:t>USB-C ⚡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75488" y="1371600"/>
            <a:ext cx="11240993" cy="3145535"/>
          </a:xfrm>
          <a:prstGeom prst="roundRect">
            <a:avLst>
              <a:gd name="adj" fmla="val 488"/>
            </a:avLst>
          </a:prstGeom>
          <a:noFill/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ounded Rectangle 66"/>
          <p:cNvSpPr/>
          <p:nvPr/>
        </p:nvSpPr>
        <p:spPr>
          <a:xfrm>
            <a:off x="475488" y="5376672"/>
            <a:ext cx="11240993" cy="822960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475488" y="5468112"/>
            <a:ext cx="320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640080" y="546811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2D3EE"/>
                </a:solidFill>
                <a:latin typeface="Consolas"/>
              </a:rPr>
              <a:t>LECTURA DE LA TABLA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" y="5650992"/>
            <a:ext cx="1091180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Ojo con la nomenclatura: «USB 3.1 Gen 1» es exactamente lo mismo que USB 3.0 (5 Gbps). Solo cambia el nombre comercial, no la velocidad real.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5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fill="hold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fill="hold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fill="hold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fill="hold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fill="hold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fill="hold">
                                  <p:stCondLst>
                                    <p:cond delay="231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fill="hold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fill="hold">
                                  <p:stCondLst>
                                    <p:cond delay="253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fill="hold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fill="hold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fill="hold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fill="hold">
                                  <p:stCondLst>
                                    <p:cond delay="297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fill="hold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fill="hold">
                                  <p:stCondLst>
                                    <p:cond delay="319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5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fill="hold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8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fill="hold">
                                  <p:stCondLst>
                                    <p:cond delay="341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1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fill="hold">
                                  <p:stCondLst>
                                    <p:cond delay="352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4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fill="hold">
                                  <p:stCondLst>
                                    <p:cond delay="363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7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fill="hold">
                                  <p:stCondLst>
                                    <p:cond delay="374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4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0" dur="4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fill="hold">
                                  <p:stCondLst>
                                    <p:cond delay="38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3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fill="hold">
                                  <p:stCondLst>
                                    <p:cond delay="396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6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fill="hold">
                                  <p:stCondLst>
                                    <p:cond delay="407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9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fill="hold">
                                  <p:stCondLst>
                                    <p:cond delay="418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62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fill="hold">
                                  <p:stCondLst>
                                    <p:cond delay="429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4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65" dur="4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fill="hold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4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68" dur="4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fill="hold">
                                  <p:stCondLst>
                                    <p:cond delay="451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4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71" dur="4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fill="hold">
                                  <p:stCondLst>
                                    <p:cond delay="462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4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74" dur="4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fill="hold">
                                  <p:stCondLst>
                                    <p:cond delay="473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4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77" dur="4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fill="hold">
                                  <p:stCondLst>
                                    <p:cond delay="484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4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80" dur="4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fill="hold">
                                  <p:stCondLst>
                                    <p:cond delay="495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4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83" dur="4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fill="hold">
                                  <p:stCondLst>
                                    <p:cond delay="506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42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86" dur="42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fill="hold">
                                  <p:stCondLst>
                                    <p:cond delay="517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42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89" dur="42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fill="hold">
                                  <p:stCondLst>
                                    <p:cond delay="528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42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92" dur="42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22D3EE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D3EE"/>
                </a:solidFill>
                <a:latin typeface="Consolas"/>
              </a:rPr>
              <a:t>01 · PUERTOS DE USO GENERAL Y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USB · Potencia, longitudes y datos que faltan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Lo que no se ve en el conector: energía, distancia máxima y modos de trabajo.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08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1605856" cy="320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3612885" cy="1805939"/>
          </a:xfrm>
          <a:prstGeom prst="roundRect">
            <a:avLst>
              <a:gd name="adj" fmla="val 2530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75488" y="1481328"/>
            <a:ext cx="3200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1517904"/>
            <a:ext cx="32471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EDF3FC"/>
                </a:solidFill>
                <a:latin typeface="Segoe UI Semibold"/>
              </a:rPr>
              <a:t>Alimentación (Power Delivery)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828800"/>
            <a:ext cx="3247125" cy="13030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USB 2.0: 5 V / 500 mA (2.5 W). USB 3.x: 900 mA (4.5 W). BC 1.2: 1.5 A. USB-C PD: 5-48 V hasta </a:t>
            </a:r>
            <a:r>
              <a:rPr sz="1150" b="1">
                <a:solidFill>
                  <a:srgbClr val="C0CDE2"/>
                </a:solidFill>
                <a:latin typeface="Segoe UI Semibold"/>
              </a:rPr>
              <a:t>240 W</a:t>
            </a:r>
            <a:r>
              <a:rPr sz="1150" b="0">
                <a:solidFill>
                  <a:srgbClr val="C0CDE2"/>
                </a:solidFill>
                <a:latin typeface="Segoe UI"/>
              </a:rPr>
              <a:t> (EPR) para cargar portátiles.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9541" y="1371600"/>
            <a:ext cx="3612885" cy="1805939"/>
          </a:xfrm>
          <a:prstGeom prst="roundRect">
            <a:avLst>
              <a:gd name="adj" fmla="val 2530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289541" y="1481328"/>
            <a:ext cx="32004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472421" y="1517904"/>
            <a:ext cx="32471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EDF3FC"/>
                </a:solidFill>
                <a:latin typeface="Segoe UI Semibold"/>
              </a:rPr>
              <a:t>Longitud máxima de cable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2421" y="1828800"/>
            <a:ext cx="3247125" cy="13030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USB 2.0: 5 m. USB 3.x: 2-3 m pasivos. USB4/Thunderbolt: 0.8 m a velocidad máxima (2 m limitado). Con repetidores activos u ópticos se superan 30 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595" y="1371600"/>
            <a:ext cx="3612885" cy="1805939"/>
          </a:xfrm>
          <a:prstGeom prst="roundRect">
            <a:avLst>
              <a:gd name="adj" fmla="val 2530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103595" y="1481328"/>
            <a:ext cx="3200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86475" y="1517904"/>
            <a:ext cx="32471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EDF3FC"/>
                </a:solidFill>
                <a:latin typeface="Segoe UI Semibold"/>
              </a:rPr>
              <a:t>Contactos internos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6475" y="1828800"/>
            <a:ext cx="3247125" cy="13030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USB 2.0: 4 pines (VBUS, D-, D+, GND). USB 3.x Type-A: 9 pines. USB-C: 24 pines con 4 pares diferenciales de datos y reversibilidad física.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3378708"/>
            <a:ext cx="3612885" cy="1805939"/>
          </a:xfrm>
          <a:prstGeom prst="roundRect">
            <a:avLst>
              <a:gd name="adj" fmla="val 2530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475488" y="3488436"/>
            <a:ext cx="32004" cy="3840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8368" y="3525012"/>
            <a:ext cx="32471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EDF3FC"/>
                </a:solidFill>
                <a:latin typeface="Segoe UI Semibold"/>
              </a:rPr>
              <a:t>Modos alternativos (Alt Mode)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835908"/>
            <a:ext cx="3247125" cy="13030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DisplayPort Alt Mode (video hasta 8K), HDMI Alt Mode y tunelizado de Thunderbolt 3/4: el mismo USB-C lleva video, datos y energía a la vez.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89541" y="3378708"/>
            <a:ext cx="3612885" cy="1805939"/>
          </a:xfrm>
          <a:prstGeom prst="roundRect">
            <a:avLst>
              <a:gd name="adj" fmla="val 2530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4289541" y="3488436"/>
            <a:ext cx="32004" cy="38404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472421" y="3525012"/>
            <a:ext cx="32471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00" b="1">
                <a:solidFill>
                  <a:srgbClr val="EDF3FC"/>
                </a:solidFill>
                <a:latin typeface="Segoe UI Semibold"/>
              </a:rPr>
              <a:t>Transferencia de almacenamiento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72421" y="3835908"/>
            <a:ext cx="3247125" cy="13030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BOT (Bulk-Only Transport, clásico) y </a:t>
            </a:r>
            <a:r>
              <a:rPr sz="1150" b="1">
                <a:solidFill>
                  <a:srgbClr val="C0CDE2"/>
                </a:solidFill>
                <a:latin typeface="Segoe UI Semibold"/>
              </a:rPr>
              <a:t>UASP</a:t>
            </a:r>
            <a:r>
              <a:rPr sz="1150" b="0">
                <a:solidFill>
                  <a:srgbClr val="C0CDE2"/>
                </a:solidFill>
                <a:latin typeface="Segoe UI"/>
              </a:rPr>
              <a:t> (SCSI sobre USB), que aporta ~20-30 % más de velocidad real en discos externos modernos.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03595" y="3378708"/>
            <a:ext cx="3612885" cy="1805939"/>
          </a:xfrm>
          <a:prstGeom prst="roundRect">
            <a:avLst>
              <a:gd name="adj" fmla="val 2530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8103595" y="3488436"/>
            <a:ext cx="32004" cy="3840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286475" y="3525012"/>
            <a:ext cx="32471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EDF3FC"/>
                </a:solidFill>
                <a:latin typeface="Segoe UI Semibold"/>
              </a:rPr>
              <a:t>Compatibilidad y etiquetado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6475" y="3835908"/>
            <a:ext cx="3247125" cy="13030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Todos los USB son retrocompatibles hacia abajo, pero a la velocidad del más lento. Los logos certificados (SS, SS 10, ⚡) garantizan el estándar del cable.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5488" y="5330952"/>
            <a:ext cx="11240993" cy="868680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475488" y="5422392"/>
            <a:ext cx="32004" cy="6858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0080" y="542239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2D3EE"/>
                </a:solidFill>
                <a:latin typeface="Consolas"/>
              </a:rPr>
              <a:t>NOTA TÉCNICA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605272"/>
            <a:ext cx="10911809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Regla práctica: un cable «cargador» barato de gasolinera puede cargar el teléfono pero transferir datos a 2.0 o bloquear modos de video — revisar la serigrafía.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6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8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9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1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4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22D3EE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D3EE"/>
                </a:solidFill>
                <a:latin typeface="Consolas"/>
              </a:rPr>
              <a:t>01 · PUERTOS DE USO GENERAL Y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Puerto Serie (RS-232 / DB-9)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Comunicación asíncrona de transmisión bit a bit, el estándar industrial desde 1969.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09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1806588" cy="320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502919" y="1426464"/>
            <a:ext cx="82296" cy="822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1371600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El estándar </a:t>
            </a:r>
            <a:r>
              <a:rPr sz="1050" b="1">
                <a:solidFill>
                  <a:srgbClr val="C0CDE2"/>
                </a:solidFill>
                <a:latin typeface="Segoe UI Semibold"/>
              </a:rPr>
              <a:t>RS-232</a:t>
            </a:r>
            <a:r>
              <a:rPr sz="1050" b="0">
                <a:solidFill>
                  <a:srgbClr val="C0CDE2"/>
                </a:solidFill>
                <a:latin typeface="Segoe UI"/>
              </a:rPr>
              <a:t> define niveles eléctricos, temporización y protocolo para comunicación </a:t>
            </a:r>
            <a:r>
              <a:rPr sz="1050" b="1">
                <a:solidFill>
                  <a:srgbClr val="C0CDE2"/>
                </a:solidFill>
                <a:latin typeface="Segoe UI Semibold"/>
              </a:rPr>
              <a:t>asíncrona</a:t>
            </a:r>
            <a:r>
              <a:rPr sz="1050" b="0">
                <a:solidFill>
                  <a:srgbClr val="C0CDE2"/>
                </a:solidFill>
                <a:latin typeface="Segoe UI"/>
              </a:rPr>
              <a:t> entre DTE (equipo terminal) y DCE (módem).</a:t>
            </a:r>
          </a:p>
        </p:txBody>
      </p:sp>
      <p:sp>
        <p:nvSpPr>
          <p:cNvPr id="18" name="Oval 17"/>
          <p:cNvSpPr/>
          <p:nvPr/>
        </p:nvSpPr>
        <p:spPr>
          <a:xfrm>
            <a:off x="502919" y="1939114"/>
            <a:ext cx="82296" cy="822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1884250"/>
            <a:ext cx="5352257" cy="805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Conector clásico en forma de </a:t>
            </a:r>
            <a:r>
              <a:rPr sz="1150" b="1">
                <a:solidFill>
                  <a:srgbClr val="C0CDE2"/>
                </a:solidFill>
                <a:latin typeface="Segoe UI Semibold"/>
              </a:rPr>
              <a:t>«D» de 9 pines (DE-9 macho)</a:t>
            </a:r>
            <a:r>
              <a:rPr sz="1150" b="0">
                <a:solidFill>
                  <a:srgbClr val="C0CDE2"/>
                </a:solidFill>
                <a:latin typeface="Segoe UI"/>
              </a:rPr>
              <a:t>, llamado erróneamente «DB-9». En placas antiguas era de color </a:t>
            </a:r>
            <a:r>
              <a:rPr sz="1150" b="1">
                <a:solidFill>
                  <a:srgbClr val="C0CDE2"/>
                </a:solidFill>
                <a:latin typeface="Segoe UI Semibold"/>
              </a:rPr>
              <a:t>turquesa / azul verdoso</a:t>
            </a:r>
            <a:r>
              <a:rPr sz="1150" b="0">
                <a:solidFill>
                  <a:srgbClr val="C0CDE2"/>
                </a:solidFill>
                <a:latin typeface="Segoe UI"/>
              </a:rPr>
              <a:t> o </a:t>
            </a:r>
            <a:r>
              <a:rPr sz="1150" b="1">
                <a:solidFill>
                  <a:srgbClr val="C0CDE2"/>
                </a:solidFill>
                <a:latin typeface="Segoe UI Semibold"/>
              </a:rPr>
              <a:t>gris metálico</a:t>
            </a:r>
            <a:r>
              <a:rPr sz="1150" b="0">
                <a:solidFill>
                  <a:srgbClr val="C0CDE2"/>
                </a:solidFill>
                <a:latin typeface="Segoe UI"/>
              </a:rPr>
              <a:t>; en tarjetas modernas aparece como cabecera interna negra.</a:t>
            </a:r>
          </a:p>
        </p:txBody>
      </p:sp>
      <p:sp>
        <p:nvSpPr>
          <p:cNvPr id="20" name="Oval 19"/>
          <p:cNvSpPr/>
          <p:nvPr/>
        </p:nvSpPr>
        <p:spPr>
          <a:xfrm>
            <a:off x="502919" y="2854688"/>
            <a:ext cx="82296" cy="822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" y="2799824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Velocidad típica hasta </a:t>
            </a:r>
            <a:r>
              <a:rPr sz="1150" b="1">
                <a:solidFill>
                  <a:srgbClr val="C0CDE2"/>
                </a:solidFill>
                <a:latin typeface="Segoe UI Semibold"/>
              </a:rPr>
              <a:t>115.2 kbps</a:t>
            </a:r>
            <a:r>
              <a:rPr sz="1150" b="0">
                <a:solidFill>
                  <a:srgbClr val="C0CDE2"/>
                </a:solidFill>
                <a:latin typeface="Segoe UI"/>
              </a:rPr>
              <a:t> en configuraciones estándar (921.6 kbps con UART avanzados).</a:t>
            </a:r>
          </a:p>
        </p:txBody>
      </p:sp>
      <p:sp>
        <p:nvSpPr>
          <p:cNvPr id="22" name="Oval 21"/>
          <p:cNvSpPr/>
          <p:nvPr/>
        </p:nvSpPr>
        <p:spPr>
          <a:xfrm>
            <a:off x="502919" y="3367338"/>
            <a:ext cx="82296" cy="822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3312474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Sigue vivo en </a:t>
            </a:r>
            <a:r>
              <a:rPr sz="1150" b="1">
                <a:solidFill>
                  <a:srgbClr val="C0CDE2"/>
                </a:solidFill>
                <a:latin typeface="Segoe UI Semibold"/>
              </a:rPr>
              <a:t>consolas de red (Cisco rollover), PLCs industriales, equipos médicos, balanzas, GPS de precisión y módems antiguos</a:t>
            </a:r>
            <a:r>
              <a:rPr sz="1150" b="0">
                <a:solidFill>
                  <a:srgbClr val="C0CDE2"/>
                </a:solidFill>
                <a:latin typeface="Segoe UI"/>
              </a:rPr>
              <a:t>.</a:t>
            </a:r>
          </a:p>
        </p:txBody>
      </p:sp>
      <p:sp>
        <p:nvSpPr>
          <p:cNvPr id="24" name="Oval 23"/>
          <p:cNvSpPr/>
          <p:nvPr/>
        </p:nvSpPr>
        <p:spPr>
          <a:xfrm>
            <a:off x="502919" y="3879989"/>
            <a:ext cx="82296" cy="822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" y="3825125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Señal con tensiones de </a:t>
            </a:r>
            <a:r>
              <a:rPr sz="1150" b="1">
                <a:solidFill>
                  <a:srgbClr val="C0CDE2"/>
                </a:solidFill>
                <a:latin typeface="Segoe UI Semibold"/>
              </a:rPr>
              <a:t>±3 V a ±15 V</a:t>
            </a:r>
            <a:r>
              <a:rPr sz="1150" b="0">
                <a:solidFill>
                  <a:srgbClr val="C0CDE2"/>
                </a:solidFill>
                <a:latin typeface="Segoe UI"/>
              </a:rPr>
              <a:t> (típico ±12 V): más robusta al ruido que los 5 V de TTL, con cable de hasta 15 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6657" y="1316736"/>
            <a:ext cx="5504688" cy="4937760"/>
          </a:xfrm>
          <a:prstGeom prst="roundRect">
            <a:avLst>
              <a:gd name="adj" fmla="val 1661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icture 26" descr="p_rs232.jpg"/>
          <p:cNvPicPr>
            <a:picLocks noChangeAspect="1"/>
          </p:cNvPicPr>
          <p:nvPr/>
        </p:nvPicPr>
        <p:blipFill>
          <a:blip r:embed="rId2"/>
          <a:srcRect l="16602" r="16602"/>
          <a:stretch>
            <a:fillRect/>
          </a:stretch>
        </p:blipFill>
        <p:spPr>
          <a:xfrm>
            <a:off x="6321521" y="1371600"/>
            <a:ext cx="5285232" cy="4315968"/>
          </a:xfrm>
          <a:prstGeom prst="roundRect">
            <a:avLst>
              <a:gd name="adj" fmla="val 1384"/>
            </a:avLst>
          </a:prstGeom>
        </p:spPr>
      </p:pic>
      <p:sp>
        <p:nvSpPr>
          <p:cNvPr id="28" name="TextBox 27"/>
          <p:cNvSpPr txBox="1"/>
          <p:nvPr/>
        </p:nvSpPr>
        <p:spPr>
          <a:xfrm>
            <a:off x="6321521" y="5742432"/>
            <a:ext cx="528523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8B9CBB"/>
                </a:solidFill>
                <a:latin typeface="Segoe UI"/>
              </a:rPr>
              <a:t>Puerto serie DE-9 (macho) de color turquesa, aún presente en placas industriales.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22D3EE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D3EE"/>
                </a:solidFill>
                <a:latin typeface="Consolas"/>
              </a:rPr>
              <a:t>01 · PUERTOS DE USO GENERAL Y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RS-232 · Pinout y características eléctricas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Nueve líneas con función definida; solo tres son imprescindibles (TXD, RXD, GND).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10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2007320" cy="320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dsub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45" y="1554480"/>
            <a:ext cx="4631524" cy="367588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Conector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macho</a:t>
            </a:r>
            <a:r>
              <a:rPr sz="1019" b="0">
                <a:solidFill>
                  <a:srgbClr val="C0CDE2"/>
                </a:solidFill>
                <a:latin typeface="Segoe UI"/>
              </a:rPr>
              <a:t> en «D» de 9 pines (DE-9). Color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turquesa / azul verdoso</a:t>
            </a:r>
            <a:r>
              <a:rPr sz="1019" b="0">
                <a:solidFill>
                  <a:srgbClr val="C0CDE2"/>
                </a:solidFill>
                <a:latin typeface="Segoe UI"/>
              </a:rPr>
              <a:t> o gris metálico en placas antiguas; serigrafía «COM» o «Serial».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Hasta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115.2 kbps</a:t>
            </a:r>
            <a:r>
              <a:rPr sz="1019" b="0">
                <a:solidFill>
                  <a:srgbClr val="C0CDE2"/>
                </a:solidFill>
                <a:latin typeface="Segoe UI"/>
              </a:rPr>
              <a:t> habitual (921.6 kbps con UART 16C950). Asíncrono 7N1/8N1. Niveles RS-232: ±3…±15 V. Cable máx. 15 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Consolas de red, dispositivos médicos, módems antiguos, PLCs e industria. Pines clave: 2 RXD, 3 TXD, 5 GND (7 RTS, 8 CTS para flujo).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2D3EE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C0CDE2"/>
                </a:solidFill>
                <a:latin typeface="Segoe UI"/>
              </a:rPr>
              <a:t>Variantes hermanas: RS-422 y RS-485 usan señal diferencial y alcanzan 1.2 km y 10 Mbps, habituales en automatización industrial.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22D3EE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D3EE"/>
                </a:solidFill>
                <a:latin typeface="Consolas"/>
              </a:rPr>
              <a:t>01 · PUERTOS DE USO GENERAL Y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Puerto Paralelo (LPT / DB-25)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Transmisión simultánea de 8 bits a la vez, el reino de las impresoras hasta los 2000.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11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2208052" cy="320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dsub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1554480"/>
            <a:ext cx="4901183" cy="367588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Conector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hembra</a:t>
            </a:r>
            <a:r>
              <a:rPr sz="1019" b="0">
                <a:solidFill>
                  <a:srgbClr val="C0CDE2"/>
                </a:solidFill>
                <a:latin typeface="Segoe UI"/>
              </a:rPr>
              <a:t> grande en «D» de 25 pines. Tradicionalmente de tono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burdeos / rojo oscuro o rosa</a:t>
            </a:r>
            <a:r>
              <a:rPr sz="1019" b="0">
                <a:solidFill>
                  <a:srgbClr val="C0CDE2"/>
                </a:solidFill>
                <a:latin typeface="Segoe UI"/>
              </a:rPr>
              <a:t> en gabinetes AT/ATX (código de color PC99).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De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50 KB/s</a:t>
            </a:r>
            <a:r>
              <a:rPr sz="1019" b="0">
                <a:solidFill>
                  <a:srgbClr val="C0CDE2"/>
                </a:solidFill>
                <a:latin typeface="Segoe UI"/>
              </a:rPr>
              <a:t> (modo SPP) hasta más de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2 MB/s</a:t>
            </a:r>
            <a:r>
              <a:rPr sz="1019" b="0">
                <a:solidFill>
                  <a:srgbClr val="C0CDE2"/>
                </a:solidFill>
                <a:latin typeface="Segoe UI"/>
              </a:rPr>
              <a:t> con modos EPP/ECP. Estándar IEEE 1284. Cable máx. 10-15 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Impresoras matriciales y de chorro, escáneres antiguos, unidades ZIP, dongles de licencia y programadores de EPROM. Dirección base 0x378.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2D3EE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C0CDE2"/>
                </a:solidFill>
                <a:latin typeface="Segoe UI"/>
              </a:rPr>
              <a:t>ECP usa DMA y compresión RLE; EPP fue la evolución para discos y escáneres. Ambos convivieron con los modos clásicos SPP/PS2 en el mismo conector.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22D3EE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D3EE"/>
                </a:solidFill>
                <a:latin typeface="Consolas"/>
              </a:rPr>
              <a:t>01 · PUERTOS DE USO GENERAL Y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Thunderbolt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Ultra alta velocidad: combina PCI Express, DisplayPort y alimentación en un solo cable.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12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2408784" cy="320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thunderbo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048384"/>
            <a:ext cx="4992624" cy="2688079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En versiones recientes comparte el diseño del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USB Tipo C</a:t>
            </a:r>
            <a:r>
              <a:rPr sz="1019" b="0">
                <a:solidFill>
                  <a:srgbClr val="C0CDE2"/>
                </a:solidFill>
                <a:latin typeface="Segoe UI"/>
              </a:rPr>
              <a:t>, distinguiéndose obligatoriamente por un pequeño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icono de rayo</a:t>
            </a:r>
            <a:r>
              <a:rPr sz="1019" b="0">
                <a:solidFill>
                  <a:srgbClr val="C0CDE2"/>
                </a:solidFill>
                <a:latin typeface="Segoe UI"/>
              </a:rPr>
              <a:t> grabado junto al puerto. Thunderbolt 1 y 2 usaban Mini DisplayPort, también con rayo.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1">
                <a:solidFill>
                  <a:srgbClr val="C0CDE2"/>
                </a:solidFill>
                <a:latin typeface="Segoe UI Semibold"/>
              </a:rPr>
              <a:t>TB1: 10 Gbps · TB2: 20 Gbps · TB3 y TB4: 40 Gbps · TB5: hasta 80 Gbps</a:t>
            </a:r>
            <a:r>
              <a:rPr sz="1019" b="0">
                <a:solidFill>
                  <a:srgbClr val="C0CDE2"/>
                </a:solidFill>
                <a:latin typeface="Segoe UI"/>
              </a:rPr>
              <a:t> (120 Gbps en modo asimétrico). Tuneliza PCIe + DP + USB + PD.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Tarjetas gráficas externas (eGPU), almacenamiento profesional, docks y monitores 4K/8K. Daisy-chain de hasta 6 dispositivos; hasta 240 W de carga (TB5/PD).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2D3EE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C0CDE2"/>
                </a:solidFill>
                <a:latin typeface="Segoe UI"/>
              </a:rPr>
              <a:t>Cable pasivo: 0.8 m a 40 Gbps (2 m a 20 Gbps). Los cables activos u ópticos alcanzan 2-60 m manteniendo el ancho de banda completo.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22D3EE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D3EE"/>
                </a:solidFill>
                <a:latin typeface="Consolas"/>
              </a:rPr>
              <a:t>01 · PUERTOS DE USO GENERAL Y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Thunderbolt · Evolución de versiones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Cuatro generaciones con el mismo concepto: PCIe y DisplayPort multiplexados.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13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2609516" cy="320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75488" y="1371600"/>
            <a:ext cx="11240993" cy="329184"/>
          </a:xfrm>
          <a:prstGeom prst="rect">
            <a:avLst/>
          </a:prstGeom>
          <a:solidFill>
            <a:srgbClr val="22D3EE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1371600"/>
            <a:ext cx="145432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Versión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9269" y="1371600"/>
            <a:ext cx="63114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Año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718" y="1371600"/>
            <a:ext cx="163725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Ancho de banda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0277" y="1371600"/>
            <a:ext cx="20031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Conector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9694" y="1371600"/>
            <a:ext cx="478363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Pantallas / capacidades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1700784"/>
            <a:ext cx="11240993" cy="384048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1700784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Thunderbolt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9269" y="1700784"/>
            <a:ext cx="6311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2011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718" y="1700784"/>
            <a:ext cx="163725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10 Gbps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10277" y="1700784"/>
            <a:ext cx="2003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Mini DisplayPort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9694" y="1700784"/>
            <a:ext cx="47836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1× 2560×1600 · PCIe 2.0 x4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084831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Thunderbolt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9269" y="2084831"/>
            <a:ext cx="6311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2013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718" y="2084831"/>
            <a:ext cx="163725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20 Gbps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10277" y="2084831"/>
            <a:ext cx="2003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Mini DisplayPort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9694" y="2084831"/>
            <a:ext cx="47836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1× 4K · agrega dos enlaces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2468879"/>
            <a:ext cx="11240993" cy="384048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8640" y="2468879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Thunderbolt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9269" y="2468879"/>
            <a:ext cx="6311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2015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718" y="2468879"/>
            <a:ext cx="163725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40 Gbps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10277" y="2468879"/>
            <a:ext cx="2003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USB-C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9694" y="2468879"/>
            <a:ext cx="47836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2× 4K · eGPU · PD hasta 100 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852927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Thunderbolt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49269" y="2852927"/>
            <a:ext cx="6311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2020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718" y="2852927"/>
            <a:ext cx="163725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40 Gbps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10277" y="2852927"/>
            <a:ext cx="2003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USB-C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9694" y="2852927"/>
            <a:ext cx="47836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2× 4K o 1× 8K · docks · PD 100 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" y="3236975"/>
            <a:ext cx="11240993" cy="384048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48640" y="3236975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Thunderbolt 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49269" y="3236975"/>
            <a:ext cx="6311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2023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718" y="3236975"/>
            <a:ext cx="163725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80 / 120 Gbps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10277" y="3236975"/>
            <a:ext cx="2003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USB-C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9694" y="3236975"/>
            <a:ext cx="47836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2× 8K · PCIe 5.0 · PD hasta 240 W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75488" y="1371600"/>
            <a:ext cx="11240993" cy="2249423"/>
          </a:xfrm>
          <a:prstGeom prst="roundRect">
            <a:avLst>
              <a:gd name="adj" fmla="val 488"/>
            </a:avLst>
          </a:prstGeom>
          <a:noFill/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475488" y="5376672"/>
            <a:ext cx="11240993" cy="822960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475488" y="5468112"/>
            <a:ext cx="320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40080" y="546811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2D3EE"/>
                </a:solidFill>
                <a:latin typeface="Consolas"/>
              </a:rPr>
              <a:t>LECTURA DE LA TABLA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5650992"/>
            <a:ext cx="1091180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El icono del rayo es obligatorio: muchos puertos USB-C solo son USB (sin PCIe ni DisplayPort) y se confunden con Thunderbolt por la forma idéntica del conector.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5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fill="hold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fill="hold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fill="hold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fill="hold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fill="hold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fill="hold">
                                  <p:stCondLst>
                                    <p:cond delay="231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fill="hold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fill="hold">
                                  <p:stCondLst>
                                    <p:cond delay="253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fill="hold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fill="hold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fill="hold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fill="hold">
                                  <p:stCondLst>
                                    <p:cond delay="297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fill="hold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fill="hold">
                                  <p:stCondLst>
                                    <p:cond delay="319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5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fill="hold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8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fill="hold">
                                  <p:stCondLst>
                                    <p:cond delay="341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1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fill="hold">
                                  <p:stCondLst>
                                    <p:cond delay="352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4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22D3EE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D3EE"/>
                </a:solidFill>
                <a:latin typeface="Consolas"/>
              </a:rPr>
              <a:t>01 · PUERTOS DE USO GENERAL Y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FireWire (IEEE 1394)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Bus serie de alta velocidad desarrollado por Apple, pensado para vídeo en tiempo real.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14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2810248" cy="320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firew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995182"/>
            <a:ext cx="4992624" cy="279448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Conector rectangular con un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borde en ángulo o forma de «V»</a:t>
            </a:r>
            <a:r>
              <a:rPr sz="1019" b="0">
                <a:solidFill>
                  <a:srgbClr val="C0CDE2"/>
                </a:solidFill>
                <a:latin typeface="Segoe UI"/>
              </a:rPr>
              <a:t>. Detalles en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dorado</a:t>
            </a:r>
            <a:r>
              <a:rPr sz="1019" b="0">
                <a:solidFill>
                  <a:srgbClr val="C0CDE2"/>
                </a:solidFill>
                <a:latin typeface="Segoe UI"/>
              </a:rPr>
              <a:t> o marcos metálicos plateados con el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logo de FireWire</a:t>
            </a:r>
            <a:r>
              <a:rPr sz="1019" b="0">
                <a:solidFill>
                  <a:srgbClr val="C0CDE2"/>
                </a:solidFill>
                <a:latin typeface="Segoe UI"/>
              </a:rPr>
              <a:t> (círculo con tres ramas). 6 pines (Mac) o 4 pines (i.LINK, sin alimentación).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1">
                <a:solidFill>
                  <a:srgbClr val="C0CDE2"/>
                </a:solidFill>
                <a:latin typeface="Segoe UI Semibold"/>
              </a:rPr>
              <a:t>FireWire 400 (400 Mbps)</a:t>
            </a:r>
            <a:r>
              <a:rPr sz="1019" b="0">
                <a:solidFill>
                  <a:srgbClr val="C0CDE2"/>
                </a:solidFill>
                <a:latin typeface="Segoe UI"/>
              </a:rPr>
              <a:t> y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FireWire 800 (800 Mbps)</a:t>
            </a:r>
            <a:r>
              <a:rPr sz="1019" b="0">
                <a:solidFill>
                  <a:srgbClr val="C0CDE2"/>
                </a:solidFill>
                <a:latin typeface="Segoe UI"/>
              </a:rPr>
              <a:t>. Modo isócrono garantiza ancho de banda para vídeo sin interrupciones. Cable 4.5 m (100 m con fibra).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Videocámaras DV, discos duros externos de audio/video, interfaces de audio profesionales. Hasta 63 dispositivos en cadena, peer-to-peer y hot-swap.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2D3EE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C0CDE2"/>
                </a:solidFill>
                <a:latin typeface="Segoe UI"/>
              </a:rPr>
              <a:t>Apple lo retiró en 2011; su relevo lo tomaron USB 2.0/3.0, eSATA y Thunderbolt. Los equipos de edición de vídeo de los 2000 lo estandarizaron (i.LINK de Sony).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F59E0B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F59E0B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F59E0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15 / 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75488" y="6766560"/>
            <a:ext cx="3010980" cy="320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1188720"/>
            <a:ext cx="12191969" cy="5669280"/>
          </a:xfrm>
          <a:prstGeom prst="rect">
            <a:avLst/>
          </a:prstGeom>
          <a:solidFill>
            <a:srgbClr val="0D152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75488" y="1600200"/>
            <a:ext cx="42062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800" b="1">
                <a:solidFill>
                  <a:srgbClr val="F59E0B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310128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EDF3FC"/>
                </a:solidFill>
                <a:latin typeface="Segoe UI Semibold"/>
              </a:rPr>
              <a:t>Entrada de periféricos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4370832"/>
            <a:ext cx="1645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sec_entra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524990"/>
            <a:ext cx="4069080" cy="2219498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502919" y="4672584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4617720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Puerto PS/2: mini-DIN con código de colores estricto (verde y morado)</a:t>
            </a:r>
          </a:p>
        </p:txBody>
      </p:sp>
      <p:sp>
        <p:nvSpPr>
          <p:cNvPr id="19" name="Oval 18"/>
          <p:cNvSpPr/>
          <p:nvPr/>
        </p:nvSpPr>
        <p:spPr>
          <a:xfrm>
            <a:off x="502919" y="4913004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" y="4858140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Conector DIN de 5 pines de los teclados de la era IBM AT</a:t>
            </a:r>
          </a:p>
        </p:txBody>
      </p:sp>
      <p:sp>
        <p:nvSpPr>
          <p:cNvPr id="21" name="Oval 20"/>
          <p:cNvSpPr/>
          <p:nvPr/>
        </p:nvSpPr>
        <p:spPr>
          <a:xfrm>
            <a:off x="502919" y="5153425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5098561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Game Port (DA-15): joysticks analógicos y teclados MIDI</a:t>
            </a:r>
          </a:p>
        </p:txBody>
      </p:sp>
    </p:spTree>
  </p:cSld>
  <p:clrMapOvr>
    <a:masterClrMapping/>
  </p:clrMapOvr>
  <p:transition xmlns:p14="http://schemas.microsoft.com/office/powerpoint/2010/main" spd="med" advClick="1">
    <p14:switc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F59E0B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F59E0B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F59E0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59E0B"/>
                </a:solidFill>
                <a:latin typeface="Consolas"/>
              </a:rPr>
              <a:t>02 · ENTRADA DE PERIFÉRICOS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Puerto PS/2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Conector circular mini-DIN para periféricos de control, con identificación de color obligatoria.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16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3211712" cy="320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p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000025"/>
            <a:ext cx="4992624" cy="278479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Puerto redondo pequeño de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6 agujeros internos</a:t>
            </a:r>
            <a:r>
              <a:rPr sz="1019" b="0">
                <a:solidFill>
                  <a:srgbClr val="C0CDE2"/>
                </a:solidFill>
                <a:latin typeface="Segoe UI"/>
              </a:rPr>
              <a:t> con guía. Código de colores universal estricto: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VERDE = ratón</a:t>
            </a:r>
            <a:r>
              <a:rPr sz="1019" b="0">
                <a:solidFill>
                  <a:srgbClr val="C0CDE2"/>
                </a:solidFill>
                <a:latin typeface="Segoe UI"/>
              </a:rPr>
              <a:t> y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MORADO / VIOLETA = teclado</a:t>
            </a:r>
            <a:r>
              <a:rPr sz="1019" b="0">
                <a:solidFill>
                  <a:srgbClr val="C0CDE2"/>
                </a:solidFill>
                <a:latin typeface="Segoe UI"/>
              </a:rPr>
              <a:t> (norma PC99). En portátiles existe el puerto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combo</a:t>
            </a:r>
            <a:r>
              <a:rPr sz="1019" b="0">
                <a:solidFill>
                  <a:srgbClr val="C0CDE2"/>
                </a:solidFill>
                <a:latin typeface="Segoe UI"/>
              </a:rPr>
              <a:t> azul para ambos.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Comunicación directa de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baja latencia</a:t>
            </a:r>
            <a:r>
              <a:rPr sz="1019" b="0">
                <a:solidFill>
                  <a:srgbClr val="C0CDE2"/>
                </a:solidFill>
                <a:latin typeface="Segoe UI"/>
              </a:rPr>
              <a:t> basada en interrupciones de hardware (IRQ 1 teclado, IRQ 12 ratón), a 10-16.7 kHz.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+5 V</a:t>
            </a:r>
            <a:r>
              <a:rPr sz="1019" b="0">
                <a:solidFill>
                  <a:srgbClr val="C0CDE2"/>
                </a:solidFill>
                <a:latin typeface="Segoe UI"/>
              </a:rPr>
              <a:t> · ~100 mA por puerto.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Teclados y ratones de conexión directa. Muy apreciado en teclados mecánicos por su NKRO nativo y ausencia de latencia añadida por USB.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59E0B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C0CDE2"/>
                </a:solidFill>
                <a:latin typeface="Segoe UI"/>
              </a:rPr>
              <a:t>Datos que faltan: de los 6 pines solo 4 son activos (DATA, CLK, +5 V, GND). No es hot-plug en BIOS antiguos (se reconoce al arranque). Los adaptadores USB pasivos solo funcionan en puertos combo.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F59E0B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F59E0B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F59E0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59E0B"/>
                </a:solidFill>
                <a:latin typeface="Consolas"/>
              </a:rPr>
              <a:t>02 · ENTRADA DE PERIFÉRICOS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Conector DIN de 5 pines (teclado AT)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El conector circular grande de los teclados de las PCs de la era IBM AT.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17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3412444" cy="320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din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333" y="1554480"/>
            <a:ext cx="4182148" cy="367588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Conector circular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grande de color plateado metálico</a:t>
            </a:r>
            <a:r>
              <a:rPr sz="1019" b="0">
                <a:solidFill>
                  <a:srgbClr val="C0CDE2"/>
                </a:solidFill>
                <a:latin typeface="Segoe UI"/>
              </a:rPr>
              <a:t> (270°, 5 pines) con un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anillo guía</a:t>
            </a:r>
            <a:r>
              <a:rPr sz="1019" b="0">
                <a:solidFill>
                  <a:srgbClr val="C0CDE2"/>
                </a:solidFill>
                <a:latin typeface="Segoe UI"/>
              </a:rPr>
              <a:t> y los pines dispuestos en forma de media luna. No confundir con el mini-DIN de PS/2, mucho más pequeño.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Baja velocidad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síncrona</a:t>
            </a:r>
            <a:r>
              <a:rPr sz="1019" b="0">
                <a:solidFill>
                  <a:srgbClr val="C0CDE2"/>
                </a:solidFill>
                <a:latin typeface="Segoe UI"/>
              </a:rPr>
              <a:t> para pulsaciones de teclas: reloj de 10-16.7 kHz con línea de datos serie. Alimentación +5 V y señal TTL.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Teclados de computadoras antiguas (décadas de 1980-1990): IBM PC/XT y AT, clones 286/386 y teclados industriales con adaptador DIN→PS/2.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59E0B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C0CDE2"/>
                </a:solidFill>
                <a:latin typeface="Segoe UI"/>
              </a:rPr>
              <a:t>Pinout AT: 1 CLK · 2 DATA · 3 RESET · 4 GND · 5 +5 V (el IBM XT usaba otro orden). Muchos teclados DIN incluían un adaptador pasivo a PS/2.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F59E0B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F59E0B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F59E0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59E0B"/>
                </a:solidFill>
                <a:latin typeface="Consolas"/>
              </a:rPr>
              <a:t>02 · ENTRADA DE PERIFÉRICOS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Puerto de Juegos (Game Port / DA-15)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Puerto analógico para mandos de juego y dispositivos musicales MIDI.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18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3613176" cy="320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gam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371" y="1554480"/>
            <a:ext cx="4816073" cy="367588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Conector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hembra en forma de «D» de 15 pines</a:t>
            </a:r>
            <a:r>
              <a:rPr sz="1019" b="0">
                <a:solidFill>
                  <a:srgbClr val="C0CDE2"/>
                </a:solidFill>
                <a:latin typeface="Segoe UI"/>
              </a:rPr>
              <a:t> (DA-15, dos filas de 8+7). Típicamente pintado de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amarillo dorado</a:t>
            </a:r>
            <a:r>
              <a:rPr sz="1019" b="0">
                <a:solidFill>
                  <a:srgbClr val="C0CDE2"/>
                </a:solidFill>
                <a:latin typeface="Segoe UI"/>
              </a:rPr>
              <a:t> o integrado en las tarjetas de sonido clásicas (Creative Sound Blaster).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Baja velocidad de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muestreo analógico</a:t>
            </a:r>
            <a:r>
              <a:rPr sz="1019" b="0">
                <a:solidFill>
                  <a:srgbClr val="C0CDE2"/>
                </a:solidFill>
                <a:latin typeface="Segoe UI"/>
              </a:rPr>
              <a:t> (ejes leídos por resistencias de 100 kΩ, sin digitalización interna). El adaptador MIDI trabaja a 31.25 kbaud.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Joysticks analógicos, volantes, gamepads de la era DOS y teclados sintetizadores MIDI mediante adaptador de 15 pines a dos conectores DIN-5.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59E0B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C0CDE2"/>
                </a:solidFill>
                <a:latin typeface="Segoe UI"/>
              </a:rPr>
              <a:t>Datos que faltan: soporta 4 ejes (X, Y, rudder, throttle) y 4 botones; sin detección automática ni alimentación para periféricos complejos. Reemplazado por USB HID alrededor del año 2000.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A78BF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A78BF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A78BFA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19 / 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75488" y="6766560"/>
            <a:ext cx="3813908" cy="320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1188720"/>
            <a:ext cx="12191969" cy="5669280"/>
          </a:xfrm>
          <a:prstGeom prst="rect">
            <a:avLst/>
          </a:prstGeom>
          <a:solidFill>
            <a:srgbClr val="0D152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75488" y="1600200"/>
            <a:ext cx="42062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800" b="1">
                <a:solidFill>
                  <a:srgbClr val="A78BFA"/>
                </a:solidFill>
                <a:latin typeface="Consola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310128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EDF3FC"/>
                </a:solidFill>
                <a:latin typeface="Segoe UI Semibold"/>
              </a:rPr>
              <a:t>Puertos de video y pantalla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4370832"/>
            <a:ext cx="1645920" cy="457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sec_vide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524990"/>
            <a:ext cx="4069080" cy="2219498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502919" y="4672584"/>
            <a:ext cx="82296" cy="82296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4617720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VGA: la interfaz analógica azul de los monitores CRT</a:t>
            </a:r>
          </a:p>
        </p:txBody>
      </p:sp>
      <p:sp>
        <p:nvSpPr>
          <p:cNvPr id="19" name="Oval 18"/>
          <p:cNvSpPr/>
          <p:nvPr/>
        </p:nvSpPr>
        <p:spPr>
          <a:xfrm>
            <a:off x="502919" y="4913004"/>
            <a:ext cx="82296" cy="82296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" y="4858140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DVI: el paso al video digital (DVI-D, DVI-A, DVI-I)</a:t>
            </a:r>
          </a:p>
        </p:txBody>
      </p:sp>
      <p:sp>
        <p:nvSpPr>
          <p:cNvPr id="21" name="Oval 20"/>
          <p:cNvSpPr/>
          <p:nvPr/>
        </p:nvSpPr>
        <p:spPr>
          <a:xfrm>
            <a:off x="502919" y="5153425"/>
            <a:ext cx="82296" cy="82296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5098561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HDMI: audio y video de alta definición para TV y cine en casa</a:t>
            </a:r>
          </a:p>
        </p:txBody>
      </p:sp>
      <p:sp>
        <p:nvSpPr>
          <p:cNvPr id="23" name="Oval 22"/>
          <p:cNvSpPr/>
          <p:nvPr/>
        </p:nvSpPr>
        <p:spPr>
          <a:xfrm>
            <a:off x="502919" y="5393845"/>
            <a:ext cx="82296" cy="82296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" y="5338981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DisplayPort: el estándar de gaming y estaciones gráficas</a:t>
            </a:r>
          </a:p>
        </p:txBody>
      </p:sp>
      <p:sp>
        <p:nvSpPr>
          <p:cNvPr id="25" name="Oval 24"/>
          <p:cNvSpPr/>
          <p:nvPr/>
        </p:nvSpPr>
        <p:spPr>
          <a:xfrm>
            <a:off x="502919" y="5634266"/>
            <a:ext cx="82296" cy="82296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5579402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S-Video y video compuesto: las últimas señales analógicas</a:t>
            </a:r>
          </a:p>
        </p:txBody>
      </p:sp>
    </p:spTree>
  </p:cSld>
  <p:clrMapOvr>
    <a:masterClrMapping/>
  </p:clrMapOvr>
  <p:transition xmlns:p14="http://schemas.microsoft.com/office/powerpoint/2010/main" spd="med" advClick="1">
    <p14:switc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A78BF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A78BF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A78BFA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78BFA"/>
                </a:solidFill>
                <a:latin typeface="Consolas"/>
              </a:rPr>
              <a:t>03 · PUERTOS DE VIDEO Y PANTALLA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VGA (Video Graphics Array)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Interfaz gráfica analógica tradicional, presente en monitores CRT y proyectores.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20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4014640" cy="320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v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710618"/>
            <a:ext cx="4992624" cy="336361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Conector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trapezoidal de 15 pines en tres filas</a:t>
            </a:r>
            <a:r>
              <a:rPr sz="1019" b="0">
                <a:solidFill>
                  <a:srgbClr val="C0CDE2"/>
                </a:solidFill>
                <a:latin typeface="Segoe UI"/>
              </a:rPr>
              <a:t> (HD15/DE-15) con tornillos de sujeción manual a los lados. Su elemento identificador universal es el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color azul</a:t>
            </a:r>
            <a:r>
              <a:rPr sz="1019" b="0">
                <a:solidFill>
                  <a:srgbClr val="C0CDE2"/>
                </a:solidFill>
                <a:latin typeface="Segoe UI"/>
              </a:rPr>
              <a:t> del interior de plástico (código PC99).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Señal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analógica RGBHV</a:t>
            </a:r>
            <a:r>
              <a:rPr sz="1019" b="0">
                <a:solidFill>
                  <a:srgbClr val="C0CDE2"/>
                </a:solidFill>
                <a:latin typeface="Segoe UI"/>
              </a:rPr>
              <a:t> (0.7 Vp-p, 75 Ω) sin compresión. Optimizado para 640×480 o 1024×768; con buen cable soporta hasta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1920×1200 @ 60 Hz</a:t>
            </a:r>
            <a:r>
              <a:rPr sz="1019" b="0">
                <a:solidFill>
                  <a:srgbClr val="C0CDE2"/>
                </a:solidFill>
                <a:latin typeface="Segoe UI"/>
              </a:rPr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Monitores CRT, proyectores analógicos, pantallas de equipos industriales y KVM antiguos. Comunicación DDC/EDID para plug &amp; play del monitor.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A78BFA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C0CDE2"/>
                </a:solidFill>
                <a:latin typeface="Segoe UI"/>
              </a:rPr>
              <a:t>Datos que faltan: convierte a analógico cada señal (DAC en la GPU), por lo que aparece ghosting y reflejos en cables largos. Longitud práctica: 3-15 m.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A78BF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A78BF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A78BFA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78BFA"/>
                </a:solidFill>
                <a:latin typeface="Consolas"/>
              </a:rPr>
              <a:t>03 · PUERTOS DE VIDEO Y PANTALLA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DVI (Digital Visual Interface)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Interfaz para transmisión de video digital o híbrido (análogo-digital).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21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4215372" cy="320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dv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966181"/>
            <a:ext cx="4992624" cy="2852485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Conector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rectangular largo</a:t>
            </a:r>
            <a:r>
              <a:rPr sz="1019" b="0">
                <a:solidFill>
                  <a:srgbClr val="C0CDE2"/>
                </a:solidFill>
                <a:latin typeface="Segoe UI"/>
              </a:rPr>
              <a:t> con una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barra horizontal (blade)</a:t>
            </a:r>
            <a:r>
              <a:rPr sz="1019" b="0">
                <a:solidFill>
                  <a:srgbClr val="C0CDE2"/>
                </a:solidFill>
                <a:latin typeface="Segoe UI"/>
              </a:rPr>
              <a:t> a un costado y tornillos de sujeción. Interior de plástico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blanco o gris claro</a:t>
            </a:r>
            <a:r>
              <a:rPr sz="1019" b="0">
                <a:solidFill>
                  <a:srgbClr val="C0CDE2"/>
                </a:solidFill>
                <a:latin typeface="Segoe UI"/>
              </a:rPr>
              <a:t> (PC99). Pinout DVI-I añade 4 pines analógicos alrededor de la blade.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Hasta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4.95 Gbps</a:t>
            </a:r>
            <a:r>
              <a:rPr sz="1019" b="0">
                <a:solidFill>
                  <a:srgbClr val="C0CDE2"/>
                </a:solidFill>
                <a:latin typeface="Segoe UI"/>
              </a:rPr>
              <a:t> (Single Link: 1920×1200 @ 60 Hz) o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9.9 Gbps</a:t>
            </a:r>
            <a:r>
              <a:rPr sz="1019" b="0">
                <a:solidFill>
                  <a:srgbClr val="C0CDE2"/>
                </a:solidFill>
                <a:latin typeface="Segoe UI"/>
              </a:rPr>
              <a:t> (Dual Link: 2560×1600 @ 60 Hz) mediante enlaces TMDS de 1.65 Gbps por canal.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Monitores planos LCD de primera generación. DVI-D solo digital; DVI-A solo analógico; DVI-I integrado, adaptable a VGA con cable pasivo. HDCP opcional.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A78BFA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C0CDE2"/>
                </a:solidFill>
                <a:latin typeface="Segoe UI"/>
              </a:rPr>
              <a:t>Datos que faltan: Longitud práctica de cable 5-10 m. Un adaptador DVI→HDMI es pasivo (solo video; el audio requiere HDMI nativo). Fue el puente entre el analógico y el HDMI/DisplayPort modernos.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A78BF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A78BF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A78BFA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78BFA"/>
                </a:solidFill>
                <a:latin typeface="Consolas"/>
              </a:rPr>
              <a:t>03 · PUERTOS DE VIDEO Y PANTALLA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HDMI (High-Definition Multimedia Interface)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Estándar de audio y video digital de alta definición, el rey del salón.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22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4416104" cy="320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hd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144268"/>
            <a:ext cx="4992624" cy="249631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Conector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delgado con esquinas biseladas inferiores</a:t>
            </a:r>
            <a:r>
              <a:rPr sz="1019" b="0">
                <a:solidFill>
                  <a:srgbClr val="C0CDE2"/>
                </a:solidFill>
                <a:latin typeface="Segoe UI"/>
              </a:rPr>
              <a:t> (trapecio aplanado), enmarcado en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metal cromado</a:t>
            </a:r>
            <a:r>
              <a:rPr sz="1019" b="0">
                <a:solidFill>
                  <a:srgbClr val="C0CDE2"/>
                </a:solidFill>
                <a:latin typeface="Segoe UI"/>
              </a:rPr>
              <a:t>. Interior generalmente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negro</a:t>
            </a:r>
            <a:r>
              <a:rPr sz="1019" b="0">
                <a:solidFill>
                  <a:srgbClr val="C0CDE2"/>
                </a:solidFill>
                <a:latin typeface="Segoe UI"/>
              </a:rPr>
              <a:t>, sin código de color; se identifica por el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logotipo HDMI grabado</a:t>
            </a:r>
            <a:r>
              <a:rPr sz="1019" b="0">
                <a:solidFill>
                  <a:srgbClr val="C0CDE2"/>
                </a:solidFill>
                <a:latin typeface="Segoe UI"/>
              </a:rPr>
              <a:t>. Tipos: A (estándar), C (mini) y D (micro).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1">
                <a:solidFill>
                  <a:srgbClr val="C0CDE2"/>
                </a:solidFill>
                <a:latin typeface="Segoe UI Semibold"/>
              </a:rPr>
              <a:t>HDMI 1.4: 10.2 Gbps</a:t>
            </a:r>
            <a:r>
              <a:rPr sz="1019" b="0">
                <a:solidFill>
                  <a:srgbClr val="C0CDE2"/>
                </a:solidFill>
                <a:latin typeface="Segoe UI"/>
              </a:rPr>
              <a:t> (4K @ 30 Hz) ·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HDMI 2.0: 18 Gbps</a:t>
            </a:r>
            <a:r>
              <a:rPr sz="1019" b="0">
                <a:solidFill>
                  <a:srgbClr val="C0CDE2"/>
                </a:solidFill>
                <a:latin typeface="Segoe UI"/>
              </a:rPr>
              <a:t> (4K @ 60 Hz) ·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HDMI 2.1: 48 Gbps</a:t>
            </a:r>
            <a:r>
              <a:rPr sz="1019" b="0">
                <a:solidFill>
                  <a:srgbClr val="C0CDE2"/>
                </a:solidFill>
                <a:latin typeface="Segoe UI"/>
              </a:rPr>
              <a:t> (8K @ 60 Hz / 4K @ 120 Hz).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Televisores, monitores, proyectores y sistemas de cine en casa. Transporta audio multicanal sin comprimir (hasta 32 canales) y video con HDR.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A78BFA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C0CDE2"/>
                </a:solidFill>
                <a:latin typeface="Segoe UI"/>
              </a:rPr>
              <a:t>Datos que faltan: ARC/eARC devuelve audio del TV al receptor (eARC: 37 Mbps, Dolby TrueHD/Atmos); CEC permite controlar todo con un solo mando; HDCP 2.3 protege el contenido. Cable estándar 5 m (certificado 15 m).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A78BF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A78BF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A78BFA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78BFA"/>
                </a:solidFill>
                <a:latin typeface="Consolas"/>
              </a:rPr>
              <a:t>03 · PUERTOS DE VIDEO Y PANTALLA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HDMI · Versiones y capacidades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Cada versión multiplica el ancho de banda y añade funciones para juegos y HDR.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23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4616836" cy="320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75488" y="1371600"/>
            <a:ext cx="11240993" cy="329184"/>
          </a:xfrm>
          <a:prstGeom prst="rect">
            <a:avLst/>
          </a:prstGeom>
          <a:solidFill>
            <a:srgbClr val="A78BFA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1371600"/>
            <a:ext cx="12713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Versión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6340" y="1371600"/>
            <a:ext cx="63114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Año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789" y="1371600"/>
            <a:ext cx="163725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Ancho de banda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7348" y="1371600"/>
            <a:ext cx="291775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Máximo de video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91410" y="1371600"/>
            <a:ext cx="405191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Funciones clave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1700784"/>
            <a:ext cx="11240993" cy="402336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1700784"/>
            <a:ext cx="127139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HDMI 1.0-1.2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6340" y="1700784"/>
            <a:ext cx="63114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2002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789" y="1700784"/>
            <a:ext cx="163725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4.95 Gbps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7348" y="1700784"/>
            <a:ext cx="291775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1080p @ 60 Hz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91410" y="1700784"/>
            <a:ext cx="405191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audio DVD/HDPCM · HDCP 1.0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103120"/>
            <a:ext cx="127139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HDMI 1.3-1.4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6340" y="2103120"/>
            <a:ext cx="63114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2006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789" y="2103120"/>
            <a:ext cx="163725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10.2 Gbps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7348" y="2103120"/>
            <a:ext cx="291775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4K @ 30 Hz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91410" y="2103120"/>
            <a:ext cx="405191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ARC · Deep Color · 3D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2505456"/>
            <a:ext cx="11240993" cy="402336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8640" y="2505456"/>
            <a:ext cx="127139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HDMI 2.0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6340" y="2505456"/>
            <a:ext cx="63114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2013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789" y="2505456"/>
            <a:ext cx="163725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18 Gbps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7348" y="2505456"/>
            <a:ext cx="291775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4K @ 60 Hz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91410" y="2505456"/>
            <a:ext cx="405191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4:2:0 · audio 32 canales · CEC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907791"/>
            <a:ext cx="127139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HDMI 2.0b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66340" y="2907791"/>
            <a:ext cx="63114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2016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789" y="2907791"/>
            <a:ext cx="163725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18 Gbps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27348" y="2907791"/>
            <a:ext cx="291775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4K @ 60 Hz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91410" y="2907791"/>
            <a:ext cx="405191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HDR10 estático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" y="3310127"/>
            <a:ext cx="11240993" cy="402336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48640" y="3310127"/>
            <a:ext cx="127139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HDMI 2.1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66340" y="3310127"/>
            <a:ext cx="63114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2017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789" y="3310127"/>
            <a:ext cx="163725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48 Gbps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27348" y="3310127"/>
            <a:ext cx="291775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8K @ 60 / 4K @ 120 Hz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91410" y="3310127"/>
            <a:ext cx="405191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eARC · VRR · ALLM · HDR dinámico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75488" y="1371600"/>
            <a:ext cx="11240993" cy="2340863"/>
          </a:xfrm>
          <a:prstGeom prst="roundRect">
            <a:avLst>
              <a:gd name="adj" fmla="val 488"/>
            </a:avLst>
          </a:prstGeom>
          <a:noFill/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475488" y="5376672"/>
            <a:ext cx="11240993" cy="822960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475488" y="5468112"/>
            <a:ext cx="32004" cy="6400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40080" y="546811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A78BFA"/>
                </a:solidFill>
                <a:latin typeface="Consolas"/>
              </a:rPr>
              <a:t>LECTURA DE LA TABLA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5650992"/>
            <a:ext cx="1091180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El cable es siempre el mismo conector; para 4K120/8K hace falta cable «Ultra High Speed» certificado (48 Gbps). Los cables largos de mala calidad causan destellos negros por errores de bit.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5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fill="hold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fill="hold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fill="hold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fill="hold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fill="hold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fill="hold">
                                  <p:stCondLst>
                                    <p:cond delay="231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fill="hold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fill="hold">
                                  <p:stCondLst>
                                    <p:cond delay="253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fill="hold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fill="hold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fill="hold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fill="hold">
                                  <p:stCondLst>
                                    <p:cond delay="297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fill="hold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fill="hold">
                                  <p:stCondLst>
                                    <p:cond delay="319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5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fill="hold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8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fill="hold">
                                  <p:stCondLst>
                                    <p:cond delay="341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1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fill="hold">
                                  <p:stCondLst>
                                    <p:cond delay="352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4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A78BF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A78BF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A78BFA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78BFA"/>
                </a:solidFill>
                <a:latin typeface="Consolas"/>
              </a:rPr>
              <a:t>03 · PUERTOS DE VIDEO Y PANTALLA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HDMI · Tipos de conector y funciones avanzadas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Lo que no dice la etiqueta del cable: formatos físicos y protocolos incluidos.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24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4817568" cy="320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3612885" cy="1805939"/>
          </a:xfrm>
          <a:prstGeom prst="roundRect">
            <a:avLst>
              <a:gd name="adj" fmla="val 2530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75488" y="1481328"/>
            <a:ext cx="32004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1517904"/>
            <a:ext cx="32471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EDF3FC"/>
                </a:solidFill>
                <a:latin typeface="Segoe UI Semibold"/>
              </a:rPr>
              <a:t>Type A (estándar)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828800"/>
            <a:ext cx="3247125" cy="13030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19 pines, el de televisores, monitores y consolas. Es el conector «HDMI» sin más calificativos.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9541" y="1371600"/>
            <a:ext cx="3612885" cy="1805939"/>
          </a:xfrm>
          <a:prstGeom prst="roundRect">
            <a:avLst>
              <a:gd name="adj" fmla="val 2530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289541" y="1481328"/>
            <a:ext cx="32004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472421" y="1517904"/>
            <a:ext cx="32471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EDF3FC"/>
                </a:solidFill>
                <a:latin typeface="Segoe UI Semibold"/>
              </a:rPr>
              <a:t>Type C (Mini) y Type D (Micro)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2421" y="1828800"/>
            <a:ext cx="3247125" cy="13030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Mini HDMI: cámaras y tablets. Micro HDMI: portátiles ultradelgados y teléfonos. Mismas señales, conector reducido.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595" y="1371600"/>
            <a:ext cx="3612885" cy="1805939"/>
          </a:xfrm>
          <a:prstGeom prst="roundRect">
            <a:avLst>
              <a:gd name="adj" fmla="val 2530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103595" y="1481328"/>
            <a:ext cx="32004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86475" y="1517904"/>
            <a:ext cx="32471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EDF3FC"/>
                </a:solidFill>
                <a:latin typeface="Segoe UI Semibold"/>
              </a:rPr>
              <a:t>Type E (automoción)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6475" y="1828800"/>
            <a:ext cx="3247125" cy="13030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Con bloqueo anti-vibración para coches; raro en informática doméstica pero oficial desde HDMI 1.4.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3378708"/>
            <a:ext cx="3612885" cy="1805939"/>
          </a:xfrm>
          <a:prstGeom prst="roundRect">
            <a:avLst>
              <a:gd name="adj" fmla="val 2530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475488" y="3488436"/>
            <a:ext cx="3200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8368" y="3525012"/>
            <a:ext cx="32471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EDF3FC"/>
                </a:solidFill>
                <a:latin typeface="Segoe UI Semibold"/>
              </a:rPr>
              <a:t>ARC / eARC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835908"/>
            <a:ext cx="3247125" cy="13030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Canal de retorno de audio: el TV envía sonido al receptor/soundbar por el mismo cable. eARC (2.1) añade audio sin pérdida y Dolby Atmos.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89541" y="3378708"/>
            <a:ext cx="3612885" cy="1805939"/>
          </a:xfrm>
          <a:prstGeom prst="roundRect">
            <a:avLst>
              <a:gd name="adj" fmla="val 2530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4289541" y="3488436"/>
            <a:ext cx="32004" cy="3840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472421" y="3525012"/>
            <a:ext cx="32471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200" b="1">
                <a:solidFill>
                  <a:srgbClr val="EDF3FC"/>
                </a:solidFill>
                <a:latin typeface="Segoe UI Semibold"/>
              </a:rPr>
              <a:t>CEC (Consumer Electronics Control)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72421" y="3835908"/>
            <a:ext cx="3247125" cy="13030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Un solo mando gobierna TV, receptor y reproductor conectados. Cada fabricante lo llama distinto (Anynet+, BRAVIA Sync, Simplink).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03595" y="3378708"/>
            <a:ext cx="3612885" cy="1805939"/>
          </a:xfrm>
          <a:prstGeom prst="roundRect">
            <a:avLst>
              <a:gd name="adj" fmla="val 2530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8103595" y="3488436"/>
            <a:ext cx="32004" cy="3840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286475" y="3525012"/>
            <a:ext cx="32471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EDF3FC"/>
                </a:solidFill>
                <a:latin typeface="Segoe UI Semibold"/>
              </a:rPr>
              <a:t>HDCP y HDR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6475" y="3835908"/>
            <a:ext cx="3247125" cy="13030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HDCP 1.4/2.2/2.3 cifra el contenido (4K exige 2.2+). HDR10, HDR10+ y Dolby Vision amplían el rango dinámico con metadatos.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5488" y="5330952"/>
            <a:ext cx="11240993" cy="868680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475488" y="5422392"/>
            <a:ext cx="32004" cy="6858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0080" y="542239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A78BFA"/>
                </a:solidFill>
                <a:latin typeface="Consolas"/>
              </a:rPr>
              <a:t>NOTA TÉCNICA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605272"/>
            <a:ext cx="10911809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Regla práctica: comprar cables «Ultra High Speed» certificados para 4K120; los cables de 10 m sin certificación fallan antes que los ópticos activos.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6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8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9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1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4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A78BF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A78BF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A78BFA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78BFA"/>
                </a:solidFill>
                <a:latin typeface="Consolas"/>
              </a:rPr>
              <a:t>03 · PUERTOS DE VIDEO Y PANTALLA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DisplayPort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Interfaz de video y audio digital de alto rendimiento para informática profesional y gaming.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25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5018300" cy="320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d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000025"/>
            <a:ext cx="4992624" cy="278479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Rectangular con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solo una esquina biselada</a:t>
            </a:r>
            <a:r>
              <a:rPr sz="1019" b="0">
                <a:solidFill>
                  <a:srgbClr val="C0CDE2"/>
                </a:solidFill>
                <a:latin typeface="Segoe UI"/>
              </a:rPr>
              <a:t> y un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botón o pestillo de seguridad</a:t>
            </a:r>
            <a:r>
              <a:rPr sz="1019" b="0">
                <a:solidFill>
                  <a:srgbClr val="C0CDE2"/>
                </a:solidFill>
                <a:latin typeface="Segoe UI"/>
              </a:rPr>
              <a:t> superior para liberar el cable. Interior generalmente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negro</a:t>
            </a:r>
            <a:r>
              <a:rPr sz="1019" b="0">
                <a:solidFill>
                  <a:srgbClr val="C0CDE2"/>
                </a:solidFill>
                <a:latin typeface="Segoe UI"/>
              </a:rPr>
              <a:t>. Existe variante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Mini DisplayPort</a:t>
            </a:r>
            <a:r>
              <a:rPr sz="1019" b="0">
                <a:solidFill>
                  <a:srgbClr val="C0CDE2"/>
                </a:solidFill>
                <a:latin typeface="Segoe UI"/>
              </a:rPr>
              <a:t> (portátiles, sin pestillo).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1">
                <a:solidFill>
                  <a:srgbClr val="C0CDE2"/>
                </a:solidFill>
                <a:latin typeface="Segoe UI Semibold"/>
              </a:rPr>
              <a:t>DP 1.2: 21.6 Gbps</a:t>
            </a:r>
            <a:r>
              <a:rPr sz="1019" b="0">
                <a:solidFill>
                  <a:srgbClr val="C0CDE2"/>
                </a:solidFill>
                <a:latin typeface="Segoe UI"/>
              </a:rPr>
              <a:t> ·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DP 1.4: 32.4 Gbps</a:t>
            </a:r>
            <a:r>
              <a:rPr sz="1019" b="0">
                <a:solidFill>
                  <a:srgbClr val="C0CDE2"/>
                </a:solidFill>
                <a:latin typeface="Segoe UI"/>
              </a:rPr>
              <a:t> ·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DP 2.0/2.1: hasta 80 Gbps</a:t>
            </a:r>
            <a:r>
              <a:rPr sz="1019" b="0">
                <a:solidFill>
                  <a:srgbClr val="C0CDE2"/>
                </a:solidFill>
                <a:latin typeface="Segoe UI"/>
              </a:rPr>
              <a:t> (UHBR20). 20 pines · audio 8 canales a 192 kHz.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Monitores gaming de alta tasa de refresco (144-540 Hz), estaciones gráficas avanzadas y cadenas de monitores (MST). Base del conector VESA desde 2006.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A78BFA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C0CDE2"/>
                </a:solidFill>
                <a:latin typeface="Segoe UI"/>
              </a:rPr>
              <a:t>Datos que faltan: Multi-Stream (MST) encadena varios monitores por un solo puerto; Adaptive-Sync (FreeSync/G-Sync Compatible) sincroniza refresco; USB-C Alt Mode lo transporta por USB-C. Cable pasivo 2-3 m (activo/óptico 15+ m).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A78BF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A78BF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A78BFA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78BFA"/>
                </a:solidFill>
                <a:latin typeface="Consolas"/>
              </a:rPr>
              <a:t>03 · PUERTOS DE VIDEO Y PANTALLA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DisplayPort · Versiones y modos de señal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Nombres de modo (HBR, UHBR) que definen la velocidad real por carril.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26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5219032" cy="320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75488" y="1371600"/>
            <a:ext cx="11240993" cy="329184"/>
          </a:xfrm>
          <a:prstGeom prst="rect">
            <a:avLst/>
          </a:prstGeom>
          <a:solidFill>
            <a:srgbClr val="A78BFA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1371600"/>
            <a:ext cx="136286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Versión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805" y="1371600"/>
            <a:ext cx="63114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Año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5253" y="1371600"/>
            <a:ext cx="145432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Modo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5883" y="1371600"/>
            <a:ext cx="19116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Ancho de banda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3835" y="1371600"/>
            <a:ext cx="514949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Máximo típico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1700784"/>
            <a:ext cx="11240993" cy="384048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1700784"/>
            <a:ext cx="136286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DP 1.1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805" y="1700784"/>
            <a:ext cx="6311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2007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5253" y="1700784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HBR (RBR/HBR)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5883" y="1700784"/>
            <a:ext cx="19116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8.6-10.8 Gbps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3835" y="1700784"/>
            <a:ext cx="514949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2560×1600 @ 60 Hz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084831"/>
            <a:ext cx="136286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DP 1.2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805" y="2084831"/>
            <a:ext cx="6311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2010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5253" y="2084831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HBR2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5883" y="2084831"/>
            <a:ext cx="19116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17.28 / 21.6 Gbps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3835" y="2084831"/>
            <a:ext cx="514949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4K @ 60 Hz · MST de varios monitores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2468879"/>
            <a:ext cx="11240993" cy="384048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8640" y="2468879"/>
            <a:ext cx="136286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DP 1.3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805" y="2468879"/>
            <a:ext cx="6311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2014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5253" y="2468879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HBR3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5883" y="2468879"/>
            <a:ext cx="19116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25.92 / 32.4 Gbps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3835" y="2468879"/>
            <a:ext cx="514949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4K @ 120 Hz · 5K @ 60 Hz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852927"/>
            <a:ext cx="136286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DP 1.4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805" y="2852927"/>
            <a:ext cx="6311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2016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35253" y="2852927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HBR3 + DSC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5883" y="2852927"/>
            <a:ext cx="19116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32.4 Gbps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3835" y="2852927"/>
            <a:ext cx="514949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8K @ 60 Hz (con compresión DSC)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" y="3236975"/>
            <a:ext cx="11240993" cy="384048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48640" y="3236975"/>
            <a:ext cx="136286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DP 2.0/2.1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805" y="3236975"/>
            <a:ext cx="6311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2019-22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35253" y="3236975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UHBR10/13.5/20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35883" y="3236975"/>
            <a:ext cx="19116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40 / 54 / 80 Gbps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3835" y="3236975"/>
            <a:ext cx="514949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8K @ 60 Hz sin comprimir · 4K @ 240 Hz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75488" y="1371600"/>
            <a:ext cx="11240993" cy="2249423"/>
          </a:xfrm>
          <a:prstGeom prst="roundRect">
            <a:avLst>
              <a:gd name="adj" fmla="val 488"/>
            </a:avLst>
          </a:prstGeom>
          <a:noFill/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475488" y="5376672"/>
            <a:ext cx="11240993" cy="822960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475488" y="5468112"/>
            <a:ext cx="32004" cy="6400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40080" y="546811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A78BFA"/>
                </a:solidFill>
                <a:latin typeface="Consolas"/>
              </a:rPr>
              <a:t>LECTURA DE LA TABLA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5650992"/>
            <a:ext cx="1091180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DSC (Display Stream Compression) comprime visualmente sin pérdida perceptible: permite 8K incluso sobre HBR3. DP 2.1 usa los mismos modos UHBR con cable «DP40» o «DP80» certificado.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5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fill="hold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fill="hold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fill="hold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fill="hold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fill="hold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fill="hold">
                                  <p:stCondLst>
                                    <p:cond delay="231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fill="hold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fill="hold">
                                  <p:stCondLst>
                                    <p:cond delay="253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fill="hold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fill="hold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fill="hold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fill="hold">
                                  <p:stCondLst>
                                    <p:cond delay="297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fill="hold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fill="hold">
                                  <p:stCondLst>
                                    <p:cond delay="319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5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fill="hold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8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fill="hold">
                                  <p:stCondLst>
                                    <p:cond delay="341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1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fill="hold">
                                  <p:stCondLst>
                                    <p:cond delay="352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4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A78BF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A78BF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A78BFA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78BFA"/>
                </a:solidFill>
                <a:latin typeface="Consolas"/>
              </a:rPr>
              <a:t>03 · PUERTOS DE VIDEO Y PANTALLA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S-Video (Super Video)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Puerto de video analógico de calidad intermedia que separa luminancia y crominancia.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27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5419764" cy="320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svid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999" y="1554480"/>
            <a:ext cx="3926816" cy="367588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Puerto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redondo pequeño de 4 o 7 pines</a:t>
            </a:r>
            <a:r>
              <a:rPr sz="1019" b="0">
                <a:solidFill>
                  <a:srgbClr val="C0CDE2"/>
                </a:solidFill>
                <a:latin typeface="Segoe UI"/>
              </a:rPr>
              <a:t> (mini-DIN), normalmente de color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negro</a:t>
            </a:r>
            <a:r>
              <a:rPr sz="1019" b="0">
                <a:solidFill>
                  <a:srgbClr val="C0CDE2"/>
                </a:solidFill>
                <a:latin typeface="Segoe UI"/>
              </a:rPr>
              <a:t> con un pequeño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pivote guía</a:t>
            </a:r>
            <a:r>
              <a:rPr sz="1019" b="0">
                <a:solidFill>
                  <a:srgbClr val="C0CDE2"/>
                </a:solidFill>
                <a:latin typeface="Segoe UI"/>
              </a:rPr>
              <a:t> superior. Los 7 pines permiten adaptadores a componentes YPbPr.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Ancho de banda analógico limitado a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definición estándar (SD)</a:t>
            </a:r>
            <a:r>
              <a:rPr sz="1019" b="0">
                <a:solidFill>
                  <a:srgbClr val="C0CDE2"/>
                </a:solidFill>
                <a:latin typeface="Segoe UI"/>
              </a:rPr>
              <a:t>: 480i/576i (NTSC/PAL), hasta 480p en implementaciones mejoradas. ~5-7 MHz.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Conexión de PC a televisores de tubo (CRT) y videocámaras; capturadoras de vídeo analógicas. Mejora visible sobre el compuesto.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A78BFA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C0CDE2"/>
                </a:solidFill>
                <a:latin typeface="Segoe UI"/>
              </a:rPr>
              <a:t>Datos que faltan: transporta </a:t>
            </a:r>
            <a:r>
              <a:rPr sz="900" b="1">
                <a:solidFill>
                  <a:srgbClr val="C0CDE2"/>
                </a:solidFill>
                <a:latin typeface="Segoe UI Semibold"/>
              </a:rPr>
              <a:t>Y (luminancia) + C (crominancia)</a:t>
            </a:r>
            <a:r>
              <a:rPr sz="900" b="0">
                <a:solidFill>
                  <a:srgbClr val="C0CDE2"/>
                </a:solidFill>
                <a:latin typeface="Segoe UI"/>
              </a:rPr>
              <a:t> por separado, eliminando el «dot crawl» del compuesto. Sin audio: necesita cable aparte. Longitud práctica 5-10 m.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A78BF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A78BF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A78BFA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78BFA"/>
                </a:solidFill>
                <a:latin typeface="Consolas"/>
              </a:rPr>
              <a:t>03 · PUERTOS DE VIDEO Y PANTALLA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Video Compuesto (RCA)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Puerto analógico básico de video, el más simple y universal de la era SD.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28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5620496" cy="320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compo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268" y="1554480"/>
            <a:ext cx="3950278" cy="367588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Conector circular hembra tipo jack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RCA identificado inequívocamente por el color amarillo</a:t>
            </a:r>
            <a:r>
              <a:rPr sz="1019" b="0">
                <a:solidFill>
                  <a:srgbClr val="C0CDE2"/>
                </a:solidFill>
                <a:latin typeface="Segoe UI"/>
              </a:rPr>
              <a:t> (código de color PC99/CEA). Suele ir acompañado de los RCA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rojo y blanco</a:t>
            </a:r>
            <a:r>
              <a:rPr sz="1019" b="0">
                <a:solidFill>
                  <a:srgbClr val="C0CDE2"/>
                </a:solidFill>
                <a:latin typeface="Segoe UI"/>
              </a:rPr>
              <a:t> del audio estéreo.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Ancho de banda analógico básico: señal entrelazada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SD</a:t>
            </a:r>
            <a:r>
              <a:rPr sz="1019" b="0">
                <a:solidFill>
                  <a:srgbClr val="C0CDE2"/>
                </a:solidFill>
                <a:latin typeface="Segoe UI"/>
              </a:rPr>
              <a:t> (NTSC 480i / PAL 576i). 1 Vp-p con impedancia de 75 Ω.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Capturadoras de vídeo antiguas, televisores analógicas, consolas retro, CCTV y sistemas de domótica básica.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A78BFA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C0CDE2"/>
                </a:solidFill>
                <a:latin typeface="Segoe UI"/>
              </a:rPr>
              <a:t>Datos que faltan: multiplexa luma y croma en una sola señal (interferencia de color y «dot crawl»). Es la peor calidad de video de esta guía. Cable 5-10 m.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A78BF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A78BF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A78BFA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78BFA"/>
                </a:solidFill>
                <a:latin typeface="Consolas"/>
              </a:rPr>
              <a:t>03 · PUERTOS DE VIDEO Y PANTALLA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Comparativa de puertos de video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De la señal analógica del CRT al 8K digital: qué usar en cada caso.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29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5821228" cy="320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75488" y="1371600"/>
            <a:ext cx="11240993" cy="329184"/>
          </a:xfrm>
          <a:prstGeom prst="rect">
            <a:avLst/>
          </a:prstGeom>
          <a:solidFill>
            <a:srgbClr val="A78BFA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1371600"/>
            <a:ext cx="163725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Puerto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2198" y="1371600"/>
            <a:ext cx="108846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Tipo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970" y="1371600"/>
            <a:ext cx="310068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Identificación rápida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3961" y="1371600"/>
            <a:ext cx="26433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Máximo práctico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3630" y="1371600"/>
            <a:ext cx="203969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Estado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1700784"/>
            <a:ext cx="11240993" cy="361188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1700784"/>
            <a:ext cx="163725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VGA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2198" y="1700784"/>
            <a:ext cx="1088467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analógico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970" y="1700784"/>
            <a:ext cx="3100687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trapezoidal azul · 15 pines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3961" y="1700784"/>
            <a:ext cx="264336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1920×1200 @ 60 Hz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3630" y="1700784"/>
            <a:ext cx="2039698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legado (proyectores)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061972"/>
            <a:ext cx="163725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DVI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2198" y="2061972"/>
            <a:ext cx="1088467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digital/híbrido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970" y="2061972"/>
            <a:ext cx="3100687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blanco · barra lateral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3961" y="2061972"/>
            <a:ext cx="264336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2560×1600 (Dual Link)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3630" y="2061972"/>
            <a:ext cx="2039698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en desuso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2423160"/>
            <a:ext cx="11240993" cy="361188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8640" y="2423160"/>
            <a:ext cx="163725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HDMI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2198" y="2423160"/>
            <a:ext cx="1088467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digital A/V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970" y="2423160"/>
            <a:ext cx="3100687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bisel inferior · cromado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3961" y="2423160"/>
            <a:ext cx="264336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8K @ 60 / 4K @ 120 Hz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3630" y="2423160"/>
            <a:ext cx="2039698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estándar TV/consolas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784348"/>
            <a:ext cx="163725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DisplayPort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2198" y="2784348"/>
            <a:ext cx="1088467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digital A/V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970" y="2784348"/>
            <a:ext cx="3100687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1 esquina + pestillo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3961" y="2784348"/>
            <a:ext cx="264336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8K @ 60 · 4K @ 240 Hz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3630" y="2784348"/>
            <a:ext cx="2039698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estándar PC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" y="3145536"/>
            <a:ext cx="11240993" cy="361188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48640" y="3145536"/>
            <a:ext cx="163725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S-Video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2198" y="3145536"/>
            <a:ext cx="1088467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analógico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66970" y="3145536"/>
            <a:ext cx="3100687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mini-DIN negro 4/7 pines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13961" y="3145536"/>
            <a:ext cx="264336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480i / 576i (SD)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3630" y="3145536"/>
            <a:ext cx="2039698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obsoleto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3506724"/>
            <a:ext cx="163725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Compuesto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32198" y="3506724"/>
            <a:ext cx="1088467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analógico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66970" y="3506724"/>
            <a:ext cx="3100687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RCA amarillo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13961" y="3506724"/>
            <a:ext cx="264336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480i / 576i (SD)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3630" y="3506724"/>
            <a:ext cx="2039698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obsoleto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75488" y="1371600"/>
            <a:ext cx="11240993" cy="2496312"/>
          </a:xfrm>
          <a:prstGeom prst="roundRect">
            <a:avLst>
              <a:gd name="adj" fmla="val 488"/>
            </a:avLst>
          </a:prstGeom>
          <a:noFill/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475488" y="5376672"/>
            <a:ext cx="11240993" cy="822960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475488" y="5468112"/>
            <a:ext cx="32004" cy="6400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40080" y="546811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A78BFA"/>
                </a:solidFill>
                <a:latin typeface="Consolas"/>
              </a:rPr>
              <a:t>LECTURA DE LA TABLA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5650992"/>
            <a:ext cx="1091180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Conversores: HDMI→DisplayPort y DP→HDMI son baratos y pasivos en un sentido; cualquier conversión a VGA requiere convertidor activo (DAC integrado).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5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fill="hold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fill="hold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fill="hold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fill="hold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fill="hold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fill="hold">
                                  <p:stCondLst>
                                    <p:cond delay="231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fill="hold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fill="hold">
                                  <p:stCondLst>
                                    <p:cond delay="253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fill="hold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fill="hold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fill="hold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fill="hold">
                                  <p:stCondLst>
                                    <p:cond delay="297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fill="hold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fill="hold">
                                  <p:stCondLst>
                                    <p:cond delay="319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5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fill="hold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8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fill="hold">
                                  <p:stCondLst>
                                    <p:cond delay="341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1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fill="hold">
                                  <p:stCondLst>
                                    <p:cond delay="352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4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fill="hold">
                                  <p:stCondLst>
                                    <p:cond delay="363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7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fill="hold">
                                  <p:stCondLst>
                                    <p:cond delay="374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0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fill="hold">
                                  <p:stCondLst>
                                    <p:cond delay="38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3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fill="hold">
                                  <p:stCondLst>
                                    <p:cond delay="396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6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fill="hold">
                                  <p:stCondLst>
                                    <p:cond delay="407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9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34D399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34D399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34D399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30 / 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75488" y="6766560"/>
            <a:ext cx="6021960" cy="3200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1188720"/>
            <a:ext cx="12191969" cy="5669280"/>
          </a:xfrm>
          <a:prstGeom prst="rect">
            <a:avLst/>
          </a:prstGeom>
          <a:solidFill>
            <a:srgbClr val="0D152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75488" y="1600200"/>
            <a:ext cx="42062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800" b="1">
                <a:solidFill>
                  <a:srgbClr val="34D399"/>
                </a:solidFill>
                <a:latin typeface="Consolas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310128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EDF3FC"/>
                </a:solidFill>
                <a:latin typeface="Segoe UI Semibold"/>
              </a:rPr>
              <a:t>Red y comunicaciones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4370832"/>
            <a:ext cx="164592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sec_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524990"/>
            <a:ext cx="4069080" cy="2219498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502919" y="4672584"/>
            <a:ext cx="82296" cy="8229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4617720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Ethernet RJ-45: el conector de red alámbrica con LEDs de estado</a:t>
            </a:r>
          </a:p>
        </p:txBody>
      </p:sp>
      <p:sp>
        <p:nvSpPr>
          <p:cNvPr id="19" name="Oval 18"/>
          <p:cNvSpPr/>
          <p:nvPr/>
        </p:nvSpPr>
        <p:spPr>
          <a:xfrm>
            <a:off x="502919" y="4913004"/>
            <a:ext cx="82296" cy="8229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" y="4858140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Velocidades de Fast Ethernet a 10 Gbps y categorías de cable UTP</a:t>
            </a:r>
          </a:p>
        </p:txBody>
      </p:sp>
      <p:sp>
        <p:nvSpPr>
          <p:cNvPr id="21" name="Oval 20"/>
          <p:cNvSpPr/>
          <p:nvPr/>
        </p:nvSpPr>
        <p:spPr>
          <a:xfrm>
            <a:off x="502919" y="5153425"/>
            <a:ext cx="82296" cy="8229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5098561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Módem RJ-11: la línea telefónica analógica y el dial-up</a:t>
            </a:r>
          </a:p>
        </p:txBody>
      </p:sp>
      <p:sp>
        <p:nvSpPr>
          <p:cNvPr id="23" name="Oval 22"/>
          <p:cNvSpPr/>
          <p:nvPr/>
        </p:nvSpPr>
        <p:spPr>
          <a:xfrm>
            <a:off x="502919" y="5393845"/>
            <a:ext cx="82296" cy="8229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" y="5338981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SFP/SFP+: transceptores modulares de fibra óptica para servidores</a:t>
            </a:r>
          </a:p>
        </p:txBody>
      </p:sp>
    </p:spTree>
  </p:cSld>
  <p:clrMapOvr>
    <a:masterClrMapping/>
  </p:clrMapOvr>
  <p:transition xmlns:p14="http://schemas.microsoft.com/office/powerpoint/2010/main" spd="med" advClick="1">
    <p14:switc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4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34D399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34D399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34D399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4D399"/>
                </a:solidFill>
                <a:latin typeface="Consolas"/>
              </a:rPr>
              <a:t>04 · RED Y COMUNICACIONES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Ethernet / RJ-45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Puerto de red alámbrica para redes locales (LAN), el más presente en oficinas.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31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6222692" cy="3200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rj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755" y="1554480"/>
            <a:ext cx="4269304" cy="367588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Conector rectangular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ligeramente más ancho que un puerto telefónico</a:t>
            </a:r>
            <a:r>
              <a:rPr sz="1019" b="0">
                <a:solidFill>
                  <a:srgbClr val="C0CDE2"/>
                </a:solidFill>
                <a:latin typeface="Segoe UI"/>
              </a:rPr>
              <a:t> (8P8C: 8 posiciones, 8 contactos dorados), con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pestaña de traba plástica</a:t>
            </a:r>
            <a:r>
              <a:rPr sz="1019" b="0">
                <a:solidFill>
                  <a:srgbClr val="C0CDE2"/>
                </a:solidFill>
                <a:latin typeface="Segoe UI"/>
              </a:rPr>
              <a:t> y dos LEDs integrados: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verde</a:t>
            </a:r>
            <a:r>
              <a:rPr sz="1019" b="0">
                <a:solidFill>
                  <a:srgbClr val="C0CDE2"/>
                </a:solidFill>
                <a:latin typeface="Segoe UI"/>
              </a:rPr>
              <a:t> (enlace) y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naranja/ámbar</a:t>
            </a:r>
            <a:r>
              <a:rPr sz="1019" b="0">
                <a:solidFill>
                  <a:srgbClr val="C0CDE2"/>
                </a:solidFill>
                <a:latin typeface="Segoe UI"/>
              </a:rPr>
              <a:t> (actividad).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1">
                <a:solidFill>
                  <a:srgbClr val="C0CDE2"/>
                </a:solidFill>
                <a:latin typeface="Segoe UI Semibold"/>
              </a:rPr>
              <a:t>Fast Ethernet 100 Mbps · Gigabit 1 Gbps · 2.5G/5G/10G</a:t>
            </a:r>
            <a:r>
              <a:rPr sz="1019" b="0">
                <a:solidFill>
                  <a:srgbClr val="C0CDE2"/>
                </a:solidFill>
                <a:latin typeface="Segoe UI"/>
              </a:rPr>
              <a:t> (2.5 a 10 Gbps). 4 pares trenzados (UTP) Cat5e/6/6a/8 · 100 m por segmento.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Conexión a Internet de alta velocidad mediante cable de red (UTP), switches, routers, NAS, cámaras IP y PoE para alimentar dispositivos.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34D399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C0CDE2"/>
                </a:solidFill>
                <a:latin typeface="Segoe UI"/>
              </a:rPr>
              <a:t>Datos que faltan: PoE (802.3af/at/bt) entrega hasta 60-100 W por el mismo cable. Los LEDs varían por fabricante (verde=1 Gbps, ámbar=100 Mbps o actividad). Cableado T568A/T568B.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34D399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34D399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34D399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4D399"/>
                </a:solidFill>
                <a:latin typeface="Consolas"/>
              </a:rPr>
              <a:t>04 · RED Y COMUNICACIONES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Ethernet · Velocidades y categorías de cable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La velocidad depende tanto del estándar como de la categoría del cable UTP.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32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6423424" cy="3200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75488" y="1371600"/>
            <a:ext cx="11240993" cy="329184"/>
          </a:xfrm>
          <a:prstGeom prst="rect">
            <a:avLst/>
          </a:prstGeom>
          <a:solidFill>
            <a:srgbClr val="34D399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1371600"/>
            <a:ext cx="20031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Estándar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8056" y="1371600"/>
            <a:ext cx="154579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Velocidad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0151" y="1371600"/>
            <a:ext cx="182018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Cable mínimo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6639" y="1371600"/>
            <a:ext cx="182018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Pares usados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3126" y="1371600"/>
            <a:ext cx="332020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Distancia máx.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1700784"/>
            <a:ext cx="11240993" cy="361188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1700784"/>
            <a:ext cx="200311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10BASE-T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8056" y="1700784"/>
            <a:ext cx="1545790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10 Mbps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90151" y="1700784"/>
            <a:ext cx="1820183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Cat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6639" y="1700784"/>
            <a:ext cx="1820183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2 de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3126" y="1700784"/>
            <a:ext cx="332020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100 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061972"/>
            <a:ext cx="200311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100BASE-TX (Fast)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8056" y="2061972"/>
            <a:ext cx="1545790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100 Mbps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90151" y="2061972"/>
            <a:ext cx="1820183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Cat 5e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6639" y="2061972"/>
            <a:ext cx="1820183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2 de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3126" y="2061972"/>
            <a:ext cx="332020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100 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2423160"/>
            <a:ext cx="11240993" cy="361188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8640" y="2423160"/>
            <a:ext cx="200311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1000BASE-T (Gigabit)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8056" y="2423160"/>
            <a:ext cx="1545790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1 Gbps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90151" y="2423160"/>
            <a:ext cx="1820183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Cat 5e/6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6639" y="2423160"/>
            <a:ext cx="1820183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4 de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3126" y="2423160"/>
            <a:ext cx="332020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100 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784348"/>
            <a:ext cx="200311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2.5GBASE-T / 5GBASE-T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98056" y="2784348"/>
            <a:ext cx="1545790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2.5 / 5 Gbps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90151" y="2784348"/>
            <a:ext cx="1820183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Cat 5e / 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6639" y="2784348"/>
            <a:ext cx="1820183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4 de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3126" y="2784348"/>
            <a:ext cx="332020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100 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" y="3145536"/>
            <a:ext cx="11240993" cy="361188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48640" y="3145536"/>
            <a:ext cx="200311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10GBASE-T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98056" y="3145536"/>
            <a:ext cx="1545790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10 Gbps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90151" y="3145536"/>
            <a:ext cx="1820183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Cat 6a (6: 55 m)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6639" y="3145536"/>
            <a:ext cx="1820183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4 de 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3126" y="3145536"/>
            <a:ext cx="332020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100 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3506724"/>
            <a:ext cx="200311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PoE 802.3af / at / bt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98056" y="3506724"/>
            <a:ext cx="1545790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15.4 / 30 / 60-100 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90151" y="3506724"/>
            <a:ext cx="1820183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Cat 5e o superior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6639" y="3506724"/>
            <a:ext cx="1820183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pares libres o datos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3126" y="3506724"/>
            <a:ext cx="332020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100 m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75488" y="1371600"/>
            <a:ext cx="11240993" cy="2496312"/>
          </a:xfrm>
          <a:prstGeom prst="roundRect">
            <a:avLst>
              <a:gd name="adj" fmla="val 488"/>
            </a:avLst>
          </a:prstGeom>
          <a:noFill/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475488" y="5376672"/>
            <a:ext cx="11240993" cy="822960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475488" y="5468112"/>
            <a:ext cx="32004" cy="6400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40080" y="546811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34D399"/>
                </a:solidFill>
                <a:latin typeface="Consolas"/>
              </a:rPr>
              <a:t>LECTURA DE LA TABLA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5650992"/>
            <a:ext cx="1091180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Cat 6a blindado (STP) es obligatorio para 10 Gbps a 100 m en entornos con interferencias. El conector siempre es RJ-45: cambia el cable interior.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5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fill="hold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fill="hold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fill="hold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fill="hold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fill="hold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fill="hold">
                                  <p:stCondLst>
                                    <p:cond delay="231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fill="hold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fill="hold">
                                  <p:stCondLst>
                                    <p:cond delay="253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fill="hold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fill="hold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fill="hold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fill="hold">
                                  <p:stCondLst>
                                    <p:cond delay="297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fill="hold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fill="hold">
                                  <p:stCondLst>
                                    <p:cond delay="319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5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fill="hold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8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fill="hold">
                                  <p:stCondLst>
                                    <p:cond delay="341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1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fill="hold">
                                  <p:stCondLst>
                                    <p:cond delay="352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4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fill="hold">
                                  <p:stCondLst>
                                    <p:cond delay="363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7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fill="hold">
                                  <p:stCondLst>
                                    <p:cond delay="374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0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fill="hold">
                                  <p:stCondLst>
                                    <p:cond delay="38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3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fill="hold">
                                  <p:stCondLst>
                                    <p:cond delay="396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6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fill="hold">
                                  <p:stCondLst>
                                    <p:cond delay="407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9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34D399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34D399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34D399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4D399"/>
                </a:solidFill>
                <a:latin typeface="Consolas"/>
              </a:rPr>
              <a:t>04 · RED Y COMUNICACIONES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RJ-45 vs RJ-11 · No confundir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La diferencia de tamaño ha provocado miles de conectores rotos.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33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6624156" cy="3200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502919" y="1426464"/>
            <a:ext cx="82296" cy="8229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1371600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El </a:t>
            </a:r>
            <a:r>
              <a:rPr sz="1150" b="1">
                <a:solidFill>
                  <a:srgbClr val="C0CDE2"/>
                </a:solidFill>
                <a:latin typeface="Segoe UI Semibold"/>
              </a:rPr>
              <a:t>RJ-45</a:t>
            </a:r>
            <a:r>
              <a:rPr sz="1150" b="0">
                <a:solidFill>
                  <a:srgbClr val="C0CDE2"/>
                </a:solidFill>
                <a:latin typeface="Segoe UI"/>
              </a:rPr>
              <a:t> (8P8C) tiene </a:t>
            </a:r>
            <a:r>
              <a:rPr sz="1150" b="1">
                <a:solidFill>
                  <a:srgbClr val="C0CDE2"/>
                </a:solidFill>
                <a:latin typeface="Segoe UI Semibold"/>
              </a:rPr>
              <a:t>8 contactos</a:t>
            </a:r>
            <a:r>
              <a:rPr sz="1150" b="0">
                <a:solidFill>
                  <a:srgbClr val="C0CDE2"/>
                </a:solidFill>
                <a:latin typeface="Segoe UI"/>
              </a:rPr>
              <a:t> y una abertura más ancha; el </a:t>
            </a:r>
            <a:r>
              <a:rPr sz="1150" b="1">
                <a:solidFill>
                  <a:srgbClr val="C0CDE2"/>
                </a:solidFill>
                <a:latin typeface="Segoe UI Semibold"/>
              </a:rPr>
              <a:t>RJ-11</a:t>
            </a:r>
            <a:r>
              <a:rPr sz="1150" b="0">
                <a:solidFill>
                  <a:srgbClr val="C0CDE2"/>
                </a:solidFill>
                <a:latin typeface="Segoe UI"/>
              </a:rPr>
              <a:t> (6P2C/6P4C) solo usa </a:t>
            </a:r>
            <a:r>
              <a:rPr sz="1150" b="1">
                <a:solidFill>
                  <a:srgbClr val="C0CDE2"/>
                </a:solidFill>
                <a:latin typeface="Segoe UI Semibold"/>
              </a:rPr>
              <a:t>2 o 4 contactos</a:t>
            </a:r>
            <a:r>
              <a:rPr sz="1150" b="0">
                <a:solidFill>
                  <a:srgbClr val="C0CDE2"/>
                </a:solidFill>
                <a:latin typeface="Segoe UI"/>
              </a:rPr>
              <a:t> y es más estrecho.</a:t>
            </a:r>
          </a:p>
        </p:txBody>
      </p:sp>
      <p:sp>
        <p:nvSpPr>
          <p:cNvPr id="18" name="Oval 17"/>
          <p:cNvSpPr/>
          <p:nvPr/>
        </p:nvSpPr>
        <p:spPr>
          <a:xfrm>
            <a:off x="502919" y="1939114"/>
            <a:ext cx="82296" cy="8229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1884250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C0CDE2"/>
                </a:solidFill>
                <a:latin typeface="Segoe UI Semibold"/>
              </a:rPr>
              <a:t>Nunca fuerces</a:t>
            </a:r>
            <a:r>
              <a:rPr sz="1050" b="0">
                <a:solidFill>
                  <a:srgbClr val="C0CDE2"/>
                </a:solidFill>
                <a:latin typeface="Segoe UI"/>
              </a:rPr>
              <a:t> un RJ-45 en un RJ-11: aunque el cable entre parcialmente, los contactos se doblan y el módem puede quedar inservible.</a:t>
            </a:r>
          </a:p>
        </p:txBody>
      </p:sp>
      <p:sp>
        <p:nvSpPr>
          <p:cNvPr id="20" name="Oval 19"/>
          <p:cNvSpPr/>
          <p:nvPr/>
        </p:nvSpPr>
        <p:spPr>
          <a:xfrm>
            <a:off x="502919" y="2451765"/>
            <a:ext cx="82296" cy="8229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" y="2396901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Identificación por etiqueta: los módems marcan los jacks como </a:t>
            </a:r>
            <a:r>
              <a:rPr sz="1150" b="1">
                <a:solidFill>
                  <a:srgbClr val="C0CDE2"/>
                </a:solidFill>
                <a:latin typeface="Segoe UI Semibold"/>
              </a:rPr>
              <a:t>«LINE»</a:t>
            </a:r>
            <a:r>
              <a:rPr sz="1150" b="0">
                <a:solidFill>
                  <a:srgbClr val="C0CDE2"/>
                </a:solidFill>
                <a:latin typeface="Segoe UI"/>
              </a:rPr>
              <a:t> (entrada de la compañía telefónica) y </a:t>
            </a:r>
            <a:r>
              <a:rPr sz="1150" b="1">
                <a:solidFill>
                  <a:srgbClr val="C0CDE2"/>
                </a:solidFill>
                <a:latin typeface="Segoe UI Semibold"/>
              </a:rPr>
              <a:t>«PHONE»</a:t>
            </a:r>
            <a:r>
              <a:rPr sz="1150" b="0">
                <a:solidFill>
                  <a:srgbClr val="C0CDE2"/>
                </a:solidFill>
                <a:latin typeface="Segoe UI"/>
              </a:rPr>
              <a:t> (teléfono derivado).</a:t>
            </a:r>
          </a:p>
        </p:txBody>
      </p:sp>
      <p:sp>
        <p:nvSpPr>
          <p:cNvPr id="22" name="Oval 21"/>
          <p:cNvSpPr/>
          <p:nvPr/>
        </p:nvSpPr>
        <p:spPr>
          <a:xfrm>
            <a:off x="502919" y="2964416"/>
            <a:ext cx="82296" cy="8229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2909552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El RJ-45 lleva </a:t>
            </a:r>
            <a:r>
              <a:rPr sz="1150" b="1">
                <a:solidFill>
                  <a:srgbClr val="C0CDE2"/>
                </a:solidFill>
                <a:latin typeface="Segoe UI Semibold"/>
              </a:rPr>
              <a:t>cable UTP de 4 pares</a:t>
            </a:r>
            <a:r>
              <a:rPr sz="1150" b="0">
                <a:solidFill>
                  <a:srgbClr val="C0CDE2"/>
                </a:solidFill>
                <a:latin typeface="Segoe UI"/>
              </a:rPr>
              <a:t>; el RJ-11, </a:t>
            </a:r>
            <a:r>
              <a:rPr sz="1150" b="1">
                <a:solidFill>
                  <a:srgbClr val="C0CDE2"/>
                </a:solidFill>
                <a:latin typeface="Segoe UI Semibold"/>
              </a:rPr>
              <a:t>par telefónico</a:t>
            </a:r>
            <a:r>
              <a:rPr sz="1150" b="0">
                <a:solidFill>
                  <a:srgbClr val="C0CDE2"/>
                </a:solidFill>
                <a:latin typeface="Segoe UI"/>
              </a:rPr>
              <a:t> de 2 hilos (24-26 AWG).</a:t>
            </a:r>
          </a:p>
        </p:txBody>
      </p:sp>
      <p:sp>
        <p:nvSpPr>
          <p:cNvPr id="24" name="Oval 23"/>
          <p:cNvSpPr/>
          <p:nvPr/>
        </p:nvSpPr>
        <p:spPr>
          <a:xfrm>
            <a:off x="502919" y="3477066"/>
            <a:ext cx="82296" cy="8229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" y="3422202"/>
            <a:ext cx="5352257" cy="402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Velocidades: hasta </a:t>
            </a:r>
            <a:r>
              <a:rPr sz="1150" b="1">
                <a:solidFill>
                  <a:srgbClr val="C0CDE2"/>
                </a:solidFill>
                <a:latin typeface="Segoe UI Semibold"/>
              </a:rPr>
              <a:t>10 Gbps</a:t>
            </a:r>
            <a:r>
              <a:rPr sz="1150" b="0">
                <a:solidFill>
                  <a:srgbClr val="C0CDE2"/>
                </a:solidFill>
                <a:latin typeface="Segoe UI"/>
              </a:rPr>
              <a:t> (RJ-45) frente a </a:t>
            </a:r>
            <a:r>
              <a:rPr sz="1150" b="1">
                <a:solidFill>
                  <a:srgbClr val="C0CDE2"/>
                </a:solidFill>
                <a:latin typeface="Segoe UI Semibold"/>
              </a:rPr>
              <a:t>56 kbps</a:t>
            </a:r>
            <a:r>
              <a:rPr sz="1150" b="0">
                <a:solidFill>
                  <a:srgbClr val="C0CDE2"/>
                </a:solidFill>
                <a:latin typeface="Segoe UI"/>
              </a:rPr>
              <a:t> dial-up o 24 Mbps ADSL2+ (RJ-11 con splitter).</a:t>
            </a:r>
          </a:p>
        </p:txBody>
      </p:sp>
      <p:sp>
        <p:nvSpPr>
          <p:cNvPr id="26" name="Oval 25"/>
          <p:cNvSpPr/>
          <p:nvPr/>
        </p:nvSpPr>
        <p:spPr>
          <a:xfrm>
            <a:off x="502919" y="3989717"/>
            <a:ext cx="82296" cy="8229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" y="3934853"/>
            <a:ext cx="5352257" cy="604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En equipos antiguos los dos puertos se situaban juntos en la tarjeta PCI del módem; el color transparente/blanco ayudaba a distinguirlos del negro de la red.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6657" y="1316736"/>
            <a:ext cx="5504688" cy="4937760"/>
          </a:xfrm>
          <a:prstGeom prst="roundRect">
            <a:avLst>
              <a:gd name="adj" fmla="val 1661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rj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1521" y="2061275"/>
            <a:ext cx="5285232" cy="2936617"/>
          </a:xfrm>
          <a:prstGeom prst="roundRect">
            <a:avLst>
              <a:gd name="adj" fmla="val 1384"/>
            </a:avLst>
          </a:prstGeom>
        </p:spPr>
      </p:pic>
      <p:sp>
        <p:nvSpPr>
          <p:cNvPr id="30" name="TextBox 29"/>
          <p:cNvSpPr txBox="1"/>
          <p:nvPr/>
        </p:nvSpPr>
        <p:spPr>
          <a:xfrm>
            <a:off x="6321521" y="5742432"/>
            <a:ext cx="528523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8B9CBB"/>
                </a:solidFill>
                <a:latin typeface="Segoe UI"/>
              </a:rPr>
              <a:t>RJ-45 (8P8C, red) frente a RJ-11 (6P2C, teléfono): mismo lenguaje, tamaño distinto.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34D399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34D399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34D399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4D399"/>
                </a:solidFill>
                <a:latin typeface="Consolas"/>
              </a:rPr>
              <a:t>04 · RED Y COMUNICACIONES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Módem / RJ-11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Puerto para la línea telefónica analógica clásica: la puerta del Internet de los 90.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34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6824888" cy="3200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rj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166" y="1554480"/>
            <a:ext cx="4054482" cy="367588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Conector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idéntico al RJ-45 pero de menor tamaño físico</a:t>
            </a:r>
            <a:r>
              <a:rPr sz="1019" b="0">
                <a:solidFill>
                  <a:srgbClr val="C0CDE2"/>
                </a:solidFill>
                <a:latin typeface="Segoe UI"/>
              </a:rPr>
              <a:t> (6P2C/6P4C). En tarjetas internas o módems PCI era de color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transparente / blanco</a:t>
            </a:r>
            <a:r>
              <a:rPr sz="1019" b="0">
                <a:solidFill>
                  <a:srgbClr val="C0CDE2"/>
                </a:solidFill>
                <a:latin typeface="Segoe UI"/>
              </a:rPr>
              <a:t> o estaba rotulado con la palabra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«LINE»</a:t>
            </a:r>
            <a:r>
              <a:rPr sz="1019" b="0">
                <a:solidFill>
                  <a:srgbClr val="C0CDE2"/>
                </a:solidFill>
                <a:latin typeface="Segoe UI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Hasta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56 kbps</a:t>
            </a:r>
            <a:r>
              <a:rPr sz="1019" b="0">
                <a:solidFill>
                  <a:srgbClr val="C0CDE2"/>
                </a:solidFill>
                <a:latin typeface="Segoe UI"/>
              </a:rPr>
              <a:t> (V.90/V.92, dial-up tradicional). Fax a 14.4-33.6 kbps. Con ADSL2+ y splitter: hasta 24 Mbps de bajada por el mismo par.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Internet telefónico, envío de fax y líneas dedicadas de alarmas, TPV y telemetría. Tensión de línea: -48 V DC con timbre de ~90 V AC.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34D399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C0CDE2"/>
                </a:solidFill>
                <a:latin typeface="Segoe UI"/>
              </a:rPr>
              <a:t>Datos que faltan: 2 hilos (par telefónico). El jack «PHONE» deriva el mismo conector al teléfono interno. Con fibra FTTH el módem se sustituye por un ONT con puerto RJ-45.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34D399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34D399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34D399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4D399"/>
                </a:solidFill>
                <a:latin typeface="Consolas"/>
              </a:rPr>
              <a:t>04 · RED Y COMUNICACIONES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SFP / SFP+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Bahía modular para conexiones de fibra óptica o redes de alta densidad.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35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7025620" cy="3200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sf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944909"/>
            <a:ext cx="4992624" cy="2895028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1">
                <a:solidFill>
                  <a:srgbClr val="C0CDE2"/>
                </a:solidFill>
                <a:latin typeface="Segoe UI Semibold"/>
              </a:rPr>
              <a:t>Ranura metálica rectangular profunda</a:t>
            </a:r>
            <a:r>
              <a:rPr sz="1019" b="0">
                <a:solidFill>
                  <a:srgbClr val="C0CDE2"/>
                </a:solidFill>
                <a:latin typeface="Segoe UI"/>
              </a:rPr>
              <a:t> (cage) con una pequeña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palanca o pestillo</a:t>
            </a:r>
            <a:r>
              <a:rPr sz="1019" b="0">
                <a:solidFill>
                  <a:srgbClr val="C0CDE2"/>
                </a:solidFill>
                <a:latin typeface="Segoe UI"/>
              </a:rPr>
              <a:t> (bail latch) de metal o plástico, usualmente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azul, negro o metálico</a:t>
            </a:r>
            <a:r>
              <a:rPr sz="1019" b="0">
                <a:solidFill>
                  <a:srgbClr val="C0CDE2"/>
                </a:solidFill>
                <a:latin typeface="Segoe UI"/>
              </a:rPr>
              <a:t> según la velocidad. Los módulos llevan conectores LC duplex.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1">
                <a:solidFill>
                  <a:srgbClr val="C0CDE2"/>
                </a:solidFill>
                <a:latin typeface="Segoe UI Semibold"/>
              </a:rPr>
              <a:t>SFP (1 Gbps) · SFP+ (10 Gbps) · SFP28 (25 Gbps) · QSFP+ (40 Gbps)</a:t>
            </a:r>
            <a:r>
              <a:rPr sz="1019" b="0">
                <a:solidFill>
                  <a:srgbClr val="C0CDE2"/>
                </a:solidFill>
                <a:latin typeface="Segoe UI"/>
              </a:rPr>
              <a:t>. El QSFP28 alcanza 100 Gbps y el QSFP-DD 400 Gbps en switches de alta gama.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Servidores de red empresarial y switches de alta gama: fibra monomodo (hasta 80-120 km, cable amarillo) o multimodo (300-550 m, cable aqua OM3/OM4) y DAC de cobre para 1-7 m.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34D399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C0CDE2"/>
                </a:solidFill>
                <a:latin typeface="Segoe UI"/>
              </a:rPr>
              <a:t>Datos que faltan: están estandarizados por el acuerdo MSA (multi-fabricante), son hot-swap y ofrecen diagnóstico DDM/DOM (potencia óptica, temperatura). Longitudes de onda típicas: 850 / 1310 / 1550 nm.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34D399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34D399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34D399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4D399"/>
                </a:solidFill>
                <a:latin typeface="Consolas"/>
              </a:rPr>
              <a:t>04 · RED Y COMUNICACIONES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Familia SFP/QSFP · Transceptores modulares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El mismo factor de forma, cuatro velocidades y formatos de unión (aggregation).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36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7226352" cy="3200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75488" y="1371600"/>
            <a:ext cx="11240993" cy="329184"/>
          </a:xfrm>
          <a:prstGeom prst="rect">
            <a:avLst/>
          </a:prstGeom>
          <a:solidFill>
            <a:srgbClr val="34D399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1371600"/>
            <a:ext cx="12713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Formato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6340" y="1371600"/>
            <a:ext cx="11799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Velocidad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2576" y="1371600"/>
            <a:ext cx="236897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Uso típico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7851" y="1371600"/>
            <a:ext cx="236897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Fibra / cobre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3126" y="1371600"/>
            <a:ext cx="332020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Notas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1700784"/>
            <a:ext cx="11240993" cy="361188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1700784"/>
            <a:ext cx="1271396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SFP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6340" y="1700784"/>
            <a:ext cx="117993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1 Gbps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2576" y="1700784"/>
            <a:ext cx="2368971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access switches, servidores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7851" y="1700784"/>
            <a:ext cx="2368971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LC multimodo/monomodo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3126" y="1700784"/>
            <a:ext cx="332020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sucesor del GBIC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061972"/>
            <a:ext cx="1271396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SFP+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6340" y="2061972"/>
            <a:ext cx="117993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10 Gbps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2576" y="2061972"/>
            <a:ext cx="2368971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datacenters y campus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7851" y="2061972"/>
            <a:ext cx="2368971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LC o DAC SFP+ 10G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3126" y="2061972"/>
            <a:ext cx="332020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el más extendido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2423160"/>
            <a:ext cx="11240993" cy="361188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8640" y="2423160"/>
            <a:ext cx="1271396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SFP28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6340" y="2423160"/>
            <a:ext cx="117993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25 Gbps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2576" y="2423160"/>
            <a:ext cx="2368971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top-of-rack moderno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7851" y="2423160"/>
            <a:ext cx="2368971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LC OM4 / monomodo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3126" y="2423160"/>
            <a:ext cx="332020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25G por carril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784348"/>
            <a:ext cx="1271396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QSFP+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66340" y="2784348"/>
            <a:ext cx="117993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40 Gbps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2576" y="2784348"/>
            <a:ext cx="2368971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agregación de switches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7851" y="2784348"/>
            <a:ext cx="2368971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MPO/MTP o DAC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3126" y="2784348"/>
            <a:ext cx="332020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4 carriles de 10 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" y="3145536"/>
            <a:ext cx="11240993" cy="361188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48640" y="3145536"/>
            <a:ext cx="1271396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QSFP28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66340" y="3145536"/>
            <a:ext cx="117993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100 Gbps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2576" y="3145536"/>
            <a:ext cx="2368971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núcleo de red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07851" y="3145536"/>
            <a:ext cx="2368971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MPO/MTP 24 fibras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3126" y="3145536"/>
            <a:ext cx="332020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4 carriles de 25 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3506724"/>
            <a:ext cx="1271396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QSFP-DD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66340" y="3506724"/>
            <a:ext cx="117993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400 Gbps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92576" y="3506724"/>
            <a:ext cx="2368971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spine de datacenter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07851" y="3506724"/>
            <a:ext cx="2368971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MPO 16 fibras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3126" y="3506724"/>
            <a:ext cx="332020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doble densidad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75488" y="1371600"/>
            <a:ext cx="11240993" cy="2496312"/>
          </a:xfrm>
          <a:prstGeom prst="roundRect">
            <a:avLst>
              <a:gd name="adj" fmla="val 488"/>
            </a:avLst>
          </a:prstGeom>
          <a:noFill/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475488" y="5376672"/>
            <a:ext cx="11240993" cy="822960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475488" y="5468112"/>
            <a:ext cx="32004" cy="6400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40080" y="546811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34D399"/>
                </a:solidFill>
                <a:latin typeface="Consolas"/>
              </a:rPr>
              <a:t>LECTURA DE LA TABLA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5650992"/>
            <a:ext cx="1091180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Los transceptores son caros y específicos de distancia/longitud de onda: elegir mal el módulo produce errores CRC o sin enlace. Las tablas de compatibilidad del fabricante son imprescindibles.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5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fill="hold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fill="hold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fill="hold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fill="hold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fill="hold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fill="hold">
                                  <p:stCondLst>
                                    <p:cond delay="231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fill="hold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fill="hold">
                                  <p:stCondLst>
                                    <p:cond delay="253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fill="hold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fill="hold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fill="hold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fill="hold">
                                  <p:stCondLst>
                                    <p:cond delay="297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fill="hold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fill="hold">
                                  <p:stCondLst>
                                    <p:cond delay="319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5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fill="hold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8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fill="hold">
                                  <p:stCondLst>
                                    <p:cond delay="341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1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fill="hold">
                                  <p:stCondLst>
                                    <p:cond delay="352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4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fill="hold">
                                  <p:stCondLst>
                                    <p:cond delay="363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7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fill="hold">
                                  <p:stCondLst>
                                    <p:cond delay="374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0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fill="hold">
                                  <p:stCondLst>
                                    <p:cond delay="38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3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fill="hold">
                                  <p:stCondLst>
                                    <p:cond delay="396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6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fill="hold">
                                  <p:stCondLst>
                                    <p:cond delay="407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9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F472B6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F472B6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F472B6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37 / 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75488" y="6766560"/>
            <a:ext cx="7427085" cy="32004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1188720"/>
            <a:ext cx="12191969" cy="5669280"/>
          </a:xfrm>
          <a:prstGeom prst="rect">
            <a:avLst/>
          </a:prstGeom>
          <a:solidFill>
            <a:srgbClr val="0D152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75488" y="1600200"/>
            <a:ext cx="42062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800" b="1">
                <a:solidFill>
                  <a:srgbClr val="F472B6"/>
                </a:solidFill>
                <a:latin typeface="Consolas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310128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EDF3FC"/>
                </a:solidFill>
                <a:latin typeface="Segoe UI Semibold"/>
              </a:rPr>
              <a:t>Puertos de audio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4370832"/>
            <a:ext cx="1645920" cy="4572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sec_aud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524990"/>
            <a:ext cx="4069080" cy="2219498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502919" y="4672584"/>
            <a:ext cx="82296" cy="82296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4617720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Jack de 3.5 mm con código de colores para audio estéreo y micrófono</a:t>
            </a:r>
          </a:p>
        </p:txBody>
      </p:sp>
      <p:sp>
        <p:nvSpPr>
          <p:cNvPr id="19" name="Oval 18"/>
          <p:cNvSpPr/>
          <p:nvPr/>
        </p:nvSpPr>
        <p:spPr>
          <a:xfrm>
            <a:off x="502919" y="4913004"/>
            <a:ext cx="82296" cy="82296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" y="4858140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S/PDIF óptico (TOSLINK): audio digital por pulsos de luz</a:t>
            </a:r>
          </a:p>
        </p:txBody>
      </p:sp>
      <p:sp>
        <p:nvSpPr>
          <p:cNvPr id="21" name="Oval 20"/>
          <p:cNvSpPr/>
          <p:nvPr/>
        </p:nvSpPr>
        <p:spPr>
          <a:xfrm>
            <a:off x="502919" y="5153425"/>
            <a:ext cx="82296" cy="82296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5098561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S/PDIF coaxial: audio digital por cable de 75 ohmios</a:t>
            </a:r>
          </a:p>
        </p:txBody>
      </p:sp>
    </p:spTree>
  </p:cSld>
  <p:clrMapOvr>
    <a:masterClrMapping/>
  </p:clrMapOvr>
  <p:transition xmlns:p14="http://schemas.microsoft.com/office/powerpoint/2010/main" spd="med" advClick="1">
    <p14:switc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F472B6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F472B6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F472B6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472B6"/>
                </a:solidFill>
                <a:latin typeface="Consolas"/>
              </a:rPr>
              <a:t>05 · PUERTOS DE AUDIO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Jack de Audio de 3.5 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Conector analógico estándar para sonido estéreo y micrófonos.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38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7627817" cy="32004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audio_ja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184125"/>
            <a:ext cx="4992624" cy="241659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1">
                <a:solidFill>
                  <a:srgbClr val="C0CDE2"/>
                </a:solidFill>
                <a:latin typeface="Segoe UI Semibold"/>
              </a:rPr>
              <a:t>Orificio circular pequeño</a:t>
            </a:r>
            <a:r>
              <a:rPr sz="1019" b="0">
                <a:solidFill>
                  <a:srgbClr val="C0CDE2"/>
                </a:solidFill>
                <a:latin typeface="Segoe UI"/>
              </a:rPr>
              <a:t> con código de colores PC99: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verde</a:t>
            </a:r>
            <a:r>
              <a:rPr sz="1019" b="0">
                <a:solidFill>
                  <a:srgbClr val="C0CDE2"/>
                </a:solidFill>
                <a:latin typeface="Segoe UI"/>
              </a:rPr>
              <a:t> (salida/auriculares),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rosado/magenta</a:t>
            </a:r>
            <a:r>
              <a:rPr sz="1019" b="0">
                <a:solidFill>
                  <a:srgbClr val="C0CDE2"/>
                </a:solidFill>
                <a:latin typeface="Segoe UI"/>
              </a:rPr>
              <a:t> (micrófono),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azul claro</a:t>
            </a:r>
            <a:r>
              <a:rPr sz="1019" b="0">
                <a:solidFill>
                  <a:srgbClr val="C0CDE2"/>
                </a:solidFill>
                <a:latin typeface="Segoe UI"/>
              </a:rPr>
              <a:t> (line-in),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naranja</a:t>
            </a:r>
            <a:r>
              <a:rPr sz="1019" b="0">
                <a:solidFill>
                  <a:srgbClr val="C0CDE2"/>
                </a:solidFill>
                <a:latin typeface="Segoe UI"/>
              </a:rPr>
              <a:t> (central/subwoofer),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negro</a:t>
            </a:r>
            <a:r>
              <a:rPr sz="1019" b="0">
                <a:solidFill>
                  <a:srgbClr val="C0CDE2"/>
                </a:solidFill>
                <a:latin typeface="Segoe UI"/>
              </a:rPr>
              <a:t> (traseros) y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gris</a:t>
            </a:r>
            <a:r>
              <a:rPr sz="1019" b="0">
                <a:solidFill>
                  <a:srgbClr val="C0CDE2"/>
                </a:solidFill>
                <a:latin typeface="Segoe UI"/>
              </a:rPr>
              <a:t> (surround lateral).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Transmisión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analógica en tiempo real</a:t>
            </a:r>
            <a:r>
              <a:rPr sz="1019" b="0">
                <a:solidFill>
                  <a:srgbClr val="C0CDE2"/>
                </a:solidFill>
                <a:latin typeface="Segoe UI"/>
              </a:rPr>
              <a:t>, sin latencia de datos digitales. Impedancias habituales de 16-600 Ω; nivel de línea ~1 Vrms.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Sistemas de sonido, diademas (headsets), micrófonos, altavoces 2.0/5.1/7.1 y equipos de música portátil. Existente también en 6.35 mm (1/4") para audio pro.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472B6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C0CDE2"/>
                </a:solidFill>
                <a:latin typeface="Segoe UI"/>
              </a:rPr>
              <a:t>Datos que faltan: TRS (3 polos: punta/anillo/camisa) para estéreo y TRRS (4 polos, con micrófono) en teléfonos; estándares CTIA y OMTP, incompatibles entre sí sin adaptador. Cable no balanceado 3-10 m.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F472B6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F472B6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F472B6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472B6"/>
                </a:solidFill>
                <a:latin typeface="Consolas"/>
              </a:rPr>
              <a:t>05 · PUERTOS DE AUDIO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Código de colores de los jacks de audio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Convención PC99 de Intel/Microsoft para las tarjetas de sonido y placas madre.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39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7828549" cy="32004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75488" y="1371600"/>
            <a:ext cx="11240993" cy="329184"/>
          </a:xfrm>
          <a:prstGeom prst="rect">
            <a:avLst/>
          </a:prstGeom>
          <a:solidFill>
            <a:srgbClr val="F472B6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1371600"/>
            <a:ext cx="12713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Color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6340" y="1371600"/>
            <a:ext cx="236897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Función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1615" y="1371600"/>
            <a:ext cx="20031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Símbolo habitual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1032" y="1371600"/>
            <a:ext cx="19116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Señal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8985" y="1371600"/>
            <a:ext cx="295434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Ejemplo de uso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1700784"/>
            <a:ext cx="11240993" cy="361188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1700784"/>
            <a:ext cx="1271396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Verde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6340" y="1700784"/>
            <a:ext cx="2368971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salida de línea / altavoces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1615" y="1700784"/>
            <a:ext cx="200311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altavoz o auricular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31032" y="1700784"/>
            <a:ext cx="1911648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salida estéreo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8985" y="1700784"/>
            <a:ext cx="295434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auriculares, altavoces 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061972"/>
            <a:ext cx="1271396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Rosado / magenta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6340" y="2061972"/>
            <a:ext cx="2368971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entrada de micrófono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1615" y="2061972"/>
            <a:ext cx="200311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micrófono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31032" y="2061972"/>
            <a:ext cx="1911648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entrada mono (-10 dBV)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8985" y="2061972"/>
            <a:ext cx="295434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diademas, micrófonos PC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2423160"/>
            <a:ext cx="11240993" cy="361188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8640" y="2423160"/>
            <a:ext cx="1271396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Azul claro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6340" y="2423160"/>
            <a:ext cx="2368971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entrada de línea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1615" y="2423160"/>
            <a:ext cx="200311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flecha entrando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31032" y="2423160"/>
            <a:ext cx="1911648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entrada estéreo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8985" y="2423160"/>
            <a:ext cx="295434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reproductor, mezcladora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784348"/>
            <a:ext cx="1271396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Naranja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66340" y="2784348"/>
            <a:ext cx="2368971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central y subwoofer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1615" y="2784348"/>
            <a:ext cx="200311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altavoz + sub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31032" y="2784348"/>
            <a:ext cx="1911648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salida 5.1/7.1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8985" y="2784348"/>
            <a:ext cx="295434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home cinema PC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" y="3145536"/>
            <a:ext cx="11240993" cy="361188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48640" y="3145536"/>
            <a:ext cx="1271396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Negro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66340" y="3145536"/>
            <a:ext cx="2368971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altavoces traseros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1615" y="3145536"/>
            <a:ext cx="200311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altavoz trasero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31032" y="3145536"/>
            <a:ext cx="1911648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salida surround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8985" y="3145536"/>
            <a:ext cx="295434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configuración 5.1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3506724"/>
            <a:ext cx="1271396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Gris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66340" y="3506724"/>
            <a:ext cx="2368971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altavoces laterales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1615" y="3506724"/>
            <a:ext cx="200311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altavoz lateral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31032" y="3506724"/>
            <a:ext cx="1911648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salida surround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8985" y="3506724"/>
            <a:ext cx="295434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configuración 7.1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75488" y="1371600"/>
            <a:ext cx="11240993" cy="2496312"/>
          </a:xfrm>
          <a:prstGeom prst="roundRect">
            <a:avLst>
              <a:gd name="adj" fmla="val 488"/>
            </a:avLst>
          </a:prstGeom>
          <a:noFill/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475488" y="5376672"/>
            <a:ext cx="11240993" cy="822960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475488" y="5468112"/>
            <a:ext cx="32004" cy="64008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40080" y="546811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472B6"/>
                </a:solidFill>
                <a:latin typeface="Consolas"/>
              </a:rPr>
              <a:t>LECTURA DE LA TABLA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5650992"/>
            <a:ext cx="1091180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En los portátiles el jack único es TRRS (combo) y la tarjeta de sonido conmuta función según lo que se conecte. En audio profesional (6.35 mm) los colores desaparecen y se etiqueta por canal.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5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fill="hold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fill="hold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fill="hold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fill="hold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fill="hold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fill="hold">
                                  <p:stCondLst>
                                    <p:cond delay="231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fill="hold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fill="hold">
                                  <p:stCondLst>
                                    <p:cond delay="253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fill="hold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fill="hold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fill="hold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fill="hold">
                                  <p:stCondLst>
                                    <p:cond delay="297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fill="hold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fill="hold">
                                  <p:stCondLst>
                                    <p:cond delay="319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5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fill="hold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8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fill="hold">
                                  <p:stCondLst>
                                    <p:cond delay="341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1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fill="hold">
                                  <p:stCondLst>
                                    <p:cond delay="352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4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fill="hold">
                                  <p:stCondLst>
                                    <p:cond delay="363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7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fill="hold">
                                  <p:stCondLst>
                                    <p:cond delay="374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0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fill="hold">
                                  <p:stCondLst>
                                    <p:cond delay="38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3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fill="hold">
                                  <p:stCondLst>
                                    <p:cond delay="396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6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fill="hold">
                                  <p:stCondLst>
                                    <p:cond delay="407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9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F472B6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F472B6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F472B6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472B6"/>
                </a:solidFill>
                <a:latin typeface="Consolas"/>
              </a:rPr>
              <a:t>05 · PUERTOS DE AUDIO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S/PDIF Óptico (TOSLINK)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Puerto de audio digital mediante pulsos de luz por fibra óptica.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40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8029281" cy="32004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tosl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501" y="1554480"/>
            <a:ext cx="4309813" cy="367588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Conector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cuadrado pequeño con esquinas biseladas</a:t>
            </a:r>
            <a:r>
              <a:rPr sz="1019" b="0">
                <a:solidFill>
                  <a:srgbClr val="C0CDE2"/>
                </a:solidFill>
                <a:latin typeface="Segoe UI"/>
              </a:rPr>
              <a:t> y una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tapa protectora abatible</a:t>
            </a:r>
            <a:r>
              <a:rPr sz="1019" b="0">
                <a:solidFill>
                  <a:srgbClr val="C0CDE2"/>
                </a:solidFill>
                <a:latin typeface="Segoe UI"/>
              </a:rPr>
              <a:t> de plástico negro. Al encender el equipo emite un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brillo de luz roja</a:t>
            </a:r>
            <a:r>
              <a:rPr sz="1019" b="0">
                <a:solidFill>
                  <a:srgbClr val="C0CDE2"/>
                </a:solidFill>
                <a:latin typeface="Segoe UI"/>
              </a:rPr>
              <a:t> en su interior. Variante mini-óptico de 3.5 mm en equipos compactos.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Transmisión digital de audio multicanal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sin pérdida por interferencia eléctrica</a:t>
            </a:r>
            <a:r>
              <a:rPr sz="1019" b="0">
                <a:solidFill>
                  <a:srgbClr val="C0CDE2"/>
                </a:solidFill>
                <a:latin typeface="Segoe UI"/>
              </a:rPr>
              <a:t>: PCM estéreo hasta 96 kHz y envolvente comprimido (Dolby Digital, DTS) 5.1/7.1. En audio pro: protocolo ADAT (8 canales a 48 kHz).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Barras de sonido, receptores AV y sistemas de cine en casa avanzados; equipos donde haya bucles de masa o interferencias eléctricas.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472B6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C0CDE2"/>
                </a:solidFill>
                <a:latin typeface="Segoe UI"/>
              </a:rPr>
              <a:t>Datos que faltan: fibra óptica plástica de 5-10 m (hasta 30 m de calidad). Inmune a EMI y a bucles de tierra; algo más de jitter que el coaxial. Estándar EIAJ CP-3407 (Toshiba, 1983).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F472B6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F472B6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F472B6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472B6"/>
                </a:solidFill>
                <a:latin typeface="Consolas"/>
              </a:rPr>
              <a:t>05 · PUERTOS DE AUDIO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S/PDIF Coaxial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Interfaz de audio digital mediante cable coaxial de 75 ohmios.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41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8230013" cy="32004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spdif_co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464" y="1554480"/>
            <a:ext cx="3675887" cy="367588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Conector circular tipo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RCA hembra</a:t>
            </a:r>
            <a:r>
              <a:rPr sz="1019" b="0">
                <a:solidFill>
                  <a:srgbClr val="C0CDE2"/>
                </a:solidFill>
                <a:latin typeface="Segoe UI"/>
              </a:rPr>
              <a:t> identificado por un color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naranja brillante o negro</a:t>
            </a:r>
            <a:r>
              <a:rPr sz="1019" b="0">
                <a:solidFill>
                  <a:srgbClr val="C0CDE2"/>
                </a:solidFill>
                <a:latin typeface="Segoe UI"/>
              </a:rPr>
              <a:t> distintivo en su borde plástico. En equipos profesionales se usa conector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BNC</a:t>
            </a:r>
            <a:r>
              <a:rPr sz="1019" b="0">
                <a:solidFill>
                  <a:srgbClr val="C0CDE2"/>
                </a:solidFill>
                <a:latin typeface="Segoe UI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Ancho de banda digital adecuado para audio envolvente comprimido (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Dolby Digital / DTS</a:t>
            </a:r>
            <a:r>
              <a:rPr sz="1019" b="0">
                <a:solidFill>
                  <a:srgbClr val="C0CDE2"/>
                </a:solidFill>
                <a:latin typeface="Segoe UI"/>
              </a:rPr>
              <a:t>), PCM hasta 24 bit / 192 kHz. Señal de 0.5 Vp-p, 75 Ω.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Receptores de audio digital, amplificadores de alta fidelidad, DACs externos y equipos de sonido doméstico premium.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472B6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C0CDE2"/>
                </a:solidFill>
                <a:latin typeface="Segoe UI"/>
              </a:rPr>
              <a:t>Datos que faltan: el cable coaxial de vídeo RCA (75 Ω) vale para este puerto. Distancia práctica: ~10 m. Misma interfaz S/PDIF que el TOSLINK: solo cambia el medio (eléctrico frente a óptico).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F472B6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F472B6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F472B6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472B6"/>
                </a:solidFill>
                <a:latin typeface="Consolas"/>
              </a:rPr>
              <a:t>05 · PUERTOS DE AUDIO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S/PDIF: TOSLINK vs Coaxial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Dos medios, un mismo protocolo digital de audio.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42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8430745" cy="32004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10768" cy="3822191"/>
          </a:xfrm>
          <a:prstGeom prst="roundRect">
            <a:avLst>
              <a:gd name="adj" fmla="val 1659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475488" y="1371600"/>
            <a:ext cx="5510768" cy="402336"/>
          </a:xfrm>
          <a:prstGeom prst="roundRect">
            <a:avLst>
              <a:gd name="adj" fmla="val 1659"/>
            </a:avLst>
          </a:prstGeom>
          <a:solidFill>
            <a:srgbClr val="16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0080" y="1371600"/>
            <a:ext cx="518158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4D399"/>
                </a:solidFill>
                <a:latin typeface="Segoe UI Semibold"/>
              </a:rPr>
              <a:t>TOSLINK (óptico)</a:t>
            </a:r>
          </a:p>
        </p:txBody>
      </p:sp>
      <p:sp>
        <p:nvSpPr>
          <p:cNvPr id="19" name="Oval 18"/>
          <p:cNvSpPr/>
          <p:nvPr/>
        </p:nvSpPr>
        <p:spPr>
          <a:xfrm>
            <a:off x="685799" y="1975104"/>
            <a:ext cx="82296" cy="8229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3" y="1920240"/>
            <a:ext cx="4925552" cy="197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Transporta audio por </a:t>
            </a:r>
            <a:r>
              <a:rPr sz="1150" b="1">
                <a:solidFill>
                  <a:srgbClr val="C0CDE2"/>
                </a:solidFill>
                <a:latin typeface="Segoe UI Semibold"/>
              </a:rPr>
              <a:t>pulsos de luz</a:t>
            </a:r>
            <a:r>
              <a:rPr sz="1150" b="0">
                <a:solidFill>
                  <a:srgbClr val="C0CDE2"/>
                </a:solidFill>
                <a:latin typeface="Segoe UI"/>
              </a:rPr>
              <a:t> sobre fibra óptica.</a:t>
            </a:r>
          </a:p>
        </p:txBody>
      </p:sp>
      <p:sp>
        <p:nvSpPr>
          <p:cNvPr id="21" name="Oval 20"/>
          <p:cNvSpPr/>
          <p:nvPr/>
        </p:nvSpPr>
        <p:spPr>
          <a:xfrm>
            <a:off x="685799" y="2255326"/>
            <a:ext cx="82296" cy="8229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3" y="2200462"/>
            <a:ext cx="4925552" cy="197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>
                <a:solidFill>
                  <a:srgbClr val="C0CDE2"/>
                </a:solidFill>
                <a:latin typeface="Segoe UI Semibold"/>
              </a:rPr>
              <a:t>Inmune</a:t>
            </a:r>
            <a:r>
              <a:rPr sz="1150" b="0">
                <a:solidFill>
                  <a:srgbClr val="C0CDE2"/>
                </a:solidFill>
                <a:latin typeface="Segoe UI"/>
              </a:rPr>
              <a:t> a interferencias electromagnéticas y a bucles de tierra.</a:t>
            </a:r>
          </a:p>
        </p:txBody>
      </p:sp>
      <p:sp>
        <p:nvSpPr>
          <p:cNvPr id="23" name="Oval 22"/>
          <p:cNvSpPr/>
          <p:nvPr/>
        </p:nvSpPr>
        <p:spPr>
          <a:xfrm>
            <a:off x="685799" y="2535549"/>
            <a:ext cx="82296" cy="8229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3" y="2480685"/>
            <a:ext cx="4925552" cy="197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Conector cuadrado con tapa; luz roja visible (~650 nm).</a:t>
            </a:r>
          </a:p>
        </p:txBody>
      </p:sp>
      <p:sp>
        <p:nvSpPr>
          <p:cNvPr id="25" name="Oval 24"/>
          <p:cNvSpPr/>
          <p:nvPr/>
        </p:nvSpPr>
        <p:spPr>
          <a:xfrm>
            <a:off x="685799" y="2815772"/>
            <a:ext cx="82296" cy="8229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3" y="2760908"/>
            <a:ext cx="4925552" cy="197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Alcance típico </a:t>
            </a:r>
            <a:r>
              <a:rPr sz="1150" b="1">
                <a:solidFill>
                  <a:srgbClr val="C0CDE2"/>
                </a:solidFill>
                <a:latin typeface="Segoe UI Semibold"/>
              </a:rPr>
              <a:t>5-10 m</a:t>
            </a:r>
            <a:r>
              <a:rPr sz="1150" b="0">
                <a:solidFill>
                  <a:srgbClr val="C0CDE2"/>
                </a:solidFill>
                <a:latin typeface="Segoe UI"/>
              </a:rPr>
              <a:t> (30 m con fibra de calidad).</a:t>
            </a:r>
          </a:p>
        </p:txBody>
      </p:sp>
      <p:sp>
        <p:nvSpPr>
          <p:cNvPr id="27" name="Oval 26"/>
          <p:cNvSpPr/>
          <p:nvPr/>
        </p:nvSpPr>
        <p:spPr>
          <a:xfrm>
            <a:off x="685799" y="3095995"/>
            <a:ext cx="82296" cy="8229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3" y="3041131"/>
            <a:ext cx="4925552" cy="197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Ideal si hay zumbido o ruido eléctrico en el sistema.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05712" y="1371600"/>
            <a:ext cx="5510768" cy="3822191"/>
          </a:xfrm>
          <a:prstGeom prst="roundRect">
            <a:avLst>
              <a:gd name="adj" fmla="val 1659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6205712" y="1371600"/>
            <a:ext cx="5510768" cy="402336"/>
          </a:xfrm>
          <a:prstGeom prst="roundRect">
            <a:avLst>
              <a:gd name="adj" fmla="val 1659"/>
            </a:avLst>
          </a:prstGeom>
          <a:solidFill>
            <a:srgbClr val="16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370304" y="1371600"/>
            <a:ext cx="518158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9E0B"/>
                </a:solidFill>
                <a:latin typeface="Segoe UI Semibold"/>
              </a:rPr>
              <a:t>S/PDIF coaxial (eléctrico)</a:t>
            </a:r>
          </a:p>
        </p:txBody>
      </p:sp>
      <p:sp>
        <p:nvSpPr>
          <p:cNvPr id="32" name="Oval 31"/>
          <p:cNvSpPr/>
          <p:nvPr/>
        </p:nvSpPr>
        <p:spPr>
          <a:xfrm>
            <a:off x="6416024" y="1975104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2328" y="1920240"/>
            <a:ext cx="4925552" cy="197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Transporta audio por </a:t>
            </a:r>
            <a:r>
              <a:rPr sz="1050" b="1">
                <a:solidFill>
                  <a:srgbClr val="C0CDE2"/>
                </a:solidFill>
                <a:latin typeface="Segoe UI Semibold"/>
              </a:rPr>
              <a:t>cable coaxial de 75 Ω</a:t>
            </a:r>
            <a:r>
              <a:rPr sz="1050" b="0">
                <a:solidFill>
                  <a:srgbClr val="C0CDE2"/>
                </a:solidFill>
                <a:latin typeface="Segoe UI"/>
              </a:rPr>
              <a:t> (RCA naranja o negro).</a:t>
            </a:r>
          </a:p>
        </p:txBody>
      </p:sp>
      <p:sp>
        <p:nvSpPr>
          <p:cNvPr id="34" name="Oval 33"/>
          <p:cNvSpPr/>
          <p:nvPr/>
        </p:nvSpPr>
        <p:spPr>
          <a:xfrm>
            <a:off x="6416024" y="2255326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62328" y="2200462"/>
            <a:ext cx="4925552" cy="197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Menor jitter que el óptico; señal de 0.5 Vp-p.</a:t>
            </a:r>
          </a:p>
        </p:txBody>
      </p:sp>
      <p:sp>
        <p:nvSpPr>
          <p:cNvPr id="36" name="Oval 35"/>
          <p:cNvSpPr/>
          <p:nvPr/>
        </p:nvSpPr>
        <p:spPr>
          <a:xfrm>
            <a:off x="6416024" y="2535549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62328" y="2480685"/>
            <a:ext cx="4925552" cy="197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Usa el mismo cable RCA de vídeo si es necesario.</a:t>
            </a:r>
          </a:p>
        </p:txBody>
      </p:sp>
      <p:sp>
        <p:nvSpPr>
          <p:cNvPr id="38" name="Oval 37"/>
          <p:cNvSpPr/>
          <p:nvPr/>
        </p:nvSpPr>
        <p:spPr>
          <a:xfrm>
            <a:off x="6416024" y="2815772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62328" y="2760908"/>
            <a:ext cx="4925552" cy="197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Alcance típico </a:t>
            </a:r>
            <a:r>
              <a:rPr sz="1150" b="1">
                <a:solidFill>
                  <a:srgbClr val="C0CDE2"/>
                </a:solidFill>
                <a:latin typeface="Segoe UI Semibold"/>
              </a:rPr>
              <a:t>~10 m</a:t>
            </a:r>
            <a:r>
              <a:rPr sz="1150" b="0">
                <a:solidFill>
                  <a:srgbClr val="C0CDE2"/>
                </a:solidFill>
                <a:latin typeface="Segoe UI"/>
              </a:rPr>
              <a:t> con cable de calidad.</a:t>
            </a:r>
          </a:p>
        </p:txBody>
      </p:sp>
      <p:sp>
        <p:nvSpPr>
          <p:cNvPr id="40" name="Oval 39"/>
          <p:cNvSpPr/>
          <p:nvPr/>
        </p:nvSpPr>
        <p:spPr>
          <a:xfrm>
            <a:off x="6416024" y="3095995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62328" y="3041131"/>
            <a:ext cx="4925552" cy="197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Ideal para equipos cercanos y enlaces simples.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5488" y="5376672"/>
            <a:ext cx="11240993" cy="822960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475488" y="5468112"/>
            <a:ext cx="32004" cy="64008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40080" y="546811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472B6"/>
                </a:solidFill>
                <a:latin typeface="Consolas"/>
              </a:rPr>
              <a:t>CONCLUSIÓN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650992"/>
            <a:ext cx="1091180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Ambos llevan los mismos formatos (PCM, Dolby Digital, DTS): la elección depende del ruido eléctrico del entorno y de la distancia. Para audio sin pérdida multicanal moderno (TrueHD, Atmos), HDMI es la vía recomendada.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6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7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9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4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4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60A5F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60A5F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60A5FA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43 / 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75488" y="6766560"/>
            <a:ext cx="8631477" cy="32004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1188720"/>
            <a:ext cx="12191969" cy="5669280"/>
          </a:xfrm>
          <a:prstGeom prst="rect">
            <a:avLst/>
          </a:prstGeom>
          <a:solidFill>
            <a:srgbClr val="0D152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75488" y="1600200"/>
            <a:ext cx="42062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800" b="1">
                <a:solidFill>
                  <a:srgbClr val="60A5FA"/>
                </a:solidFill>
                <a:latin typeface="Consolas"/>
              </a:rP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310128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EDF3FC"/>
                </a:solidFill>
                <a:latin typeface="Segoe UI Semibold"/>
              </a:rPr>
              <a:t>Almacenamiento y expansión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4370832"/>
            <a:ext cx="164592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sec_almac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524990"/>
            <a:ext cx="4069080" cy="2219498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502919" y="4672584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4617720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eSATA / eSATAp: discos externos a velocidad nativa SATA</a:t>
            </a:r>
          </a:p>
        </p:txBody>
      </p:sp>
      <p:sp>
        <p:nvSpPr>
          <p:cNvPr id="19" name="Oval 18"/>
          <p:cNvSpPr/>
          <p:nvPr/>
        </p:nvSpPr>
        <p:spPr>
          <a:xfrm>
            <a:off x="502919" y="4913004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" y="4858140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Lectores de tarjetas SD y microSD en el panel frontal</a:t>
            </a:r>
          </a:p>
        </p:txBody>
      </p:sp>
      <p:sp>
        <p:nvSpPr>
          <p:cNvPr id="21" name="Oval 20"/>
          <p:cNvSpPr/>
          <p:nvPr/>
        </p:nvSpPr>
        <p:spPr>
          <a:xfrm>
            <a:off x="502919" y="5153425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5098561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Estándares UHS-I/II/III y SD Express de las tarjetas modernas</a:t>
            </a:r>
          </a:p>
        </p:txBody>
      </p:sp>
    </p:spTree>
  </p:cSld>
  <p:clrMapOvr>
    <a:masterClrMapping/>
  </p:clrMapOvr>
  <p:transition xmlns:p14="http://schemas.microsoft.com/office/powerpoint/2010/main" spd="med" advClick="1">
    <p14:switc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60A5F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60A5F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60A5FA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0A5FA"/>
                </a:solidFill>
                <a:latin typeface="Consolas"/>
              </a:rPr>
              <a:t>06 · ALMACENAMIENTO Y EXPANSIÓN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eSATA / eSATAp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Conexión externa para discos duros basada en el protocolo SATA interno.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44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8832209" cy="32004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es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668337"/>
            <a:ext cx="4992624" cy="344817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Conector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plano y alargado</a:t>
            </a:r>
            <a:r>
              <a:rPr sz="1019" b="0">
                <a:solidFill>
                  <a:srgbClr val="C0CDE2"/>
                </a:solidFill>
                <a:latin typeface="Segoe UI"/>
              </a:rPr>
              <a:t> similar al SATA interno pero con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guías de plástico más robustas y metálicas</a:t>
            </a:r>
            <a:r>
              <a:rPr sz="1019" b="0">
                <a:solidFill>
                  <a:srgbClr val="C0CDE2"/>
                </a:solidFill>
                <a:latin typeface="Segoe UI"/>
              </a:rPr>
              <a:t> en los laterales. Color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negro oscuro</a:t>
            </a:r>
            <a:r>
              <a:rPr sz="1019" b="0">
                <a:solidFill>
                  <a:srgbClr val="C0CDE2"/>
                </a:solidFill>
                <a:latin typeface="Segoe UI"/>
              </a:rPr>
              <a:t> con la serigrafía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«eSATA»</a:t>
            </a:r>
            <a:r>
              <a:rPr sz="1019" b="0">
                <a:solidFill>
                  <a:srgbClr val="C0CDE2"/>
                </a:solidFill>
                <a:latin typeface="Segoe UI"/>
              </a:rPr>
              <a:t>. La variante eSATAp añade hilos de alimentación.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1">
                <a:solidFill>
                  <a:srgbClr val="C0CDE2"/>
                </a:solidFill>
                <a:latin typeface="Segoe UI Semibold"/>
              </a:rPr>
              <a:t>eSATA 1.5 / 3 / 6 Gbps</a:t>
            </a:r>
            <a:r>
              <a:rPr sz="1019" b="0">
                <a:solidFill>
                  <a:srgbClr val="C0CDE2"/>
                </a:solidFill>
                <a:latin typeface="Segoe UI"/>
              </a:rPr>
              <a:t> (SATA I/II/III): velocidad nativa del bus interno, sin la sobrecarga del protocolo USB. Cable máximo 2 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Conexión de discos de almacenamiento externo (HDD/SSD) con rendimiento idéntico al interno: copias de seguridad, clonación de discos y estaciones de trabajo.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0A5FA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C0CDE2"/>
                </a:solidFill>
                <a:latin typeface="Segoe UI"/>
              </a:rPr>
              <a:t>Datos que faltan: el eSATA </a:t>
            </a:r>
            <a:r>
              <a:rPr sz="850" b="1">
                <a:solidFill>
                  <a:srgbClr val="C0CDE2"/>
                </a:solidFill>
                <a:latin typeface="Segoe UI Semibold"/>
              </a:rPr>
              <a:t>no aporta alimentación</a:t>
            </a:r>
            <a:r>
              <a:rPr sz="850" b="0">
                <a:solidFill>
                  <a:srgbClr val="C0CDE2"/>
                </a:solidFill>
                <a:latin typeface="Segoe UI"/>
              </a:rPr>
              <a:t> (requiere fuente externa); eSATAp (power over eSATA) añade 5 V/12 V desde un combo USB. Hot-swap requiere modo AHCI. Desplazado por USB 3.0 desde 2010.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60A5F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60A5F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60A5FA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0A5FA"/>
                </a:solidFill>
                <a:latin typeface="Consolas"/>
              </a:rPr>
              <a:t>06 · ALMACENAMIENTO Y EXPANSIÓN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eSATA frente a USB 3.0 · ¿qué conviene?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La comparación que decidió el futuro del almacenamiento externo.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45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9032941" cy="32004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3612885" cy="2313432"/>
          </a:xfrm>
          <a:prstGeom prst="roundRect">
            <a:avLst>
              <a:gd name="adj" fmla="val 2530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75488" y="1481328"/>
            <a:ext cx="32004" cy="3840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1517904"/>
            <a:ext cx="32471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EDF3FC"/>
                </a:solidFill>
                <a:latin typeface="Segoe UI Semibold"/>
              </a:rPr>
              <a:t>Velocidad real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828800"/>
            <a:ext cx="3247125" cy="1810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eSATA 6 Gbps y USB 3.0 5 Gbps son comparables en la práctica; con UASP el USB iguala al SATA. El SATA interno SSD supera ambos desde 2011 (SATA III queda en ~550 MB/s).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9541" y="1371600"/>
            <a:ext cx="3612885" cy="2313432"/>
          </a:xfrm>
          <a:prstGeom prst="roundRect">
            <a:avLst>
              <a:gd name="adj" fmla="val 2530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289541" y="1481328"/>
            <a:ext cx="3200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472421" y="1517904"/>
            <a:ext cx="32471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EDF3FC"/>
                </a:solidFill>
                <a:latin typeface="Segoe UI Semibold"/>
              </a:rPr>
              <a:t>Alimentación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2421" y="1828800"/>
            <a:ext cx="3247125" cy="1810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USB alimenta el disco (4.5-100 W con PD); eSATA no, salvo eSATAp. Un disco de 3.5" con eSATA puro necesita fuente externa obligatoria.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595" y="1371600"/>
            <a:ext cx="3612885" cy="2313432"/>
          </a:xfrm>
          <a:prstGeom prst="roundRect">
            <a:avLst>
              <a:gd name="adj" fmla="val 2530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103595" y="1481328"/>
            <a:ext cx="32004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86475" y="1517904"/>
            <a:ext cx="32471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EDF3FC"/>
                </a:solidFill>
                <a:latin typeface="Segoe UI Semibold"/>
              </a:rPr>
              <a:t>Compatibilidad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6475" y="1828800"/>
            <a:ext cx="3247125" cy="1810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USB existe en todo; eSATA solo en placas y laptops de 2005-2015. Un combo eSATAp acepta tanto USB como eSATA en el mismo hueco.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3886200"/>
            <a:ext cx="3612885" cy="2313432"/>
          </a:xfrm>
          <a:prstGeom prst="roundRect">
            <a:avLst>
              <a:gd name="adj" fmla="val 2530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475488" y="3995928"/>
            <a:ext cx="32004" cy="3840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8368" y="4032504"/>
            <a:ext cx="32471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EDF3FC"/>
                </a:solidFill>
                <a:latin typeface="Segoe UI Semibold"/>
              </a:rPr>
              <a:t>Hot-swap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343400"/>
            <a:ext cx="3247125" cy="1810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Ambos lo soportan; eSATA requiere controlador en modo AHCI y drivers del chipset; USB lo trae por diseño desde siempre.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89541" y="3886200"/>
            <a:ext cx="3612885" cy="2313432"/>
          </a:xfrm>
          <a:prstGeom prst="roundRect">
            <a:avLst>
              <a:gd name="adj" fmla="val 2530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4289541" y="3995928"/>
            <a:ext cx="32004" cy="38404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472421" y="4032504"/>
            <a:ext cx="32471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EDF3FC"/>
                </a:solidFill>
                <a:latin typeface="Segoe UI Semibold"/>
              </a:rPr>
              <a:t>Uso actual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72421" y="4343400"/>
            <a:ext cx="3247125" cy="1810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eSATA: equipos legacy y estaciones de trabajo. USB 3.x/4 y Thunderbolt dominan el almacenamiento externo moderno.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03595" y="3886200"/>
            <a:ext cx="3612885" cy="2313432"/>
          </a:xfrm>
          <a:prstGeom prst="roundRect">
            <a:avLst>
              <a:gd name="adj" fmla="val 2530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8103595" y="3995928"/>
            <a:ext cx="3200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286475" y="4032504"/>
            <a:ext cx="32471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EDF3FC"/>
                </a:solidFill>
                <a:latin typeface="Segoe UI Semibold"/>
              </a:rPr>
              <a:t>Veredicto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6475" y="4343400"/>
            <a:ext cx="3247125" cy="1810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Hoy se prefiere USB 3.2/USB4 por versatilidad; eSATA solo tiene sentido manteniendo equipos que ya lo incluyen.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6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8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9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1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60A5F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60A5F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60A5FA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0A5FA"/>
                </a:solidFill>
                <a:latin typeface="Consolas"/>
              </a:rPr>
              <a:t>06 · ALMACENAMIENTO Y EXPANSIÓN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Lectores de Tarjetas (SD / microSD)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Puertos de lectura directa para tarjetas de memoria flash.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46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9233673" cy="32004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sd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884160"/>
            <a:ext cx="4992624" cy="301652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1">
                <a:solidFill>
                  <a:srgbClr val="C0CDE2"/>
                </a:solidFill>
                <a:latin typeface="Segoe UI Semibold"/>
              </a:rPr>
              <a:t>Ranuras finas rectangulares</a:t>
            </a:r>
            <a:r>
              <a:rPr sz="1019" b="0">
                <a:solidFill>
                  <a:srgbClr val="C0CDE2"/>
                </a:solidFill>
                <a:latin typeface="Segoe UI"/>
              </a:rPr>
              <a:t> en el panel frontal o lateral del chasis, a veces marcadas con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iconos impresos de tarjetas SD</a:t>
            </a:r>
            <a:r>
              <a:rPr sz="1019" b="0">
                <a:solidFill>
                  <a:srgbClr val="C0CDE2"/>
                </a:solidFill>
                <a:latin typeface="Segoe UI"/>
              </a:rPr>
              <a:t>. La tarjeta SD lleva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pestaña de bloqueo (LOCK)</a:t>
            </a:r>
            <a:r>
              <a:rPr sz="1019" b="0">
                <a:solidFill>
                  <a:srgbClr val="C0CDE2"/>
                </a:solidFill>
                <a:latin typeface="Segoe UI"/>
              </a:rPr>
              <a:t> gris en el lateral; la microSD no.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Según el estándar de la tarjeta: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UHS-I 104 MB/s · UHS-II 312 MB/s · UHS-III 624 MB/s · SD Express 985 MB/s</a:t>
            </a:r>
            <a:r>
              <a:rPr sz="1019" b="0">
                <a:solidFill>
                  <a:srgbClr val="C0CDE2"/>
                </a:solidFill>
                <a:latin typeface="Segoe UI"/>
              </a:rPr>
              <a:t> (y más, con PCIe).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Transferencia rápida de fotos y archivos desde cámaras, drones, teléfonos y consolas. Los lectores internos se conectan por USB 2.0/3.0 a la placa.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0A5FA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C0CDE2"/>
                </a:solidFill>
                <a:latin typeface="Segoe UI"/>
              </a:rPr>
              <a:t>Datos que faltan: SD (≤2 GB), SDHC (≤32 GB), SDXC (≤2 TB), SDUC (≤128 TB). Clases de velocidad V10/V30/V60/V90 (vídeo) y A1/A2 (apps). UHS-II añade una segunda fila de contactos al dorso.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60A5F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60A5F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60A5FA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0A5FA"/>
                </a:solidFill>
                <a:latin typeface="Consolas"/>
              </a:rPr>
              <a:t>06 · ALMACENAMIENTO Y EXPANSIÓN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Tarjetas SD · Familias, velocidades y clases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Qué significa cada sigla impresa en la tarjeta.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47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9434405" cy="32004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75488" y="1371600"/>
            <a:ext cx="11240993" cy="329184"/>
          </a:xfrm>
          <a:prstGeom prst="rect">
            <a:avLst/>
          </a:prstGeom>
          <a:solidFill>
            <a:srgbClr val="60A5FA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1371600"/>
            <a:ext cx="163725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Estándar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2198" y="1371600"/>
            <a:ext cx="154579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Capacidad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4293" y="1371600"/>
            <a:ext cx="218604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Velocidad de bus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6639" y="1371600"/>
            <a:ext cx="19116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Clase de vídeo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4591" y="1371600"/>
            <a:ext cx="322873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Uso típico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1700784"/>
            <a:ext cx="11240993" cy="361188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1700784"/>
            <a:ext cx="163725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SD (1997)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2198" y="1700784"/>
            <a:ext cx="1545790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hasta 2 GB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4293" y="1700784"/>
            <a:ext cx="218604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12.5-25 MB/s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6639" y="1700784"/>
            <a:ext cx="1911648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4591" y="1700784"/>
            <a:ext cx="3228737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cámaras antiguas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061972"/>
            <a:ext cx="163725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SDHC (2006)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2198" y="2061972"/>
            <a:ext cx="1545790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4-32 GB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4293" y="2061972"/>
            <a:ext cx="218604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UHS-I 104 MB/s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6639" y="2061972"/>
            <a:ext cx="1911648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V10 / V30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4591" y="2061972"/>
            <a:ext cx="3228737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vídeo Full HD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2423160"/>
            <a:ext cx="11240993" cy="361188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8640" y="2423160"/>
            <a:ext cx="163725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SDXC (2009)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2198" y="2423160"/>
            <a:ext cx="1545790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64 GB-2 TB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4293" y="2423160"/>
            <a:ext cx="218604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UHS-II 312 MB/s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6639" y="2423160"/>
            <a:ext cx="1911648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V60 / V90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4591" y="2423160"/>
            <a:ext cx="3228737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vídeo 4K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784348"/>
            <a:ext cx="163725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SDXC UHS-III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2198" y="2784348"/>
            <a:ext cx="1545790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64 GB-2 TB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24293" y="2784348"/>
            <a:ext cx="218604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624 MB/s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6639" y="2784348"/>
            <a:ext cx="1911648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V90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4591" y="2784348"/>
            <a:ext cx="3228737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vídeo 4K/8K, ráfagas RAW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" y="3145536"/>
            <a:ext cx="11240993" cy="361188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48640" y="3145536"/>
            <a:ext cx="163725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SD Express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2198" y="3145536"/>
            <a:ext cx="1545790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64 GB-2 TB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24293" y="3145536"/>
            <a:ext cx="218604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985 MB/s - 4 GB/s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6639" y="3145536"/>
            <a:ext cx="1911648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V90 / WP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4591" y="3145536"/>
            <a:ext cx="3228737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cámaras 8K, laptops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3506724"/>
            <a:ext cx="1637254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SDUC (2018)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32198" y="3506724"/>
            <a:ext cx="1545790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2-128 TB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24293" y="3506724"/>
            <a:ext cx="2186042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SD Express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6639" y="3506724"/>
            <a:ext cx="1911648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V90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4591" y="3506724"/>
            <a:ext cx="3228737" cy="361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futuro, equipos pro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75488" y="1371600"/>
            <a:ext cx="11240993" cy="2496312"/>
          </a:xfrm>
          <a:prstGeom prst="roundRect">
            <a:avLst>
              <a:gd name="adj" fmla="val 488"/>
            </a:avLst>
          </a:prstGeom>
          <a:noFill/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475488" y="5376672"/>
            <a:ext cx="11240993" cy="822960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475488" y="5468112"/>
            <a:ext cx="32004" cy="64008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40080" y="546811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0A5FA"/>
                </a:solidFill>
                <a:latin typeface="Consolas"/>
              </a:rPr>
              <a:t>LECTURA DE LA TABLA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5650992"/>
            <a:ext cx="1091180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La letra A (A1/A2) define rendimiento de aplicaciones (IOPS), y la V (V30…) la velocidad sostenida de escritura de vídeo. Para grabar vídeo 4K, V30 es el mínimo recomendado real.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5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fill="hold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fill="hold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fill="hold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fill="hold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fill="hold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fill="hold">
                                  <p:stCondLst>
                                    <p:cond delay="231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fill="hold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fill="hold">
                                  <p:stCondLst>
                                    <p:cond delay="253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fill="hold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fill="hold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fill="hold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fill="hold">
                                  <p:stCondLst>
                                    <p:cond delay="297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fill="hold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fill="hold">
                                  <p:stCondLst>
                                    <p:cond delay="319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5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fill="hold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8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fill="hold">
                                  <p:stCondLst>
                                    <p:cond delay="341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1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fill="hold">
                                  <p:stCondLst>
                                    <p:cond delay="352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4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fill="hold">
                                  <p:stCondLst>
                                    <p:cond delay="363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7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fill="hold">
                                  <p:stCondLst>
                                    <p:cond delay="374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0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fill="hold">
                                  <p:stCondLst>
                                    <p:cond delay="38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3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fill="hold">
                                  <p:stCondLst>
                                    <p:cond delay="396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6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fill="hold">
                                  <p:stCondLst>
                                    <p:cond delay="407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9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2DD4B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2DD4B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2DD4B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48 / 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75488" y="6766560"/>
            <a:ext cx="9635137" cy="320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1188720"/>
            <a:ext cx="12191969" cy="5669280"/>
          </a:xfrm>
          <a:prstGeom prst="rect">
            <a:avLst/>
          </a:prstGeom>
          <a:solidFill>
            <a:srgbClr val="0D1526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75488" y="1600200"/>
            <a:ext cx="42062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800" b="1">
                <a:solidFill>
                  <a:srgbClr val="2DD4BF"/>
                </a:solidFill>
                <a:latin typeface="Consolas"/>
              </a:rPr>
              <a:t>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310128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EDF3FC"/>
                </a:solidFill>
                <a:latin typeface="Segoe UI Semibold"/>
              </a:rPr>
              <a:t>Infrarrojos y repaso final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4370832"/>
            <a:ext cx="1645920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sec_ir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524990"/>
            <a:ext cx="4069080" cy="2219498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502919" y="4672584"/>
            <a:ext cx="82296" cy="82296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4617720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IrDA: comunicación inalámbrica direccional por luz infrarroja</a:t>
            </a:r>
          </a:p>
        </p:txBody>
      </p:sp>
      <p:sp>
        <p:nvSpPr>
          <p:cNvPr id="19" name="Oval 18"/>
          <p:cNvSpPr/>
          <p:nvPr/>
        </p:nvSpPr>
        <p:spPr>
          <a:xfrm>
            <a:off x="502919" y="4913004"/>
            <a:ext cx="82296" cy="82296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" y="4858140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Velocidades SIR, FIR y VFIR y su sustitución por Bluetooth</a:t>
            </a:r>
          </a:p>
        </p:txBody>
      </p:sp>
      <p:sp>
        <p:nvSpPr>
          <p:cNvPr id="21" name="Oval 20"/>
          <p:cNvSpPr/>
          <p:nvPr/>
        </p:nvSpPr>
        <p:spPr>
          <a:xfrm>
            <a:off x="502919" y="5153425"/>
            <a:ext cx="82296" cy="82296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5098561"/>
            <a:ext cx="6547104" cy="185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Tablas maestras, chuleta de colores y repaso final de la guía</a:t>
            </a:r>
          </a:p>
        </p:txBody>
      </p:sp>
    </p:spTree>
  </p:cSld>
  <p:clrMapOvr>
    <a:masterClrMapping/>
  </p:clrMapOvr>
  <p:transition xmlns:p14="http://schemas.microsoft.com/office/powerpoint/2010/main" spd="med" advClick="1">
    <p14:switc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0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2DD4B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2DD4B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2DD4B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DD4BF"/>
                </a:solidFill>
                <a:latin typeface="Consolas"/>
              </a:rPr>
              <a:t>07 · INFRARROJOS Y REPASO 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IrDA (Infrared Data Association)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Puerto inalámbrico direccional por luz infrarroja, el Bluetooth de los años 90.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49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9835869" cy="320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77840" cy="4041648"/>
          </a:xfrm>
          <a:prstGeom prst="roundRect">
            <a:avLst>
              <a:gd name="adj" fmla="val 1639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ir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036" y="1554480"/>
            <a:ext cx="4560742" cy="367588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1371600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1481328"/>
            <a:ext cx="32004" cy="3840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1517904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IDENTIFICACIÓN VISUAL Y COLOR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1">
                <a:solidFill>
                  <a:srgbClr val="C0CDE2"/>
                </a:solidFill>
                <a:latin typeface="Segoe UI Semibold"/>
              </a:rPr>
              <a:t>Pequeña ventana rectangular u ovalada de plástico translúcido</a:t>
            </a:r>
            <a:r>
              <a:rPr sz="1019" b="0">
                <a:solidFill>
                  <a:srgbClr val="C0CDE2"/>
                </a:solidFill>
                <a:latin typeface="Segoe UI"/>
              </a:rPr>
              <a:t> de color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rojo oscuro, morado o ahumado oscuro</a:t>
            </a:r>
            <a:r>
              <a:rPr sz="1019" b="0">
                <a:solidFill>
                  <a:srgbClr val="C0CDE2"/>
                </a:solidFill>
                <a:latin typeface="Segoe UI"/>
              </a:rPr>
              <a:t>, situada en el panel frontal de la PC o en el lateral de la laptop. No tiene pines: es un transceptor óptico.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61488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2871216"/>
            <a:ext cx="32004" cy="3840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2907792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VELOCIDAD Y ESTÁNDARES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18688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Desde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115.2 kbps (SIR)</a:t>
            </a:r>
            <a:r>
              <a:rPr sz="1019" b="0">
                <a:solidFill>
                  <a:srgbClr val="C0CDE2"/>
                </a:solidFill>
                <a:latin typeface="Segoe UI"/>
              </a:rPr>
              <a:t> hasta </a:t>
            </a:r>
            <a:r>
              <a:rPr sz="1019" b="1">
                <a:solidFill>
                  <a:srgbClr val="C0CDE2"/>
                </a:solidFill>
                <a:latin typeface="Segoe UI Semibold"/>
              </a:rPr>
              <a:t>4 Mbps (FIR)</a:t>
            </a:r>
            <a:r>
              <a:rPr sz="1019" b="0">
                <a:solidFill>
                  <a:srgbClr val="C0CDE2"/>
                </a:solidFill>
                <a:latin typeface="Segoe UI"/>
              </a:rPr>
              <a:t> y 16 Mbps (VFIR); negociación inicial a 9600 bps. Cono de ~30° y alcance de 0-1 m con alineación directa.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51376"/>
            <a:ext cx="5458968" cy="1261872"/>
          </a:xfrm>
          <a:prstGeom prst="roundRect">
            <a:avLst>
              <a:gd name="adj" fmla="val 167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63640" y="4261104"/>
            <a:ext cx="32004" cy="3840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932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DF3FC"/>
                </a:solidFill>
                <a:latin typeface="Segoe UI Semibold"/>
              </a:rPr>
              <a:t>USO Y DATOS ADICIONALES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08576"/>
            <a:ext cx="5093207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Sincronización con agendas electrónicas (PDA), teléfonos de la época y equipos antiguos de los años 90: Palm, Pocket PC, portátiles con IrDA 1.1.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623560"/>
            <a:ext cx="11240993" cy="566928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75488" y="5715000"/>
            <a:ext cx="32004" cy="3840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DD4BF"/>
                </a:solidFill>
                <a:latin typeface="Consolas"/>
              </a:rPr>
              <a:t>FICHA TÉCNICA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118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C0CDE2"/>
                </a:solidFill>
                <a:latin typeface="Segoe UI"/>
              </a:rPr>
              <a:t>Datos que faltans: requiere </a:t>
            </a:r>
            <a:r>
              <a:rPr sz="850" b="1">
                <a:solidFill>
                  <a:srgbClr val="C0CDE2"/>
                </a:solidFill>
                <a:latin typeface="Segoe UI Semibold"/>
              </a:rPr>
              <a:t>línea de visión</a:t>
            </a:r>
            <a:r>
              <a:rPr sz="850" b="0">
                <a:solidFill>
                  <a:srgbClr val="C0CDE2"/>
                </a:solidFill>
                <a:latin typeface="Segoe UI"/>
              </a:rPr>
              <a:t> (se bloquea con el dedo o polvo). Longitud de onda 850-900 nm. Estándares IrDA-Data, IrDA-Control e IrSimple. Desplazado por Bluetooth y Wi-Fi Direct desde 2005.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2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0000" y="9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2DD4B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2DD4B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2DD4B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DD4BF"/>
                </a:solidFill>
                <a:latin typeface="Consolas"/>
              </a:rPr>
              <a:t>07 · INFRARROJOS Y REPASO 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IrDA · Modos de operación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Un mismo puerto, cuatro velocidades y una única limitación física: la línea de visión.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50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10036601" cy="320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75488" y="1371600"/>
            <a:ext cx="11240993" cy="329184"/>
          </a:xfrm>
          <a:prstGeom prst="rect">
            <a:avLst/>
          </a:prstGeom>
          <a:solidFill>
            <a:srgbClr val="2DD4B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1371600"/>
            <a:ext cx="145432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Modo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9269" y="1371600"/>
            <a:ext cx="145432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Velocidad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899" y="1371600"/>
            <a:ext cx="81407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Año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0277" y="1371600"/>
            <a:ext cx="246043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Distancia / ángulo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7016" y="1371600"/>
            <a:ext cx="43263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101E"/>
                </a:solidFill>
                <a:latin typeface="Segoe UI Semibold"/>
              </a:rPr>
              <a:t>Notas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1700784"/>
            <a:ext cx="11240993" cy="384048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1700784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SIR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9269" y="1700784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9.6 kbps - 115.2 kbps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899" y="1700784"/>
            <a:ext cx="81407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1993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10277" y="1700784"/>
            <a:ext cx="24604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1 m · 30°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7016" y="1700784"/>
            <a:ext cx="43263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compatible con UART clásico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084831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MIR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9269" y="2084831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1.152 Mbps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899" y="2084831"/>
            <a:ext cx="81407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1996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10277" y="2084831"/>
            <a:ext cx="24604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1 m · 30°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7016" y="2084831"/>
            <a:ext cx="43263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intermedio, poco usado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2468879"/>
            <a:ext cx="11240993" cy="384048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8640" y="2468879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FIR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9269" y="2468879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4 Mbps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9899" y="2468879"/>
            <a:ext cx="81407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1998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10277" y="2468879"/>
            <a:ext cx="24604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1 m · 30°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7016" y="2468879"/>
            <a:ext cx="43263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el modo más habitual en PCs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852927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VFIR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49269" y="2852927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16 Mbps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9899" y="2852927"/>
            <a:ext cx="81407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2001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10277" y="2852927"/>
            <a:ext cx="24604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1 m · 30°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7016" y="2852927"/>
            <a:ext cx="43263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muy raro en equipos domésticos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" y="3236975"/>
            <a:ext cx="11240993" cy="384048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48640" y="3236975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DF3FC"/>
                </a:solidFill>
                <a:latin typeface="Segoe UI"/>
              </a:rPr>
              <a:t>GigaIR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49269" y="3236975"/>
            <a:ext cx="14543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hasta 1 Gbps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49899" y="3236975"/>
            <a:ext cx="81407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2007+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10277" y="3236975"/>
            <a:ext cx="24604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Consolas"/>
              </a:rPr>
              <a:t>0.2 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7016" y="3236975"/>
            <a:ext cx="43263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experimental, no desplegado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75488" y="1371600"/>
            <a:ext cx="11240993" cy="2249423"/>
          </a:xfrm>
          <a:prstGeom prst="roundRect">
            <a:avLst>
              <a:gd name="adj" fmla="val 488"/>
            </a:avLst>
          </a:prstGeom>
          <a:noFill/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475488" y="5376672"/>
            <a:ext cx="11240993" cy="822960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475488" y="5468112"/>
            <a:ext cx="32004" cy="64008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40080" y="546811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DD4BF"/>
                </a:solidFill>
                <a:latin typeface="Consolas"/>
              </a:rPr>
              <a:t>LECTURA DE LA TABLA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5650992"/>
            <a:ext cx="1091180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IrDA gastaba muy poca energía y no requería emparejamiento, pero la necesidad de apuntar y la poca distancia lo condenaron cuando Bluetooth (1-100 m, omnidireccional) maduró.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5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fill="hold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fill="hold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fill="hold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fill="hold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fill="hold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fill="hold">
                                  <p:stCondLst>
                                    <p:cond delay="231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fill="hold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fill="hold">
                                  <p:stCondLst>
                                    <p:cond delay="253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fill="hold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fill="hold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fill="hold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fill="hold">
                                  <p:stCondLst>
                                    <p:cond delay="297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fill="hold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fill="hold">
                                  <p:stCondLst>
                                    <p:cond delay="319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5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fill="hold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8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fill="hold">
                                  <p:stCondLst>
                                    <p:cond delay="341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1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fill="hold">
                                  <p:stCondLst>
                                    <p:cond delay="352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4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22D3EE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D3EE"/>
                </a:solidFill>
                <a:latin typeface="Consolas"/>
              </a:rPr>
              <a:t>01 · PUERTOS DE USO GENERAL Y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Tabla maestra · Velocidades de todos los puertos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Una sola vista de las 23 interfaces de esta guía, de menor a mayor velocidad.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51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10237333" cy="320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75488" y="1371600"/>
            <a:ext cx="11240993" cy="329184"/>
          </a:xfrm>
          <a:prstGeom prst="rect">
            <a:avLst/>
          </a:prstGeom>
          <a:solidFill>
            <a:srgbClr val="22D3EE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1371600"/>
            <a:ext cx="218604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A101E"/>
                </a:solidFill>
                <a:latin typeface="Segoe UI Semibold"/>
              </a:rPr>
              <a:t>Puerto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986" y="1371600"/>
            <a:ext cx="26433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A101E"/>
                </a:solidFill>
                <a:latin typeface="Segoe UI Semibold"/>
              </a:rPr>
              <a:t>Velocidad típica / máx.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70654" y="1371600"/>
            <a:ext cx="163725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A101E"/>
                </a:solidFill>
                <a:latin typeface="Segoe UI Semibold"/>
              </a:rPr>
              <a:t>Tipo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4213" y="1371600"/>
            <a:ext cx="12713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A101E"/>
                </a:solidFill>
                <a:latin typeface="Segoe UI Semibold"/>
              </a:rPr>
              <a:t>Aparición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71914" y="1371600"/>
            <a:ext cx="277141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A101E"/>
                </a:solidFill>
                <a:latin typeface="Segoe UI Semibold"/>
              </a:rPr>
              <a:t>Estado hoy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1700784"/>
            <a:ext cx="11240993" cy="231648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1700784"/>
            <a:ext cx="2186042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EDF3FC"/>
                </a:solidFill>
                <a:latin typeface="Segoe UI"/>
              </a:rPr>
              <a:t>Módem RJ-11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986" y="1700784"/>
            <a:ext cx="264336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Consolas"/>
              </a:rPr>
              <a:t>56 kbps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70654" y="1700784"/>
            <a:ext cx="163725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Segoe UI"/>
              </a:rPr>
              <a:t>serie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4213" y="1700784"/>
            <a:ext cx="1271396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Consolas"/>
              </a:rPr>
              <a:t>1990s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1914" y="1700784"/>
            <a:ext cx="2771415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Segoe UI"/>
              </a:rPr>
              <a:t>legado / ADSL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1932432"/>
            <a:ext cx="2186042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EDF3FC"/>
                </a:solidFill>
                <a:latin typeface="Segoe UI"/>
              </a:rPr>
              <a:t>IrDA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986" y="1932432"/>
            <a:ext cx="264336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Segoe UI"/>
              </a:rPr>
              <a:t>115.2 kbps - 4 Mbps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70654" y="1932432"/>
            <a:ext cx="163725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Segoe UI"/>
              </a:rPr>
              <a:t>inalámbrico 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4213" y="1932432"/>
            <a:ext cx="1271396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Consolas"/>
              </a:rPr>
              <a:t>1993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1914" y="1932432"/>
            <a:ext cx="2771415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Segoe UI"/>
              </a:rPr>
              <a:t>obsoleto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2164080"/>
            <a:ext cx="11240993" cy="231648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8640" y="2164080"/>
            <a:ext cx="2186042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EDF3FC"/>
                </a:solidFill>
                <a:latin typeface="Segoe UI"/>
              </a:rPr>
              <a:t>RS-232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986" y="2164080"/>
            <a:ext cx="264336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Segoe UI"/>
              </a:rPr>
              <a:t>115.2 kbps (921.6 kbps)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70654" y="2164080"/>
            <a:ext cx="163725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Segoe UI"/>
              </a:rPr>
              <a:t>serie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4213" y="2164080"/>
            <a:ext cx="1271396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Consolas"/>
              </a:rPr>
              <a:t>1969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71914" y="2164080"/>
            <a:ext cx="2771415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Segoe UI"/>
              </a:rPr>
              <a:t>industria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395728"/>
            <a:ext cx="2186042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EDF3FC"/>
                </a:solidFill>
                <a:latin typeface="Segoe UI"/>
              </a:rPr>
              <a:t>LPT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80986" y="2395728"/>
            <a:ext cx="264336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Segoe UI"/>
              </a:rPr>
              <a:t>50 KB/s - 2+ MB/s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70654" y="2395728"/>
            <a:ext cx="163725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Segoe UI"/>
              </a:rPr>
              <a:t>paralelo 8 bits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4213" y="2395728"/>
            <a:ext cx="1271396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Consolas"/>
              </a:rPr>
              <a:t>1970s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71914" y="2395728"/>
            <a:ext cx="2771415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Segoe UI"/>
              </a:rPr>
              <a:t>obsoleto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" y="2627376"/>
            <a:ext cx="11240993" cy="231648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48640" y="2627376"/>
            <a:ext cx="2186042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EDF3FC"/>
                </a:solidFill>
                <a:latin typeface="Segoe UI"/>
              </a:rPr>
              <a:t>Game 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80986" y="2627376"/>
            <a:ext cx="264336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Segoe UI"/>
              </a:rPr>
              <a:t>muestreo analógico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70654" y="2627376"/>
            <a:ext cx="163725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Segoe UI"/>
              </a:rPr>
              <a:t>analógico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54213" y="2627376"/>
            <a:ext cx="1271396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Consolas"/>
              </a:rPr>
              <a:t>1980s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71914" y="2627376"/>
            <a:ext cx="2771415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Segoe UI"/>
              </a:rPr>
              <a:t>obsoleto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2859024"/>
            <a:ext cx="2186042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EDF3FC"/>
                </a:solidFill>
                <a:latin typeface="Segoe UI"/>
              </a:rPr>
              <a:t>FireWire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80986" y="2859024"/>
            <a:ext cx="264336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Segoe UI"/>
              </a:rPr>
              <a:t>400 - 800 Mbps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70654" y="2859024"/>
            <a:ext cx="163725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Segoe UI"/>
              </a:rPr>
              <a:t>serie isócrono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54213" y="2859024"/>
            <a:ext cx="1271396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Consolas"/>
              </a:rPr>
              <a:t>1995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71914" y="2859024"/>
            <a:ext cx="2771415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Segoe UI"/>
              </a:rPr>
              <a:t>obsoleto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5488" y="3090672"/>
            <a:ext cx="11240993" cy="231648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48640" y="3090672"/>
            <a:ext cx="2186042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EDF3FC"/>
                </a:solidFill>
                <a:latin typeface="Segoe UI"/>
              </a:rPr>
              <a:t>USB 2.0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80986" y="3090672"/>
            <a:ext cx="264336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Consolas"/>
              </a:rPr>
              <a:t>480 Mbps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70654" y="3090672"/>
            <a:ext cx="163725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Segoe UI"/>
              </a:rPr>
              <a:t>serie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54213" y="3090672"/>
            <a:ext cx="1271396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Consolas"/>
              </a:rPr>
              <a:t>2000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71914" y="3090672"/>
            <a:ext cx="2771415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Segoe UI"/>
              </a:rPr>
              <a:t>activo (periféricos)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3322320"/>
            <a:ext cx="2186042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EDF3FC"/>
                </a:solidFill>
                <a:latin typeface="Segoe UI"/>
              </a:rPr>
              <a:t>Fast Ethernet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80986" y="3322320"/>
            <a:ext cx="264336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Consolas"/>
              </a:rPr>
              <a:t>100 Mbps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70654" y="3322320"/>
            <a:ext cx="163725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Segoe UI"/>
              </a:rPr>
              <a:t>red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54213" y="3322320"/>
            <a:ext cx="1271396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Consolas"/>
              </a:rPr>
              <a:t>1995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71914" y="3322320"/>
            <a:ext cx="2771415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Segoe UI"/>
              </a:rPr>
              <a:t>activo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75488" y="3553968"/>
            <a:ext cx="11240993" cy="231648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548640" y="3553968"/>
            <a:ext cx="2186042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EDF3FC"/>
                </a:solidFill>
                <a:latin typeface="Segoe UI"/>
              </a:rPr>
              <a:t>Gigabit Ethernet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880986" y="3553968"/>
            <a:ext cx="264336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Consolas"/>
              </a:rPr>
              <a:t>1 Gbps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70654" y="3553968"/>
            <a:ext cx="163725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Segoe UI"/>
              </a:rPr>
              <a:t>red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54213" y="3553968"/>
            <a:ext cx="1271396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Consolas"/>
              </a:rPr>
              <a:t>1999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871914" y="3553968"/>
            <a:ext cx="2771415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Segoe UI"/>
              </a:rPr>
              <a:t>estándar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3785616"/>
            <a:ext cx="2186042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EDF3FC"/>
                </a:solidFill>
                <a:latin typeface="Segoe UI"/>
              </a:rPr>
              <a:t>USB 3.2 / USB4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80986" y="3785616"/>
            <a:ext cx="264336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Segoe UI"/>
              </a:rPr>
              <a:t>10 - 40 Gbps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70654" y="3785616"/>
            <a:ext cx="163725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Segoe UI"/>
              </a:rPr>
              <a:t>serie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54213" y="3785616"/>
            <a:ext cx="1271396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Consolas"/>
              </a:rPr>
              <a:t>2013-2019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871914" y="3785616"/>
            <a:ext cx="2771415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Segoe UI"/>
              </a:rPr>
              <a:t>estándar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75488" y="4017264"/>
            <a:ext cx="11240993" cy="231648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548640" y="4017264"/>
            <a:ext cx="2186042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EDF3FC"/>
                </a:solidFill>
                <a:latin typeface="Segoe UI"/>
              </a:rPr>
              <a:t>Thunderbolt 3/4/5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880986" y="4017264"/>
            <a:ext cx="264336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Segoe UI"/>
              </a:rPr>
              <a:t>40 - 120 Gbps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70654" y="4017264"/>
            <a:ext cx="163725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Segoe UI"/>
              </a:rPr>
              <a:t>híbrido PCIe+DP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454213" y="4017264"/>
            <a:ext cx="1271396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Consolas"/>
              </a:rPr>
              <a:t>2015-2023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871914" y="4017264"/>
            <a:ext cx="2771415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Segoe UI"/>
              </a:rPr>
              <a:t>gama alta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8640" y="4248912"/>
            <a:ext cx="2186042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EDF3FC"/>
                </a:solidFill>
                <a:latin typeface="Segoe UI"/>
              </a:rPr>
              <a:t>10 GbE / SFP+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880986" y="4248912"/>
            <a:ext cx="264336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Consolas"/>
              </a:rPr>
              <a:t>10 Gbps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70654" y="4248912"/>
            <a:ext cx="163725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Segoe UI"/>
              </a:rPr>
              <a:t>red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54213" y="4248912"/>
            <a:ext cx="1271396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Consolas"/>
              </a:rPr>
              <a:t>2006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71914" y="4248912"/>
            <a:ext cx="2771415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Segoe UI"/>
              </a:rPr>
              <a:t>profesional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75488" y="4480559"/>
            <a:ext cx="11240993" cy="231648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548640" y="4480559"/>
            <a:ext cx="2186042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EDF3FC"/>
                </a:solidFill>
                <a:latin typeface="Segoe UI"/>
              </a:rPr>
              <a:t>HDMI 2.1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880986" y="4480559"/>
            <a:ext cx="264336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Consolas"/>
              </a:rPr>
              <a:t>48 Gbps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70654" y="4480559"/>
            <a:ext cx="163725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Segoe UI"/>
              </a:rPr>
              <a:t>video/audio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454213" y="4480559"/>
            <a:ext cx="1271396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Consolas"/>
              </a:rPr>
              <a:t>2017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871914" y="4480559"/>
            <a:ext cx="2771415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Segoe UI"/>
              </a:rPr>
              <a:t>estándar TV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8640" y="4712207"/>
            <a:ext cx="2186042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EDF3FC"/>
                </a:solidFill>
                <a:latin typeface="Segoe UI"/>
              </a:rPr>
              <a:t>DisplayPort 2.1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880986" y="4712207"/>
            <a:ext cx="264336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Consolas"/>
              </a:rPr>
              <a:t>80 Gbps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670654" y="4712207"/>
            <a:ext cx="163725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Segoe UI"/>
              </a:rPr>
              <a:t>video/audio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454213" y="4712207"/>
            <a:ext cx="1271396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Consolas"/>
              </a:rPr>
              <a:t>2022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871914" y="4712207"/>
            <a:ext cx="2771415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Segoe UI"/>
              </a:rPr>
              <a:t>estándar PC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75488" y="4943855"/>
            <a:ext cx="11240993" cy="231648"/>
          </a:xfrm>
          <a:prstGeom prst="rect">
            <a:avLst/>
          </a:prstGeom>
          <a:solidFill>
            <a:srgbClr val="111C3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548640" y="4943855"/>
            <a:ext cx="2186042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EDF3FC"/>
                </a:solidFill>
                <a:latin typeface="Segoe UI"/>
              </a:rPr>
              <a:t>eSATA 6 Gbps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880986" y="4943855"/>
            <a:ext cx="264336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Consolas"/>
              </a:rPr>
              <a:t>6 Gbps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670654" y="4943855"/>
            <a:ext cx="1637254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Segoe UI"/>
              </a:rPr>
              <a:t>almacenamiento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54213" y="4943855"/>
            <a:ext cx="1271396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Consolas"/>
              </a:rPr>
              <a:t>2004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871914" y="4943855"/>
            <a:ext cx="2771415" cy="231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C0CDE2"/>
                </a:solidFill>
                <a:latin typeface="Segoe UI"/>
              </a:rPr>
              <a:t>legado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75488" y="1371600"/>
            <a:ext cx="11240993" cy="3803903"/>
          </a:xfrm>
          <a:prstGeom prst="roundRect">
            <a:avLst>
              <a:gd name="adj" fmla="val 488"/>
            </a:avLst>
          </a:prstGeom>
          <a:noFill/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Rounded Rectangle 105"/>
          <p:cNvSpPr/>
          <p:nvPr/>
        </p:nvSpPr>
        <p:spPr>
          <a:xfrm>
            <a:off x="475488" y="5376672"/>
            <a:ext cx="11240993" cy="822960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475488" y="5468112"/>
            <a:ext cx="320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640080" y="546811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2D3EE"/>
                </a:solidFill>
                <a:latin typeface="Consolas"/>
              </a:rPr>
              <a:t>LECTURA DE LA TABLA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0080" y="5650992"/>
            <a:ext cx="1091180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Lectura rápida: para datos, USB4/Thunderbolt; para video, DP 2.1 y HDMI 2.1; para red, 2.5-10 GbE o SFP+; para legacy, RS-232 y RJ-11 siguen presentes.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0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5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fill="hold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fill="hold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fill="hold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fill="hold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fill="hold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fill="hold">
                                  <p:stCondLst>
                                    <p:cond delay="231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fill="hold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4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fill="hold">
                                  <p:stCondLst>
                                    <p:cond delay="253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fill="hold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0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fill="hold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3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fill="hold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6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fill="hold">
                                  <p:stCondLst>
                                    <p:cond delay="297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29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fill="hold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2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fill="hold">
                                  <p:stCondLst>
                                    <p:cond delay="319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5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fill="hold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38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fill="hold">
                                  <p:stCondLst>
                                    <p:cond delay="341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1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fill="hold">
                                  <p:stCondLst>
                                    <p:cond delay="352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4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fill="hold">
                                  <p:stCondLst>
                                    <p:cond delay="363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47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fill="hold">
                                  <p:stCondLst>
                                    <p:cond delay="374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4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0" dur="4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fill="hold">
                                  <p:stCondLst>
                                    <p:cond delay="38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3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fill="hold">
                                  <p:stCondLst>
                                    <p:cond delay="396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6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fill="hold">
                                  <p:stCondLst>
                                    <p:cond delay="407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59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fill="hold">
                                  <p:stCondLst>
                                    <p:cond delay="418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62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fill="hold">
                                  <p:stCondLst>
                                    <p:cond delay="429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4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65" dur="4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fill="hold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4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68" dur="4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fill="hold">
                                  <p:stCondLst>
                                    <p:cond delay="451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4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71" dur="4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fill="hold">
                                  <p:stCondLst>
                                    <p:cond delay="462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4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74" dur="4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fill="hold">
                                  <p:stCondLst>
                                    <p:cond delay="473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4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77" dur="4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fill="hold">
                                  <p:stCondLst>
                                    <p:cond delay="484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4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80" dur="4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fill="hold">
                                  <p:stCondLst>
                                    <p:cond delay="495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4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83" dur="4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fill="hold">
                                  <p:stCondLst>
                                    <p:cond delay="506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4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86" dur="4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fill="hold">
                                  <p:stCondLst>
                                    <p:cond delay="517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42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89" dur="42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fill="hold">
                                  <p:stCondLst>
                                    <p:cond delay="528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42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92" dur="42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fill="hold">
                                  <p:stCondLst>
                                    <p:cond delay="539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42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95" dur="42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fill="hold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42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198" dur="42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fill="hold">
                                  <p:stCondLst>
                                    <p:cond delay="561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42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01" dur="42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fill="hold">
                                  <p:stCondLst>
                                    <p:cond delay="572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42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04" dur="42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fill="hold">
                                  <p:stCondLst>
                                    <p:cond delay="583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42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07" dur="42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fill="hold">
                                  <p:stCondLst>
                                    <p:cond delay="594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42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10" dur="42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fill="hold">
                                  <p:stCondLst>
                                    <p:cond delay="605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42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13" dur="42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fill="hold">
                                  <p:stCondLst>
                                    <p:cond delay="616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42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16" dur="42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fill="hold">
                                  <p:stCondLst>
                                    <p:cond delay="627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42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19" dur="42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fill="hold">
                                  <p:stCondLst>
                                    <p:cond delay="638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42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22" dur="42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fill="hold">
                                  <p:stCondLst>
                                    <p:cond delay="649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42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25" dur="42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fill="hold">
                                  <p:stCondLst>
                                    <p:cond delay="660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42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28" dur="42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fill="hold">
                                  <p:stCondLst>
                                    <p:cond delay="671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42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31" dur="42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fill="hold">
                                  <p:stCondLst>
                                    <p:cond delay="682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4" dur="42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34" dur="42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fill="hold">
                                  <p:stCondLst>
                                    <p:cond delay="693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7" dur="42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37" dur="42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fill="hold">
                                  <p:stCondLst>
                                    <p:cond delay="704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0" dur="42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40" dur="42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fill="hold">
                                  <p:stCondLst>
                                    <p:cond delay="715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42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43" dur="42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fill="hold">
                                  <p:stCondLst>
                                    <p:cond delay="726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6" dur="42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46" dur="42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fill="hold">
                                  <p:stCondLst>
                                    <p:cond delay="737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42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49" dur="42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fill="hold">
                                  <p:stCondLst>
                                    <p:cond delay="748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2" dur="42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52" dur="42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fill="hold">
                                  <p:stCondLst>
                                    <p:cond delay="759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5" dur="42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55" dur="42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fill="hold">
                                  <p:stCondLst>
                                    <p:cond delay="770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8" dur="42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58" dur="42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fill="hold">
                                  <p:stCondLst>
                                    <p:cond delay="781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1" dur="42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61" dur="42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fill="hold">
                                  <p:stCondLst>
                                    <p:cond delay="792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4" dur="42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64" dur="42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fill="hold">
                                  <p:stCondLst>
                                    <p:cond delay="803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42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67" dur="42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fill="hold">
                                  <p:stCondLst>
                                    <p:cond delay="814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0" dur="42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70" dur="42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fill="hold">
                                  <p:stCondLst>
                                    <p:cond delay="825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3" dur="42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73" dur="42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fill="hold">
                                  <p:stCondLst>
                                    <p:cond delay="836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6" dur="42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76" dur="42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fill="hold">
                                  <p:stCondLst>
                                    <p:cond delay="847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9" dur="42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79" dur="42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fill="hold">
                                  <p:stCondLst>
                                    <p:cond delay="858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2" dur="42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82" dur="42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fill="hold">
                                  <p:stCondLst>
                                    <p:cond delay="869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5" dur="42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85" dur="42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fill="hold">
                                  <p:stCondLst>
                                    <p:cond delay="880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8" dur="42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88" dur="42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fill="hold">
                                  <p:stCondLst>
                                    <p:cond delay="891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1" dur="42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91" dur="42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fill="hold">
                                  <p:stCondLst>
                                    <p:cond delay="902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4" dur="42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94" dur="42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fill="hold">
                                  <p:stCondLst>
                                    <p:cond delay="913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7" dur="42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297" dur="42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fill="hold">
                                  <p:stCondLst>
                                    <p:cond delay="924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0" dur="42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00" dur="42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fill="hold">
                                  <p:stCondLst>
                                    <p:cond delay="935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3" dur="42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03" dur="42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fill="hold">
                                  <p:stCondLst>
                                    <p:cond delay="946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6" dur="42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06" dur="42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fill="hold">
                                  <p:stCondLst>
                                    <p:cond delay="957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9" dur="42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Effect transition="in" filter="fade">
                                      <p:cBhvr>
                                        <p:cTn id="309" dur="42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22D3EE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D3EE"/>
                </a:solidFill>
                <a:latin typeface="Consolas"/>
              </a:rPr>
              <a:t>01 · PUERTOS DE USO GENERAL Y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Chuleta de colores de identificación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Lo primero que se mira al conectar un cable: el color.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52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10438065" cy="320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3649461" cy="521208"/>
          </a:xfrm>
          <a:prstGeom prst="roundRect">
            <a:avLst>
              <a:gd name="adj" fmla="val 250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75488" y="1371600"/>
            <a:ext cx="41148" cy="5212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0080" y="1463040"/>
            <a:ext cx="33202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D3EE"/>
                </a:solidFill>
                <a:latin typeface="Consolas"/>
              </a:rPr>
              <a:t>USB blanco / gris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1719072"/>
            <a:ext cx="3320277" cy="-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C0CDE2"/>
                </a:solidFill>
                <a:latin typeface="Segoe UI"/>
              </a:rPr>
              <a:t>USB 1.0-1.1 · 12 Mbps · teclados y ratones antiguos.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618488"/>
            <a:ext cx="33202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22D3EE"/>
                </a:solidFill>
                <a:latin typeface="Consolas"/>
              </a:rPr>
              <a:t>LENGÜETA INTERIOR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1253" y="1371600"/>
            <a:ext cx="3649461" cy="521208"/>
          </a:xfrm>
          <a:prstGeom prst="roundRect">
            <a:avLst>
              <a:gd name="adj" fmla="val 250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271253" y="1371600"/>
            <a:ext cx="41148" cy="5212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435845" y="1463040"/>
            <a:ext cx="33202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D3EE"/>
                </a:solidFill>
                <a:latin typeface="Consolas"/>
              </a:rPr>
              <a:t>USB negro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5845" y="1719072"/>
            <a:ext cx="3320277" cy="-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C0CDE2"/>
                </a:solidFill>
                <a:latin typeface="Segoe UI"/>
              </a:rPr>
              <a:t>USB 2.0 · 480 Mbps · el color más común de memorias.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5845" y="1618488"/>
            <a:ext cx="33202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22D3EE"/>
                </a:solidFill>
                <a:latin typeface="Consolas"/>
              </a:rPr>
              <a:t>LENGÜETA INTERIOR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7019" y="1371600"/>
            <a:ext cx="3649461" cy="521208"/>
          </a:xfrm>
          <a:prstGeom prst="roundRect">
            <a:avLst>
              <a:gd name="adj" fmla="val 250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67019" y="1371600"/>
            <a:ext cx="41148" cy="52120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31611" y="1463040"/>
            <a:ext cx="33202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0A5FA"/>
                </a:solidFill>
                <a:latin typeface="Consolas"/>
              </a:rPr>
              <a:t>USB azul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1611" y="1719072"/>
            <a:ext cx="3320277" cy="-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C0CDE2"/>
                </a:solidFill>
                <a:latin typeface="Segoe UI"/>
              </a:rPr>
              <a:t>USB 3.0/3.1 Gen 1 · 5 Gbps · con logotipo SS.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31611" y="1618488"/>
            <a:ext cx="33202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0A5FA"/>
                </a:solidFill>
                <a:latin typeface="Consolas"/>
              </a:rPr>
              <a:t>LENGÜETA INTERIOR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2039112"/>
            <a:ext cx="3649461" cy="521208"/>
          </a:xfrm>
          <a:prstGeom prst="roundRect">
            <a:avLst>
              <a:gd name="adj" fmla="val 250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475488" y="2039112"/>
            <a:ext cx="41148" cy="52120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2130552"/>
            <a:ext cx="33202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87171"/>
                </a:solidFill>
                <a:latin typeface="Consolas"/>
              </a:rPr>
              <a:t>USB rojo / turquesa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2386584"/>
            <a:ext cx="3320277" cy="-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C0CDE2"/>
                </a:solidFill>
                <a:latin typeface="Segoe UI"/>
              </a:rPr>
              <a:t>USB 3.1 Gen 2/3.2 · 10 Gbps · placas gaming.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2286000"/>
            <a:ext cx="33202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F87171"/>
                </a:solidFill>
                <a:latin typeface="Consolas"/>
              </a:rPr>
              <a:t>LENGÜETA INTERIOR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71253" y="2039112"/>
            <a:ext cx="3649461" cy="521208"/>
          </a:xfrm>
          <a:prstGeom prst="roundRect">
            <a:avLst>
              <a:gd name="adj" fmla="val 250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4271253" y="2039112"/>
            <a:ext cx="41148" cy="5212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35845" y="2130552"/>
            <a:ext cx="33202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4D399"/>
                </a:solidFill>
                <a:latin typeface="Consolas"/>
              </a:rPr>
              <a:t>PS/2 verde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5845" y="2386584"/>
            <a:ext cx="3320277" cy="-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C0CDE2"/>
                </a:solidFill>
                <a:latin typeface="Segoe UI"/>
              </a:rPr>
              <a:t>Ratón — exclusivo, nunca teclado.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5845" y="2286000"/>
            <a:ext cx="33202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34D399"/>
                </a:solidFill>
                <a:latin typeface="Consolas"/>
              </a:rPr>
              <a:t>MINI-DIN 6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67019" y="2039112"/>
            <a:ext cx="3649461" cy="521208"/>
          </a:xfrm>
          <a:prstGeom prst="roundRect">
            <a:avLst>
              <a:gd name="adj" fmla="val 250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8067019" y="2039112"/>
            <a:ext cx="41148" cy="5212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231611" y="2130552"/>
            <a:ext cx="33202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78BFA"/>
                </a:solidFill>
                <a:latin typeface="Consolas"/>
              </a:rPr>
              <a:t>PS/2 morado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31611" y="2386584"/>
            <a:ext cx="3320277" cy="-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C0CDE2"/>
                </a:solidFill>
                <a:latin typeface="Segoe UI"/>
              </a:rPr>
              <a:t>Teclado — exclusivo, nunca ratón.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31611" y="2286000"/>
            <a:ext cx="33202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78BFA"/>
                </a:solidFill>
                <a:latin typeface="Consolas"/>
              </a:rPr>
              <a:t>MINI-DIN 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5488" y="2706624"/>
            <a:ext cx="3649461" cy="521208"/>
          </a:xfrm>
          <a:prstGeom prst="roundRect">
            <a:avLst>
              <a:gd name="adj" fmla="val 250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475488" y="2706624"/>
            <a:ext cx="41148" cy="52120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40080" y="2798064"/>
            <a:ext cx="33202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0A5FA"/>
                </a:solidFill>
                <a:latin typeface="Consolas"/>
              </a:rPr>
              <a:t>VGA azul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3054096"/>
            <a:ext cx="3320277" cy="-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C0CDE2"/>
                </a:solidFill>
                <a:latin typeface="Segoe UI"/>
              </a:rPr>
              <a:t>Monitor analógico · 15 pines en 3 filas.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2953512"/>
            <a:ext cx="33202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0A5FA"/>
                </a:solidFill>
                <a:latin typeface="Consolas"/>
              </a:rPr>
              <a:t>D-SUB HD15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71253" y="2706624"/>
            <a:ext cx="3649461" cy="521208"/>
          </a:xfrm>
          <a:prstGeom prst="roundRect">
            <a:avLst>
              <a:gd name="adj" fmla="val 250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4271253" y="2706624"/>
            <a:ext cx="41148" cy="52120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435845" y="2798064"/>
            <a:ext cx="33202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472B6"/>
                </a:solidFill>
                <a:latin typeface="Consolas"/>
              </a:rPr>
              <a:t>LPT burdeos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35845" y="3054096"/>
            <a:ext cx="3320277" cy="-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C0CDE2"/>
                </a:solidFill>
                <a:latin typeface="Segoe UI"/>
              </a:rPr>
              <a:t>Impresora paralela · 25 pines (PC99).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35845" y="2953512"/>
            <a:ext cx="33202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F472B6"/>
                </a:solidFill>
                <a:latin typeface="Consolas"/>
              </a:rPr>
              <a:t>D-SUB 25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67019" y="2706624"/>
            <a:ext cx="3649461" cy="521208"/>
          </a:xfrm>
          <a:prstGeom prst="roundRect">
            <a:avLst>
              <a:gd name="adj" fmla="val 250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8067019" y="2706624"/>
            <a:ext cx="41148" cy="5212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8231611" y="2798064"/>
            <a:ext cx="33202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9E0B"/>
                </a:solidFill>
                <a:latin typeface="Consolas"/>
              </a:rPr>
              <a:t>Game Port dorado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31611" y="3054096"/>
            <a:ext cx="3320277" cy="-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C0CDE2"/>
                </a:solidFill>
                <a:latin typeface="Segoe UI"/>
              </a:rPr>
              <a:t>Joystick / MIDI en tarjetas de sonido.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31611" y="2953512"/>
            <a:ext cx="33202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F59E0B"/>
                </a:solidFill>
                <a:latin typeface="Consolas"/>
              </a:rPr>
              <a:t>D-SUB 15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75488" y="3374136"/>
            <a:ext cx="3649461" cy="521208"/>
          </a:xfrm>
          <a:prstGeom prst="roundRect">
            <a:avLst>
              <a:gd name="adj" fmla="val 250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475488" y="3374136"/>
            <a:ext cx="41148" cy="5212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640080" y="3465576"/>
            <a:ext cx="33202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9E0B"/>
                </a:solidFill>
                <a:latin typeface="Consolas"/>
              </a:rPr>
              <a:t>RCA amarillo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3721608"/>
            <a:ext cx="3320277" cy="-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C0CDE2"/>
                </a:solidFill>
                <a:latin typeface="Segoe UI"/>
              </a:rPr>
              <a:t>Video compuesto SD · 1 Vp-p 75 Ω.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" y="3621024"/>
            <a:ext cx="33202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F59E0B"/>
                </a:solidFill>
                <a:latin typeface="Consolas"/>
              </a:rPr>
              <a:t>RCA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271253" y="3374136"/>
            <a:ext cx="3649461" cy="521208"/>
          </a:xfrm>
          <a:prstGeom prst="roundRect">
            <a:avLst>
              <a:gd name="adj" fmla="val 250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4271253" y="3374136"/>
            <a:ext cx="41148" cy="5212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4435845" y="3465576"/>
            <a:ext cx="33202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4D399"/>
                </a:solidFill>
                <a:latin typeface="Consolas"/>
              </a:rPr>
              <a:t>Audio verde/rosado/azul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35845" y="3721608"/>
            <a:ext cx="3320277" cy="-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C0CDE2"/>
                </a:solidFill>
                <a:latin typeface="Segoe UI"/>
              </a:rPr>
              <a:t>Salida / micrófono / line-in (PC99).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35845" y="3621024"/>
            <a:ext cx="33202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34D399"/>
                </a:solidFill>
                <a:latin typeface="Consolas"/>
              </a:rPr>
              <a:t>JACK 3.5 MM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067019" y="3374136"/>
            <a:ext cx="3649461" cy="521208"/>
          </a:xfrm>
          <a:prstGeom prst="roundRect">
            <a:avLst>
              <a:gd name="adj" fmla="val 250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8067019" y="3374136"/>
            <a:ext cx="41148" cy="5212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8231611" y="3465576"/>
            <a:ext cx="33202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9E0B"/>
                </a:solidFill>
                <a:latin typeface="Consolas"/>
              </a:rPr>
              <a:t>RCA naranja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31611" y="3721608"/>
            <a:ext cx="3320277" cy="-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C0CDE2"/>
                </a:solidFill>
                <a:latin typeface="Segoe UI"/>
              </a:rPr>
              <a:t>S/PDIF coaxial · audio digital 75 Ω.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31611" y="3621024"/>
            <a:ext cx="33202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F59E0B"/>
                </a:solidFill>
                <a:latin typeface="Consolas"/>
              </a:rPr>
              <a:t>RCA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75488" y="4041648"/>
            <a:ext cx="3649461" cy="521208"/>
          </a:xfrm>
          <a:prstGeom prst="roundRect">
            <a:avLst>
              <a:gd name="adj" fmla="val 250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475488" y="4041648"/>
            <a:ext cx="41148" cy="5212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640080" y="4133088"/>
            <a:ext cx="33202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4D399"/>
                </a:solidFill>
                <a:latin typeface="Consolas"/>
              </a:rPr>
              <a:t>LED verde RJ-45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4389120"/>
            <a:ext cx="3320277" cy="-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C0CDE2"/>
                </a:solidFill>
                <a:latin typeface="Segoe UI"/>
              </a:rPr>
              <a:t>Enlace de red establecido.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" y="4288536"/>
            <a:ext cx="33202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34D399"/>
                </a:solidFill>
                <a:latin typeface="Consolas"/>
              </a:rPr>
              <a:t>ETHERNET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271253" y="4041648"/>
            <a:ext cx="3649461" cy="521208"/>
          </a:xfrm>
          <a:prstGeom prst="roundRect">
            <a:avLst>
              <a:gd name="adj" fmla="val 250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4271253" y="4041648"/>
            <a:ext cx="41148" cy="5212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4435845" y="4133088"/>
            <a:ext cx="33202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9E0B"/>
                </a:solidFill>
                <a:latin typeface="Consolas"/>
              </a:rPr>
              <a:t>LED ámbar RJ-45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435845" y="4389120"/>
            <a:ext cx="3320277" cy="-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C0CDE2"/>
                </a:solidFill>
                <a:latin typeface="Segoe UI"/>
              </a:rPr>
              <a:t>Actividad de datos (o 100 Mbps).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35845" y="4288536"/>
            <a:ext cx="33202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F59E0B"/>
                </a:solidFill>
                <a:latin typeface="Consolas"/>
              </a:rPr>
              <a:t>ETHERNET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067019" y="4041648"/>
            <a:ext cx="3649461" cy="521208"/>
          </a:xfrm>
          <a:prstGeom prst="roundRect">
            <a:avLst>
              <a:gd name="adj" fmla="val 250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8067019" y="4041648"/>
            <a:ext cx="41148" cy="52120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8231611" y="4133088"/>
            <a:ext cx="33202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87171"/>
                </a:solidFill>
                <a:latin typeface="Consolas"/>
              </a:rPr>
              <a:t>TOSLINK rojo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231611" y="4389120"/>
            <a:ext cx="3320277" cy="-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C0CDE2"/>
                </a:solidFill>
                <a:latin typeface="Segoe UI"/>
              </a:rPr>
              <a:t>Luz visible del audio óptico (~650 nm).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231611" y="4288536"/>
            <a:ext cx="33202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F87171"/>
                </a:solidFill>
                <a:latin typeface="Consolas"/>
              </a:rPr>
              <a:t>FIBRA ÓPTICA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75488" y="4709160"/>
            <a:ext cx="3649461" cy="521208"/>
          </a:xfrm>
          <a:prstGeom prst="roundRect">
            <a:avLst>
              <a:gd name="adj" fmla="val 250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475488" y="4709160"/>
            <a:ext cx="41148" cy="5212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640080" y="4800600"/>
            <a:ext cx="33202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9E0B"/>
                </a:solidFill>
                <a:latin typeface="Consolas"/>
              </a:rPr>
              <a:t>Fibra amarilla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0080" y="5056632"/>
            <a:ext cx="3320277" cy="-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C0CDE2"/>
                </a:solidFill>
                <a:latin typeface="Segoe UI"/>
              </a:rPr>
              <a:t>Monomodo (larga distancia).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0080" y="4956048"/>
            <a:ext cx="33202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F59E0B"/>
                </a:solidFill>
                <a:latin typeface="Consolas"/>
              </a:rPr>
              <a:t>SFP / LC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271253" y="4709160"/>
            <a:ext cx="3649461" cy="521208"/>
          </a:xfrm>
          <a:prstGeom prst="roundRect">
            <a:avLst>
              <a:gd name="adj" fmla="val 250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4271253" y="4709160"/>
            <a:ext cx="41148" cy="52120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4435845" y="4800600"/>
            <a:ext cx="33202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DD4BF"/>
                </a:solidFill>
                <a:latin typeface="Consolas"/>
              </a:rPr>
              <a:t>Fibra aqua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435845" y="5056632"/>
            <a:ext cx="3320277" cy="-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C0CDE2"/>
                </a:solidFill>
                <a:latin typeface="Segoe UI"/>
              </a:rPr>
              <a:t>Multimodo OM3/OM4 (datacenter).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435845" y="4956048"/>
            <a:ext cx="33202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2DD4BF"/>
                </a:solidFill>
                <a:latin typeface="Consolas"/>
              </a:rPr>
              <a:t>SFP / LC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067019" y="4709160"/>
            <a:ext cx="3649461" cy="521208"/>
          </a:xfrm>
          <a:prstGeom prst="roundRect">
            <a:avLst>
              <a:gd name="adj" fmla="val 2505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8067019" y="4709160"/>
            <a:ext cx="41148" cy="52120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8231611" y="4800600"/>
            <a:ext cx="33202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87171"/>
                </a:solidFill>
                <a:latin typeface="Consolas"/>
              </a:rPr>
              <a:t>IrDA rojo oscuro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231611" y="5056632"/>
            <a:ext cx="3320277" cy="-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C0CDE2"/>
                </a:solidFill>
                <a:latin typeface="Segoe UI"/>
              </a:rPr>
              <a:t>Ventana infrarroja translúcida.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231611" y="4956048"/>
            <a:ext cx="33202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F87171"/>
                </a:solidFill>
                <a:latin typeface="Consolas"/>
              </a:rPr>
              <a:t>IRDA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475488" y="5376672"/>
            <a:ext cx="11240993" cy="822960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475488" y="5468112"/>
            <a:ext cx="320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640080" y="546811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2D3EE"/>
                </a:solidFill>
                <a:latin typeface="Consolas"/>
              </a:rPr>
              <a:t>CÓMO ELEGIR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0080" y="5650992"/>
            <a:ext cx="1091180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Atajo mental: azul = rápido (USB 3), verde = ratón/enlace, amarillo = video compuesto o fibra monomodo, rojo = luz óptica o USB 3.2.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1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7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1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5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9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3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7" dur="4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1" dur="4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5" dur="4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9" dur="4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3" dur="4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7" dur="4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16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3" dur="4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7" dur="4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1" dur="4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5" dur="4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9" dur="4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3" dur="4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4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7" dur="4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1" dur="4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5" dur="4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9" dur="4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4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3" dur="4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4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9" dur="42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4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3" dur="42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8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4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7" dur="42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4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1" dur="42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4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5" dur="42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0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4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9" dur="42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4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4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3" dur="42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8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4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7" dur="42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2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42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1" dur="42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6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42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5" dur="42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42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9" dur="42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9" fill="hold">
                      <p:stCondLst>
                        <p:cond delay="indefinite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25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42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5" dur="42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42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9" dur="42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42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3" dur="42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42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7" dur="42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2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42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1" dur="42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6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42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5" dur="42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0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42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9" dur="42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4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42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3" dur="42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8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42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7" dur="42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42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1" dur="42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6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42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5" dur="42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0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42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9" dur="42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4" fill="hold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42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3" dur="42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8" fill="hold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42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7" dur="42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2" fill="hold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42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1" dur="42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6" fill="hold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42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5" dur="42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fill="hold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42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9" dur="42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4" fill="hold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42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3" dur="42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8" fill="hold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42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7" dur="42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2" fill="hold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42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1" dur="42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6" fill="hold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42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5" dur="42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0" fill="hold">
                                  <p:stCondLst>
                                    <p:cond delay="231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42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9" dur="42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4" fill="hold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1" dur="42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3" dur="42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8" fill="hold">
                                  <p:stCondLst>
                                    <p:cond delay="253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42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7" dur="42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2" fill="hold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42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1" dur="42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6" fill="hold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3" dur="42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5" dur="42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0" fill="hold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42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9" dur="42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4" fill="hold">
                                  <p:stCondLst>
                                    <p:cond delay="297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1" dur="42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3" dur="42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8" fill="hold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5" dur="42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7" dur="42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2" fill="hold">
                                  <p:stCondLst>
                                    <p:cond delay="319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42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1" dur="42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6" fill="hold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42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5" dur="42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0" fill="hold">
                                  <p:stCondLst>
                                    <p:cond delay="341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7" dur="42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9" dur="42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4" fill="hold">
                                  <p:stCondLst>
                                    <p:cond delay="352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42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3" dur="42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8" fill="hold">
                                  <p:stCondLst>
                                    <p:cond delay="363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5" dur="42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7" dur="42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2" fill="hold">
                                  <p:stCondLst>
                                    <p:cond delay="374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9" dur="42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1" dur="42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6" fill="hold">
                                  <p:stCondLst>
                                    <p:cond delay="385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3" dur="42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5" dur="42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0" fill="hold">
                                  <p:stCondLst>
                                    <p:cond delay="396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7" dur="42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9" dur="42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4" fill="hold">
                                  <p:stCondLst>
                                    <p:cond delay="407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1" dur="42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3" dur="42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8" fill="hold">
                                  <p:stCondLst>
                                    <p:cond delay="418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5" dur="42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7" dur="42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22D3EE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D3EE"/>
                </a:solidFill>
                <a:latin typeface="Consolas"/>
              </a:rPr>
              <a:t>01 · PUERTOS DE USO GENERAL Y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No confundir · Pares que se parecen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Los errores de identificación más frecuentes en el taller.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53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10638797" cy="320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5519912" cy="1136904"/>
          </a:xfrm>
          <a:prstGeom prst="roundRect">
            <a:avLst>
              <a:gd name="adj" fmla="val 1656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75488" y="1481328"/>
            <a:ext cx="3200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1517904"/>
            <a:ext cx="5154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EDF3FC"/>
                </a:solidFill>
                <a:latin typeface="Segoe UI Semibold"/>
              </a:rPr>
              <a:t>RJ-45 vs RJ-11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828800"/>
            <a:ext cx="5154152" cy="633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Mismo lenguaje, distinto tamaño: </a:t>
            </a:r>
            <a:r>
              <a:rPr sz="1150" b="1">
                <a:solidFill>
                  <a:srgbClr val="C0CDE2"/>
                </a:solidFill>
                <a:latin typeface="Segoe UI Semibold"/>
              </a:rPr>
              <a:t>8 contactos</a:t>
            </a:r>
            <a:r>
              <a:rPr sz="1150" b="0">
                <a:solidFill>
                  <a:srgbClr val="C0CDE2"/>
                </a:solidFill>
                <a:latin typeface="Segoe UI"/>
              </a:rPr>
              <a:t> (red) frente a </a:t>
            </a:r>
            <a:r>
              <a:rPr sz="1150" b="1">
                <a:solidFill>
                  <a:srgbClr val="C0CDE2"/>
                </a:solidFill>
                <a:latin typeface="Segoe UI Semibold"/>
              </a:rPr>
              <a:t>2-4 contactos</a:t>
            </a:r>
            <a:r>
              <a:rPr sz="1150" b="0">
                <a:solidFill>
                  <a:srgbClr val="C0CDE2"/>
                </a:solidFill>
                <a:latin typeface="Segoe UI"/>
              </a:rPr>
              <a:t> (teléfono). Forzar uno en el otro dobla los contactos.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6568" y="1371600"/>
            <a:ext cx="5519912" cy="1136904"/>
          </a:xfrm>
          <a:prstGeom prst="roundRect">
            <a:avLst>
              <a:gd name="adj" fmla="val 1656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196568" y="1481328"/>
            <a:ext cx="32004" cy="3840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79448" y="1517904"/>
            <a:ext cx="5154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EDF3FC"/>
                </a:solidFill>
                <a:latin typeface="Segoe UI Semibold"/>
              </a:rPr>
              <a:t>USB-C vs Thunderbolt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9448" y="1828800"/>
            <a:ext cx="5154152" cy="633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Conector </a:t>
            </a:r>
            <a:r>
              <a:rPr sz="1150" b="1">
                <a:solidFill>
                  <a:srgbClr val="C0CDE2"/>
                </a:solidFill>
                <a:latin typeface="Segoe UI Semibold"/>
              </a:rPr>
              <a:t>idéntico</a:t>
            </a:r>
            <a:r>
              <a:rPr sz="1150" b="0">
                <a:solidFill>
                  <a:srgbClr val="C0CDE2"/>
                </a:solidFill>
                <a:latin typeface="Segoe UI"/>
              </a:rPr>
              <a:t>. Solo el </a:t>
            </a:r>
            <a:r>
              <a:rPr sz="1150" b="1">
                <a:solidFill>
                  <a:srgbClr val="C0CDE2"/>
                </a:solidFill>
                <a:latin typeface="Segoe UI Semibold"/>
              </a:rPr>
              <a:t>icono del rayo ⚡</a:t>
            </a:r>
            <a:r>
              <a:rPr sz="1150" b="0">
                <a:solidFill>
                  <a:srgbClr val="C0CDE2"/>
                </a:solidFill>
                <a:latin typeface="Segoe UI"/>
              </a:rPr>
              <a:t> y la documentación confirman Thunderbolt; un USB-C normal no mueve eGPU ni 2 pantallas.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2709672"/>
            <a:ext cx="5519912" cy="1136904"/>
          </a:xfrm>
          <a:prstGeom prst="roundRect">
            <a:avLst>
              <a:gd name="adj" fmla="val 1656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475488" y="2819400"/>
            <a:ext cx="32004" cy="3840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2855976"/>
            <a:ext cx="5154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EDF3FC"/>
                </a:solidFill>
                <a:latin typeface="Segoe UI Semibold"/>
              </a:rPr>
              <a:t>HDMI vs DisplayPort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166872"/>
            <a:ext cx="5154152" cy="633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HDMI: </a:t>
            </a:r>
            <a:r>
              <a:rPr sz="1150" b="1">
                <a:solidFill>
                  <a:srgbClr val="C0CDE2"/>
                </a:solidFill>
                <a:latin typeface="Segoe UI Semibold"/>
              </a:rPr>
              <a:t>dos esquinas biseladas</a:t>
            </a:r>
            <a:r>
              <a:rPr sz="1150" b="0">
                <a:solidFill>
                  <a:srgbClr val="C0CDE2"/>
                </a:solidFill>
                <a:latin typeface="Segoe UI"/>
              </a:rPr>
              <a:t> abajo, sin pestillo. DP: </a:t>
            </a:r>
            <a:r>
              <a:rPr sz="1150" b="1">
                <a:solidFill>
                  <a:srgbClr val="C0CDE2"/>
                </a:solidFill>
                <a:latin typeface="Segoe UI Semibold"/>
              </a:rPr>
              <a:t>una esquina biselada</a:t>
            </a:r>
            <a:r>
              <a:rPr sz="1150" b="0">
                <a:solidFill>
                  <a:srgbClr val="C0CDE2"/>
                </a:solidFill>
                <a:latin typeface="Segoe UI"/>
              </a:rPr>
              <a:t> y </a:t>
            </a:r>
            <a:r>
              <a:rPr sz="1150" b="1">
                <a:solidFill>
                  <a:srgbClr val="C0CDE2"/>
                </a:solidFill>
                <a:latin typeface="Segoe UI Semibold"/>
              </a:rPr>
              <a:t>pestillo de seguridad</a:t>
            </a:r>
            <a:r>
              <a:rPr sz="1150" b="0">
                <a:solidFill>
                  <a:srgbClr val="C0CDE2"/>
                </a:solidFill>
                <a:latin typeface="Segoe UI"/>
              </a:rPr>
              <a:t> arriba.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6568" y="2709672"/>
            <a:ext cx="5519912" cy="1136904"/>
          </a:xfrm>
          <a:prstGeom prst="roundRect">
            <a:avLst>
              <a:gd name="adj" fmla="val 1656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196568" y="2819400"/>
            <a:ext cx="3200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79448" y="2855976"/>
            <a:ext cx="5154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EDF3FC"/>
                </a:solidFill>
                <a:latin typeface="Segoe UI Semibold"/>
              </a:rPr>
              <a:t>USB-A 2.0 vs 3.0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9448" y="3166872"/>
            <a:ext cx="5154152" cy="633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Misma forma: solo el </a:t>
            </a:r>
            <a:r>
              <a:rPr sz="1150" b="1">
                <a:solidFill>
                  <a:srgbClr val="C0CDE2"/>
                </a:solidFill>
                <a:latin typeface="Segoe UI Semibold"/>
              </a:rPr>
              <a:t>color interior</a:t>
            </a:r>
            <a:r>
              <a:rPr sz="1150" b="0">
                <a:solidFill>
                  <a:srgbClr val="C0CDE2"/>
                </a:solidFill>
                <a:latin typeface="Segoe UI"/>
              </a:rPr>
              <a:t> (negro vs azul) y los 5 contactos extra del USB 3.0 los delatan. Usar el 3.0 en puerto 2.0 pierde velocidad.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047744"/>
            <a:ext cx="5519912" cy="1136904"/>
          </a:xfrm>
          <a:prstGeom prst="roundRect">
            <a:avLst>
              <a:gd name="adj" fmla="val 1656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475488" y="4157472"/>
            <a:ext cx="32004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368" y="4194048"/>
            <a:ext cx="5154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EDF3FC"/>
                </a:solidFill>
                <a:latin typeface="Segoe UI Semibold"/>
              </a:rPr>
              <a:t>DVI-I vs DVI-D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4504944"/>
            <a:ext cx="5154152" cy="633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DVI-I tiene </a:t>
            </a:r>
            <a:r>
              <a:rPr sz="1150" b="1">
                <a:solidFill>
                  <a:srgbClr val="C0CDE2"/>
                </a:solidFill>
                <a:latin typeface="Segoe UI Semibold"/>
              </a:rPr>
              <a:t>4 pines analógicos</a:t>
            </a:r>
            <a:r>
              <a:rPr sz="1150" b="0">
                <a:solidFill>
                  <a:srgbClr val="C0CDE2"/>
                </a:solidFill>
                <a:latin typeface="Segoe UI"/>
              </a:rPr>
              <a:t> alrededor de la blade y adapta a VGA pasivamente; DVI-D no, y forzarlo daña los contactos.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6568" y="4047744"/>
            <a:ext cx="5519912" cy="1136904"/>
          </a:xfrm>
          <a:prstGeom prst="roundRect">
            <a:avLst>
              <a:gd name="adj" fmla="val 1656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6196568" y="4157472"/>
            <a:ext cx="32004" cy="38404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379448" y="4194048"/>
            <a:ext cx="5154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EDF3FC"/>
                </a:solidFill>
                <a:latin typeface="Segoe UI Semibold"/>
              </a:rPr>
              <a:t>Mini-B vs Micro-B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9448" y="4504944"/>
            <a:ext cx="5154152" cy="633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C0CDE2"/>
                </a:solidFill>
                <a:latin typeface="Segoe UI"/>
              </a:rPr>
              <a:t>Mini-B es más grueso y trapezoidal; Micro-B, fino con rebeles. Son físicamente incompatibles aunque ambos sean USB.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5488" y="5330952"/>
            <a:ext cx="11240993" cy="868680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475488" y="5422392"/>
            <a:ext cx="32004" cy="6858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0080" y="542239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2D3EE"/>
                </a:solidFill>
                <a:latin typeface="Consolas"/>
              </a:rPr>
              <a:t>NOTA TÉCNICA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605272"/>
            <a:ext cx="10911809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Regla de oro: si el conector no entra con suavidad, no es el correcto. La fuerza nunca es parte del estándar.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6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8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9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1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4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22D3EE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D3EE"/>
                </a:solidFill>
                <a:latin typeface="Consolas"/>
              </a:rPr>
              <a:t>01 · PUERTOS DE USO GENERAL Y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Línea de tiempo · Cuatro décadas de conectividad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Cómo evolucionaron los puertos desde el teclado DIN hasta USB4 y Thunderbolt 5.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54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10839529" cy="320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6" name="Connector 15"/>
          <p:cNvCxnSpPr/>
          <p:nvPr/>
        </p:nvCxnSpPr>
        <p:spPr>
          <a:xfrm>
            <a:off x="617220" y="1554480"/>
            <a:ext cx="0" cy="4224528"/>
          </a:xfrm>
          <a:prstGeom prst="line">
            <a:avLst/>
          </a:prstGeom>
          <a:ln w="15875">
            <a:solidFill>
              <a:srgbClr val="3A4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84632" y="1385316"/>
            <a:ext cx="265176" cy="265176"/>
          </a:xfrm>
          <a:prstGeom prst="ellipse">
            <a:avLst/>
          </a:prstGeom>
          <a:solidFill>
            <a:srgbClr val="131E33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" y="1426463"/>
            <a:ext cx="429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2D3EE"/>
                </a:solidFill>
                <a:latin typeface="Consola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1353312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D3EE"/>
                </a:solidFill>
                <a:latin typeface="Consolas"/>
              </a:rPr>
              <a:t>1984-87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1572768"/>
            <a:ext cx="63459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DIN-5 en los IBM AT y el nacimiento del PS/2 con código de colores verde/morado.</a:t>
            </a:r>
          </a:p>
        </p:txBody>
      </p:sp>
      <p:sp>
        <p:nvSpPr>
          <p:cNvPr id="21" name="Oval 20"/>
          <p:cNvSpPr/>
          <p:nvPr/>
        </p:nvSpPr>
        <p:spPr>
          <a:xfrm>
            <a:off x="484632" y="1988820"/>
            <a:ext cx="265176" cy="265176"/>
          </a:xfrm>
          <a:prstGeom prst="ellipse">
            <a:avLst/>
          </a:prstGeom>
          <a:solidFill>
            <a:srgbClr val="131E33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" y="2029968"/>
            <a:ext cx="429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2D3EE"/>
                </a:solidFill>
                <a:latin typeface="Consola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1956816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D3EE"/>
                </a:solidFill>
                <a:latin typeface="Consolas"/>
              </a:rPr>
              <a:t>1986-95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2176272"/>
            <a:ext cx="63459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RS-232 y LPT dominan periféricos; llega VGA (1987) y el Game Port de las Sound Blaster.</a:t>
            </a:r>
          </a:p>
        </p:txBody>
      </p:sp>
      <p:sp>
        <p:nvSpPr>
          <p:cNvPr id="25" name="Oval 24"/>
          <p:cNvSpPr/>
          <p:nvPr/>
        </p:nvSpPr>
        <p:spPr>
          <a:xfrm>
            <a:off x="484632" y="2592324"/>
            <a:ext cx="265176" cy="265176"/>
          </a:xfrm>
          <a:prstGeom prst="ellipse">
            <a:avLst/>
          </a:prstGeom>
          <a:solidFill>
            <a:srgbClr val="131E33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" y="2633472"/>
            <a:ext cx="429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2D3EE"/>
                </a:solidFill>
                <a:latin typeface="Consola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2560320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D3EE"/>
                </a:solidFill>
                <a:latin typeface="Consolas"/>
              </a:rPr>
              <a:t>1995-96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2779776"/>
            <a:ext cx="63459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FireWire (IEEE 1394) y Fast Ethernet 100BASE-TX; se lanza USB 1.0.</a:t>
            </a:r>
          </a:p>
        </p:txBody>
      </p:sp>
      <p:sp>
        <p:nvSpPr>
          <p:cNvPr id="29" name="Oval 28"/>
          <p:cNvSpPr/>
          <p:nvPr/>
        </p:nvSpPr>
        <p:spPr>
          <a:xfrm>
            <a:off x="484632" y="3195828"/>
            <a:ext cx="265176" cy="265176"/>
          </a:xfrm>
          <a:prstGeom prst="ellipse">
            <a:avLst/>
          </a:prstGeom>
          <a:solidFill>
            <a:srgbClr val="131E33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2336" y="3236976"/>
            <a:ext cx="429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2D3EE"/>
                </a:solidFill>
                <a:latin typeface="Consola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3163824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D3EE"/>
                </a:solidFill>
                <a:latin typeface="Consolas"/>
              </a:rPr>
              <a:t>1998-2000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3383280"/>
            <a:ext cx="63459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USB 1.1 y 2.0 unifican periféricos; Gigabit Ethernet; S-Video y compuesto en su apogeo TV.</a:t>
            </a:r>
          </a:p>
        </p:txBody>
      </p:sp>
      <p:sp>
        <p:nvSpPr>
          <p:cNvPr id="33" name="Oval 32"/>
          <p:cNvSpPr/>
          <p:nvPr/>
        </p:nvSpPr>
        <p:spPr>
          <a:xfrm>
            <a:off x="484632" y="3799332"/>
            <a:ext cx="265176" cy="265176"/>
          </a:xfrm>
          <a:prstGeom prst="ellipse">
            <a:avLst/>
          </a:prstGeom>
          <a:solidFill>
            <a:srgbClr val="131E33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2336" y="3840480"/>
            <a:ext cx="429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2D3EE"/>
                </a:solidFill>
                <a:latin typeface="Consola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" y="3767328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D3EE"/>
                </a:solidFill>
                <a:latin typeface="Consolas"/>
              </a:rPr>
              <a:t>2002-06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3986784"/>
            <a:ext cx="63459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HDMI (2002), DisplayPort (2006) y eSATA (2004): el video se digitaliza.</a:t>
            </a:r>
          </a:p>
        </p:txBody>
      </p:sp>
      <p:sp>
        <p:nvSpPr>
          <p:cNvPr id="37" name="Oval 36"/>
          <p:cNvSpPr/>
          <p:nvPr/>
        </p:nvSpPr>
        <p:spPr>
          <a:xfrm>
            <a:off x="484632" y="4402836"/>
            <a:ext cx="265176" cy="265176"/>
          </a:xfrm>
          <a:prstGeom prst="ellipse">
            <a:avLst/>
          </a:prstGeom>
          <a:solidFill>
            <a:srgbClr val="131E33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2336" y="4443984"/>
            <a:ext cx="429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2D3EE"/>
                </a:solidFill>
                <a:latin typeface="Consola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" y="4370832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D3EE"/>
                </a:solidFill>
                <a:latin typeface="Consolas"/>
              </a:rPr>
              <a:t>2008-13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" y="4590288"/>
            <a:ext cx="63459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USB 3.0 (5 Gbps), Thunderbolt 1-2, SFP+ 10 GbE y HDMI 2.0 (4K60).</a:t>
            </a:r>
          </a:p>
        </p:txBody>
      </p:sp>
      <p:sp>
        <p:nvSpPr>
          <p:cNvPr id="41" name="Oval 40"/>
          <p:cNvSpPr/>
          <p:nvPr/>
        </p:nvSpPr>
        <p:spPr>
          <a:xfrm>
            <a:off x="484632" y="5006340"/>
            <a:ext cx="265176" cy="265176"/>
          </a:xfrm>
          <a:prstGeom prst="ellipse">
            <a:avLst/>
          </a:prstGeom>
          <a:solidFill>
            <a:srgbClr val="131E33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2336" y="5047488"/>
            <a:ext cx="429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2D3EE"/>
                </a:solidFill>
                <a:latin typeface="Consolas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" y="4974336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D3EE"/>
                </a:solidFill>
                <a:latin typeface="Consolas"/>
              </a:rPr>
              <a:t>2014-17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" y="5193792"/>
            <a:ext cx="63459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USB-C y Thunderbolt 3 se imponen; DP 1.4 y HDMI 2.1 (48 Gbps).</a:t>
            </a:r>
          </a:p>
        </p:txBody>
      </p:sp>
      <p:sp>
        <p:nvSpPr>
          <p:cNvPr id="45" name="Oval 44"/>
          <p:cNvSpPr/>
          <p:nvPr/>
        </p:nvSpPr>
        <p:spPr>
          <a:xfrm>
            <a:off x="484632" y="5609844"/>
            <a:ext cx="265176" cy="265176"/>
          </a:xfrm>
          <a:prstGeom prst="ellipse">
            <a:avLst/>
          </a:prstGeom>
          <a:solidFill>
            <a:srgbClr val="131E33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2336" y="5650992"/>
            <a:ext cx="429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2D3EE"/>
                </a:solidFill>
                <a:latin typeface="Consolas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" y="5577840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D3EE"/>
                </a:solidFill>
                <a:latin typeface="Consolas"/>
              </a:rPr>
              <a:t>2019-23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" y="5797296"/>
            <a:ext cx="63459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0">
                <a:solidFill>
                  <a:srgbClr val="C0CDE2"/>
                </a:solidFill>
                <a:latin typeface="Segoe UI"/>
              </a:rPr>
              <a:t>USB4 (40 Gbps), DP 2.0/2.1 (80 Gbps), Thunderbolt 5 y SD Express.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400" y="1371600"/>
            <a:ext cx="3950208" cy="2322576"/>
          </a:xfrm>
          <a:prstGeom prst="roundRect">
            <a:avLst>
              <a:gd name="adj" fmla="val 2314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7772400" y="1481328"/>
            <a:ext cx="3200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955279" y="1517904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EDF3FC"/>
                </a:solidFill>
                <a:latin typeface="Segoe UI Semibold"/>
              </a:rPr>
              <a:t>Constante histórica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79" y="1828800"/>
            <a:ext cx="3584448" cy="1819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Cada generación multiplica por 10 el ancho de banda de la anterior pero mantiene compatibilidad hacia atrás con adaptadores.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72400" y="3877056"/>
            <a:ext cx="3950208" cy="2322576"/>
          </a:xfrm>
          <a:prstGeom prst="roundRect">
            <a:avLst>
              <a:gd name="adj" fmla="val 2314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7772400" y="3986784"/>
            <a:ext cx="3200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7955279" y="402336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50" b="1">
                <a:solidFill>
                  <a:srgbClr val="EDF3FC"/>
                </a:solidFill>
                <a:latin typeface="Segoe UI Semibold"/>
              </a:rPr>
              <a:t>Tendencia actual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55279" y="4334256"/>
            <a:ext cx="3584448" cy="1819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Convergencia en USB-C: datos, video, audio y hasta 240 W en un solo conector reversible.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6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7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fill="hold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fill="hold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fill="hold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fill="hold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fill="hold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4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fill="hold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4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fill="hold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4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fill="hold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4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fill="hold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4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fill="hold">
                                  <p:stCondLst>
                                    <p:cond delay="231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9" dur="4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fill="hold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3" dur="4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fill="hold">
                                  <p:stCondLst>
                                    <p:cond delay="253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7" dur="4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fill="hold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1" dur="4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fill="hold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5" dur="4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fill="hold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9" dur="4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fill="hold">
                                  <p:stCondLst>
                                    <p:cond delay="297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3" dur="4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fill="hold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4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7" dur="4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fill="hold">
                                  <p:stCondLst>
                                    <p:cond delay="319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1" dur="4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442929" y="-2423160"/>
            <a:ext cx="5486400" cy="548640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57400" y="4297679"/>
            <a:ext cx="4389120" cy="438912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50292"/>
            <a:ext cx="2011680" cy="10972"/>
          </a:xfrm>
          <a:prstGeom prst="rect">
            <a:avLst/>
          </a:prstGeom>
          <a:solidFill>
            <a:srgbClr val="22D3EE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75488" y="274320"/>
            <a:ext cx="41148" cy="274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D3EE"/>
                </a:solidFill>
                <a:latin typeface="Consolas"/>
              </a:rPr>
              <a:t>01 · PUERTOS DE USO GENERAL Y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8640"/>
            <a:ext cx="1032659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EDF3FC"/>
                </a:solidFill>
                <a:latin typeface="Segoe UI Semibold"/>
              </a:rPr>
              <a:t>Glosario técnico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24128"/>
            <a:ext cx="110581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B9CBB"/>
                </a:solidFill>
                <a:latin typeface="Segoe UI"/>
              </a:rPr>
              <a:t>Los términos esenciales que aparecen en las hojas de datos de estos puertos.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6446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55 /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6766560"/>
            <a:ext cx="11240993" cy="32004"/>
          </a:xfrm>
          <a:prstGeom prst="rect">
            <a:avLst/>
          </a:prstGeom>
          <a:solidFill>
            <a:srgbClr val="26334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75488" y="6766560"/>
            <a:ext cx="11040261" cy="320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75488" y="1371600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1792" y="1463040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 Semibold"/>
              </a:rPr>
              <a:t>Hot-plug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170078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C0CDE2"/>
                </a:solidFill>
                <a:latin typeface="Segoe UI"/>
              </a:rPr>
              <a:t>Conexión y desconexión del periférico con el equipo encendido.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7349" y="1371600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423653" y="1463040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 Semibold"/>
              </a:rPr>
              <a:t>Half / Full duplex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3653" y="170078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C0CDE2"/>
                </a:solidFill>
                <a:latin typeface="Segoe UI"/>
              </a:rPr>
              <a:t>Comunicación en un sentido o en ambos a la vez.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9211" y="1371600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25515" y="1463040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 Semibold"/>
              </a:rPr>
              <a:t>TMDS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5515" y="170078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C0CDE2"/>
                </a:solidFill>
                <a:latin typeface="Segoe UI"/>
              </a:rPr>
              <a:t>Transmisión diferencial minimizada: capa física de DVI y HDMI.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1897380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1792" y="1988820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 Semibold"/>
              </a:rPr>
              <a:t>Display Stream Compression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222656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C0CDE2"/>
                </a:solidFill>
                <a:latin typeface="Segoe UI"/>
              </a:rPr>
              <a:t>Compresión visual sin pérdida perceptible (DSC).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77349" y="1897380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423653" y="1988820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 Semibold"/>
              </a:rPr>
              <a:t>ARC / eARC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23653" y="222656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C0CDE2"/>
                </a:solidFill>
                <a:latin typeface="Segoe UI"/>
              </a:rPr>
              <a:t>Canal de retorno de audio del TV al receptor por HDMI.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79211" y="1897380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25515" y="1988820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 Semibold"/>
              </a:rPr>
              <a:t>CEC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5515" y="222656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C0CDE2"/>
                </a:solidFill>
                <a:latin typeface="Segoe UI"/>
              </a:rPr>
              <a:t>Control remoto único de todos los dispositivos HDMI interconectados.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" y="2423160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1792" y="2514600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 Semibold"/>
              </a:rPr>
              <a:t>HDCP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275234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C0CDE2"/>
                </a:solidFill>
                <a:latin typeface="Segoe UI"/>
              </a:rPr>
              <a:t>Cifrado de contenido protegido en HDMI/DisplayPort.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77349" y="2423160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23653" y="2514600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 Semibold"/>
              </a:rPr>
              <a:t>Adaptive-Sync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23653" y="275234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C0CDE2"/>
                </a:solidFill>
                <a:latin typeface="Segoe UI"/>
              </a:rPr>
              <a:t>Sincronización variable de refresco (FreeSync/G-Sync Compatible).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79211" y="2423160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225515" y="2514600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 Semibold"/>
              </a:rPr>
              <a:t>MST / SST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5515" y="275234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C0CDE2"/>
                </a:solidFill>
                <a:latin typeface="Segoe UI"/>
              </a:rPr>
              <a:t>Multi-Stream (cadena de monitores) / Single-Stream en DisplayPort.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5488" y="2948939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21792" y="3040379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 Semibold"/>
              </a:rPr>
              <a:t>UASP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" y="3278123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C0CDE2"/>
                </a:solidFill>
                <a:latin typeface="Segoe UI"/>
              </a:rPr>
              <a:t>Protocolo SCSI sobre USB para discos externos más rápidos.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77349" y="2948939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423653" y="3040379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 Semibold"/>
              </a:rPr>
              <a:t>USB Power Delivery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23653" y="3278123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C0CDE2"/>
                </a:solidFill>
                <a:latin typeface="Segoe UI"/>
              </a:rPr>
              <a:t>Negociación de hasta 240 W por USB-C (5-48 V).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79211" y="2948939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225515" y="3040379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 Semibold"/>
              </a:rPr>
              <a:t>Alt Mode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5515" y="3278123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C0CDE2"/>
                </a:solidFill>
                <a:latin typeface="Segoe UI"/>
              </a:rPr>
              <a:t>Modo alternativo: video o Thunderbolt por el cable USB-C.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75488" y="3474720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21792" y="3566160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 Semibold"/>
              </a:rPr>
              <a:t>PoE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" y="380390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C0CDE2"/>
                </a:solidFill>
                <a:latin typeface="Segoe UI"/>
              </a:rPr>
              <a:t>Alimentación sobre cable Ethernet (hasta 60-100 W).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77349" y="3474720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423653" y="3566160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 Semibold"/>
              </a:rPr>
              <a:t>UTP / STP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23653" y="380390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C0CDE2"/>
                </a:solidFill>
                <a:latin typeface="Segoe UI"/>
              </a:rPr>
              <a:t>Cable de par trenzado sin/sin blindaje para red.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79211" y="3474720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225515" y="3566160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 Semibold"/>
              </a:rPr>
              <a:t>T568A / T568B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5515" y="380390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C0CDE2"/>
                </a:solidFill>
                <a:latin typeface="Segoe UI"/>
              </a:rPr>
              <a:t>Orden de hilos estándar en los conectores RJ-45.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75488" y="4000500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21792" y="4091939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 Semibold"/>
              </a:rPr>
              <a:t>SFP / QSFP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1792" y="432968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C0CDE2"/>
                </a:solidFill>
                <a:latin typeface="Segoe UI"/>
              </a:rPr>
              <a:t>Transceptores modulares de fibra óptica (1-400 Gbps).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277349" y="4000500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423653" y="4091939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 Semibold"/>
              </a:rPr>
              <a:t>LC / MPO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23653" y="432968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C0CDE2"/>
                </a:solidFill>
                <a:latin typeface="Segoe UI"/>
              </a:rPr>
              <a:t>Conectores de fibra dúplex pequeños / multifibra de datacenter.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079211" y="4000500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8225515" y="4091939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 Semibold"/>
              </a:rPr>
              <a:t>DDC / EDID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5515" y="432968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C0CDE2"/>
                </a:solidFill>
                <a:latin typeface="Segoe UI"/>
              </a:rPr>
              <a:t>Identificación del monitor por el cable (plug &amp; play de video).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75488" y="4526279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621792" y="4617719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 Semibold"/>
              </a:rPr>
              <a:t>Y/C (S-Video)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1792" y="485546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C0CDE2"/>
                </a:solidFill>
                <a:latin typeface="Segoe UI"/>
              </a:rPr>
              <a:t>Luminancia y crominancia separadas para mejor imagen.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277349" y="4526279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4423653" y="4617719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 Semibold"/>
              </a:rPr>
              <a:t>TRS / TRRS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423653" y="485546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C0CDE2"/>
                </a:solidFill>
                <a:latin typeface="Segoe UI"/>
              </a:rPr>
              <a:t>Conector de audio de 3 o 4 polos (con micrófono).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079211" y="4526279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8225515" y="4617719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 Semibold"/>
              </a:rPr>
              <a:t>CTIA / OMTP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25515" y="485546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C0CDE2"/>
                </a:solidFill>
                <a:latin typeface="Segoe UI"/>
              </a:rPr>
              <a:t>Estándares de cableado de los jacks TRRS, incompatibles entre sí.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75488" y="5052059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621792" y="5143499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 Semibold"/>
              </a:rPr>
              <a:t>S/PDIF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1792" y="538124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C0CDE2"/>
                </a:solidFill>
                <a:latin typeface="Segoe UI"/>
              </a:rPr>
              <a:t>Interfaz de audio digital de Sony/Philips (óptica o coaxial).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277349" y="5052059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4423653" y="5143499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 Semibold"/>
              </a:rPr>
              <a:t>UHS-I/II/III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423653" y="538124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C0CDE2"/>
                </a:solidFill>
                <a:latin typeface="Segoe UI"/>
              </a:rPr>
              <a:t>Estándares de bus de tarjetas SD (104-624 MB/s).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079211" y="5052059"/>
            <a:ext cx="3637269" cy="361188"/>
          </a:xfrm>
          <a:prstGeom prst="roundRect">
            <a:avLst>
              <a:gd name="adj" fmla="val 2011"/>
            </a:avLst>
          </a:prstGeom>
          <a:solidFill>
            <a:srgbClr val="131E33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8225515" y="5143499"/>
            <a:ext cx="33446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 Semibold"/>
              </a:rPr>
              <a:t>IrDA SIR/FIR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25515" y="5381244"/>
            <a:ext cx="3344661" cy="-41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19" b="0">
                <a:solidFill>
                  <a:srgbClr val="C0CDE2"/>
                </a:solidFill>
                <a:latin typeface="Segoe UI"/>
              </a:rPr>
              <a:t>Infrarrojo lento (115.2 kbps) y rápido (4 Mbps).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75488" y="5413248"/>
            <a:ext cx="11240993" cy="786384"/>
          </a:xfrm>
          <a:prstGeom prst="roundRect">
            <a:avLst>
              <a:gd name="adj" fmla="val 650"/>
            </a:avLst>
          </a:prstGeom>
          <a:solidFill>
            <a:srgbClr val="111C31"/>
          </a:solidFill>
          <a:ln w="9525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475488" y="5504688"/>
            <a:ext cx="32004" cy="603503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640080" y="550468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2D3EE"/>
                </a:solidFill>
                <a:latin typeface="Consolas"/>
              </a:rPr>
              <a:t>RECORDATORIO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0080" y="5687568"/>
            <a:ext cx="1091180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0CDE2"/>
                </a:solidFill>
                <a:latin typeface="Segoe UI"/>
              </a:rPr>
              <a:t>Glosario pensado como referencia rápida durante la exposición y el estudio.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63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01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39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4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4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4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177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4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4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42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2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42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42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42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42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42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42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1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42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42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42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42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42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42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42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42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42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42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42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42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fill="hold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42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fill="hold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42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fill="hold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42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fill="hold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42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hero_ports.jpg"/>
          <p:cNvPicPr>
            <a:picLocks noChangeAspect="1"/>
          </p:cNvPicPr>
          <p:nvPr/>
        </p:nvPicPr>
        <p:blipFill>
          <a:blip r:embed="rId2"/>
          <a:srcRect l="1515" r="1515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01E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2926079" y="457200"/>
            <a:ext cx="6217920" cy="621792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969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75488" y="1600200"/>
            <a:ext cx="1124099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4400" b="1">
                <a:solidFill>
                  <a:srgbClr val="EDF3FC"/>
                </a:solidFill>
                <a:latin typeface="Segoe UI Semibold"/>
              </a:rPr>
              <a:t>Guía completa y detallada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606040"/>
            <a:ext cx="1124099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22D3EE"/>
                </a:solidFill>
                <a:latin typeface="Segoe UI Semibold"/>
              </a:rPr>
              <a:t>Puertos de Comunicación de PC · 23 interfaces · 7 bloques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273024" y="3218688"/>
            <a:ext cx="164592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304288" y="3429000"/>
            <a:ext cx="758339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>
                <a:solidFill>
                  <a:srgbClr val="C0CDE2"/>
                </a:solidFill>
                <a:latin typeface="Segoe UI"/>
              </a:rPr>
              <a:t>Identifica cada puerto por su forma y color, conoce su velocidad real y elige siempre el cable correcto. Esta guía cubre desde el DIN de 1984 hasta Thunderbolt 5 y SD Express, con los datos técnicos que suelen faltar: potencia, longitudes, pinout y versiones.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159" y="4754880"/>
            <a:ext cx="475488" cy="347472"/>
          </a:xfrm>
          <a:prstGeom prst="roundRect">
            <a:avLst>
              <a:gd name="adj" fmla="val 26923"/>
            </a:avLst>
          </a:prstGeom>
          <a:solidFill>
            <a:srgbClr val="16233C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09159" y="4754880"/>
            <a:ext cx="4754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4" b="0">
                <a:solidFill>
                  <a:srgbClr val="22D3EE"/>
                </a:solidFill>
                <a:latin typeface="Consolas"/>
              </a:rPr>
              <a:t>USB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76087" y="4754880"/>
            <a:ext cx="583841" cy="347472"/>
          </a:xfrm>
          <a:prstGeom prst="roundRect">
            <a:avLst>
              <a:gd name="adj" fmla="val 21926"/>
            </a:avLst>
          </a:prstGeom>
          <a:solidFill>
            <a:srgbClr val="16233C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76087" y="4754880"/>
            <a:ext cx="58384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4" b="0">
                <a:solidFill>
                  <a:srgbClr val="22D3EE"/>
                </a:solidFill>
                <a:latin typeface="Consolas"/>
              </a:rPr>
              <a:t>RS-232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51368" y="4754880"/>
            <a:ext cx="475488" cy="347472"/>
          </a:xfrm>
          <a:prstGeom prst="roundRect">
            <a:avLst>
              <a:gd name="adj" fmla="val 26923"/>
            </a:avLst>
          </a:prstGeom>
          <a:solidFill>
            <a:srgbClr val="16233C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851368" y="4754880"/>
            <a:ext cx="4754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4" b="0">
                <a:solidFill>
                  <a:srgbClr val="22D3EE"/>
                </a:solidFill>
                <a:latin typeface="Consolas"/>
              </a:rPr>
              <a:t>LPT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18296" y="4754880"/>
            <a:ext cx="936159" cy="347472"/>
          </a:xfrm>
          <a:prstGeom prst="roundRect">
            <a:avLst>
              <a:gd name="adj" fmla="val 13674"/>
            </a:avLst>
          </a:prstGeom>
          <a:solidFill>
            <a:srgbClr val="16233C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418296" y="4754880"/>
            <a:ext cx="93615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4" b="0">
                <a:solidFill>
                  <a:srgbClr val="22D3EE"/>
                </a:solidFill>
                <a:latin typeface="Consolas"/>
              </a:rPr>
              <a:t>Thunderbolt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45895" y="4754880"/>
            <a:ext cx="724768" cy="347472"/>
          </a:xfrm>
          <a:prstGeom prst="roundRect">
            <a:avLst>
              <a:gd name="adj" fmla="val 17663"/>
            </a:avLst>
          </a:prstGeom>
          <a:solidFill>
            <a:srgbClr val="16233C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445895" y="4754880"/>
            <a:ext cx="72476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4" b="0">
                <a:solidFill>
                  <a:srgbClr val="22D3EE"/>
                </a:solidFill>
                <a:latin typeface="Consolas"/>
              </a:rPr>
              <a:t>FireWire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2103" y="4754880"/>
            <a:ext cx="475488" cy="347472"/>
          </a:xfrm>
          <a:prstGeom prst="roundRect">
            <a:avLst>
              <a:gd name="adj" fmla="val 26923"/>
            </a:avLst>
          </a:prstGeom>
          <a:solidFill>
            <a:srgbClr val="16233C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62103" y="4754880"/>
            <a:ext cx="4754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4" b="0">
                <a:solidFill>
                  <a:srgbClr val="22D3EE"/>
                </a:solidFill>
                <a:latin typeface="Consolas"/>
              </a:rPr>
              <a:t>PS/2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29031" y="4754880"/>
            <a:ext cx="475488" cy="347472"/>
          </a:xfrm>
          <a:prstGeom prst="roundRect">
            <a:avLst>
              <a:gd name="adj" fmla="val 26923"/>
            </a:avLst>
          </a:prstGeom>
          <a:solidFill>
            <a:srgbClr val="16233C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829031" y="4754880"/>
            <a:ext cx="4754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4" b="0">
                <a:solidFill>
                  <a:srgbClr val="22D3EE"/>
                </a:solidFill>
                <a:latin typeface="Consolas"/>
              </a:rPr>
              <a:t>VGA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95959" y="4754880"/>
            <a:ext cx="475488" cy="347472"/>
          </a:xfrm>
          <a:prstGeom prst="roundRect">
            <a:avLst>
              <a:gd name="adj" fmla="val 26923"/>
            </a:avLst>
          </a:prstGeom>
          <a:solidFill>
            <a:srgbClr val="16233C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395959" y="4754880"/>
            <a:ext cx="4754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4" b="0">
                <a:solidFill>
                  <a:srgbClr val="22D3EE"/>
                </a:solidFill>
                <a:latin typeface="Consolas"/>
              </a:rPr>
              <a:t>DVI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62887" y="4754880"/>
            <a:ext cx="475488" cy="347472"/>
          </a:xfrm>
          <a:prstGeom prst="roundRect">
            <a:avLst>
              <a:gd name="adj" fmla="val 26923"/>
            </a:avLst>
          </a:prstGeom>
          <a:solidFill>
            <a:srgbClr val="16233C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962887" y="4754880"/>
            <a:ext cx="4754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4" b="0">
                <a:solidFill>
                  <a:srgbClr val="22D3EE"/>
                </a:solidFill>
                <a:latin typeface="Consolas"/>
              </a:rPr>
              <a:t>HDMI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29815" y="4754880"/>
            <a:ext cx="936159" cy="347472"/>
          </a:xfrm>
          <a:prstGeom prst="roundRect">
            <a:avLst>
              <a:gd name="adj" fmla="val 13674"/>
            </a:avLst>
          </a:prstGeom>
          <a:solidFill>
            <a:srgbClr val="16233C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29815" y="4754880"/>
            <a:ext cx="93615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4" b="0">
                <a:solidFill>
                  <a:srgbClr val="22D3EE"/>
                </a:solidFill>
                <a:latin typeface="Consolas"/>
              </a:rPr>
              <a:t>DisplayPort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7415" y="4754880"/>
            <a:ext cx="513377" cy="347472"/>
          </a:xfrm>
          <a:prstGeom prst="roundRect">
            <a:avLst>
              <a:gd name="adj" fmla="val 24936"/>
            </a:avLst>
          </a:prstGeom>
          <a:solidFill>
            <a:srgbClr val="16233C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557415" y="4754880"/>
            <a:ext cx="513377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4" b="0">
                <a:solidFill>
                  <a:srgbClr val="22D3EE"/>
                </a:solidFill>
                <a:latin typeface="Consolas"/>
              </a:rPr>
              <a:t>RJ-45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62232" y="4754880"/>
            <a:ext cx="475488" cy="347472"/>
          </a:xfrm>
          <a:prstGeom prst="roundRect">
            <a:avLst>
              <a:gd name="adj" fmla="val 26923"/>
            </a:avLst>
          </a:prstGeom>
          <a:solidFill>
            <a:srgbClr val="16233C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162232" y="4754880"/>
            <a:ext cx="4754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4" b="0">
                <a:solidFill>
                  <a:srgbClr val="22D3EE"/>
                </a:solidFill>
                <a:latin typeface="Consolas"/>
              </a:rPr>
              <a:t>SFP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29160" y="4754880"/>
            <a:ext cx="936159" cy="347472"/>
          </a:xfrm>
          <a:prstGeom prst="roundRect">
            <a:avLst>
              <a:gd name="adj" fmla="val 13674"/>
            </a:avLst>
          </a:prstGeom>
          <a:solidFill>
            <a:srgbClr val="16233C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729160" y="4754880"/>
            <a:ext cx="93615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4" b="0">
                <a:solidFill>
                  <a:srgbClr val="22D3EE"/>
                </a:solidFill>
                <a:latin typeface="Consolas"/>
              </a:rPr>
              <a:t>Jack 3.5 mm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56759" y="4754880"/>
            <a:ext cx="654304" cy="347472"/>
          </a:xfrm>
          <a:prstGeom prst="roundRect">
            <a:avLst>
              <a:gd name="adj" fmla="val 19565"/>
            </a:avLst>
          </a:prstGeom>
          <a:solidFill>
            <a:srgbClr val="16233C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756759" y="4754880"/>
            <a:ext cx="6543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4" b="0">
                <a:solidFill>
                  <a:srgbClr val="22D3EE"/>
                </a:solidFill>
                <a:latin typeface="Consolas"/>
              </a:rPr>
              <a:t>TOSLINK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502504" y="4754880"/>
            <a:ext cx="513377" cy="347472"/>
          </a:xfrm>
          <a:prstGeom prst="roundRect">
            <a:avLst>
              <a:gd name="adj" fmla="val 24936"/>
            </a:avLst>
          </a:prstGeom>
          <a:solidFill>
            <a:srgbClr val="16233C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0502504" y="4754880"/>
            <a:ext cx="513377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4" b="0">
                <a:solidFill>
                  <a:srgbClr val="22D3EE"/>
                </a:solidFill>
                <a:latin typeface="Consolas"/>
              </a:rPr>
              <a:t>eSATA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107322" y="4754880"/>
            <a:ext cx="475488" cy="347472"/>
          </a:xfrm>
          <a:prstGeom prst="roundRect">
            <a:avLst>
              <a:gd name="adj" fmla="val 26923"/>
            </a:avLst>
          </a:prstGeom>
          <a:solidFill>
            <a:srgbClr val="16233C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1107322" y="4754880"/>
            <a:ext cx="4754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4" b="0">
                <a:solidFill>
                  <a:srgbClr val="22D3EE"/>
                </a:solidFill>
                <a:latin typeface="Consolas"/>
              </a:rPr>
              <a:t>IrDA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75488" y="6382512"/>
            <a:ext cx="11240993" cy="0"/>
          </a:xfrm>
          <a:prstGeom prst="line">
            <a:avLst/>
          </a:prstGeom>
          <a:ln w="9525">
            <a:solidFill>
              <a:srgbClr val="263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75488" y="64465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Segoe UI"/>
              </a:rPr>
              <a:t>Puertos de Comunicación de PC · Guía Completa y Detallada ·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87681" y="64465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9CBB"/>
                </a:solidFill>
                <a:latin typeface="Consolas"/>
              </a:rPr>
              <a:t>56 / 56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2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4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58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fill="hold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fill="hold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fill="hold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fill="hold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fill="hold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fill="hold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fill="hold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fill="hold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fill="hold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fill="hold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7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fill="hold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1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fill="hold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5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fill="hold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9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fill="hold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3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fill="hold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7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fill="hold">
                                  <p:stCondLst>
                                    <p:cond delay="231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1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fill="hold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5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fill="hold">
                                  <p:stCondLst>
                                    <p:cond delay="253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9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fill="hold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3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fill="hold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7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6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Puertos de Comunicación de PC — Guía Completa y Detallada</dc:title>
  <dc:subject>Hardware · Identificación de puertos y especificaciones</dc:subject>
  <dc:creator>Guía completa de hardware</dc:creator>
  <cp:keywords/>
  <dc:description>Guía completa de 23 puertos de comunicación con diagramas de identificación, códigos de colores y especificaciones, en 56 diapositivas con transiciones y animaciones.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